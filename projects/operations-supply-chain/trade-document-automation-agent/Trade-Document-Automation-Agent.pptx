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jp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26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4857" y="104775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284BA"/>
              </a:gs>
              <a:gs pos="100000">
                <a:srgbClr val="0D6A9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67253" y="302293"/>
            <a:ext cx="457188" cy="366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71575"/>
            <a:ext cx="9972425" cy="1228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1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000000"/>
                </a:solidFill>
                <a:latin typeface="Poppins"/>
              </a:rPr>
              <a:t> Trade Document Automation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Poppins"/>
              </a:rPr>
              <a:t> Agent for </a:t>
            </a:r>
            <a:r>
              <a:rPr sz="3348" b="1">
                <a:solidFill>
                  <a:srgbClr val="1284BA"/>
                </a:solidFill>
                <a:latin typeface="Poppins"/>
              </a:rPr>
              <a:t>Compliance</a:t>
            </a:r>
            <a:r>
              <a:rPr sz="3348" b="1">
                <a:solidFill>
                  <a:srgbClr val="000000"/>
                </a:solidFill>
                <a:latin typeface="Poppins"/>
              </a:rPr>
              <a:t> and </a:t>
            </a:r>
            <a:r>
              <a:rPr sz="3348" b="1">
                <a:solidFill>
                  <a:srgbClr val="FF862F"/>
                </a:solidFill>
                <a:latin typeface="Poppins"/>
              </a:rPr>
              <a:t>Efficiency</a:t>
            </a:r>
            <a:r>
              <a:rPr sz="3348" b="1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5314817" y="2733674"/>
            <a:ext cx="609584" cy="38100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38699" y="26955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7293" y="2733674"/>
            <a:ext cx="609584" cy="38100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4321" y="3114675"/>
            <a:ext cx="1933526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8639" y="3426472"/>
            <a:ext cx="285742" cy="1574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686" y="3377382"/>
            <a:ext cx="90485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1284BA"/>
                </a:solidFill>
                <a:latin typeface="Poppins"/>
              </a:rPr>
              <a:t>Group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754" y="4276725"/>
            <a:ext cx="8534186" cy="2476499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896" y="4681537"/>
            <a:ext cx="228594" cy="14287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543111" y="51339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8FBFC"/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5032" y="5336721"/>
            <a:ext cx="285742" cy="2041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43071" y="5816254"/>
            <a:ext cx="1390615" cy="61664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t>Group Project — 5 members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71845" y="51339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8FBFC"/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3766" y="5336721"/>
            <a:ext cx="285742" cy="2041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71805" y="5826263"/>
            <a:ext cx="1390615" cy="4442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t>Group Project — 5 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91055" y="51339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8FBFC"/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2976" y="5336721"/>
            <a:ext cx="285742" cy="2041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00539" y="5826263"/>
            <a:ext cx="1390615" cy="4442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t>Group Project — 5 members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10264" y="51339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8FBFC"/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2185" y="5336721"/>
            <a:ext cx="285742" cy="2041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9749" y="5826263"/>
            <a:ext cx="1390615" cy="4442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t>Group Project — 5 members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8999" y="51339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8FBFC"/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0919" y="5336721"/>
            <a:ext cx="285742" cy="2041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48483" y="5826263"/>
            <a:ext cx="1390615" cy="4442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333333"/>
                </a:solidFill>
                <a:latin typeface="Inter"/>
              </a:rPr>
              <a:t>M PRAVEEN</a:t>
            </a:r>
            <a:r>
              <a:rPr sz="1200" b="1" dirty="0"/>
              <a:t>
</a:t>
            </a:r>
            <a:r>
              <a:rPr sz="1200" b="1" dirty="0">
                <a:solidFill>
                  <a:srgbClr val="333333"/>
                </a:solidFill>
                <a:latin typeface="Inter"/>
              </a:rPr>
              <a:t>KUMAR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EC17B2-1920-9799-E8CB-373B95A27A69}"/>
              </a:ext>
            </a:extLst>
          </p:cNvPr>
          <p:cNvSpPr txBox="1"/>
          <p:nvPr/>
        </p:nvSpPr>
        <p:spPr>
          <a:xfrm>
            <a:off x="5400539" y="4561896"/>
            <a:ext cx="2085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MEMBERS</a:t>
            </a:r>
            <a:r>
              <a:rPr lang="en-US" dirty="0"/>
              <a:t>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" y="266699"/>
            <a:ext cx="57148" cy="457200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28" y="266615"/>
            <a:ext cx="8269187" cy="45736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152" b="1" dirty="0">
                <a:solidFill>
                  <a:srgbClr val="000000"/>
                </a:solidFill>
                <a:latin typeface="Poppins"/>
              </a:rPr>
              <a:t> Supply Chain Context &amp;</a:t>
            </a:r>
            <a:r>
              <a:rPr lang="en-US" sz="1104" b="1" dirty="0">
                <a:solidFill>
                  <a:srgbClr val="000000"/>
                </a:solidFill>
                <a:latin typeface="Poppins"/>
              </a:rPr>
              <a:t> </a:t>
            </a:r>
            <a:r>
              <a:rPr sz="2152" b="1" dirty="0">
                <a:solidFill>
                  <a:srgbClr val="000000"/>
                </a:solidFill>
                <a:latin typeface="Poppins"/>
              </a:rPr>
              <a:t> </a:t>
            </a:r>
            <a:r>
              <a:rPr sz="2152" b="1" dirty="0">
                <a:solidFill>
                  <a:srgbClr val="1284BA"/>
                </a:solidFill>
                <a:latin typeface="Poppins"/>
              </a:rPr>
              <a:t>Problem Understanding</a:t>
            </a:r>
            <a:r>
              <a:rPr sz="2152" b="1" dirty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8723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58268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67813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584" y="1162050"/>
            <a:ext cx="4762380" cy="30861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703" y="1445829"/>
            <a:ext cx="342891" cy="289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04892" y="1438274"/>
            <a:ext cx="255263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Poppins"/>
              </a:rPr>
              <a:t>Supply Chain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03" y="1927612"/>
            <a:ext cx="4286142" cy="792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 dirty="0">
                <a:solidFill>
                  <a:srgbClr val="333333"/>
                </a:solidFill>
                <a:latin typeface="Inter"/>
              </a:rPr>
              <a:t>International trade moves goods globally through exporters, importers, customs, and logistics providers—handling millions of shipments daily.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703" y="2905124"/>
            <a:ext cx="2085922" cy="495299"/>
          </a:xfrm>
          <a:prstGeom prst="roundRect">
            <a:avLst>
              <a:gd name="adj" fmla="val 30769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099" y="307153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6793" y="3057525"/>
            <a:ext cx="13239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Inter"/>
              </a:rPr>
              <a:t>Commercial Invoices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47923" y="2905124"/>
            <a:ext cx="2085922" cy="495299"/>
          </a:xfrm>
          <a:prstGeom prst="roundRect">
            <a:avLst>
              <a:gd name="adj" fmla="val 30769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319" y="3082738"/>
            <a:ext cx="190495" cy="1400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67013" y="3057525"/>
            <a:ext cx="89532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Inter"/>
              </a:rPr>
              <a:t>Bills of Lading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703" y="3514725"/>
            <a:ext cx="2085922" cy="495299"/>
          </a:xfrm>
          <a:prstGeom prst="roundRect">
            <a:avLst>
              <a:gd name="adj" fmla="val 30769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099" y="368113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6793" y="3667124"/>
            <a:ext cx="8381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Inter"/>
              </a:rPr>
              <a:t>Packing Lists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7923" y="3514725"/>
            <a:ext cx="2085922" cy="495299"/>
          </a:xfrm>
          <a:prstGeom prst="roundRect">
            <a:avLst>
              <a:gd name="adj" fmla="val 30769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0319" y="3672727"/>
            <a:ext cx="190495" cy="17929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67013" y="3667124"/>
            <a:ext cx="140013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3333"/>
                </a:solidFill>
                <a:latin typeface="Inter"/>
              </a:rPr>
              <a:t>Customs Declarations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476750"/>
            <a:ext cx="4762380" cy="2238375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09" y="4486275"/>
            <a:ext cx="4743331" cy="1714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109" y="6200775"/>
            <a:ext cx="4743331" cy="504824"/>
          </a:xfrm>
          <a:prstGeom prst="rect">
            <a:avLst/>
          </a:prstGeom>
          <a:solidFill>
            <a:srgbClr val="F8FBFC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604" y="6362700"/>
            <a:ext cx="43623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284BA"/>
                </a:solidFill>
                <a:latin typeface="Inter"/>
              </a:rPr>
              <a:t>Global Trade &amp; Logistics Operations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52956" y="1213616"/>
            <a:ext cx="342891" cy="2778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10144" y="1200150"/>
            <a:ext cx="123821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Poppins"/>
              </a:rPr>
              <a:t>Key Issues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52956" y="1733550"/>
            <a:ext cx="2838379" cy="1323974"/>
          </a:xfrm>
          <a:prstGeom prst="roundRect">
            <a:avLst>
              <a:gd name="adj" fmla="val 172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52976" y="19335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48223" y="20428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10164" y="1990724"/>
            <a:ext cx="122869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Poppins"/>
              </a:rPr>
              <a:t>Manual Errors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976" y="2408252"/>
            <a:ext cx="2438339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55555"/>
                </a:solidFill>
                <a:latin typeface="Inter"/>
              </a:rPr>
              <a:t>Missing fields, incorrect data, typographical mistakes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43731" y="1733550"/>
            <a:ext cx="2838379" cy="1323974"/>
          </a:xfrm>
          <a:prstGeom prst="roundRect">
            <a:avLst>
              <a:gd name="adj" fmla="val 172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943751" y="19335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038999" y="2034427"/>
            <a:ext cx="190495" cy="17929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00939" y="1990724"/>
            <a:ext cx="158111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Poppins"/>
              </a:rPr>
              <a:t>Compliance Risks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3751" y="2408252"/>
            <a:ext cx="2438339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55555"/>
                </a:solidFill>
                <a:latin typeface="Inter"/>
              </a:rPr>
              <a:t>Non-adherence to regulations, wrong classifications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52956" y="3209925"/>
            <a:ext cx="2838379" cy="1323974"/>
          </a:xfrm>
          <a:prstGeom prst="roundRect">
            <a:avLst>
              <a:gd name="adj" fmla="val 172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952976" y="34099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48223" y="3519207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10164" y="3467100"/>
            <a:ext cx="169540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Poppins"/>
              </a:rPr>
              <a:t>Operational Delays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52976" y="3884626"/>
            <a:ext cx="2438339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55555"/>
                </a:solidFill>
                <a:latin typeface="Inter"/>
              </a:rPr>
              <a:t>Time-consuming verification, clearance delays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43731" y="3209925"/>
            <a:ext cx="2838379" cy="1323974"/>
          </a:xfrm>
          <a:prstGeom prst="roundRect">
            <a:avLst>
              <a:gd name="adj" fmla="val 172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943751" y="34099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038999" y="351920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400939" y="3467100"/>
            <a:ext cx="17144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0000"/>
                </a:solidFill>
                <a:latin typeface="Poppins"/>
              </a:rPr>
              <a:t>Lack of Automation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3751" y="3884626"/>
            <a:ext cx="2438339" cy="46987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55555"/>
                </a:solidFill>
                <a:latin typeface="Inter"/>
              </a:rPr>
              <a:t>No real-time validation, manual dependency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52976" y="5013959"/>
            <a:ext cx="228594" cy="125729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5952976" y="5429250"/>
            <a:ext cx="95247" cy="95249"/>
          </a:xfrm>
          <a:prstGeom prst="roundRect">
            <a:avLst>
              <a:gd name="adj" fmla="val 19998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FA8071-EA45-6343-EA93-E1FF5232BD3B}"/>
              </a:ext>
            </a:extLst>
          </p:cNvPr>
          <p:cNvSpPr txBox="1"/>
          <p:nvPr/>
        </p:nvSpPr>
        <p:spPr>
          <a:xfrm>
            <a:off x="6286342" y="4950215"/>
            <a:ext cx="2304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PROBLEM STATEMENT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831894-F12E-EC0A-C51A-A9943E26FE4A}"/>
              </a:ext>
            </a:extLst>
          </p:cNvPr>
          <p:cNvSpPr txBox="1"/>
          <p:nvPr/>
        </p:nvSpPr>
        <p:spPr>
          <a:xfrm>
            <a:off x="6333965" y="5343525"/>
            <a:ext cx="5133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Trade documentation in supply chains is prone to manual errors and compliance issues, leading to delays, increased costs, and inefficiencies. There is a need for an intelligent system that can automatically validate documents and ensure accuracy and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" y="266699"/>
            <a:ext cx="57148" cy="457200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28" y="85725"/>
            <a:ext cx="2876478" cy="8191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0000"/>
                </a:solidFill>
                <a:latin typeface="Poppins"/>
              </a:rPr>
              <a:t> Agent / Method</a:t>
            </a:r>
            <a:r>
              <a:rPr sz="1104"/>
              <a:t>
</a:t>
            </a:r>
            <a:r>
              <a:rPr sz="2152" b="1">
                <a:solidFill>
                  <a:srgbClr val="000000"/>
                </a:solidFill>
                <a:latin typeface="Poppins"/>
              </a:rPr>
              <a:t> </a:t>
            </a:r>
            <a:r>
              <a:rPr sz="2152" b="1">
                <a:solidFill>
                  <a:srgbClr val="1284BA"/>
                </a:solidFill>
                <a:latin typeface="Poppins"/>
              </a:rPr>
              <a:t>Implementation</a:t>
            </a:r>
            <a:r>
              <a:rPr sz="2152" b="1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8723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58268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67813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584" y="1123949"/>
            <a:ext cx="4762380" cy="16573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1378792"/>
            <a:ext cx="285742" cy="2332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9644" y="1362075"/>
            <a:ext cx="152396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1284BA"/>
                </a:solidFill>
                <a:latin typeface="Poppins"/>
              </a:rPr>
              <a:t>Hybrid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1737482"/>
            <a:ext cx="199195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1400" b="0" dirty="0">
                <a:solidFill>
                  <a:srgbClr val="555555"/>
                </a:solidFill>
                <a:latin typeface="Inter"/>
              </a:rPr>
              <a:t>Rule-Based + Mistral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604" y="2171700"/>
            <a:ext cx="95247" cy="95249"/>
          </a:xfrm>
          <a:prstGeom prst="roundRect">
            <a:avLst>
              <a:gd name="adj" fmla="val 19998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099" y="2077715"/>
            <a:ext cx="2988575" cy="2832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  <a:latin typeface="Inter"/>
              </a:rPr>
              <a:t>Structured data → strict rule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604" y="2438400"/>
            <a:ext cx="95247" cy="95249"/>
          </a:xfrm>
          <a:prstGeom prst="roundRect">
            <a:avLst>
              <a:gd name="adj" fmla="val 19998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0099" y="2344415"/>
            <a:ext cx="2855654" cy="2832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  <a:latin typeface="Inter"/>
              </a:rPr>
              <a:t>Unstructured context → AI reasoning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2933699"/>
            <a:ext cx="4762380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3180229"/>
            <a:ext cx="190495" cy="17369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3582760"/>
            <a:ext cx="152396" cy="1306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38199" y="3508281"/>
            <a:ext cx="1912318" cy="2928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  <a:latin typeface="Inter"/>
              </a:rPr>
              <a:t>Accurate field validation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3925660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8199" y="3859087"/>
            <a:ext cx="2773452" cy="2928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  <a:latin typeface="Inter"/>
              </a:rPr>
              <a:t>Context-aware compliance checking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4268560"/>
            <a:ext cx="152396" cy="1306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38199" y="4209894"/>
            <a:ext cx="3175421" cy="2928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33333"/>
                </a:solidFill>
                <a:latin typeface="Inter"/>
              </a:rPr>
              <a:t>Reduces manual effort, errors, and delays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800600"/>
            <a:ext cx="4762380" cy="1733550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5058335"/>
            <a:ext cx="190495" cy="15127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09604" y="5381624"/>
            <a:ext cx="1057248" cy="266699"/>
          </a:xfrm>
          <a:prstGeom prst="roundRect">
            <a:avLst>
              <a:gd name="adj" fmla="val 57142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604" y="5381624"/>
            <a:ext cx="10572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284BA"/>
                </a:solidFill>
                <a:latin typeface="Inter"/>
              </a:rPr>
              <a:t>PDF/CSV/Excel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3051" y="5457825"/>
            <a:ext cx="152396" cy="1143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171645" y="5381624"/>
            <a:ext cx="781030" cy="266699"/>
          </a:xfrm>
          <a:prstGeom prst="roundRect">
            <a:avLst>
              <a:gd name="adj" fmla="val 57142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71645" y="5381624"/>
            <a:ext cx="7810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284BA"/>
                </a:solidFill>
                <a:latin typeface="Inter"/>
              </a:rPr>
              <a:t>Extraction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8399" y="5457825"/>
            <a:ext cx="152396" cy="1143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266993" y="5381624"/>
            <a:ext cx="771505" cy="266699"/>
          </a:xfrm>
          <a:prstGeom prst="roundRect">
            <a:avLst>
              <a:gd name="adj" fmla="val 57142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66993" y="5381624"/>
            <a:ext cx="7715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284BA"/>
                </a:solidFill>
                <a:latin typeface="Inter"/>
              </a:rPr>
              <a:t>Validation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9604" y="5836103"/>
            <a:ext cx="152396" cy="1197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38199" y="5754259"/>
            <a:ext cx="3029932" cy="2832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333333"/>
                </a:solidFill>
                <a:latin typeface="Inter"/>
              </a:rPr>
              <a:t>LLM detects contextual inconsistencies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9604" y="6146346"/>
            <a:ext cx="152396" cy="14695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5779" y="6095999"/>
            <a:ext cx="3764172" cy="28321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300"/>
              </a:lnSpc>
            </a:pPr>
            <a:r>
              <a:rPr sz="1400" b="0" dirty="0">
                <a:solidFill>
                  <a:srgbClr val="333333"/>
                </a:solidFill>
                <a:latin typeface="Inter"/>
              </a:rPr>
              <a:t>Extract → Validate → </a:t>
            </a:r>
            <a:r>
              <a:rPr lang="en-US" sz="1400" dirty="0"/>
              <a:t>Detect Errors → Send Alerts</a:t>
            </a:r>
            <a:endParaRPr sz="1400" b="0" dirty="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752956" y="1123949"/>
            <a:ext cx="5829154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52976" y="1372960"/>
            <a:ext cx="285742" cy="2449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3016" y="1362075"/>
            <a:ext cx="250501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Poppins"/>
              </a:rPr>
              <a:t>How It Solves the Problem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52976" y="1849386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00618" y="1761899"/>
            <a:ext cx="2505011" cy="42748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33333"/>
                </a:solidFill>
                <a:latin typeface="Inter"/>
              </a:rPr>
              <a:t>Automates document validation process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24681" y="1849386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972325" y="1756534"/>
            <a:ext cx="2409764" cy="42075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33333"/>
                </a:solidFill>
                <a:latin typeface="Inter"/>
              </a:rPr>
              <a:t>Identifies data errors and logical mismatches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52976" y="2335161"/>
            <a:ext cx="171445" cy="149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00619" y="2206833"/>
            <a:ext cx="2409764" cy="42075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33333"/>
                </a:solidFill>
                <a:latin typeface="Inter"/>
              </a:rPr>
              <a:t>Reduces rework cycles and processing time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24681" y="2335161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91375" y="2290678"/>
            <a:ext cx="2326727" cy="266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33333"/>
                </a:solidFill>
                <a:latin typeface="Inter"/>
              </a:rPr>
              <a:t>Improves compliance and accuracy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52956" y="2990849"/>
            <a:ext cx="5829154" cy="22098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91075" y="3276107"/>
            <a:ext cx="342891" cy="28673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48263" y="3267075"/>
            <a:ext cx="109534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Poppins"/>
              </a:rPr>
              <a:t>Outcome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91075" y="3762374"/>
            <a:ext cx="5352916" cy="1200150"/>
          </a:xfrm>
          <a:prstGeom prst="roundRect">
            <a:avLst>
              <a:gd name="adj" fmla="val 19047"/>
            </a:avLst>
          </a:prstGeom>
          <a:gradFill rotWithShape="1">
            <a:gsLst>
              <a:gs pos="0">
                <a:srgbClr val="1284BA"/>
              </a:gs>
              <a:gs pos="100000">
                <a:srgbClr val="0D6A9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81570" y="3990197"/>
            <a:ext cx="285742" cy="26825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514937" y="3976604"/>
            <a:ext cx="4533786" cy="5621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  <a:latin typeface="Inter"/>
              </a:rPr>
              <a:t> </a:t>
            </a:r>
            <a:r>
              <a:rPr sz="1400" b="0" dirty="0">
                <a:solidFill>
                  <a:srgbClr val="FFFFFF"/>
                </a:solidFill>
                <a:latin typeface="Inter"/>
              </a:rPr>
              <a:t>Transforms a manual system into an </a:t>
            </a:r>
            <a:r>
              <a:rPr sz="1400" b="1">
                <a:solidFill>
                  <a:srgbClr val="FF862F"/>
                </a:solidFill>
                <a:latin typeface="Inter"/>
              </a:rPr>
              <a:t>intelligent</a:t>
            </a:r>
            <a:r>
              <a:rPr lang="en-US" sz="1400" b="1">
                <a:solidFill>
                  <a:srgbClr val="FF862F"/>
                </a:solidFill>
                <a:latin typeface="Inter"/>
              </a:rPr>
              <a:t> </a:t>
            </a:r>
            <a:r>
              <a:rPr sz="1400" b="1">
                <a:solidFill>
                  <a:srgbClr val="FF862F"/>
                </a:solidFill>
                <a:latin typeface="Inter"/>
              </a:rPr>
              <a:t>AI </a:t>
            </a:r>
            <a:r>
              <a:rPr sz="1400" b="1" dirty="0">
                <a:solidFill>
                  <a:srgbClr val="FF862F"/>
                </a:solidFill>
                <a:latin typeface="Inter"/>
              </a:rPr>
              <a:t>agent</a:t>
            </a:r>
            <a:r>
              <a:rPr sz="1400" b="0" dirty="0">
                <a:solidFill>
                  <a:srgbClr val="FFFFFF"/>
                </a:solidFill>
                <a:latin typeface="Inter"/>
              </a:rPr>
              <a:t> for efficient trade document processing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52956" y="5362575"/>
            <a:ext cx="5829154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52976" y="5617508"/>
            <a:ext cx="190495" cy="15688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24481" y="6014561"/>
            <a:ext cx="228594" cy="16287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952976" y="6305550"/>
            <a:ext cx="1762080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  <a:latin typeface="Inter"/>
              </a:rPr>
              <a:t>Faster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553236" y="5993130"/>
            <a:ext cx="228594" cy="20573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791255" y="6305550"/>
            <a:ext cx="1762080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  <a:latin typeface="Inter"/>
              </a:rPr>
              <a:t>Accurate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391515" y="5987415"/>
            <a:ext cx="228594" cy="21717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620009" y="6305550"/>
            <a:ext cx="1762080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  <a:latin typeface="Inter"/>
              </a:rPr>
              <a:t>Compliant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2C3EA0-8AE4-9E46-559B-1D2928788F7A}"/>
              </a:ext>
            </a:extLst>
          </p:cNvPr>
          <p:cNvSpPr txBox="1"/>
          <p:nvPr/>
        </p:nvSpPr>
        <p:spPr>
          <a:xfrm>
            <a:off x="1102965" y="3113185"/>
            <a:ext cx="1893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JUSTIFICATION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FF0FE4-3ED2-EA37-300A-9A75077562FD}"/>
              </a:ext>
            </a:extLst>
          </p:cNvPr>
          <p:cNvSpPr txBox="1"/>
          <p:nvPr/>
        </p:nvSpPr>
        <p:spPr>
          <a:xfrm>
            <a:off x="1056829" y="4962524"/>
            <a:ext cx="3010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AGENT ARCHITECTURE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2B8C96-E15C-803D-4D6C-3D8C1F03CEC4}"/>
              </a:ext>
            </a:extLst>
          </p:cNvPr>
          <p:cNvSpPr txBox="1"/>
          <p:nvPr/>
        </p:nvSpPr>
        <p:spPr>
          <a:xfrm>
            <a:off x="6281045" y="5547143"/>
            <a:ext cx="2200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KEY BENEFITS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9D99A-8AAC-C814-4286-58FC54980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28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" y="266699"/>
            <a:ext cx="57148" cy="457200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7228" y="85725"/>
            <a:ext cx="3876578" cy="8191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0000"/>
                </a:solidFill>
                <a:latin typeface="Poppins"/>
              </a:rPr>
              <a:t> Insights for </a:t>
            </a:r>
            <a:r>
              <a:rPr sz="2152" b="1">
                <a:solidFill>
                  <a:srgbClr val="1284BA"/>
                </a:solidFill>
                <a:latin typeface="Poppins"/>
              </a:rPr>
              <a:t>AI-Driven</a:t>
            </a:r>
            <a:r>
              <a:rPr sz="1104"/>
              <a:t>
</a:t>
            </a:r>
            <a:r>
              <a:rPr sz="2152" b="1">
                <a:solidFill>
                  <a:srgbClr val="000000"/>
                </a:solidFill>
                <a:latin typeface="Poppins"/>
              </a:rPr>
              <a:t> Trade Documentation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8723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58268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67813" y="43814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1284B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207704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1200150"/>
            <a:ext cx="20763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Poppins"/>
              </a:rPr>
              <a:t>Strategic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1733550"/>
            <a:ext cx="4762380" cy="51435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9109" y="174307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57" y="1885950"/>
            <a:ext cx="190495" cy="95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4397" y="1743075"/>
            <a:ext cx="407659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Data Consistency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397" y="1993946"/>
            <a:ext cx="3470758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Errors arise across multiple documents (Invoice vs Bill of Lading)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2381250"/>
            <a:ext cx="4762380" cy="51435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109" y="239077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357" y="250003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4397" y="2390774"/>
            <a:ext cx="359083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Compliance is Dynamic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397" y="2641646"/>
            <a:ext cx="3095656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Trade regulations vary by country and change frequently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3038475"/>
            <a:ext cx="4762380" cy="51435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9109" y="30479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357" y="3185272"/>
            <a:ext cx="190495" cy="1064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4397" y="3047999"/>
            <a:ext cx="36003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Upstream Quality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397" y="3298871"/>
            <a:ext cx="3150158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Poor input data leads to compounded downstream errors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3686175"/>
            <a:ext cx="4762380" cy="51435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9109" y="36956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357" y="3807758"/>
            <a:ext cx="190495" cy="156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4397" y="3695699"/>
            <a:ext cx="315269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High-Risk Field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397" y="3946571"/>
            <a:ext cx="2720553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HS Code, Country, Incoterms cause major failures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4343400"/>
            <a:ext cx="4762380" cy="51435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9109" y="4352924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4357" y="4453777"/>
            <a:ext cx="190495" cy="1792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4397" y="4352924"/>
            <a:ext cx="294315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9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Error Propagation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397" y="4603796"/>
            <a:ext cx="2555443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Incorrect data flows into ERP/logistics systems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52956" y="1207704"/>
            <a:ext cx="342891" cy="2896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10144" y="1200150"/>
            <a:ext cx="358131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Poppins"/>
              </a:rPr>
              <a:t>Actionable Recommendations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52956" y="1657350"/>
            <a:ext cx="2857428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4877" y="1875195"/>
            <a:ext cx="171445" cy="15485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62520" y="1857375"/>
            <a:ext cx="193352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Poppins"/>
              </a:rPr>
              <a:t>Cross-Document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14877" y="2125080"/>
            <a:ext cx="2236446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Compare invoice, packing list, BOL fields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24681" y="1657350"/>
            <a:ext cx="2857428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86602" y="1883491"/>
            <a:ext cx="171445" cy="13826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34246" y="1857375"/>
            <a:ext cx="19811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Poppins"/>
              </a:rPr>
              <a:t>Dynamic Compliance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6602" y="2125080"/>
            <a:ext cx="2013628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Update rules by country regulations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52956" y="2628900"/>
            <a:ext cx="2857428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14877" y="2845516"/>
            <a:ext cx="171445" cy="13826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62520" y="2819399"/>
            <a:ext cx="164778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Poppins"/>
              </a:rPr>
              <a:t>Source-Level 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14877" y="3087106"/>
            <a:ext cx="1874167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Validate at entry point (exporter)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24681" y="2628900"/>
            <a:ext cx="2857428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86602" y="2845516"/>
            <a:ext cx="171445" cy="13826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34246" y="2819399"/>
            <a:ext cx="16382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Poppins"/>
              </a:rPr>
              <a:t>Critical Field Monitoring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6602" y="3087106"/>
            <a:ext cx="2189958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Stricter validation on high-impact fields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52956" y="3590924"/>
            <a:ext cx="5829154" cy="85725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14877" y="3803240"/>
            <a:ext cx="171445" cy="16591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162520" y="3790949"/>
            <a:ext cx="185732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Poppins"/>
              </a:rPr>
              <a:t>System Integration Checks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14877" y="4058655"/>
            <a:ext cx="3356945" cy="2646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Ensure consistency across ERP, logistics, and customs systems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752956" y="4676282"/>
            <a:ext cx="342891" cy="28673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210144" y="4667249"/>
            <a:ext cx="195257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Poppins"/>
              </a:rPr>
              <a:t>Business Impact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752956" y="5124449"/>
            <a:ext cx="2857428" cy="581025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10103" y="5221001"/>
            <a:ext cx="190495" cy="16248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029174" y="5162550"/>
            <a:ext cx="183827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Reduced Discrepancies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9655" y="5422948"/>
            <a:ext cx="1683410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Fewer cross-document errors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24681" y="5124449"/>
            <a:ext cx="2857428" cy="581025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0404" y="5221251"/>
            <a:ext cx="190495" cy="16248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000899" y="5162550"/>
            <a:ext cx="14668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Better Compliance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6276" y="5422948"/>
            <a:ext cx="1877373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Global adaptability to regulations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752956" y="5819775"/>
            <a:ext cx="2857428" cy="581025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10104" y="5920068"/>
            <a:ext cx="190495" cy="13727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029174" y="5848350"/>
            <a:ext cx="88580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Faster Flow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85761" y="6097432"/>
            <a:ext cx="2056910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Accelerated end-to-end supply chain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24681" y="5819775"/>
            <a:ext cx="2857428" cy="581025"/>
          </a:xfrm>
          <a:prstGeom prst="roundRect">
            <a:avLst>
              <a:gd name="adj" fmla="val 39344"/>
            </a:avLst>
          </a:prstGeom>
          <a:solidFill>
            <a:srgbClr val="FFFFFF"/>
          </a:solidFill>
          <a:ln w="825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807730" y="5920068"/>
            <a:ext cx="190495" cy="15688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000899" y="5848350"/>
            <a:ext cx="94295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0000"/>
                </a:solidFill>
                <a:latin typeface="Poppins"/>
              </a:rPr>
              <a:t>Lower Costs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07730" y="6111267"/>
            <a:ext cx="1503873" cy="2793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555555"/>
                </a:solidFill>
                <a:latin typeface="Inter"/>
              </a:rPr>
              <a:t>Fewer downstream errors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412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BISHAL KUMAR</dc:creator>
  <cp:keywords/>
  <dc:description>generated using python-pptx</dc:description>
  <cp:lastModifiedBy>Praveen Reddy</cp:lastModifiedBy>
  <cp:revision>15</cp:revision>
  <dcterms:created xsi:type="dcterms:W3CDTF">2013-01-27T09:14:16Z</dcterms:created>
  <dcterms:modified xsi:type="dcterms:W3CDTF">2026-09-10T19:17:13Z</dcterms:modified>
  <cp:category/>
</cp:coreProperties>
</file>