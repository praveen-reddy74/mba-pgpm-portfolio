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3"/>
    <p:sldId id="258" r:id="rId4"/>
    <p:sldId id="259" r:id="rId5"/>
    <p:sldId id="260" r:id="rId6"/>
  </p:sldIdLst>
  <p:sldSz cx="18288000" cy="10287000"/>
  <p:notesSz cx="6858000" cy="9144000"/>
  <p:embeddedFontLst>
    <p:embeddedFont>
      <p:font typeface="DM Sans" pitchFamily="2" charset="0"/>
      <p:regular r:id="rId7"/>
    </p:embeddedFont>
    <p:embeddedFont>
      <p:font typeface="DM Sans Bold" pitchFamily="2" charset="0"/>
      <p:regular r:id="rId8"/>
    </p:embeddedFont>
    <p:embeddedFont>
      <p:font typeface="Lacquer" pitchFamily="2" charset="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font" Target="fonts/font1.fntdata"/><Relationship Id="rId8" Type="http://schemas.openxmlformats.org/officeDocument/2006/relationships/font" Target="fonts/font2.fntdata"/><Relationship Id="rId9" Type="http://schemas.openxmlformats.org/officeDocument/2006/relationships/font" Target="fonts/font3.fntdata"/><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flipH="1">
            <a:off x="13795869" y="4645387"/>
            <a:ext cx="5270382" cy="4861927"/>
          </a:xfrm>
          <a:custGeom>
            <a:avLst/>
            <a:gdLst/>
            <a:ahLst/>
            <a:cxnLst/>
            <a:rect l="l" t="t" r="r" b="b"/>
            <a:pathLst>
              <a:path w="5270382" h="4861927">
                <a:moveTo>
                  <a:pt x="5270381" y="0"/>
                </a:moveTo>
                <a:lnTo>
                  <a:pt x="0" y="0"/>
                </a:lnTo>
                <a:lnTo>
                  <a:pt x="0" y="4861927"/>
                </a:lnTo>
                <a:lnTo>
                  <a:pt x="5270381" y="4861927"/>
                </a:lnTo>
                <a:lnTo>
                  <a:pt x="5270381" y="0"/>
                </a:lnTo>
                <a:close/>
              </a:path>
            </a:pathLst>
          </a:custGeom>
          <a:blipFill>
            <a:blip r:embed="rId2"/>
            <a:stretch>
              <a:fillRect/>
            </a:stretch>
          </a:blipFill>
        </p:spPr>
      </p:sp>
      <p:sp>
        <p:nvSpPr>
          <p:cNvPr id="3" name="AutoShape 3"/>
          <p:cNvSpPr/>
          <p:nvPr/>
        </p:nvSpPr>
        <p:spPr>
          <a:xfrm>
            <a:off x="0" y="0"/>
            <a:ext cx="18288000" cy="3718560"/>
          </a:xfrm>
          <a:prstGeom prst="rect">
            <a:avLst/>
          </a:prstGeom>
          <a:solidFill>
            <a:srgbClr val="FFCECE">
              <a:alpha val="69804"/>
            </a:srgbClr>
          </a:solidFill>
        </p:spPr>
      </p:sp>
      <p:sp>
        <p:nvSpPr>
          <p:cNvPr id="4" name="Freeform 4"/>
          <p:cNvSpPr/>
          <p:nvPr/>
        </p:nvSpPr>
        <p:spPr>
          <a:xfrm rot="-1094911">
            <a:off x="12918061" y="1403753"/>
            <a:ext cx="2855832" cy="2866582"/>
          </a:xfrm>
          <a:custGeom>
            <a:avLst/>
            <a:gdLst/>
            <a:ahLst/>
            <a:cxnLst/>
            <a:rect l="l" t="t" r="r" b="b"/>
            <a:pathLst>
              <a:path w="2855832" h="2866582">
                <a:moveTo>
                  <a:pt x="0" y="0"/>
                </a:moveTo>
                <a:lnTo>
                  <a:pt x="2855833" y="0"/>
                </a:lnTo>
                <a:lnTo>
                  <a:pt x="2855833" y="2866582"/>
                </a:lnTo>
                <a:lnTo>
                  <a:pt x="0" y="2866582"/>
                </a:lnTo>
                <a:lnTo>
                  <a:pt x="0" y="0"/>
                </a:lnTo>
                <a:close/>
              </a:path>
            </a:pathLst>
          </a:custGeom>
          <a:blipFill>
            <a:blip r:embed="rId3"/>
            <a:stretch>
              <a:fillRect/>
            </a:stretch>
          </a:blipFill>
        </p:spPr>
      </p:sp>
      <p:sp>
        <p:nvSpPr>
          <p:cNvPr id="5" name="Freeform 5"/>
          <p:cNvSpPr/>
          <p:nvPr/>
        </p:nvSpPr>
        <p:spPr>
          <a:xfrm rot="-751690">
            <a:off x="10005500" y="-1231953"/>
            <a:ext cx="1751015" cy="2307763"/>
          </a:xfrm>
          <a:custGeom>
            <a:avLst/>
            <a:gdLst/>
            <a:ahLst/>
            <a:cxnLst/>
            <a:rect l="l" t="t" r="r" b="b"/>
            <a:pathLst>
              <a:path w="1751015" h="2307763">
                <a:moveTo>
                  <a:pt x="0" y="0"/>
                </a:moveTo>
                <a:lnTo>
                  <a:pt x="1751015" y="0"/>
                </a:lnTo>
                <a:lnTo>
                  <a:pt x="1751015" y="2307763"/>
                </a:lnTo>
                <a:lnTo>
                  <a:pt x="0" y="2307763"/>
                </a:lnTo>
                <a:lnTo>
                  <a:pt x="0" y="0"/>
                </a:lnTo>
                <a:close/>
              </a:path>
            </a:pathLst>
          </a:custGeom>
          <a:blipFill>
            <a:blip r:embed="rId4"/>
            <a:stretch>
              <a:fillRect/>
            </a:stretch>
          </a:blipFill>
        </p:spPr>
      </p:sp>
      <p:grpSp>
        <p:nvGrpSpPr>
          <p:cNvPr id="6" name="Group 6"/>
          <p:cNvGrpSpPr/>
          <p:nvPr/>
        </p:nvGrpSpPr>
        <p:grpSpPr>
          <a:xfrm>
            <a:off x="10515089" y="813435"/>
            <a:ext cx="6744211" cy="2098295"/>
            <a:chOff x="0" y="0"/>
            <a:chExt cx="5087930" cy="1582984"/>
          </a:xfrm>
        </p:grpSpPr>
        <p:sp>
          <p:nvSpPr>
            <p:cNvPr id="7" name="Freeform 7"/>
            <p:cNvSpPr/>
            <p:nvPr/>
          </p:nvSpPr>
          <p:spPr>
            <a:xfrm>
              <a:off x="0" y="0"/>
              <a:ext cx="5087930" cy="1582984"/>
            </a:xfrm>
            <a:custGeom>
              <a:avLst/>
              <a:gdLst/>
              <a:ahLst/>
              <a:cxnLst/>
              <a:rect l="l" t="t" r="r" b="b"/>
              <a:pathLst>
                <a:path w="5087930" h="1582984">
                  <a:moveTo>
                    <a:pt x="12627" y="0"/>
                  </a:moveTo>
                  <a:lnTo>
                    <a:pt x="5075303" y="0"/>
                  </a:lnTo>
                  <a:cubicBezTo>
                    <a:pt x="5082276" y="0"/>
                    <a:pt x="5087930" y="5653"/>
                    <a:pt x="5087930" y="12627"/>
                  </a:cubicBezTo>
                  <a:lnTo>
                    <a:pt x="5087930" y="1570357"/>
                  </a:lnTo>
                  <a:cubicBezTo>
                    <a:pt x="5087930" y="1577331"/>
                    <a:pt x="5082276" y="1582984"/>
                    <a:pt x="5075303" y="1582984"/>
                  </a:cubicBezTo>
                  <a:lnTo>
                    <a:pt x="12627" y="1582984"/>
                  </a:lnTo>
                  <a:cubicBezTo>
                    <a:pt x="5653" y="1582984"/>
                    <a:pt x="0" y="1577331"/>
                    <a:pt x="0" y="1570357"/>
                  </a:cubicBezTo>
                  <a:lnTo>
                    <a:pt x="0" y="12627"/>
                  </a:lnTo>
                  <a:cubicBezTo>
                    <a:pt x="0" y="5653"/>
                    <a:pt x="5653" y="0"/>
                    <a:pt x="12627" y="0"/>
                  </a:cubicBezTo>
                  <a:close/>
                </a:path>
              </a:pathLst>
            </a:custGeom>
            <a:solidFill>
              <a:srgbClr val="F4F4F4"/>
            </a:solidFill>
            <a:ln cap="sq">
              <a:noFill/>
              <a:prstDash val="sysDot"/>
              <a:miter/>
            </a:ln>
          </p:spPr>
        </p:sp>
        <p:sp>
          <p:nvSpPr>
            <p:cNvPr id="8" name="TextBox 8"/>
            <p:cNvSpPr txBox="1"/>
            <p:nvPr/>
          </p:nvSpPr>
          <p:spPr>
            <a:xfrm>
              <a:off x="0" y="-47625"/>
              <a:ext cx="5087930" cy="1630609"/>
            </a:xfrm>
            <a:prstGeom prst="rect">
              <a:avLst/>
            </a:prstGeom>
          </p:spPr>
          <p:txBody>
            <a:bodyPr lIns="254000" tIns="254000" rIns="254000" bIns="254000" rtlCol="0" anchor="ctr"/>
            <a:lstStyle/>
            <a:p>
              <a:pPr algn="just">
                <a:lnSpc>
                  <a:spcPts val="2520"/>
                </a:lnSpc>
              </a:pPr>
              <a:r>
                <a:rPr lang="en-US" sz="1800">
                  <a:solidFill>
                    <a:srgbClr val="1F264D"/>
                  </a:solidFill>
                  <a:latin typeface="Lacquer"/>
                  <a:ea typeface="Lacquer"/>
                  <a:cs typeface="Lacquer"/>
                  <a:sym typeface="Lacquer"/>
                </a:rPr>
                <a:t>How can junior employees effectively champion career development and foster innovation while upholding existing corporate frameworks and respecting supervisory authority?</a:t>
              </a:r>
            </a:p>
            <a:p>
              <a:pPr algn="just">
                <a:lnSpc>
                  <a:spcPts val="2520"/>
                </a:lnSpc>
              </a:pPr>
              <a:endParaRPr lang="en-US" sz="1800">
                <a:solidFill>
                  <a:srgbClr val="1F264D"/>
                </a:solidFill>
                <a:latin typeface="Lacquer"/>
                <a:ea typeface="Lacquer"/>
                <a:cs typeface="Lacquer"/>
                <a:sym typeface="Lacquer"/>
              </a:endParaRPr>
            </a:p>
          </p:txBody>
        </p:sp>
      </p:grpSp>
      <p:sp>
        <p:nvSpPr>
          <p:cNvPr id="9" name="TextBox 9"/>
          <p:cNvSpPr txBox="1"/>
          <p:nvPr/>
        </p:nvSpPr>
        <p:spPr>
          <a:xfrm>
            <a:off x="1028700" y="1447800"/>
            <a:ext cx="8115300" cy="952500"/>
          </a:xfrm>
          <a:prstGeom prst="rect">
            <a:avLst/>
          </a:prstGeom>
        </p:spPr>
        <p:txBody>
          <a:bodyPr lIns="0" tIns="0" rIns="0" bIns="0" rtlCol="0" anchor="t">
            <a:spAutoFit/>
          </a:bodyPr>
          <a:lstStyle/>
          <a:p>
            <a:pPr marL="0" lvl="0" indent="0" algn="l">
              <a:lnSpc>
                <a:spcPts val="7560"/>
              </a:lnSpc>
            </a:pPr>
            <a:r>
              <a:rPr lang="en-US" sz="6300" b="1">
                <a:solidFill>
                  <a:srgbClr val="1F264D"/>
                </a:solidFill>
                <a:latin typeface="DM Sans Bold"/>
                <a:ea typeface="DM Sans Bold"/>
                <a:cs typeface="DM Sans Bold"/>
                <a:sym typeface="DM Sans Bold"/>
              </a:rPr>
              <a:t>Problem Statement</a:t>
            </a:r>
          </a:p>
        </p:txBody>
      </p:sp>
      <p:sp>
        <p:nvSpPr>
          <p:cNvPr id="10" name="TextBox 10"/>
          <p:cNvSpPr txBox="1"/>
          <p:nvPr/>
        </p:nvSpPr>
        <p:spPr>
          <a:xfrm>
            <a:off x="584132" y="4079241"/>
            <a:ext cx="6024896" cy="1964073"/>
          </a:xfrm>
          <a:prstGeom prst="rect">
            <a:avLst/>
          </a:prstGeom>
        </p:spPr>
        <p:txBody>
          <a:bodyPr lIns="0" tIns="0" rIns="0" bIns="0" rtlCol="0" anchor="t">
            <a:spAutoFit/>
          </a:bodyPr>
          <a:lstStyle/>
          <a:p>
            <a:pPr marL="469434" lvl="1" indent="-234717" algn="l">
              <a:lnSpc>
                <a:spcPts val="3044"/>
              </a:lnSpc>
              <a:buFont typeface="Arial"/>
              <a:buChar char="•"/>
            </a:pPr>
            <a:r>
              <a:rPr lang="en-US" sz="2174" b="1" u="sng">
                <a:solidFill>
                  <a:srgbClr val="1F264D"/>
                </a:solidFill>
                <a:latin typeface="DM Sans Bold"/>
                <a:ea typeface="DM Sans Bold"/>
                <a:cs typeface="DM Sans Bold"/>
                <a:sym typeface="DM Sans Bold"/>
              </a:rPr>
              <a:t>Ineffective Organizational Communication Channels</a:t>
            </a:r>
          </a:p>
          <a:p>
            <a:pPr algn="l">
              <a:lnSpc>
                <a:spcPts val="2204"/>
              </a:lnSpc>
            </a:pPr>
            <a:r>
              <a:rPr lang="en-US" sz="1574">
                <a:solidFill>
                  <a:srgbClr val="1F264D"/>
                </a:solidFill>
                <a:latin typeface="DM Sans"/>
                <a:ea typeface="DM Sans"/>
                <a:cs typeface="DM Sans"/>
                <a:sym typeface="DM Sans"/>
              </a:rPr>
              <a:t>Grace's decision to bypass her manager and directly contact the divisional VP highlights a lack of structured feedback mechanisms for employees to propose innovative solutions. </a:t>
            </a:r>
          </a:p>
          <a:p>
            <a:pPr algn="l">
              <a:lnSpc>
                <a:spcPts val="3044"/>
              </a:lnSpc>
            </a:pPr>
            <a:endParaRPr lang="en-US" sz="1574">
              <a:solidFill>
                <a:srgbClr val="1F264D"/>
              </a:solidFill>
              <a:latin typeface="DM Sans"/>
              <a:ea typeface="DM Sans"/>
              <a:cs typeface="DM Sans"/>
              <a:sym typeface="DM Sans"/>
            </a:endParaRPr>
          </a:p>
        </p:txBody>
      </p:sp>
      <p:sp>
        <p:nvSpPr>
          <p:cNvPr id="11" name="TextBox 11"/>
          <p:cNvSpPr txBox="1"/>
          <p:nvPr/>
        </p:nvSpPr>
        <p:spPr>
          <a:xfrm>
            <a:off x="584132" y="8254937"/>
            <a:ext cx="6024896" cy="1209802"/>
          </a:xfrm>
          <a:prstGeom prst="rect">
            <a:avLst/>
          </a:prstGeom>
        </p:spPr>
        <p:txBody>
          <a:bodyPr lIns="0" tIns="0" rIns="0" bIns="0" rtlCol="0" anchor="t">
            <a:spAutoFit/>
          </a:bodyPr>
          <a:lstStyle/>
          <a:p>
            <a:pPr marL="468502" lvl="1" indent="-234251" algn="l">
              <a:lnSpc>
                <a:spcPts val="3037"/>
              </a:lnSpc>
              <a:buFont typeface="Arial"/>
              <a:buChar char="•"/>
            </a:pPr>
            <a:r>
              <a:rPr lang="en-US" sz="2169" b="1" u="sng">
                <a:solidFill>
                  <a:srgbClr val="1F264D"/>
                </a:solidFill>
                <a:latin typeface="DM Sans Bold"/>
                <a:ea typeface="DM Sans Bold"/>
                <a:cs typeface="DM Sans Bold"/>
                <a:sym typeface="DM Sans Bold"/>
              </a:rPr>
              <a:t>Lack of career roadmap clarity</a:t>
            </a:r>
          </a:p>
          <a:p>
            <a:pPr algn="l">
              <a:lnSpc>
                <a:spcPts val="2197"/>
              </a:lnSpc>
            </a:pPr>
            <a:r>
              <a:rPr lang="en-US" sz="1569">
                <a:solidFill>
                  <a:srgbClr val="1F264D"/>
                </a:solidFill>
                <a:latin typeface="DM Sans"/>
                <a:ea typeface="DM Sans"/>
                <a:cs typeface="DM Sans"/>
                <a:sym typeface="DM Sans"/>
              </a:rPr>
              <a:t>The firm lacks </a:t>
            </a:r>
            <a:r>
              <a:rPr lang="en-US" sz="1569" b="1">
                <a:solidFill>
                  <a:srgbClr val="1F264D"/>
                </a:solidFill>
                <a:latin typeface="DM Sans Bold"/>
                <a:ea typeface="DM Sans Bold"/>
                <a:cs typeface="DM Sans Bold"/>
                <a:sym typeface="DM Sans Bold"/>
              </a:rPr>
              <a:t>transparent </a:t>
            </a:r>
            <a:r>
              <a:rPr lang="en-US" sz="1569">
                <a:solidFill>
                  <a:srgbClr val="1F264D"/>
                </a:solidFill>
                <a:latin typeface="DM Sans"/>
                <a:ea typeface="DM Sans"/>
                <a:cs typeface="DM Sans"/>
                <a:sym typeface="DM Sans"/>
              </a:rPr>
              <a:t>process mechanisms for junior employees to advocate for career advancement, leading Grace to seek alternative routes such as direct executive engagement.</a:t>
            </a:r>
          </a:p>
        </p:txBody>
      </p:sp>
      <p:sp>
        <p:nvSpPr>
          <p:cNvPr id="12" name="TextBox 12"/>
          <p:cNvSpPr txBox="1"/>
          <p:nvPr/>
        </p:nvSpPr>
        <p:spPr>
          <a:xfrm>
            <a:off x="8047501" y="4933099"/>
            <a:ext cx="6024896" cy="1486027"/>
          </a:xfrm>
          <a:prstGeom prst="rect">
            <a:avLst/>
          </a:prstGeom>
        </p:spPr>
        <p:txBody>
          <a:bodyPr lIns="0" tIns="0" rIns="0" bIns="0" rtlCol="0" anchor="t">
            <a:spAutoFit/>
          </a:bodyPr>
          <a:lstStyle/>
          <a:p>
            <a:pPr marL="468502" lvl="1" indent="-234251" algn="l">
              <a:lnSpc>
                <a:spcPts val="3037"/>
              </a:lnSpc>
              <a:buFont typeface="Arial"/>
              <a:buChar char="•"/>
            </a:pPr>
            <a:r>
              <a:rPr lang="en-US" sz="2169" b="1" u="sng">
                <a:solidFill>
                  <a:srgbClr val="1F264D"/>
                </a:solidFill>
                <a:latin typeface="DM Sans Bold"/>
                <a:ea typeface="DM Sans Bold"/>
                <a:cs typeface="DM Sans Bold"/>
                <a:sym typeface="DM Sans Bold"/>
              </a:rPr>
              <a:t>Supervisory control over opportunities</a:t>
            </a:r>
          </a:p>
          <a:p>
            <a:pPr algn="l">
              <a:lnSpc>
                <a:spcPts val="2197"/>
              </a:lnSpc>
            </a:pPr>
            <a:r>
              <a:rPr lang="en-US" sz="1569">
                <a:solidFill>
                  <a:srgbClr val="1F264D"/>
                </a:solidFill>
                <a:latin typeface="DM Sans"/>
                <a:ea typeface="DM Sans"/>
                <a:cs typeface="DM Sans"/>
                <a:sym typeface="DM Sans"/>
              </a:rPr>
              <a:t>Landon's repeated dismissal of Grace’s requests leads her to believe he is </a:t>
            </a:r>
            <a:r>
              <a:rPr lang="en-US" sz="1569" b="1">
                <a:solidFill>
                  <a:srgbClr val="1F264D"/>
                </a:solidFill>
                <a:latin typeface="DM Sans Bold"/>
                <a:ea typeface="DM Sans Bold"/>
                <a:cs typeface="DM Sans Bold"/>
                <a:sym typeface="DM Sans Bold"/>
              </a:rPr>
              <a:t>deliberately </a:t>
            </a:r>
            <a:r>
              <a:rPr lang="en-US" sz="1569">
                <a:solidFill>
                  <a:srgbClr val="1F264D"/>
                </a:solidFill>
                <a:latin typeface="DM Sans"/>
                <a:ea typeface="DM Sans"/>
                <a:cs typeface="DM Sans"/>
                <a:sym typeface="DM Sans"/>
              </a:rPr>
              <a:t>stalling her growth, contributing to a breakdown in trust and communication.</a:t>
            </a:r>
          </a:p>
          <a:p>
            <a:pPr algn="l">
              <a:lnSpc>
                <a:spcPts val="2197"/>
              </a:lnSpc>
            </a:pPr>
            <a:endParaRPr lang="en-US" sz="1569">
              <a:solidFill>
                <a:srgbClr val="1F264D"/>
              </a:solidFill>
              <a:latin typeface="DM Sans"/>
              <a:ea typeface="DM Sans"/>
              <a:cs typeface="DM Sans"/>
              <a:sym typeface="DM Sans"/>
            </a:endParaRPr>
          </a:p>
        </p:txBody>
      </p:sp>
      <p:sp>
        <p:nvSpPr>
          <p:cNvPr id="13" name="TextBox 13"/>
          <p:cNvSpPr txBox="1"/>
          <p:nvPr/>
        </p:nvSpPr>
        <p:spPr>
          <a:xfrm>
            <a:off x="8047501" y="6907684"/>
            <a:ext cx="6024896" cy="1867027"/>
          </a:xfrm>
          <a:prstGeom prst="rect">
            <a:avLst/>
          </a:prstGeom>
        </p:spPr>
        <p:txBody>
          <a:bodyPr lIns="0" tIns="0" rIns="0" bIns="0" rtlCol="0" anchor="t">
            <a:spAutoFit/>
          </a:bodyPr>
          <a:lstStyle/>
          <a:p>
            <a:pPr marL="468502" lvl="1" indent="-234251" algn="l">
              <a:lnSpc>
                <a:spcPts val="3037"/>
              </a:lnSpc>
              <a:buFont typeface="Arial"/>
              <a:buChar char="•"/>
            </a:pPr>
            <a:r>
              <a:rPr lang="en-US" sz="2169" b="1" u="sng">
                <a:solidFill>
                  <a:srgbClr val="1F264D"/>
                </a:solidFill>
                <a:latin typeface="DM Sans Bold"/>
                <a:ea typeface="DM Sans Bold"/>
                <a:cs typeface="DM Sans Bold"/>
                <a:sym typeface="DM Sans Bold"/>
              </a:rPr>
              <a:t>Risk of Overstepping Boundaries when engaging with leadership.</a:t>
            </a:r>
          </a:p>
          <a:p>
            <a:pPr algn="l">
              <a:lnSpc>
                <a:spcPts val="2197"/>
              </a:lnSpc>
            </a:pPr>
            <a:r>
              <a:rPr lang="en-US" sz="1569">
                <a:solidFill>
                  <a:srgbClr val="1F264D"/>
                </a:solidFill>
                <a:latin typeface="DM Sans"/>
                <a:ea typeface="DM Sans"/>
                <a:cs typeface="DM Sans"/>
                <a:sym typeface="DM Sans"/>
              </a:rPr>
              <a:t>While Grace exhibits significant initiative, her unconventional approach for change—through peer influence and direct executive engagement—creates tension and potential reputational Vulnerabilities.</a:t>
            </a:r>
          </a:p>
        </p:txBody>
      </p:sp>
      <p:sp>
        <p:nvSpPr>
          <p:cNvPr id="14" name="TextBox 14"/>
          <p:cNvSpPr txBox="1"/>
          <p:nvPr/>
        </p:nvSpPr>
        <p:spPr>
          <a:xfrm>
            <a:off x="8047501" y="4069716"/>
            <a:ext cx="6024896" cy="431800"/>
          </a:xfrm>
          <a:prstGeom prst="rect">
            <a:avLst/>
          </a:prstGeom>
        </p:spPr>
        <p:txBody>
          <a:bodyPr lIns="0" tIns="0" rIns="0" bIns="0" rtlCol="0" anchor="t">
            <a:spAutoFit/>
          </a:bodyPr>
          <a:lstStyle/>
          <a:p>
            <a:pPr algn="l">
              <a:lnSpc>
                <a:spcPts val="3500"/>
              </a:lnSpc>
            </a:pPr>
            <a:r>
              <a:rPr lang="en-US" sz="2500" b="1" u="sng">
                <a:solidFill>
                  <a:srgbClr val="1F264D"/>
                </a:solidFill>
                <a:latin typeface="DM Sans Bold"/>
                <a:ea typeface="DM Sans Bold"/>
                <a:cs typeface="DM Sans Bold"/>
                <a:sym typeface="DM Sans Bold"/>
              </a:rPr>
              <a:t>Risks</a:t>
            </a:r>
          </a:p>
        </p:txBody>
      </p:sp>
      <p:sp>
        <p:nvSpPr>
          <p:cNvPr id="15" name="TextBox 15"/>
          <p:cNvSpPr txBox="1"/>
          <p:nvPr/>
        </p:nvSpPr>
        <p:spPr>
          <a:xfrm>
            <a:off x="584132" y="6136096"/>
            <a:ext cx="6024896" cy="1590802"/>
          </a:xfrm>
          <a:prstGeom prst="rect">
            <a:avLst/>
          </a:prstGeom>
        </p:spPr>
        <p:txBody>
          <a:bodyPr lIns="0" tIns="0" rIns="0" bIns="0" rtlCol="0" anchor="t">
            <a:spAutoFit/>
          </a:bodyPr>
          <a:lstStyle/>
          <a:p>
            <a:pPr marL="468502" lvl="1" indent="-234251" algn="l">
              <a:lnSpc>
                <a:spcPts val="3037"/>
              </a:lnSpc>
              <a:buFont typeface="Arial"/>
              <a:buChar char="•"/>
            </a:pPr>
            <a:r>
              <a:rPr lang="en-US" sz="2169" b="1" u="sng">
                <a:solidFill>
                  <a:srgbClr val="1F264D"/>
                </a:solidFill>
                <a:latin typeface="DM Sans Bold"/>
                <a:ea typeface="DM Sans Bold"/>
                <a:cs typeface="DM Sans Bold"/>
                <a:sym typeface="DM Sans Bold"/>
              </a:rPr>
              <a:t>Divergence between individual aspiration and corporate culture</a:t>
            </a:r>
          </a:p>
          <a:p>
            <a:pPr algn="l">
              <a:lnSpc>
                <a:spcPts val="2197"/>
              </a:lnSpc>
            </a:pPr>
            <a:r>
              <a:rPr lang="en-US" sz="1569">
                <a:solidFill>
                  <a:srgbClr val="1F264D"/>
                </a:solidFill>
                <a:latin typeface="DM Sans"/>
                <a:ea typeface="DM Sans"/>
                <a:cs typeface="DM Sans"/>
                <a:sym typeface="DM Sans"/>
              </a:rPr>
              <a:t>Grace's </a:t>
            </a:r>
            <a:r>
              <a:rPr lang="en-US" sz="1569" b="1">
                <a:solidFill>
                  <a:srgbClr val="1F264D"/>
                </a:solidFill>
                <a:latin typeface="DM Sans Bold"/>
                <a:ea typeface="DM Sans Bold"/>
                <a:cs typeface="DM Sans Bold"/>
                <a:sym typeface="DM Sans Bold"/>
              </a:rPr>
              <a:t>proactive </a:t>
            </a:r>
            <a:r>
              <a:rPr lang="en-US" sz="1569">
                <a:solidFill>
                  <a:srgbClr val="1F264D"/>
                </a:solidFill>
                <a:latin typeface="DM Sans"/>
                <a:ea typeface="DM Sans"/>
                <a:cs typeface="DM Sans"/>
                <a:sym typeface="DM Sans"/>
              </a:rPr>
              <a:t>approach clashes with </a:t>
            </a:r>
            <a:r>
              <a:rPr lang="en-US" sz="1569" b="1">
                <a:solidFill>
                  <a:srgbClr val="1F264D"/>
                </a:solidFill>
                <a:latin typeface="DM Sans Bold"/>
                <a:ea typeface="DM Sans Bold"/>
                <a:cs typeface="DM Sans Bold"/>
                <a:sym typeface="DM Sans Bold"/>
              </a:rPr>
              <a:t>8SK Consulting’s hierarchical structure</a:t>
            </a:r>
            <a:r>
              <a:rPr lang="en-US" sz="1569">
                <a:solidFill>
                  <a:srgbClr val="1F264D"/>
                </a:solidFill>
                <a:latin typeface="DM Sans"/>
                <a:ea typeface="DM Sans"/>
                <a:cs typeface="DM Sans"/>
                <a:sym typeface="DM Sans"/>
              </a:rPr>
              <a:t>, where junior employees are expected to follow established pathways rather than drive innovation.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F50F8"/>
        </a:solidFill>
        <a:effectLst/>
      </p:bgPr>
    </p:bg>
    <p:spTree>
      <p:nvGrpSpPr>
        <p:cNvPr id="1" name=""/>
        <p:cNvGrpSpPr/>
        <p:nvPr/>
      </p:nvGrpSpPr>
      <p:grpSpPr>
        <a:xfrm>
          <a:off x="0" y="0"/>
          <a:ext cx="0" cy="0"/>
          <a:chOff x="0" y="0"/>
          <a:chExt cx="0" cy="0"/>
        </a:xfrm>
      </p:grpSpPr>
      <p:grpSp>
        <p:nvGrpSpPr>
          <p:cNvPr id="2" name="Group 2"/>
          <p:cNvGrpSpPr/>
          <p:nvPr/>
        </p:nvGrpSpPr>
        <p:grpSpPr>
          <a:xfrm>
            <a:off x="1222205" y="2588963"/>
            <a:ext cx="7722996" cy="7214108"/>
            <a:chOff x="0" y="0"/>
            <a:chExt cx="1572155" cy="1468561"/>
          </a:xfrm>
        </p:grpSpPr>
        <p:sp>
          <p:nvSpPr>
            <p:cNvPr id="3" name="Freeform 3"/>
            <p:cNvSpPr/>
            <p:nvPr/>
          </p:nvSpPr>
          <p:spPr>
            <a:xfrm>
              <a:off x="0" y="0"/>
              <a:ext cx="1572155" cy="1468561"/>
            </a:xfrm>
            <a:custGeom>
              <a:avLst/>
              <a:gdLst/>
              <a:ahLst/>
              <a:cxnLst/>
              <a:rect l="l" t="t" r="r" b="b"/>
              <a:pathLst>
                <a:path w="1572155" h="1468561">
                  <a:moveTo>
                    <a:pt x="11027" y="0"/>
                  </a:moveTo>
                  <a:lnTo>
                    <a:pt x="1561128" y="0"/>
                  </a:lnTo>
                  <a:cubicBezTo>
                    <a:pt x="1567218" y="0"/>
                    <a:pt x="1572155" y="4937"/>
                    <a:pt x="1572155" y="11027"/>
                  </a:cubicBezTo>
                  <a:lnTo>
                    <a:pt x="1572155" y="1457534"/>
                  </a:lnTo>
                  <a:cubicBezTo>
                    <a:pt x="1572155" y="1460459"/>
                    <a:pt x="1570993" y="1463264"/>
                    <a:pt x="1568925" y="1465332"/>
                  </a:cubicBezTo>
                  <a:cubicBezTo>
                    <a:pt x="1566857" y="1467400"/>
                    <a:pt x="1564052" y="1468561"/>
                    <a:pt x="1561128" y="1468561"/>
                  </a:cubicBezTo>
                  <a:lnTo>
                    <a:pt x="11027" y="1468561"/>
                  </a:lnTo>
                  <a:cubicBezTo>
                    <a:pt x="4937" y="1468561"/>
                    <a:pt x="0" y="1463625"/>
                    <a:pt x="0" y="1457534"/>
                  </a:cubicBezTo>
                  <a:lnTo>
                    <a:pt x="0" y="11027"/>
                  </a:lnTo>
                  <a:cubicBezTo>
                    <a:pt x="0" y="4937"/>
                    <a:pt x="4937" y="0"/>
                    <a:pt x="11027" y="0"/>
                  </a:cubicBezTo>
                  <a:close/>
                </a:path>
              </a:pathLst>
            </a:custGeom>
            <a:solidFill>
              <a:srgbClr val="F4F4F4"/>
            </a:solidFill>
          </p:spPr>
        </p:sp>
        <p:sp>
          <p:nvSpPr>
            <p:cNvPr id="4" name="TextBox 4"/>
            <p:cNvSpPr txBox="1"/>
            <p:nvPr/>
          </p:nvSpPr>
          <p:spPr>
            <a:xfrm>
              <a:off x="0" y="-28575"/>
              <a:ext cx="1572155" cy="1497136"/>
            </a:xfrm>
            <a:prstGeom prst="rect">
              <a:avLst/>
            </a:prstGeom>
          </p:spPr>
          <p:txBody>
            <a:bodyPr lIns="254000" tIns="254000" rIns="254000" bIns="254000" rtlCol="0" anchor="ctr"/>
            <a:lstStyle/>
            <a:p>
              <a:pPr algn="ctr">
                <a:lnSpc>
                  <a:spcPts val="2729"/>
                </a:lnSpc>
              </a:pPr>
              <a:r>
                <a:rPr lang="en-US" sz="2099">
                  <a:solidFill>
                    <a:srgbClr val="1F264D"/>
                  </a:solidFill>
                  <a:latin typeface="DM Sans"/>
                  <a:ea typeface="DM Sans"/>
                  <a:cs typeface="DM Sans"/>
                  <a:sym typeface="DM Sans"/>
                </a:rPr>
                <a:t> </a:t>
              </a:r>
              <a:r>
                <a:rPr lang="en-US" sz="2099" b="1" u="sng">
                  <a:solidFill>
                    <a:srgbClr val="1F264D"/>
                  </a:solidFill>
                  <a:latin typeface="DM Sans Bold"/>
                  <a:ea typeface="DM Sans Bold"/>
                  <a:cs typeface="DM Sans Bold"/>
                  <a:sym typeface="DM Sans Bold"/>
                </a:rPr>
                <a:t>Recommendation: Strategic Alignment of Individual Initiative</a:t>
              </a:r>
            </a:p>
            <a:p>
              <a:pPr algn="ctr">
                <a:lnSpc>
                  <a:spcPts val="2469"/>
                </a:lnSpc>
              </a:pPr>
              <a:endParaRPr lang="en-US" sz="2099" b="1" u="sng">
                <a:solidFill>
                  <a:srgbClr val="1F264D"/>
                </a:solidFill>
                <a:latin typeface="DM Sans Bold"/>
                <a:ea typeface="DM Sans Bold"/>
                <a:cs typeface="DM Sans Bold"/>
                <a:sym typeface="DM Sans Bold"/>
              </a:endParaRPr>
            </a:p>
            <a:p>
              <a:pPr marL="410209" lvl="1" indent="-205105" algn="ctr">
                <a:lnSpc>
                  <a:spcPts val="2469"/>
                </a:lnSpc>
                <a:buFont typeface="Arial"/>
                <a:buChar char="•"/>
              </a:pPr>
              <a:r>
                <a:rPr lang="en-US" sz="1899" b="1" u="sng">
                  <a:solidFill>
                    <a:srgbClr val="1F264D"/>
                  </a:solidFill>
                  <a:latin typeface="DM Sans Bold"/>
                  <a:ea typeface="DM Sans Bold"/>
                  <a:cs typeface="DM Sans Bold"/>
                  <a:sym typeface="DM Sans Bold"/>
                </a:rPr>
                <a:t>Statement</a:t>
              </a:r>
              <a:r>
                <a:rPr lang="en-US" sz="1899">
                  <a:solidFill>
                    <a:srgbClr val="1F264D"/>
                  </a:solidFill>
                  <a:latin typeface="DM Sans"/>
                  <a:ea typeface="DM Sans"/>
                  <a:cs typeface="DM Sans"/>
                  <a:sym typeface="DM Sans"/>
                </a:rPr>
                <a:t>: Implement a structured framework for junior employee innovation, channelling proactive ideas through established, yet adaptable, internal processes.</a:t>
              </a:r>
            </a:p>
            <a:p>
              <a:pPr algn="ctr">
                <a:lnSpc>
                  <a:spcPts val="2469"/>
                </a:lnSpc>
              </a:pPr>
              <a:r>
                <a:rPr lang="en-US" sz="1899">
                  <a:solidFill>
                    <a:srgbClr val="1F264D"/>
                  </a:solidFill>
                  <a:latin typeface="DM Sans"/>
                  <a:ea typeface="DM Sans"/>
                  <a:cs typeface="DM Sans"/>
                  <a:sym typeface="DM Sans"/>
                </a:rPr>
                <a:t> </a:t>
              </a:r>
            </a:p>
            <a:p>
              <a:pPr algn="ctr">
                <a:lnSpc>
                  <a:spcPts val="2469"/>
                </a:lnSpc>
              </a:pPr>
              <a:r>
                <a:rPr lang="en-US" sz="1899" b="1" u="sng">
                  <a:solidFill>
                    <a:srgbClr val="1F264D"/>
                  </a:solidFill>
                  <a:latin typeface="DM Sans Bold"/>
                  <a:ea typeface="DM Sans Bold"/>
                  <a:cs typeface="DM Sans Bold"/>
                  <a:sym typeface="DM Sans Bold"/>
                </a:rPr>
                <a:t>Works if:</a:t>
              </a:r>
              <a:r>
                <a:rPr lang="en-US" sz="1899">
                  <a:solidFill>
                    <a:srgbClr val="1F264D"/>
                  </a:solidFill>
                  <a:latin typeface="DM Sans"/>
                  <a:ea typeface="DM Sans"/>
                  <a:cs typeface="DM Sans"/>
                  <a:sym typeface="DM Sans"/>
                </a:rPr>
                <a:t> </a:t>
              </a:r>
            </a:p>
            <a:p>
              <a:pPr marL="410209" lvl="1" indent="-205105" algn="ctr">
                <a:lnSpc>
                  <a:spcPts val="2469"/>
                </a:lnSpc>
                <a:buFont typeface="Arial"/>
                <a:buChar char="•"/>
              </a:pPr>
              <a:r>
                <a:rPr lang="en-US" sz="1899">
                  <a:solidFill>
                    <a:srgbClr val="1F264D"/>
                  </a:solidFill>
                  <a:latin typeface="DM Sans"/>
                  <a:ea typeface="DM Sans"/>
                  <a:cs typeface="DM Sans"/>
                  <a:sym typeface="DM Sans"/>
                </a:rPr>
                <a:t>Grace adopts a </a:t>
              </a:r>
              <a:r>
                <a:rPr lang="en-US" sz="1899" b="1">
                  <a:solidFill>
                    <a:srgbClr val="1F264D"/>
                  </a:solidFill>
                  <a:latin typeface="DM Sans Bold"/>
                  <a:ea typeface="DM Sans Bold"/>
                  <a:cs typeface="DM Sans Bold"/>
                  <a:sym typeface="DM Sans Bold"/>
                </a:rPr>
                <a:t>collaborative, influence-based approach</a:t>
              </a:r>
              <a:r>
                <a:rPr lang="en-US" sz="1899">
                  <a:solidFill>
                    <a:srgbClr val="1F264D"/>
                  </a:solidFill>
                  <a:latin typeface="DM Sans"/>
                  <a:ea typeface="DM Sans"/>
                  <a:cs typeface="DM Sans"/>
                  <a:sym typeface="DM Sans"/>
                </a:rPr>
                <a:t>, framing proposals with clear organizational benefits.</a:t>
              </a:r>
            </a:p>
            <a:p>
              <a:pPr marL="410209" lvl="1" indent="-205105" algn="ctr">
                <a:lnSpc>
                  <a:spcPts val="2469"/>
                </a:lnSpc>
                <a:buFont typeface="Arial"/>
                <a:buChar char="•"/>
              </a:pPr>
              <a:r>
                <a:rPr lang="en-US" sz="1899">
                  <a:solidFill>
                    <a:srgbClr val="1F264D"/>
                  </a:solidFill>
                  <a:latin typeface="DM Sans"/>
                  <a:ea typeface="DM Sans"/>
                  <a:cs typeface="DM Sans"/>
                  <a:sym typeface="DM Sans"/>
                </a:rPr>
                <a:t>8SK Consulting provides clear guidelines for proposal submission and review, with designated channels for innovative ideas.</a:t>
              </a:r>
            </a:p>
            <a:p>
              <a:pPr algn="ctr">
                <a:lnSpc>
                  <a:spcPts val="2469"/>
                </a:lnSpc>
              </a:pPr>
              <a:r>
                <a:rPr lang="en-US" sz="1899">
                  <a:solidFill>
                    <a:srgbClr val="1F264D"/>
                  </a:solidFill>
                  <a:latin typeface="DM Sans"/>
                  <a:ea typeface="DM Sans"/>
                  <a:cs typeface="DM Sans"/>
                  <a:sym typeface="DM Sans"/>
                </a:rPr>
                <a:t> </a:t>
              </a:r>
            </a:p>
            <a:p>
              <a:pPr algn="ctr">
                <a:lnSpc>
                  <a:spcPts val="2469"/>
                </a:lnSpc>
              </a:pPr>
              <a:r>
                <a:rPr lang="en-US" sz="1899" b="1" u="sng">
                  <a:solidFill>
                    <a:srgbClr val="1F264D"/>
                  </a:solidFill>
                  <a:latin typeface="DM Sans Bold"/>
                  <a:ea typeface="DM Sans Bold"/>
                  <a:cs typeface="DM Sans Bold"/>
                  <a:sym typeface="DM Sans Bold"/>
                </a:rPr>
                <a:t>Fails if:</a:t>
              </a:r>
              <a:r>
                <a:rPr lang="en-US" sz="1899">
                  <a:solidFill>
                    <a:srgbClr val="1F264D"/>
                  </a:solidFill>
                  <a:latin typeface="DM Sans"/>
                  <a:ea typeface="DM Sans"/>
                  <a:cs typeface="DM Sans"/>
                  <a:sym typeface="DM Sans"/>
                </a:rPr>
                <a:t> </a:t>
              </a:r>
            </a:p>
            <a:p>
              <a:pPr marL="410209" lvl="1" indent="-205105" algn="ctr">
                <a:lnSpc>
                  <a:spcPts val="2469"/>
                </a:lnSpc>
                <a:buFont typeface="Arial"/>
                <a:buChar char="•"/>
              </a:pPr>
              <a:r>
                <a:rPr lang="en-US" sz="1899">
                  <a:solidFill>
                    <a:srgbClr val="1F264D"/>
                  </a:solidFill>
                  <a:latin typeface="DM Sans"/>
                  <a:ea typeface="DM Sans"/>
                  <a:cs typeface="DM Sans"/>
                  <a:sym typeface="DM Sans"/>
                </a:rPr>
                <a:t>Grace perceives this as </a:t>
              </a:r>
              <a:r>
                <a:rPr lang="en-US" sz="1899" b="1">
                  <a:solidFill>
                    <a:srgbClr val="1F264D"/>
                  </a:solidFill>
                  <a:latin typeface="DM Sans Bold"/>
                  <a:ea typeface="DM Sans Bold"/>
                  <a:cs typeface="DM Sans Bold"/>
                  <a:sym typeface="DM Sans Bold"/>
                </a:rPr>
                <a:t>stifling </a:t>
              </a:r>
              <a:r>
                <a:rPr lang="en-US" sz="1899">
                  <a:solidFill>
                    <a:srgbClr val="1F264D"/>
                  </a:solidFill>
                  <a:latin typeface="DM Sans"/>
                  <a:ea typeface="DM Sans"/>
                  <a:cs typeface="DM Sans"/>
                  <a:sym typeface="DM Sans"/>
                </a:rPr>
                <a:t>and reverts to aggressive, informal tactics.</a:t>
              </a:r>
            </a:p>
            <a:p>
              <a:pPr marL="410209" lvl="1" indent="-205105" algn="ctr">
                <a:lnSpc>
                  <a:spcPts val="2469"/>
                </a:lnSpc>
                <a:buFont typeface="Arial"/>
                <a:buChar char="•"/>
              </a:pPr>
              <a:r>
                <a:rPr lang="en-US" sz="1899">
                  <a:solidFill>
                    <a:srgbClr val="1F264D"/>
                  </a:solidFill>
                  <a:latin typeface="DM Sans"/>
                  <a:ea typeface="DM Sans"/>
                  <a:cs typeface="DM Sans"/>
                  <a:sym typeface="DM Sans"/>
                </a:rPr>
                <a:t>8SK Consulting's framework remains rigid, bureaucratic, or lacks genuine receptiveness to new ideas.</a:t>
              </a:r>
            </a:p>
            <a:p>
              <a:pPr marL="410209" lvl="1" indent="-205105" algn="ctr">
                <a:lnSpc>
                  <a:spcPts val="2469"/>
                </a:lnSpc>
                <a:buFont typeface="Arial"/>
                <a:buChar char="•"/>
              </a:pPr>
              <a:r>
                <a:rPr lang="en-US" sz="1899">
                  <a:solidFill>
                    <a:srgbClr val="1F264D"/>
                  </a:solidFill>
                  <a:latin typeface="DM Sans"/>
                  <a:ea typeface="DM Sans"/>
                  <a:cs typeface="DM Sans"/>
                  <a:sym typeface="DM Sans"/>
                </a:rPr>
                <a:t>Landon feels threatened or lacks the authority/support to act on recommendations.</a:t>
              </a:r>
            </a:p>
            <a:p>
              <a:pPr algn="ctr">
                <a:lnSpc>
                  <a:spcPts val="2469"/>
                </a:lnSpc>
              </a:pPr>
              <a:endParaRPr lang="en-US" sz="1899">
                <a:solidFill>
                  <a:srgbClr val="1F264D"/>
                </a:solidFill>
                <a:latin typeface="DM Sans"/>
                <a:ea typeface="DM Sans"/>
                <a:cs typeface="DM Sans"/>
                <a:sym typeface="DM Sans"/>
              </a:endParaRPr>
            </a:p>
          </p:txBody>
        </p:sp>
      </p:grpSp>
      <p:grpSp>
        <p:nvGrpSpPr>
          <p:cNvPr id="5" name="Group 5"/>
          <p:cNvGrpSpPr/>
          <p:nvPr/>
        </p:nvGrpSpPr>
        <p:grpSpPr>
          <a:xfrm>
            <a:off x="9342800" y="2588963"/>
            <a:ext cx="7722996" cy="7310641"/>
            <a:chOff x="0" y="0"/>
            <a:chExt cx="1572155" cy="1488212"/>
          </a:xfrm>
        </p:grpSpPr>
        <p:sp>
          <p:nvSpPr>
            <p:cNvPr id="6" name="Freeform 6"/>
            <p:cNvSpPr/>
            <p:nvPr/>
          </p:nvSpPr>
          <p:spPr>
            <a:xfrm>
              <a:off x="0" y="0"/>
              <a:ext cx="1572155" cy="1488212"/>
            </a:xfrm>
            <a:custGeom>
              <a:avLst/>
              <a:gdLst/>
              <a:ahLst/>
              <a:cxnLst/>
              <a:rect l="l" t="t" r="r" b="b"/>
              <a:pathLst>
                <a:path w="1572155" h="1488212">
                  <a:moveTo>
                    <a:pt x="11027" y="0"/>
                  </a:moveTo>
                  <a:lnTo>
                    <a:pt x="1561128" y="0"/>
                  </a:lnTo>
                  <a:cubicBezTo>
                    <a:pt x="1567218" y="0"/>
                    <a:pt x="1572155" y="4937"/>
                    <a:pt x="1572155" y="11027"/>
                  </a:cubicBezTo>
                  <a:lnTo>
                    <a:pt x="1572155" y="1477185"/>
                  </a:lnTo>
                  <a:cubicBezTo>
                    <a:pt x="1572155" y="1483275"/>
                    <a:pt x="1567218" y="1488212"/>
                    <a:pt x="1561128" y="1488212"/>
                  </a:cubicBezTo>
                  <a:lnTo>
                    <a:pt x="11027" y="1488212"/>
                  </a:lnTo>
                  <a:cubicBezTo>
                    <a:pt x="4937" y="1488212"/>
                    <a:pt x="0" y="1483275"/>
                    <a:pt x="0" y="1477185"/>
                  </a:cubicBezTo>
                  <a:lnTo>
                    <a:pt x="0" y="11027"/>
                  </a:lnTo>
                  <a:cubicBezTo>
                    <a:pt x="0" y="4937"/>
                    <a:pt x="4937" y="0"/>
                    <a:pt x="11027" y="0"/>
                  </a:cubicBezTo>
                  <a:close/>
                </a:path>
              </a:pathLst>
            </a:custGeom>
            <a:solidFill>
              <a:srgbClr val="FFCECE"/>
            </a:solidFill>
          </p:spPr>
        </p:sp>
        <p:sp>
          <p:nvSpPr>
            <p:cNvPr id="7" name="TextBox 7"/>
            <p:cNvSpPr txBox="1"/>
            <p:nvPr/>
          </p:nvSpPr>
          <p:spPr>
            <a:xfrm>
              <a:off x="0" y="-28575"/>
              <a:ext cx="1572155" cy="1516787"/>
            </a:xfrm>
            <a:prstGeom prst="rect">
              <a:avLst/>
            </a:prstGeom>
          </p:spPr>
          <p:txBody>
            <a:bodyPr lIns="254000" tIns="254000" rIns="254000" bIns="254000" rtlCol="0" anchor="ctr"/>
            <a:lstStyle/>
            <a:p>
              <a:pPr algn="ctr">
                <a:lnSpc>
                  <a:spcPts val="2859"/>
                </a:lnSpc>
              </a:pPr>
              <a:r>
                <a:rPr lang="en-US" sz="2199">
                  <a:solidFill>
                    <a:srgbClr val="1F264D"/>
                  </a:solidFill>
                  <a:latin typeface="DM Sans"/>
                  <a:ea typeface="DM Sans"/>
                  <a:cs typeface="DM Sans"/>
                  <a:sym typeface="DM Sans"/>
                </a:rPr>
                <a:t> </a:t>
              </a:r>
              <a:r>
                <a:rPr lang="en-US" sz="2199" b="1" u="sng">
                  <a:solidFill>
                    <a:srgbClr val="1F264D"/>
                  </a:solidFill>
                  <a:latin typeface="DM Sans Bold"/>
                  <a:ea typeface="DM Sans Bold"/>
                  <a:cs typeface="DM Sans Bold"/>
                  <a:sym typeface="DM Sans Bold"/>
                </a:rPr>
                <a:t>Recommendation: Enhance Organizational Receptivity to Bottom-Up Innovation</a:t>
              </a:r>
            </a:p>
            <a:p>
              <a:pPr algn="ctr">
                <a:lnSpc>
                  <a:spcPts val="2859"/>
                </a:lnSpc>
              </a:pPr>
              <a:r>
                <a:rPr lang="en-US" sz="2199">
                  <a:solidFill>
                    <a:srgbClr val="1F264D"/>
                  </a:solidFill>
                  <a:latin typeface="DM Sans"/>
                  <a:ea typeface="DM Sans"/>
                  <a:cs typeface="DM Sans"/>
                  <a:sym typeface="DM Sans"/>
                </a:rPr>
                <a:t> </a:t>
              </a:r>
            </a:p>
            <a:p>
              <a:pPr marL="410209" lvl="1" indent="-205105" algn="ctr">
                <a:lnSpc>
                  <a:spcPts val="2469"/>
                </a:lnSpc>
                <a:buFont typeface="Arial"/>
                <a:buChar char="•"/>
              </a:pPr>
              <a:r>
                <a:rPr lang="en-US" sz="1899" b="1" u="sng">
                  <a:solidFill>
                    <a:srgbClr val="1F264D"/>
                  </a:solidFill>
                  <a:latin typeface="DM Sans Bold"/>
                  <a:ea typeface="DM Sans Bold"/>
                  <a:cs typeface="DM Sans Bold"/>
                  <a:sym typeface="DM Sans Bold"/>
                </a:rPr>
                <a:t>Statement</a:t>
              </a:r>
              <a:r>
                <a:rPr lang="en-US" sz="1899">
                  <a:solidFill>
                    <a:srgbClr val="1F264D"/>
                  </a:solidFill>
                  <a:latin typeface="DM Sans"/>
                  <a:ea typeface="DM Sans"/>
                  <a:cs typeface="DM Sans"/>
                  <a:sym typeface="DM Sans"/>
                </a:rPr>
                <a:t>: 8SK Consulting should proactively develop mechanisms (e.g., innovation hubs, cross-functional project teams, formal mentorship programs) to solicit and integrate junior-level insights.</a:t>
              </a:r>
            </a:p>
            <a:p>
              <a:pPr algn="ctr">
                <a:lnSpc>
                  <a:spcPts val="2469"/>
                </a:lnSpc>
              </a:pPr>
              <a:r>
                <a:rPr lang="en-US" sz="1899">
                  <a:solidFill>
                    <a:srgbClr val="1F264D"/>
                  </a:solidFill>
                  <a:latin typeface="DM Sans"/>
                  <a:ea typeface="DM Sans"/>
                  <a:cs typeface="DM Sans"/>
                  <a:sym typeface="DM Sans"/>
                </a:rPr>
                <a:t> </a:t>
              </a:r>
            </a:p>
            <a:p>
              <a:pPr algn="ctr">
                <a:lnSpc>
                  <a:spcPts val="2469"/>
                </a:lnSpc>
              </a:pPr>
              <a:r>
                <a:rPr lang="en-US" sz="1899" b="1" u="sng">
                  <a:solidFill>
                    <a:srgbClr val="1F264D"/>
                  </a:solidFill>
                  <a:latin typeface="DM Sans Bold"/>
                  <a:ea typeface="DM Sans Bold"/>
                  <a:cs typeface="DM Sans Bold"/>
                  <a:sym typeface="DM Sans Bold"/>
                </a:rPr>
                <a:t>Works if: </a:t>
              </a:r>
            </a:p>
            <a:p>
              <a:pPr marL="410209" lvl="1" indent="-205105" algn="ctr">
                <a:lnSpc>
                  <a:spcPts val="2469"/>
                </a:lnSpc>
                <a:buFont typeface="Arial"/>
                <a:buChar char="•"/>
              </a:pPr>
              <a:r>
                <a:rPr lang="en-US" sz="1899">
                  <a:solidFill>
                    <a:srgbClr val="1F264D"/>
                  </a:solidFill>
                  <a:latin typeface="DM Sans"/>
                  <a:ea typeface="DM Sans"/>
                  <a:cs typeface="DM Sans"/>
                  <a:sym typeface="DM Sans"/>
                </a:rPr>
                <a:t>Leadership actively promotes a culture of psychological safety and values diverse perspectives.</a:t>
              </a:r>
            </a:p>
            <a:p>
              <a:pPr marL="410209" lvl="1" indent="-205105" algn="ctr">
                <a:lnSpc>
                  <a:spcPts val="2469"/>
                </a:lnSpc>
                <a:buFont typeface="Arial"/>
                <a:buChar char="•"/>
              </a:pPr>
              <a:r>
                <a:rPr lang="en-US" sz="1899">
                  <a:solidFill>
                    <a:srgbClr val="1F264D"/>
                  </a:solidFill>
                  <a:latin typeface="DM Sans"/>
                  <a:ea typeface="DM Sans"/>
                  <a:cs typeface="DM Sans"/>
                  <a:sym typeface="DM Sans"/>
                </a:rPr>
                <a:t>Clear feedback loops and recognition systems are established for innovative contributions.</a:t>
              </a:r>
            </a:p>
            <a:p>
              <a:pPr algn="ctr">
                <a:lnSpc>
                  <a:spcPts val="2469"/>
                </a:lnSpc>
              </a:pPr>
              <a:r>
                <a:rPr lang="en-US" sz="1899">
                  <a:solidFill>
                    <a:srgbClr val="1F264D"/>
                  </a:solidFill>
                  <a:latin typeface="DM Sans"/>
                  <a:ea typeface="DM Sans"/>
                  <a:cs typeface="DM Sans"/>
                  <a:sym typeface="DM Sans"/>
                </a:rPr>
                <a:t> </a:t>
              </a:r>
            </a:p>
            <a:p>
              <a:pPr algn="ctr">
                <a:lnSpc>
                  <a:spcPts val="2469"/>
                </a:lnSpc>
              </a:pPr>
              <a:r>
                <a:rPr lang="en-US" sz="1899" b="1" u="sng">
                  <a:solidFill>
                    <a:srgbClr val="1F264D"/>
                  </a:solidFill>
                  <a:latin typeface="DM Sans Bold"/>
                  <a:ea typeface="DM Sans Bold"/>
                  <a:cs typeface="DM Sans Bold"/>
                  <a:sym typeface="DM Sans Bold"/>
                </a:rPr>
                <a:t>Fails if:</a:t>
              </a:r>
              <a:r>
                <a:rPr lang="en-US" sz="1899">
                  <a:solidFill>
                    <a:srgbClr val="1F264D"/>
                  </a:solidFill>
                  <a:latin typeface="DM Sans"/>
                  <a:ea typeface="DM Sans"/>
                  <a:cs typeface="DM Sans"/>
                  <a:sym typeface="DM Sans"/>
                </a:rPr>
                <a:t> </a:t>
              </a:r>
            </a:p>
            <a:p>
              <a:pPr marL="410209" lvl="1" indent="-205105" algn="ctr">
                <a:lnSpc>
                  <a:spcPts val="2469"/>
                </a:lnSpc>
                <a:buFont typeface="Arial"/>
                <a:buChar char="•"/>
              </a:pPr>
              <a:r>
                <a:rPr lang="en-US" sz="1899">
                  <a:solidFill>
                    <a:srgbClr val="1F264D"/>
                  </a:solidFill>
                  <a:latin typeface="DM Sans"/>
                  <a:ea typeface="DM Sans"/>
                  <a:cs typeface="DM Sans"/>
                  <a:sym typeface="DM Sans"/>
                </a:rPr>
                <a:t>Initiatives are merely performative without genuine commitment or resource allocation.</a:t>
              </a:r>
            </a:p>
            <a:p>
              <a:pPr marL="410209" lvl="1" indent="-205105" algn="ctr">
                <a:lnSpc>
                  <a:spcPts val="2469"/>
                </a:lnSpc>
                <a:buFont typeface="Arial"/>
                <a:buChar char="•"/>
              </a:pPr>
              <a:r>
                <a:rPr lang="en-US" sz="1899">
                  <a:solidFill>
                    <a:srgbClr val="1F264D"/>
                  </a:solidFill>
                  <a:latin typeface="DM Sans"/>
                  <a:ea typeface="DM Sans"/>
                  <a:cs typeface="DM Sans"/>
                  <a:sym typeface="DM Sans"/>
                </a:rPr>
                <a:t>Management perceives bottom-up innovation as a threat to control or existing power structures.</a:t>
              </a:r>
            </a:p>
            <a:p>
              <a:pPr marL="410209" lvl="1" indent="-205105" algn="ctr">
                <a:lnSpc>
                  <a:spcPts val="2469"/>
                </a:lnSpc>
                <a:buFont typeface="Arial"/>
                <a:buChar char="•"/>
              </a:pPr>
              <a:r>
                <a:rPr lang="en-US" sz="1899">
                  <a:solidFill>
                    <a:srgbClr val="1F264D"/>
                  </a:solidFill>
                  <a:latin typeface="DM Sans"/>
                  <a:ea typeface="DM Sans"/>
                  <a:cs typeface="DM Sans"/>
                  <a:sym typeface="DM Sans"/>
                </a:rPr>
                <a:t>Lack of follow-through on promising ideas leads to employee disillusionment.</a:t>
              </a:r>
            </a:p>
            <a:p>
              <a:pPr algn="ctr">
                <a:lnSpc>
                  <a:spcPts val="2469"/>
                </a:lnSpc>
              </a:pPr>
              <a:endParaRPr lang="en-US" sz="1899">
                <a:solidFill>
                  <a:srgbClr val="1F264D"/>
                </a:solidFill>
                <a:latin typeface="DM Sans"/>
                <a:ea typeface="DM Sans"/>
                <a:cs typeface="DM Sans"/>
                <a:sym typeface="DM Sans"/>
              </a:endParaRPr>
            </a:p>
          </p:txBody>
        </p:sp>
      </p:grpSp>
      <p:sp>
        <p:nvSpPr>
          <p:cNvPr id="8" name="Freeform 8"/>
          <p:cNvSpPr/>
          <p:nvPr/>
        </p:nvSpPr>
        <p:spPr>
          <a:xfrm rot="-694259">
            <a:off x="-3095953" y="3380160"/>
            <a:ext cx="4213664" cy="4113590"/>
          </a:xfrm>
          <a:custGeom>
            <a:avLst/>
            <a:gdLst/>
            <a:ahLst/>
            <a:cxnLst/>
            <a:rect l="l" t="t" r="r" b="b"/>
            <a:pathLst>
              <a:path w="4213664" h="4113590">
                <a:moveTo>
                  <a:pt x="0" y="0"/>
                </a:moveTo>
                <a:lnTo>
                  <a:pt x="4213664" y="0"/>
                </a:lnTo>
                <a:lnTo>
                  <a:pt x="4213664" y="4113590"/>
                </a:lnTo>
                <a:lnTo>
                  <a:pt x="0" y="4113590"/>
                </a:lnTo>
                <a:lnTo>
                  <a:pt x="0" y="0"/>
                </a:lnTo>
                <a:close/>
              </a:path>
            </a:pathLst>
          </a:custGeom>
          <a:blipFill>
            <a:blip r:embed="rId2"/>
            <a:stretch>
              <a:fillRect/>
            </a:stretch>
          </a:blipFill>
        </p:spPr>
      </p:sp>
      <p:sp>
        <p:nvSpPr>
          <p:cNvPr id="9" name="Freeform 9"/>
          <p:cNvSpPr/>
          <p:nvPr/>
        </p:nvSpPr>
        <p:spPr>
          <a:xfrm>
            <a:off x="13990532" y="111402"/>
            <a:ext cx="3268768" cy="1834596"/>
          </a:xfrm>
          <a:custGeom>
            <a:avLst/>
            <a:gdLst/>
            <a:ahLst/>
            <a:cxnLst/>
            <a:rect l="l" t="t" r="r" b="b"/>
            <a:pathLst>
              <a:path w="3268768" h="1834596">
                <a:moveTo>
                  <a:pt x="0" y="0"/>
                </a:moveTo>
                <a:lnTo>
                  <a:pt x="3268768" y="0"/>
                </a:lnTo>
                <a:lnTo>
                  <a:pt x="3268768" y="1834596"/>
                </a:lnTo>
                <a:lnTo>
                  <a:pt x="0" y="1834596"/>
                </a:lnTo>
                <a:lnTo>
                  <a:pt x="0" y="0"/>
                </a:lnTo>
                <a:close/>
              </a:path>
            </a:pathLst>
          </a:custGeom>
          <a:blipFill>
            <a:blip r:embed="rId3"/>
            <a:stretch>
              <a:fillRect/>
            </a:stretch>
          </a:blipFill>
        </p:spPr>
      </p:sp>
      <p:sp>
        <p:nvSpPr>
          <p:cNvPr id="10" name="Freeform 10"/>
          <p:cNvSpPr/>
          <p:nvPr/>
        </p:nvSpPr>
        <p:spPr>
          <a:xfrm>
            <a:off x="1222205" y="908999"/>
            <a:ext cx="12159831" cy="787904"/>
          </a:xfrm>
          <a:custGeom>
            <a:avLst/>
            <a:gdLst/>
            <a:ahLst/>
            <a:cxnLst/>
            <a:rect l="l" t="t" r="r" b="b"/>
            <a:pathLst>
              <a:path w="12159831" h="787904">
                <a:moveTo>
                  <a:pt x="0" y="0"/>
                </a:moveTo>
                <a:lnTo>
                  <a:pt x="12159830" y="0"/>
                </a:lnTo>
                <a:lnTo>
                  <a:pt x="12159830" y="787904"/>
                </a:lnTo>
                <a:lnTo>
                  <a:pt x="0" y="787904"/>
                </a:lnTo>
                <a:lnTo>
                  <a:pt x="0" y="0"/>
                </a:lnTo>
                <a:close/>
              </a:path>
            </a:pathLst>
          </a:custGeom>
          <a:blipFill>
            <a:blip r:embed="rId4"/>
            <a:stretch>
              <a:fillRect t="-154609" b="-169801"/>
            </a:stretch>
          </a:blipFill>
        </p:spPr>
      </p:sp>
      <p:sp>
        <p:nvSpPr>
          <p:cNvPr id="11" name="TextBox 11"/>
          <p:cNvSpPr txBox="1"/>
          <p:nvPr/>
        </p:nvSpPr>
        <p:spPr>
          <a:xfrm>
            <a:off x="1618886" y="1012548"/>
            <a:ext cx="12985403" cy="942975"/>
          </a:xfrm>
          <a:prstGeom prst="rect">
            <a:avLst/>
          </a:prstGeom>
        </p:spPr>
        <p:txBody>
          <a:bodyPr lIns="0" tIns="0" rIns="0" bIns="0" rtlCol="0" anchor="t">
            <a:spAutoFit/>
          </a:bodyPr>
          <a:lstStyle/>
          <a:p>
            <a:pPr algn="l">
              <a:lnSpc>
                <a:spcPts val="3719"/>
              </a:lnSpc>
            </a:pPr>
            <a:r>
              <a:rPr lang="en-US" sz="3099" b="1" u="sng">
                <a:solidFill>
                  <a:srgbClr val="F4F4F4"/>
                </a:solidFill>
                <a:latin typeface="DM Sans Bold"/>
                <a:ea typeface="DM Sans Bold"/>
                <a:cs typeface="DM Sans Bold"/>
                <a:sym typeface="DM Sans Bold"/>
              </a:rPr>
              <a:t>Ai Recommendations: Grace -&gt; 8SK Consulting</a:t>
            </a:r>
          </a:p>
          <a:p>
            <a:pPr algn="l">
              <a:lnSpc>
                <a:spcPts val="3719"/>
              </a:lnSpc>
            </a:pPr>
            <a:endParaRPr lang="en-US" sz="3099" b="1" u="sng">
              <a:solidFill>
                <a:srgbClr val="F4F4F4"/>
              </a:solidFill>
              <a:latin typeface="DM Sans Bold"/>
              <a:ea typeface="DM Sans Bold"/>
              <a:cs typeface="DM Sans Bold"/>
              <a:sym typeface="DM Sans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382383" y="4354693"/>
            <a:ext cx="3523234" cy="1500320"/>
            <a:chOff x="0" y="0"/>
            <a:chExt cx="812800" cy="346119"/>
          </a:xfrm>
        </p:grpSpPr>
        <p:sp>
          <p:nvSpPr>
            <p:cNvPr id="3" name="Freeform 3"/>
            <p:cNvSpPr/>
            <p:nvPr/>
          </p:nvSpPr>
          <p:spPr>
            <a:xfrm>
              <a:off x="0" y="0"/>
              <a:ext cx="812800" cy="346119"/>
            </a:xfrm>
            <a:custGeom>
              <a:avLst/>
              <a:gdLst/>
              <a:ahLst/>
              <a:cxnLst/>
              <a:rect l="l" t="t" r="r" b="b"/>
              <a:pathLst>
                <a:path w="812800" h="346119">
                  <a:moveTo>
                    <a:pt x="24171" y="0"/>
                  </a:moveTo>
                  <a:lnTo>
                    <a:pt x="788629" y="0"/>
                  </a:lnTo>
                  <a:cubicBezTo>
                    <a:pt x="801978" y="0"/>
                    <a:pt x="812800" y="10822"/>
                    <a:pt x="812800" y="24171"/>
                  </a:cubicBezTo>
                  <a:lnTo>
                    <a:pt x="812800" y="321948"/>
                  </a:lnTo>
                  <a:cubicBezTo>
                    <a:pt x="812800" y="335298"/>
                    <a:pt x="801978" y="346119"/>
                    <a:pt x="788629" y="346119"/>
                  </a:cubicBezTo>
                  <a:lnTo>
                    <a:pt x="24171" y="346119"/>
                  </a:lnTo>
                  <a:cubicBezTo>
                    <a:pt x="17761" y="346119"/>
                    <a:pt x="11613" y="343573"/>
                    <a:pt x="7080" y="339040"/>
                  </a:cubicBezTo>
                  <a:cubicBezTo>
                    <a:pt x="2547" y="334507"/>
                    <a:pt x="0" y="328359"/>
                    <a:pt x="0" y="321948"/>
                  </a:cubicBezTo>
                  <a:lnTo>
                    <a:pt x="0" y="24171"/>
                  </a:lnTo>
                  <a:cubicBezTo>
                    <a:pt x="0" y="10822"/>
                    <a:pt x="10822" y="0"/>
                    <a:pt x="24171" y="0"/>
                  </a:cubicBezTo>
                  <a:close/>
                </a:path>
              </a:pathLst>
            </a:custGeom>
            <a:solidFill>
              <a:srgbClr val="1F264D"/>
            </a:solidFill>
          </p:spPr>
        </p:sp>
        <p:sp>
          <p:nvSpPr>
            <p:cNvPr id="4" name="TextBox 4"/>
            <p:cNvSpPr txBox="1"/>
            <p:nvPr/>
          </p:nvSpPr>
          <p:spPr>
            <a:xfrm>
              <a:off x="0" y="-47625"/>
              <a:ext cx="812800" cy="393744"/>
            </a:xfrm>
            <a:prstGeom prst="rect">
              <a:avLst/>
            </a:prstGeom>
          </p:spPr>
          <p:txBody>
            <a:bodyPr lIns="50800" tIns="50800" rIns="50800" bIns="50800" rtlCol="0" anchor="ctr"/>
            <a:lstStyle/>
            <a:p>
              <a:pPr algn="ctr">
                <a:lnSpc>
                  <a:spcPts val="3499"/>
                </a:lnSpc>
              </a:pPr>
              <a:r>
                <a:rPr lang="en-US" sz="2499">
                  <a:solidFill>
                    <a:srgbClr val="F4F4F4"/>
                  </a:solidFill>
                  <a:latin typeface="DM Sans"/>
                  <a:ea typeface="DM Sans"/>
                  <a:cs typeface="DM Sans"/>
                  <a:sym typeface="DM Sans"/>
                </a:rPr>
                <a:t>OPTIONS THAT GRACE CAN CHOOSE</a:t>
              </a:r>
            </a:p>
          </p:txBody>
        </p:sp>
      </p:grpSp>
      <p:grpSp>
        <p:nvGrpSpPr>
          <p:cNvPr id="5" name="Group 5"/>
          <p:cNvGrpSpPr/>
          <p:nvPr/>
        </p:nvGrpSpPr>
        <p:grpSpPr>
          <a:xfrm>
            <a:off x="4617262" y="4554930"/>
            <a:ext cx="1742542" cy="1090322"/>
            <a:chOff x="0" y="0"/>
            <a:chExt cx="851072" cy="532522"/>
          </a:xfrm>
        </p:grpSpPr>
        <p:sp>
          <p:nvSpPr>
            <p:cNvPr id="6" name="Freeform 6"/>
            <p:cNvSpPr/>
            <p:nvPr/>
          </p:nvSpPr>
          <p:spPr>
            <a:xfrm>
              <a:off x="0" y="0"/>
              <a:ext cx="851072" cy="532522"/>
            </a:xfrm>
            <a:custGeom>
              <a:avLst/>
              <a:gdLst/>
              <a:ahLst/>
              <a:cxnLst/>
              <a:rect l="l" t="t" r="r" b="b"/>
              <a:pathLst>
                <a:path w="851072" h="532522">
                  <a:moveTo>
                    <a:pt x="48872" y="0"/>
                  </a:moveTo>
                  <a:lnTo>
                    <a:pt x="802200" y="0"/>
                  </a:lnTo>
                  <a:cubicBezTo>
                    <a:pt x="829191" y="0"/>
                    <a:pt x="851072" y="21881"/>
                    <a:pt x="851072" y="48872"/>
                  </a:cubicBezTo>
                  <a:lnTo>
                    <a:pt x="851072" y="483650"/>
                  </a:lnTo>
                  <a:cubicBezTo>
                    <a:pt x="851072" y="510642"/>
                    <a:pt x="829191" y="532522"/>
                    <a:pt x="802200" y="532522"/>
                  </a:cubicBezTo>
                  <a:lnTo>
                    <a:pt x="48872" y="532522"/>
                  </a:lnTo>
                  <a:cubicBezTo>
                    <a:pt x="21881" y="532522"/>
                    <a:pt x="0" y="510642"/>
                    <a:pt x="0" y="483650"/>
                  </a:cubicBezTo>
                  <a:lnTo>
                    <a:pt x="0" y="48872"/>
                  </a:lnTo>
                  <a:cubicBezTo>
                    <a:pt x="0" y="21881"/>
                    <a:pt x="21881" y="0"/>
                    <a:pt x="48872" y="0"/>
                  </a:cubicBezTo>
                  <a:close/>
                </a:path>
              </a:pathLst>
            </a:custGeom>
            <a:solidFill>
              <a:srgbClr val="FFCECE"/>
            </a:solidFill>
          </p:spPr>
        </p:sp>
        <p:sp>
          <p:nvSpPr>
            <p:cNvPr id="7" name="TextBox 7"/>
            <p:cNvSpPr txBox="1"/>
            <p:nvPr/>
          </p:nvSpPr>
          <p:spPr>
            <a:xfrm>
              <a:off x="0" y="-38100"/>
              <a:ext cx="851072" cy="570622"/>
            </a:xfrm>
            <a:prstGeom prst="rect">
              <a:avLst/>
            </a:prstGeom>
          </p:spPr>
          <p:txBody>
            <a:bodyPr lIns="50800" tIns="50800" rIns="50800" bIns="50800" rtlCol="0" anchor="ctr"/>
            <a:lstStyle/>
            <a:p>
              <a:pPr algn="ctr">
                <a:lnSpc>
                  <a:spcPts val="2100"/>
                </a:lnSpc>
              </a:pPr>
              <a:r>
                <a:rPr lang="en-US" sz="1500">
                  <a:solidFill>
                    <a:srgbClr val="1F264D"/>
                  </a:solidFill>
                  <a:latin typeface="DM Sans"/>
                  <a:ea typeface="DM Sans"/>
                  <a:cs typeface="DM Sans"/>
                  <a:sym typeface="DM Sans"/>
                </a:rPr>
                <a:t>Evaluating Next Steps Based on Organizational Fit</a:t>
              </a:r>
            </a:p>
          </p:txBody>
        </p:sp>
      </p:grpSp>
      <p:grpSp>
        <p:nvGrpSpPr>
          <p:cNvPr id="8" name="Group 8"/>
          <p:cNvGrpSpPr/>
          <p:nvPr/>
        </p:nvGrpSpPr>
        <p:grpSpPr>
          <a:xfrm>
            <a:off x="8173979" y="2491857"/>
            <a:ext cx="1935282" cy="1162431"/>
            <a:chOff x="0" y="0"/>
            <a:chExt cx="945208" cy="567741"/>
          </a:xfrm>
        </p:grpSpPr>
        <p:sp>
          <p:nvSpPr>
            <p:cNvPr id="9" name="Freeform 9"/>
            <p:cNvSpPr/>
            <p:nvPr/>
          </p:nvSpPr>
          <p:spPr>
            <a:xfrm>
              <a:off x="0" y="0"/>
              <a:ext cx="945208" cy="567741"/>
            </a:xfrm>
            <a:custGeom>
              <a:avLst/>
              <a:gdLst/>
              <a:ahLst/>
              <a:cxnLst/>
              <a:rect l="l" t="t" r="r" b="b"/>
              <a:pathLst>
                <a:path w="945208" h="567741">
                  <a:moveTo>
                    <a:pt x="44004" y="0"/>
                  </a:moveTo>
                  <a:lnTo>
                    <a:pt x="901203" y="0"/>
                  </a:lnTo>
                  <a:cubicBezTo>
                    <a:pt x="912874" y="0"/>
                    <a:pt x="924067" y="4636"/>
                    <a:pt x="932319" y="12889"/>
                  </a:cubicBezTo>
                  <a:cubicBezTo>
                    <a:pt x="940572" y="21141"/>
                    <a:pt x="945208" y="32334"/>
                    <a:pt x="945208" y="44004"/>
                  </a:cubicBezTo>
                  <a:lnTo>
                    <a:pt x="945208" y="523736"/>
                  </a:lnTo>
                  <a:cubicBezTo>
                    <a:pt x="945208" y="548039"/>
                    <a:pt x="925506" y="567741"/>
                    <a:pt x="901203" y="567741"/>
                  </a:cubicBezTo>
                  <a:lnTo>
                    <a:pt x="44004" y="567741"/>
                  </a:lnTo>
                  <a:cubicBezTo>
                    <a:pt x="32334" y="567741"/>
                    <a:pt x="21141" y="563105"/>
                    <a:pt x="12889" y="554852"/>
                  </a:cubicBezTo>
                  <a:cubicBezTo>
                    <a:pt x="4636" y="546600"/>
                    <a:pt x="0" y="535407"/>
                    <a:pt x="0" y="523736"/>
                  </a:cubicBezTo>
                  <a:lnTo>
                    <a:pt x="0" y="44004"/>
                  </a:lnTo>
                  <a:cubicBezTo>
                    <a:pt x="0" y="32334"/>
                    <a:pt x="4636" y="21141"/>
                    <a:pt x="12889" y="12889"/>
                  </a:cubicBezTo>
                  <a:cubicBezTo>
                    <a:pt x="21141" y="4636"/>
                    <a:pt x="32334" y="0"/>
                    <a:pt x="44004" y="0"/>
                  </a:cubicBezTo>
                  <a:close/>
                </a:path>
              </a:pathLst>
            </a:custGeom>
            <a:solidFill>
              <a:srgbClr val="FFCECE"/>
            </a:solidFill>
          </p:spPr>
        </p:sp>
        <p:sp>
          <p:nvSpPr>
            <p:cNvPr id="10" name="TextBox 10"/>
            <p:cNvSpPr txBox="1"/>
            <p:nvPr/>
          </p:nvSpPr>
          <p:spPr>
            <a:xfrm>
              <a:off x="0" y="-38100"/>
              <a:ext cx="945208" cy="605841"/>
            </a:xfrm>
            <a:prstGeom prst="rect">
              <a:avLst/>
            </a:prstGeom>
          </p:spPr>
          <p:txBody>
            <a:bodyPr lIns="50800" tIns="50800" rIns="50800" bIns="50800" rtlCol="0" anchor="ctr"/>
            <a:lstStyle/>
            <a:p>
              <a:pPr algn="ctr">
                <a:lnSpc>
                  <a:spcPts val="2100"/>
                </a:lnSpc>
              </a:pPr>
              <a:r>
                <a:rPr lang="en-US" sz="1500">
                  <a:solidFill>
                    <a:srgbClr val="1F264D"/>
                  </a:solidFill>
                  <a:latin typeface="DM Sans"/>
                  <a:ea typeface="DM Sans"/>
                  <a:cs typeface="DM Sans"/>
                  <a:sym typeface="DM Sans"/>
                </a:rPr>
                <a:t>Strategic Communication and Influence Without Bypassing Hierarchy</a:t>
              </a:r>
            </a:p>
          </p:txBody>
        </p:sp>
      </p:grpSp>
      <p:grpSp>
        <p:nvGrpSpPr>
          <p:cNvPr id="11" name="Group 11"/>
          <p:cNvGrpSpPr/>
          <p:nvPr/>
        </p:nvGrpSpPr>
        <p:grpSpPr>
          <a:xfrm>
            <a:off x="8173979" y="6754298"/>
            <a:ext cx="1985329" cy="1162431"/>
            <a:chOff x="0" y="0"/>
            <a:chExt cx="969651" cy="567741"/>
          </a:xfrm>
        </p:grpSpPr>
        <p:sp>
          <p:nvSpPr>
            <p:cNvPr id="12" name="Freeform 12"/>
            <p:cNvSpPr/>
            <p:nvPr/>
          </p:nvSpPr>
          <p:spPr>
            <a:xfrm>
              <a:off x="0" y="0"/>
              <a:ext cx="969651" cy="567741"/>
            </a:xfrm>
            <a:custGeom>
              <a:avLst/>
              <a:gdLst/>
              <a:ahLst/>
              <a:cxnLst/>
              <a:rect l="l" t="t" r="r" b="b"/>
              <a:pathLst>
                <a:path w="969651" h="567741">
                  <a:moveTo>
                    <a:pt x="42895" y="0"/>
                  </a:moveTo>
                  <a:lnTo>
                    <a:pt x="926755" y="0"/>
                  </a:lnTo>
                  <a:cubicBezTo>
                    <a:pt x="938132" y="0"/>
                    <a:pt x="949043" y="4519"/>
                    <a:pt x="957087" y="12564"/>
                  </a:cubicBezTo>
                  <a:cubicBezTo>
                    <a:pt x="965131" y="20608"/>
                    <a:pt x="969651" y="31519"/>
                    <a:pt x="969651" y="42895"/>
                  </a:cubicBezTo>
                  <a:lnTo>
                    <a:pt x="969651" y="524846"/>
                  </a:lnTo>
                  <a:cubicBezTo>
                    <a:pt x="969651" y="548536"/>
                    <a:pt x="950446" y="567741"/>
                    <a:pt x="926755" y="567741"/>
                  </a:cubicBezTo>
                  <a:lnTo>
                    <a:pt x="42895" y="567741"/>
                  </a:lnTo>
                  <a:cubicBezTo>
                    <a:pt x="31519" y="567741"/>
                    <a:pt x="20608" y="563222"/>
                    <a:pt x="12564" y="555177"/>
                  </a:cubicBezTo>
                  <a:cubicBezTo>
                    <a:pt x="4519" y="547133"/>
                    <a:pt x="0" y="536222"/>
                    <a:pt x="0" y="524846"/>
                  </a:cubicBezTo>
                  <a:lnTo>
                    <a:pt x="0" y="42895"/>
                  </a:lnTo>
                  <a:cubicBezTo>
                    <a:pt x="0" y="31519"/>
                    <a:pt x="4519" y="20608"/>
                    <a:pt x="12564" y="12564"/>
                  </a:cubicBezTo>
                  <a:cubicBezTo>
                    <a:pt x="20608" y="4519"/>
                    <a:pt x="31519" y="0"/>
                    <a:pt x="42895" y="0"/>
                  </a:cubicBezTo>
                  <a:close/>
                </a:path>
              </a:pathLst>
            </a:custGeom>
            <a:solidFill>
              <a:srgbClr val="FFCECE"/>
            </a:solidFill>
          </p:spPr>
        </p:sp>
        <p:sp>
          <p:nvSpPr>
            <p:cNvPr id="13" name="TextBox 13"/>
            <p:cNvSpPr txBox="1"/>
            <p:nvPr/>
          </p:nvSpPr>
          <p:spPr>
            <a:xfrm>
              <a:off x="0" y="-38100"/>
              <a:ext cx="969651" cy="605841"/>
            </a:xfrm>
            <a:prstGeom prst="rect">
              <a:avLst/>
            </a:prstGeom>
          </p:spPr>
          <p:txBody>
            <a:bodyPr lIns="50800" tIns="50800" rIns="50800" bIns="50800" rtlCol="0" anchor="ctr"/>
            <a:lstStyle/>
            <a:p>
              <a:pPr algn="ctr">
                <a:lnSpc>
                  <a:spcPts val="2100"/>
                </a:lnSpc>
              </a:pPr>
              <a:r>
                <a:rPr lang="en-US" sz="1500">
                  <a:solidFill>
                    <a:srgbClr val="1F264D"/>
                  </a:solidFill>
                  <a:latin typeface="DM Sans"/>
                  <a:ea typeface="DM Sans"/>
                  <a:cs typeface="DM Sans"/>
                  <a:sym typeface="DM Sans"/>
                </a:rPr>
                <a:t>Gaining Visibility and Career Advancement Through Credible Actions</a:t>
              </a:r>
            </a:p>
          </p:txBody>
        </p:sp>
      </p:grpSp>
      <p:grpSp>
        <p:nvGrpSpPr>
          <p:cNvPr id="14" name="Group 14"/>
          <p:cNvGrpSpPr/>
          <p:nvPr/>
        </p:nvGrpSpPr>
        <p:grpSpPr>
          <a:xfrm>
            <a:off x="11797202" y="4385526"/>
            <a:ext cx="1742542" cy="1429131"/>
            <a:chOff x="0" y="0"/>
            <a:chExt cx="851072" cy="697999"/>
          </a:xfrm>
        </p:grpSpPr>
        <p:sp>
          <p:nvSpPr>
            <p:cNvPr id="15" name="Freeform 15"/>
            <p:cNvSpPr/>
            <p:nvPr/>
          </p:nvSpPr>
          <p:spPr>
            <a:xfrm>
              <a:off x="0" y="0"/>
              <a:ext cx="851072" cy="697999"/>
            </a:xfrm>
            <a:custGeom>
              <a:avLst/>
              <a:gdLst/>
              <a:ahLst/>
              <a:cxnLst/>
              <a:rect l="l" t="t" r="r" b="b"/>
              <a:pathLst>
                <a:path w="851072" h="697999">
                  <a:moveTo>
                    <a:pt x="48872" y="0"/>
                  </a:moveTo>
                  <a:lnTo>
                    <a:pt x="802200" y="0"/>
                  </a:lnTo>
                  <a:cubicBezTo>
                    <a:pt x="829191" y="0"/>
                    <a:pt x="851072" y="21881"/>
                    <a:pt x="851072" y="48872"/>
                  </a:cubicBezTo>
                  <a:lnTo>
                    <a:pt x="851072" y="649127"/>
                  </a:lnTo>
                  <a:cubicBezTo>
                    <a:pt x="851072" y="676119"/>
                    <a:pt x="829191" y="697999"/>
                    <a:pt x="802200" y="697999"/>
                  </a:cubicBezTo>
                  <a:lnTo>
                    <a:pt x="48872" y="697999"/>
                  </a:lnTo>
                  <a:cubicBezTo>
                    <a:pt x="21881" y="697999"/>
                    <a:pt x="0" y="676119"/>
                    <a:pt x="0" y="649127"/>
                  </a:cubicBezTo>
                  <a:lnTo>
                    <a:pt x="0" y="48872"/>
                  </a:lnTo>
                  <a:cubicBezTo>
                    <a:pt x="0" y="21881"/>
                    <a:pt x="21881" y="0"/>
                    <a:pt x="48872" y="0"/>
                  </a:cubicBezTo>
                  <a:close/>
                </a:path>
              </a:pathLst>
            </a:custGeom>
            <a:solidFill>
              <a:srgbClr val="FFCECE"/>
            </a:solidFill>
          </p:spPr>
        </p:sp>
        <p:sp>
          <p:nvSpPr>
            <p:cNvPr id="16" name="TextBox 16"/>
            <p:cNvSpPr txBox="1"/>
            <p:nvPr/>
          </p:nvSpPr>
          <p:spPr>
            <a:xfrm>
              <a:off x="0" y="-38100"/>
              <a:ext cx="851072" cy="736099"/>
            </a:xfrm>
            <a:prstGeom prst="rect">
              <a:avLst/>
            </a:prstGeom>
          </p:spPr>
          <p:txBody>
            <a:bodyPr lIns="50800" tIns="50800" rIns="50800" bIns="50800" rtlCol="0" anchor="ctr"/>
            <a:lstStyle/>
            <a:p>
              <a:pPr algn="ctr">
                <a:lnSpc>
                  <a:spcPts val="2100"/>
                </a:lnSpc>
              </a:pPr>
              <a:r>
                <a:rPr lang="en-US" sz="1500">
                  <a:solidFill>
                    <a:srgbClr val="1F264D"/>
                  </a:solidFill>
                  <a:latin typeface="DM Sans"/>
                  <a:ea typeface="DM Sans"/>
                  <a:cs typeface="DM Sans"/>
                  <a:sym typeface="DM Sans"/>
                </a:rPr>
                <a:t>Understanding the Workplace Hierarchy and Managerial Concerns</a:t>
              </a:r>
            </a:p>
          </p:txBody>
        </p:sp>
      </p:grpSp>
      <p:sp>
        <p:nvSpPr>
          <p:cNvPr id="17" name="AutoShape 17"/>
          <p:cNvSpPr/>
          <p:nvPr/>
        </p:nvSpPr>
        <p:spPr>
          <a:xfrm flipV="1">
            <a:off x="10905617" y="5100091"/>
            <a:ext cx="891585" cy="4762"/>
          </a:xfrm>
          <a:prstGeom prst="line">
            <a:avLst/>
          </a:prstGeom>
          <a:ln w="9525" cap="rnd">
            <a:solidFill>
              <a:srgbClr val="FB0505"/>
            </a:solidFill>
            <a:prstDash val="solid"/>
            <a:headEnd type="none" w="sm" len="sm"/>
            <a:tailEnd type="triangle" w="lg" len="med"/>
          </a:ln>
        </p:spPr>
      </p:sp>
      <p:sp>
        <p:nvSpPr>
          <p:cNvPr id="18" name="AutoShape 18"/>
          <p:cNvSpPr/>
          <p:nvPr/>
        </p:nvSpPr>
        <p:spPr>
          <a:xfrm flipH="1" flipV="1">
            <a:off x="6359804" y="5100091"/>
            <a:ext cx="1022579" cy="4762"/>
          </a:xfrm>
          <a:prstGeom prst="line">
            <a:avLst/>
          </a:prstGeom>
          <a:ln w="9525" cap="rnd">
            <a:solidFill>
              <a:srgbClr val="FB0505"/>
            </a:solidFill>
            <a:prstDash val="solid"/>
            <a:headEnd type="none" w="sm" len="sm"/>
            <a:tailEnd type="triangle" w="lg" len="med"/>
          </a:ln>
        </p:spPr>
      </p:sp>
      <p:sp>
        <p:nvSpPr>
          <p:cNvPr id="19" name="AutoShape 19"/>
          <p:cNvSpPr/>
          <p:nvPr/>
        </p:nvSpPr>
        <p:spPr>
          <a:xfrm flipH="1" flipV="1">
            <a:off x="9141620" y="3654288"/>
            <a:ext cx="2380" cy="700406"/>
          </a:xfrm>
          <a:prstGeom prst="line">
            <a:avLst/>
          </a:prstGeom>
          <a:ln w="9525" cap="rnd">
            <a:solidFill>
              <a:srgbClr val="FB0505"/>
            </a:solidFill>
            <a:prstDash val="solid"/>
            <a:headEnd type="none" w="sm" len="sm"/>
            <a:tailEnd type="triangle" w="lg" len="med"/>
          </a:ln>
        </p:spPr>
      </p:sp>
      <p:sp>
        <p:nvSpPr>
          <p:cNvPr id="20" name="AutoShape 20"/>
          <p:cNvSpPr/>
          <p:nvPr/>
        </p:nvSpPr>
        <p:spPr>
          <a:xfrm>
            <a:off x="9144000" y="5855013"/>
            <a:ext cx="22644" cy="899285"/>
          </a:xfrm>
          <a:prstGeom prst="line">
            <a:avLst/>
          </a:prstGeom>
          <a:ln w="9525" cap="rnd">
            <a:solidFill>
              <a:srgbClr val="FB0505"/>
            </a:solidFill>
            <a:prstDash val="solid"/>
            <a:headEnd type="none" w="sm" len="sm"/>
            <a:tailEnd type="triangle" w="lg" len="med"/>
          </a:ln>
        </p:spPr>
      </p:sp>
      <p:grpSp>
        <p:nvGrpSpPr>
          <p:cNvPr id="21" name="Group 21"/>
          <p:cNvGrpSpPr/>
          <p:nvPr/>
        </p:nvGrpSpPr>
        <p:grpSpPr>
          <a:xfrm>
            <a:off x="8283643" y="188864"/>
            <a:ext cx="3490498" cy="895731"/>
            <a:chOff x="0" y="0"/>
            <a:chExt cx="1704788" cy="437482"/>
          </a:xfrm>
        </p:grpSpPr>
        <p:sp>
          <p:nvSpPr>
            <p:cNvPr id="22" name="Freeform 22"/>
            <p:cNvSpPr/>
            <p:nvPr/>
          </p:nvSpPr>
          <p:spPr>
            <a:xfrm>
              <a:off x="0" y="0"/>
              <a:ext cx="1704788" cy="437482"/>
            </a:xfrm>
            <a:custGeom>
              <a:avLst/>
              <a:gdLst/>
              <a:ahLst/>
              <a:cxnLst/>
              <a:rect l="l" t="t" r="r" b="b"/>
              <a:pathLst>
                <a:path w="1704788" h="437482">
                  <a:moveTo>
                    <a:pt x="24398" y="0"/>
                  </a:moveTo>
                  <a:lnTo>
                    <a:pt x="1680390" y="0"/>
                  </a:lnTo>
                  <a:cubicBezTo>
                    <a:pt x="1686860" y="0"/>
                    <a:pt x="1693066" y="2570"/>
                    <a:pt x="1697642" y="7146"/>
                  </a:cubicBezTo>
                  <a:cubicBezTo>
                    <a:pt x="1702217" y="11722"/>
                    <a:pt x="1704788" y="17927"/>
                    <a:pt x="1704788" y="24398"/>
                  </a:cubicBezTo>
                  <a:lnTo>
                    <a:pt x="1704788" y="413084"/>
                  </a:lnTo>
                  <a:cubicBezTo>
                    <a:pt x="1704788" y="419555"/>
                    <a:pt x="1702217" y="425761"/>
                    <a:pt x="1697642" y="430336"/>
                  </a:cubicBezTo>
                  <a:cubicBezTo>
                    <a:pt x="1693066" y="434912"/>
                    <a:pt x="1686860" y="437482"/>
                    <a:pt x="1680390" y="437482"/>
                  </a:cubicBezTo>
                  <a:lnTo>
                    <a:pt x="24398" y="437482"/>
                  </a:lnTo>
                  <a:cubicBezTo>
                    <a:pt x="10923" y="437482"/>
                    <a:pt x="0" y="426559"/>
                    <a:pt x="0" y="413084"/>
                  </a:cubicBezTo>
                  <a:lnTo>
                    <a:pt x="0" y="24398"/>
                  </a:lnTo>
                  <a:cubicBezTo>
                    <a:pt x="0" y="17927"/>
                    <a:pt x="2570" y="11722"/>
                    <a:pt x="7146" y="7146"/>
                  </a:cubicBezTo>
                  <a:cubicBezTo>
                    <a:pt x="11722" y="2570"/>
                    <a:pt x="17927" y="0"/>
                    <a:pt x="24398" y="0"/>
                  </a:cubicBezTo>
                  <a:close/>
                </a:path>
              </a:pathLst>
            </a:custGeom>
            <a:solidFill>
              <a:srgbClr val="E2DEDE"/>
            </a:solidFill>
            <a:ln cap="sq">
              <a:noFill/>
              <a:prstDash val="solid"/>
              <a:miter/>
            </a:ln>
          </p:spPr>
        </p:sp>
        <p:sp>
          <p:nvSpPr>
            <p:cNvPr id="23" name="TextBox 23"/>
            <p:cNvSpPr txBox="1"/>
            <p:nvPr/>
          </p:nvSpPr>
          <p:spPr>
            <a:xfrm>
              <a:off x="0" y="-38100"/>
              <a:ext cx="1704788" cy="475582"/>
            </a:xfrm>
            <a:prstGeom prst="rect">
              <a:avLst/>
            </a:prstGeom>
          </p:spPr>
          <p:txBody>
            <a:bodyPr lIns="50800" tIns="50800" rIns="50800" bIns="50800" rtlCol="0" anchor="ctr"/>
            <a:lstStyle/>
            <a:p>
              <a:pPr marL="0" lvl="0" indent="0" algn="ctr">
                <a:lnSpc>
                  <a:spcPts val="2100"/>
                </a:lnSpc>
                <a:spcBef>
                  <a:spcPct val="0"/>
                </a:spcBef>
              </a:pPr>
              <a:r>
                <a:rPr lang="en-US" sz="1500">
                  <a:solidFill>
                    <a:srgbClr val="1F264D"/>
                  </a:solidFill>
                  <a:latin typeface="DM Sans"/>
                  <a:ea typeface="DM Sans"/>
                  <a:cs typeface="DM Sans"/>
                  <a:sym typeface="DM Sans"/>
                </a:rPr>
                <a:t>Engage with mentors to understand optimal approaches for driving change within the corporate structure.</a:t>
              </a:r>
            </a:p>
          </p:txBody>
        </p:sp>
      </p:grpSp>
      <p:grpSp>
        <p:nvGrpSpPr>
          <p:cNvPr id="24" name="Group 24"/>
          <p:cNvGrpSpPr/>
          <p:nvPr/>
        </p:nvGrpSpPr>
        <p:grpSpPr>
          <a:xfrm>
            <a:off x="12403614" y="636730"/>
            <a:ext cx="3070208" cy="895731"/>
            <a:chOff x="0" y="0"/>
            <a:chExt cx="1499515" cy="437482"/>
          </a:xfrm>
        </p:grpSpPr>
        <p:sp>
          <p:nvSpPr>
            <p:cNvPr id="25" name="Freeform 25"/>
            <p:cNvSpPr/>
            <p:nvPr/>
          </p:nvSpPr>
          <p:spPr>
            <a:xfrm>
              <a:off x="0" y="0"/>
              <a:ext cx="1499515" cy="437482"/>
            </a:xfrm>
            <a:custGeom>
              <a:avLst/>
              <a:gdLst/>
              <a:ahLst/>
              <a:cxnLst/>
              <a:rect l="l" t="t" r="r" b="b"/>
              <a:pathLst>
                <a:path w="1499515" h="437482">
                  <a:moveTo>
                    <a:pt x="27738" y="0"/>
                  </a:moveTo>
                  <a:lnTo>
                    <a:pt x="1471777" y="0"/>
                  </a:lnTo>
                  <a:cubicBezTo>
                    <a:pt x="1487096" y="0"/>
                    <a:pt x="1499515" y="12419"/>
                    <a:pt x="1499515" y="27738"/>
                  </a:cubicBezTo>
                  <a:lnTo>
                    <a:pt x="1499515" y="409744"/>
                  </a:lnTo>
                  <a:cubicBezTo>
                    <a:pt x="1499515" y="425064"/>
                    <a:pt x="1487096" y="437482"/>
                    <a:pt x="1471777" y="437482"/>
                  </a:cubicBezTo>
                  <a:lnTo>
                    <a:pt x="27738" y="437482"/>
                  </a:lnTo>
                  <a:cubicBezTo>
                    <a:pt x="12419" y="437482"/>
                    <a:pt x="0" y="425064"/>
                    <a:pt x="0" y="409744"/>
                  </a:cubicBezTo>
                  <a:lnTo>
                    <a:pt x="0" y="27738"/>
                  </a:lnTo>
                  <a:cubicBezTo>
                    <a:pt x="0" y="12419"/>
                    <a:pt x="12419" y="0"/>
                    <a:pt x="27738" y="0"/>
                  </a:cubicBezTo>
                  <a:close/>
                </a:path>
              </a:pathLst>
            </a:custGeom>
            <a:solidFill>
              <a:srgbClr val="E2DEDE"/>
            </a:solidFill>
            <a:ln cap="sq">
              <a:noFill/>
              <a:prstDash val="solid"/>
              <a:miter/>
            </a:ln>
          </p:spPr>
        </p:sp>
        <p:sp>
          <p:nvSpPr>
            <p:cNvPr id="26" name="TextBox 26"/>
            <p:cNvSpPr txBox="1"/>
            <p:nvPr/>
          </p:nvSpPr>
          <p:spPr>
            <a:xfrm>
              <a:off x="0" y="-38100"/>
              <a:ext cx="1499515" cy="475582"/>
            </a:xfrm>
            <a:prstGeom prst="rect">
              <a:avLst/>
            </a:prstGeom>
          </p:spPr>
          <p:txBody>
            <a:bodyPr lIns="50800" tIns="50800" rIns="50800" bIns="50800" rtlCol="0" anchor="ctr"/>
            <a:lstStyle/>
            <a:p>
              <a:pPr marL="0" lvl="0" indent="0" algn="ctr">
                <a:lnSpc>
                  <a:spcPts val="2100"/>
                </a:lnSpc>
                <a:spcBef>
                  <a:spcPct val="0"/>
                </a:spcBef>
              </a:pPr>
              <a:r>
                <a:rPr lang="en-US" sz="1500">
                  <a:solidFill>
                    <a:srgbClr val="1F264D"/>
                  </a:solidFill>
                  <a:latin typeface="DM Sans"/>
                  <a:ea typeface="DM Sans"/>
                  <a:cs typeface="DM Sans"/>
                  <a:sym typeface="DM Sans"/>
                </a:rPr>
                <a:t>Approach interactions with Landon by affirming his role and aligning with his objectives.</a:t>
              </a:r>
            </a:p>
          </p:txBody>
        </p:sp>
      </p:grpSp>
      <p:sp>
        <p:nvSpPr>
          <p:cNvPr id="27" name="AutoShape 27"/>
          <p:cNvSpPr/>
          <p:nvPr/>
        </p:nvSpPr>
        <p:spPr>
          <a:xfrm flipV="1">
            <a:off x="10076575" y="1476765"/>
            <a:ext cx="2339222" cy="1043833"/>
          </a:xfrm>
          <a:prstGeom prst="line">
            <a:avLst/>
          </a:prstGeom>
          <a:ln w="9525" cap="rnd">
            <a:solidFill>
              <a:srgbClr val="000000"/>
            </a:solidFill>
            <a:prstDash val="solid"/>
            <a:headEnd type="none" w="sm" len="sm"/>
            <a:tailEnd type="triangle" w="lg" len="med"/>
          </a:ln>
        </p:spPr>
      </p:sp>
      <p:grpSp>
        <p:nvGrpSpPr>
          <p:cNvPr id="28" name="Group 28"/>
          <p:cNvGrpSpPr/>
          <p:nvPr/>
        </p:nvGrpSpPr>
        <p:grpSpPr>
          <a:xfrm>
            <a:off x="14065472" y="2758557"/>
            <a:ext cx="3901383" cy="895731"/>
            <a:chOff x="0" y="0"/>
            <a:chExt cx="1905467" cy="437482"/>
          </a:xfrm>
        </p:grpSpPr>
        <p:sp>
          <p:nvSpPr>
            <p:cNvPr id="29" name="Freeform 29"/>
            <p:cNvSpPr/>
            <p:nvPr/>
          </p:nvSpPr>
          <p:spPr>
            <a:xfrm>
              <a:off x="0" y="0"/>
              <a:ext cx="1905467" cy="437482"/>
            </a:xfrm>
            <a:custGeom>
              <a:avLst/>
              <a:gdLst/>
              <a:ahLst/>
              <a:cxnLst/>
              <a:rect l="l" t="t" r="r" b="b"/>
              <a:pathLst>
                <a:path w="1905467" h="437482">
                  <a:moveTo>
                    <a:pt x="21828" y="0"/>
                  </a:moveTo>
                  <a:lnTo>
                    <a:pt x="1883639" y="0"/>
                  </a:lnTo>
                  <a:cubicBezTo>
                    <a:pt x="1895694" y="0"/>
                    <a:pt x="1905467" y="9773"/>
                    <a:pt x="1905467" y="21828"/>
                  </a:cubicBezTo>
                  <a:lnTo>
                    <a:pt x="1905467" y="415654"/>
                  </a:lnTo>
                  <a:cubicBezTo>
                    <a:pt x="1905467" y="421443"/>
                    <a:pt x="1903167" y="426995"/>
                    <a:pt x="1899074" y="431089"/>
                  </a:cubicBezTo>
                  <a:cubicBezTo>
                    <a:pt x="1894980" y="435183"/>
                    <a:pt x="1889428" y="437482"/>
                    <a:pt x="1883639" y="437482"/>
                  </a:cubicBezTo>
                  <a:lnTo>
                    <a:pt x="21828" y="437482"/>
                  </a:lnTo>
                  <a:cubicBezTo>
                    <a:pt x="9773" y="437482"/>
                    <a:pt x="0" y="427709"/>
                    <a:pt x="0" y="415654"/>
                  </a:cubicBezTo>
                  <a:lnTo>
                    <a:pt x="0" y="21828"/>
                  </a:lnTo>
                  <a:cubicBezTo>
                    <a:pt x="0" y="9773"/>
                    <a:pt x="9773" y="0"/>
                    <a:pt x="21828" y="0"/>
                  </a:cubicBezTo>
                  <a:close/>
                </a:path>
              </a:pathLst>
            </a:custGeom>
            <a:solidFill>
              <a:srgbClr val="EBC1E3"/>
            </a:solidFill>
          </p:spPr>
        </p:sp>
        <p:sp>
          <p:nvSpPr>
            <p:cNvPr id="30" name="TextBox 30"/>
            <p:cNvSpPr txBox="1"/>
            <p:nvPr/>
          </p:nvSpPr>
          <p:spPr>
            <a:xfrm>
              <a:off x="0" y="-38100"/>
              <a:ext cx="1905467" cy="475582"/>
            </a:xfrm>
            <a:prstGeom prst="rect">
              <a:avLst/>
            </a:prstGeom>
          </p:spPr>
          <p:txBody>
            <a:bodyPr lIns="50800" tIns="50800" rIns="50800" bIns="50800" rtlCol="0" anchor="ctr"/>
            <a:lstStyle/>
            <a:p>
              <a:pPr algn="ctr">
                <a:lnSpc>
                  <a:spcPts val="2100"/>
                </a:lnSpc>
              </a:pPr>
              <a:r>
                <a:rPr lang="en-US" sz="1500">
                  <a:solidFill>
                    <a:srgbClr val="1F264D"/>
                  </a:solidFill>
                  <a:latin typeface="DM Sans"/>
                  <a:ea typeface="DM Sans"/>
                  <a:cs typeface="DM Sans"/>
                  <a:sym typeface="DM Sans"/>
                </a:rPr>
                <a:t>Move from directly pushing concepts to strategically building consensus and buy-in through cooperative efforts.</a:t>
              </a:r>
            </a:p>
          </p:txBody>
        </p:sp>
      </p:grpSp>
      <p:grpSp>
        <p:nvGrpSpPr>
          <p:cNvPr id="31" name="Group 31"/>
          <p:cNvGrpSpPr/>
          <p:nvPr/>
        </p:nvGrpSpPr>
        <p:grpSpPr>
          <a:xfrm>
            <a:off x="4202095" y="279937"/>
            <a:ext cx="3452074" cy="1162431"/>
            <a:chOff x="0" y="0"/>
            <a:chExt cx="1686021" cy="567741"/>
          </a:xfrm>
        </p:grpSpPr>
        <p:sp>
          <p:nvSpPr>
            <p:cNvPr id="32" name="Freeform 32"/>
            <p:cNvSpPr/>
            <p:nvPr/>
          </p:nvSpPr>
          <p:spPr>
            <a:xfrm>
              <a:off x="0" y="0"/>
              <a:ext cx="1686021" cy="567741"/>
            </a:xfrm>
            <a:custGeom>
              <a:avLst/>
              <a:gdLst/>
              <a:ahLst/>
              <a:cxnLst/>
              <a:rect l="l" t="t" r="r" b="b"/>
              <a:pathLst>
                <a:path w="1686021" h="567741">
                  <a:moveTo>
                    <a:pt x="24670" y="0"/>
                  </a:moveTo>
                  <a:lnTo>
                    <a:pt x="1661352" y="0"/>
                  </a:lnTo>
                  <a:cubicBezTo>
                    <a:pt x="1667895" y="0"/>
                    <a:pt x="1674169" y="2599"/>
                    <a:pt x="1678796" y="7226"/>
                  </a:cubicBezTo>
                  <a:cubicBezTo>
                    <a:pt x="1683422" y="11852"/>
                    <a:pt x="1686021" y="18127"/>
                    <a:pt x="1686021" y="24670"/>
                  </a:cubicBezTo>
                  <a:lnTo>
                    <a:pt x="1686021" y="543071"/>
                  </a:lnTo>
                  <a:cubicBezTo>
                    <a:pt x="1686021" y="549614"/>
                    <a:pt x="1683422" y="555889"/>
                    <a:pt x="1678796" y="560515"/>
                  </a:cubicBezTo>
                  <a:cubicBezTo>
                    <a:pt x="1674169" y="565142"/>
                    <a:pt x="1667895" y="567741"/>
                    <a:pt x="1661352" y="567741"/>
                  </a:cubicBezTo>
                  <a:lnTo>
                    <a:pt x="24670" y="567741"/>
                  </a:lnTo>
                  <a:cubicBezTo>
                    <a:pt x="18127" y="567741"/>
                    <a:pt x="11852" y="565142"/>
                    <a:pt x="7226" y="560515"/>
                  </a:cubicBezTo>
                  <a:cubicBezTo>
                    <a:pt x="2599" y="555889"/>
                    <a:pt x="0" y="549614"/>
                    <a:pt x="0" y="543071"/>
                  </a:cubicBezTo>
                  <a:lnTo>
                    <a:pt x="0" y="24670"/>
                  </a:lnTo>
                  <a:cubicBezTo>
                    <a:pt x="0" y="18127"/>
                    <a:pt x="2599" y="11852"/>
                    <a:pt x="7226" y="7226"/>
                  </a:cubicBezTo>
                  <a:cubicBezTo>
                    <a:pt x="11852" y="2599"/>
                    <a:pt x="18127" y="0"/>
                    <a:pt x="24670" y="0"/>
                  </a:cubicBezTo>
                  <a:close/>
                </a:path>
              </a:pathLst>
            </a:custGeom>
            <a:solidFill>
              <a:srgbClr val="E2DEDE"/>
            </a:solidFill>
            <a:ln cap="sq">
              <a:noFill/>
              <a:prstDash val="solid"/>
              <a:miter/>
            </a:ln>
          </p:spPr>
        </p:sp>
        <p:sp>
          <p:nvSpPr>
            <p:cNvPr id="33" name="TextBox 33"/>
            <p:cNvSpPr txBox="1"/>
            <p:nvPr/>
          </p:nvSpPr>
          <p:spPr>
            <a:xfrm>
              <a:off x="0" y="-38100"/>
              <a:ext cx="1686021" cy="605841"/>
            </a:xfrm>
            <a:prstGeom prst="rect">
              <a:avLst/>
            </a:prstGeom>
          </p:spPr>
          <p:txBody>
            <a:bodyPr lIns="50800" tIns="50800" rIns="50800" bIns="50800" rtlCol="0" anchor="ctr"/>
            <a:lstStyle/>
            <a:p>
              <a:pPr marL="0" lvl="0" indent="0" algn="ctr">
                <a:lnSpc>
                  <a:spcPts val="2100"/>
                </a:lnSpc>
                <a:spcBef>
                  <a:spcPct val="0"/>
                </a:spcBef>
              </a:pPr>
              <a:r>
                <a:rPr lang="en-US" sz="1500">
                  <a:solidFill>
                    <a:srgbClr val="1F264D"/>
                  </a:solidFill>
                  <a:latin typeface="DM Sans"/>
                  <a:ea typeface="DM Sans"/>
                  <a:cs typeface="DM Sans"/>
                  <a:sym typeface="DM Sans"/>
                </a:rPr>
                <a:t>Construct proposals to articulate clear benefits for the organization, underscoring their strategic contribution.</a:t>
              </a:r>
            </a:p>
          </p:txBody>
        </p:sp>
      </p:grpSp>
      <p:grpSp>
        <p:nvGrpSpPr>
          <p:cNvPr id="34" name="Group 34"/>
          <p:cNvGrpSpPr/>
          <p:nvPr/>
        </p:nvGrpSpPr>
        <p:grpSpPr>
          <a:xfrm>
            <a:off x="7680170" y="9050786"/>
            <a:ext cx="2927661" cy="1162431"/>
            <a:chOff x="0" y="0"/>
            <a:chExt cx="1429894" cy="567741"/>
          </a:xfrm>
        </p:grpSpPr>
        <p:sp>
          <p:nvSpPr>
            <p:cNvPr id="35" name="Freeform 35"/>
            <p:cNvSpPr/>
            <p:nvPr/>
          </p:nvSpPr>
          <p:spPr>
            <a:xfrm>
              <a:off x="0" y="0"/>
              <a:ext cx="1429894" cy="567741"/>
            </a:xfrm>
            <a:custGeom>
              <a:avLst/>
              <a:gdLst/>
              <a:ahLst/>
              <a:cxnLst/>
              <a:rect l="l" t="t" r="r" b="b"/>
              <a:pathLst>
                <a:path w="1429894" h="567741">
                  <a:moveTo>
                    <a:pt x="29088" y="0"/>
                  </a:moveTo>
                  <a:lnTo>
                    <a:pt x="1400805" y="0"/>
                  </a:lnTo>
                  <a:cubicBezTo>
                    <a:pt x="1416870" y="0"/>
                    <a:pt x="1429894" y="13023"/>
                    <a:pt x="1429894" y="29088"/>
                  </a:cubicBezTo>
                  <a:lnTo>
                    <a:pt x="1429894" y="538652"/>
                  </a:lnTo>
                  <a:cubicBezTo>
                    <a:pt x="1429894" y="546367"/>
                    <a:pt x="1426829" y="553766"/>
                    <a:pt x="1421374" y="559221"/>
                  </a:cubicBezTo>
                  <a:cubicBezTo>
                    <a:pt x="1415919" y="564676"/>
                    <a:pt x="1408520" y="567741"/>
                    <a:pt x="1400805" y="567741"/>
                  </a:cubicBezTo>
                  <a:lnTo>
                    <a:pt x="29088" y="567741"/>
                  </a:lnTo>
                  <a:cubicBezTo>
                    <a:pt x="21374" y="567741"/>
                    <a:pt x="13975" y="564676"/>
                    <a:pt x="8520" y="559221"/>
                  </a:cubicBezTo>
                  <a:cubicBezTo>
                    <a:pt x="3065" y="553766"/>
                    <a:pt x="0" y="546367"/>
                    <a:pt x="0" y="538652"/>
                  </a:cubicBezTo>
                  <a:lnTo>
                    <a:pt x="0" y="29088"/>
                  </a:lnTo>
                  <a:cubicBezTo>
                    <a:pt x="0" y="21374"/>
                    <a:pt x="3065" y="13975"/>
                    <a:pt x="8520" y="8520"/>
                  </a:cubicBezTo>
                  <a:cubicBezTo>
                    <a:pt x="13975" y="3065"/>
                    <a:pt x="21374" y="0"/>
                    <a:pt x="29088" y="0"/>
                  </a:cubicBezTo>
                  <a:close/>
                </a:path>
              </a:pathLst>
            </a:custGeom>
            <a:solidFill>
              <a:srgbClr val="F4F4F4"/>
            </a:solidFill>
            <a:ln cap="sq">
              <a:noFill/>
              <a:prstDash val="solid"/>
              <a:miter/>
            </a:ln>
          </p:spPr>
        </p:sp>
        <p:sp>
          <p:nvSpPr>
            <p:cNvPr id="36" name="TextBox 36"/>
            <p:cNvSpPr txBox="1"/>
            <p:nvPr/>
          </p:nvSpPr>
          <p:spPr>
            <a:xfrm>
              <a:off x="0" y="-38100"/>
              <a:ext cx="1429894" cy="605841"/>
            </a:xfrm>
            <a:prstGeom prst="rect">
              <a:avLst/>
            </a:prstGeom>
          </p:spPr>
          <p:txBody>
            <a:bodyPr lIns="50800" tIns="50800" rIns="50800" bIns="50800" rtlCol="0" anchor="ctr"/>
            <a:lstStyle/>
            <a:p>
              <a:pPr marL="323850" lvl="1" indent="-161925" algn="ctr">
                <a:lnSpc>
                  <a:spcPts val="2100"/>
                </a:lnSpc>
                <a:spcBef>
                  <a:spcPct val="0"/>
                </a:spcBef>
                <a:buFont typeface="Arial"/>
                <a:buChar char="•"/>
              </a:pPr>
              <a:r>
                <a:rPr lang="en-US" sz="1500" u="none" strike="noStrike">
                  <a:solidFill>
                    <a:srgbClr val="1F264D"/>
                  </a:solidFill>
                  <a:latin typeface="DM Sans"/>
                  <a:ea typeface="DM Sans"/>
                  <a:cs typeface="DM Sans"/>
                  <a:sym typeface="DM Sans"/>
                </a:rPr>
                <a:t>Leverage small wins to demonstrate leadership capability before aiming for larger initiatives.</a:t>
              </a:r>
            </a:p>
          </p:txBody>
        </p:sp>
      </p:grpSp>
      <p:sp>
        <p:nvSpPr>
          <p:cNvPr id="37" name="AutoShape 37"/>
          <p:cNvSpPr/>
          <p:nvPr/>
        </p:nvSpPr>
        <p:spPr>
          <a:xfrm flipH="1">
            <a:off x="9144000" y="7916729"/>
            <a:ext cx="14971" cy="1134058"/>
          </a:xfrm>
          <a:prstGeom prst="line">
            <a:avLst/>
          </a:prstGeom>
          <a:ln w="9525" cap="rnd">
            <a:solidFill>
              <a:srgbClr val="000000"/>
            </a:solidFill>
            <a:prstDash val="solid"/>
            <a:headEnd type="none" w="sm" len="sm"/>
            <a:tailEnd type="triangle" w="lg" len="med"/>
          </a:ln>
        </p:spPr>
      </p:sp>
      <p:grpSp>
        <p:nvGrpSpPr>
          <p:cNvPr id="38" name="Group 38"/>
          <p:cNvGrpSpPr/>
          <p:nvPr/>
        </p:nvGrpSpPr>
        <p:grpSpPr>
          <a:xfrm>
            <a:off x="14065472" y="6678949"/>
            <a:ext cx="4005545" cy="1162431"/>
            <a:chOff x="0" y="0"/>
            <a:chExt cx="1956341" cy="567741"/>
          </a:xfrm>
        </p:grpSpPr>
        <p:sp>
          <p:nvSpPr>
            <p:cNvPr id="39" name="Freeform 39"/>
            <p:cNvSpPr/>
            <p:nvPr/>
          </p:nvSpPr>
          <p:spPr>
            <a:xfrm>
              <a:off x="0" y="0"/>
              <a:ext cx="1956341" cy="567741"/>
            </a:xfrm>
            <a:custGeom>
              <a:avLst/>
              <a:gdLst/>
              <a:ahLst/>
              <a:cxnLst/>
              <a:rect l="l" t="t" r="r" b="b"/>
              <a:pathLst>
                <a:path w="1956341" h="567741">
                  <a:moveTo>
                    <a:pt x="21261" y="0"/>
                  </a:moveTo>
                  <a:lnTo>
                    <a:pt x="1935080" y="0"/>
                  </a:lnTo>
                  <a:cubicBezTo>
                    <a:pt x="1946822" y="0"/>
                    <a:pt x="1956341" y="9519"/>
                    <a:pt x="1956341" y="21261"/>
                  </a:cubicBezTo>
                  <a:lnTo>
                    <a:pt x="1956341" y="546480"/>
                  </a:lnTo>
                  <a:cubicBezTo>
                    <a:pt x="1956341" y="558222"/>
                    <a:pt x="1946822" y="567741"/>
                    <a:pt x="1935080" y="567741"/>
                  </a:cubicBezTo>
                  <a:lnTo>
                    <a:pt x="21261" y="567741"/>
                  </a:lnTo>
                  <a:cubicBezTo>
                    <a:pt x="9519" y="567741"/>
                    <a:pt x="0" y="558222"/>
                    <a:pt x="0" y="546480"/>
                  </a:cubicBezTo>
                  <a:lnTo>
                    <a:pt x="0" y="21261"/>
                  </a:lnTo>
                  <a:cubicBezTo>
                    <a:pt x="0" y="9519"/>
                    <a:pt x="9519" y="0"/>
                    <a:pt x="21261" y="0"/>
                  </a:cubicBezTo>
                  <a:close/>
                </a:path>
              </a:pathLst>
            </a:custGeom>
            <a:solidFill>
              <a:srgbClr val="EBC1E3"/>
            </a:solidFill>
            <a:ln cap="sq">
              <a:noFill/>
              <a:prstDash val="solid"/>
              <a:miter/>
            </a:ln>
          </p:spPr>
        </p:sp>
        <p:sp>
          <p:nvSpPr>
            <p:cNvPr id="40" name="TextBox 40"/>
            <p:cNvSpPr txBox="1"/>
            <p:nvPr/>
          </p:nvSpPr>
          <p:spPr>
            <a:xfrm>
              <a:off x="0" y="-38100"/>
              <a:ext cx="1956341" cy="605841"/>
            </a:xfrm>
            <a:prstGeom prst="rect">
              <a:avLst/>
            </a:prstGeom>
          </p:spPr>
          <p:txBody>
            <a:bodyPr lIns="50800" tIns="50800" rIns="50800" bIns="50800" rtlCol="0" anchor="ctr"/>
            <a:lstStyle/>
            <a:p>
              <a:pPr marL="0" lvl="0" indent="0" algn="ctr">
                <a:lnSpc>
                  <a:spcPts val="2100"/>
                </a:lnSpc>
                <a:spcBef>
                  <a:spcPct val="0"/>
                </a:spcBef>
              </a:pPr>
              <a:r>
                <a:rPr lang="en-US" sz="1500">
                  <a:solidFill>
                    <a:srgbClr val="1F264D"/>
                  </a:solidFill>
                  <a:latin typeface="DM Sans"/>
                  <a:ea typeface="DM Sans"/>
                  <a:cs typeface="DM Sans"/>
                  <a:sym typeface="DM Sans"/>
                </a:rPr>
                <a:t>Investigate the formal and informal decision-making channels at 8SK Consulting to determine if Grace's methods are congruent with company expectations.</a:t>
              </a:r>
            </a:p>
          </p:txBody>
        </p:sp>
      </p:grpSp>
      <p:grpSp>
        <p:nvGrpSpPr>
          <p:cNvPr id="41" name="Group 41"/>
          <p:cNvGrpSpPr/>
          <p:nvPr/>
        </p:nvGrpSpPr>
        <p:grpSpPr>
          <a:xfrm>
            <a:off x="2621078" y="8731937"/>
            <a:ext cx="3445393" cy="1162431"/>
            <a:chOff x="0" y="0"/>
            <a:chExt cx="1682758" cy="567741"/>
          </a:xfrm>
        </p:grpSpPr>
        <p:sp>
          <p:nvSpPr>
            <p:cNvPr id="42" name="Freeform 42"/>
            <p:cNvSpPr/>
            <p:nvPr/>
          </p:nvSpPr>
          <p:spPr>
            <a:xfrm>
              <a:off x="0" y="0"/>
              <a:ext cx="1682758" cy="567741"/>
            </a:xfrm>
            <a:custGeom>
              <a:avLst/>
              <a:gdLst/>
              <a:ahLst/>
              <a:cxnLst/>
              <a:rect l="l" t="t" r="r" b="b"/>
              <a:pathLst>
                <a:path w="1682758" h="567741">
                  <a:moveTo>
                    <a:pt x="24717" y="0"/>
                  </a:moveTo>
                  <a:lnTo>
                    <a:pt x="1658041" y="0"/>
                  </a:lnTo>
                  <a:cubicBezTo>
                    <a:pt x="1671692" y="0"/>
                    <a:pt x="1682758" y="11066"/>
                    <a:pt x="1682758" y="24717"/>
                  </a:cubicBezTo>
                  <a:lnTo>
                    <a:pt x="1682758" y="543023"/>
                  </a:lnTo>
                  <a:cubicBezTo>
                    <a:pt x="1682758" y="556674"/>
                    <a:pt x="1671692" y="567741"/>
                    <a:pt x="1658041" y="567741"/>
                  </a:cubicBezTo>
                  <a:lnTo>
                    <a:pt x="24717" y="567741"/>
                  </a:lnTo>
                  <a:cubicBezTo>
                    <a:pt x="11066" y="567741"/>
                    <a:pt x="0" y="556674"/>
                    <a:pt x="0" y="543023"/>
                  </a:cubicBezTo>
                  <a:lnTo>
                    <a:pt x="0" y="24717"/>
                  </a:lnTo>
                  <a:cubicBezTo>
                    <a:pt x="0" y="11066"/>
                    <a:pt x="11066" y="0"/>
                    <a:pt x="24717" y="0"/>
                  </a:cubicBezTo>
                  <a:close/>
                </a:path>
              </a:pathLst>
            </a:custGeom>
            <a:solidFill>
              <a:srgbClr val="F4F4F4"/>
            </a:solidFill>
          </p:spPr>
        </p:sp>
        <p:sp>
          <p:nvSpPr>
            <p:cNvPr id="43" name="TextBox 43"/>
            <p:cNvSpPr txBox="1"/>
            <p:nvPr/>
          </p:nvSpPr>
          <p:spPr>
            <a:xfrm>
              <a:off x="0" y="-38100"/>
              <a:ext cx="1682758" cy="605841"/>
            </a:xfrm>
            <a:prstGeom prst="rect">
              <a:avLst/>
            </a:prstGeom>
          </p:spPr>
          <p:txBody>
            <a:bodyPr lIns="50800" tIns="50800" rIns="50800" bIns="50800" rtlCol="0" anchor="ctr"/>
            <a:lstStyle/>
            <a:p>
              <a:pPr marL="323850" lvl="1" indent="-161925" algn="ctr">
                <a:lnSpc>
                  <a:spcPts val="2100"/>
                </a:lnSpc>
                <a:buFont typeface="Arial"/>
                <a:buChar char="•"/>
              </a:pPr>
              <a:r>
                <a:rPr lang="en-US" sz="1500">
                  <a:solidFill>
                    <a:srgbClr val="1F264D"/>
                  </a:solidFill>
                  <a:latin typeface="DM Sans"/>
                  <a:ea typeface="DM Sans"/>
                  <a:cs typeface="DM Sans"/>
                  <a:sym typeface="DM Sans"/>
                </a:rPr>
                <a:t>Strengthen professional network within the organization to gain allies in decision-making roles.</a:t>
              </a:r>
            </a:p>
            <a:p>
              <a:pPr algn="ctr">
                <a:lnSpc>
                  <a:spcPts val="2100"/>
                </a:lnSpc>
              </a:pPr>
              <a:endParaRPr lang="en-US" sz="1500">
                <a:solidFill>
                  <a:srgbClr val="1F264D"/>
                </a:solidFill>
                <a:latin typeface="DM Sans"/>
                <a:ea typeface="DM Sans"/>
                <a:cs typeface="DM Sans"/>
                <a:sym typeface="DM Sans"/>
              </a:endParaRPr>
            </a:p>
          </p:txBody>
        </p:sp>
      </p:grpSp>
      <p:grpSp>
        <p:nvGrpSpPr>
          <p:cNvPr id="44" name="Group 44"/>
          <p:cNvGrpSpPr/>
          <p:nvPr/>
        </p:nvGrpSpPr>
        <p:grpSpPr>
          <a:xfrm>
            <a:off x="11994539" y="8712865"/>
            <a:ext cx="4541838" cy="1259002"/>
            <a:chOff x="0" y="0"/>
            <a:chExt cx="2218271" cy="614907"/>
          </a:xfrm>
        </p:grpSpPr>
        <p:sp>
          <p:nvSpPr>
            <p:cNvPr id="45" name="Freeform 45"/>
            <p:cNvSpPr/>
            <p:nvPr/>
          </p:nvSpPr>
          <p:spPr>
            <a:xfrm>
              <a:off x="0" y="0"/>
              <a:ext cx="2218271" cy="614907"/>
            </a:xfrm>
            <a:custGeom>
              <a:avLst/>
              <a:gdLst/>
              <a:ahLst/>
              <a:cxnLst/>
              <a:rect l="l" t="t" r="r" b="b"/>
              <a:pathLst>
                <a:path w="2218271" h="614907">
                  <a:moveTo>
                    <a:pt x="18750" y="0"/>
                  </a:moveTo>
                  <a:lnTo>
                    <a:pt x="2199520" y="0"/>
                  </a:lnTo>
                  <a:cubicBezTo>
                    <a:pt x="2209876" y="0"/>
                    <a:pt x="2218271" y="8395"/>
                    <a:pt x="2218271" y="18750"/>
                  </a:cubicBezTo>
                  <a:lnTo>
                    <a:pt x="2218271" y="596156"/>
                  </a:lnTo>
                  <a:cubicBezTo>
                    <a:pt x="2218271" y="606512"/>
                    <a:pt x="2209876" y="614907"/>
                    <a:pt x="2199520" y="614907"/>
                  </a:cubicBezTo>
                  <a:lnTo>
                    <a:pt x="18750" y="614907"/>
                  </a:lnTo>
                  <a:cubicBezTo>
                    <a:pt x="8395" y="614907"/>
                    <a:pt x="0" y="606512"/>
                    <a:pt x="0" y="596156"/>
                  </a:cubicBezTo>
                  <a:lnTo>
                    <a:pt x="0" y="18750"/>
                  </a:lnTo>
                  <a:cubicBezTo>
                    <a:pt x="0" y="8395"/>
                    <a:pt x="8395" y="0"/>
                    <a:pt x="18750" y="0"/>
                  </a:cubicBezTo>
                  <a:close/>
                </a:path>
              </a:pathLst>
            </a:custGeom>
            <a:solidFill>
              <a:srgbClr val="F4F4F4"/>
            </a:solidFill>
          </p:spPr>
        </p:sp>
        <p:sp>
          <p:nvSpPr>
            <p:cNvPr id="46" name="TextBox 46"/>
            <p:cNvSpPr txBox="1"/>
            <p:nvPr/>
          </p:nvSpPr>
          <p:spPr>
            <a:xfrm>
              <a:off x="0" y="-38100"/>
              <a:ext cx="2218271" cy="653007"/>
            </a:xfrm>
            <a:prstGeom prst="rect">
              <a:avLst/>
            </a:prstGeom>
          </p:spPr>
          <p:txBody>
            <a:bodyPr lIns="50800" tIns="50800" rIns="50800" bIns="50800" rtlCol="0" anchor="ctr"/>
            <a:lstStyle/>
            <a:p>
              <a:pPr marL="323850" lvl="1" indent="-161925" algn="ctr">
                <a:lnSpc>
                  <a:spcPts val="2100"/>
                </a:lnSpc>
                <a:buFont typeface="Arial"/>
                <a:buChar char="•"/>
              </a:pPr>
              <a:r>
                <a:rPr lang="en-US" sz="1500">
                  <a:solidFill>
                    <a:srgbClr val="1F264D"/>
                  </a:solidFill>
                  <a:latin typeface="DM Sans"/>
                  <a:ea typeface="DM Sans"/>
                  <a:cs typeface="DM Sans"/>
                  <a:sym typeface="DM Sans"/>
                </a:rPr>
                <a:t>Request involvement in projects that align with company priorities while respecting managerial approval processes. </a:t>
              </a:r>
            </a:p>
            <a:p>
              <a:pPr algn="ctr">
                <a:lnSpc>
                  <a:spcPts val="2100"/>
                </a:lnSpc>
              </a:pPr>
              <a:endParaRPr lang="en-US" sz="1500">
                <a:solidFill>
                  <a:srgbClr val="1F264D"/>
                </a:solidFill>
                <a:latin typeface="DM Sans"/>
                <a:ea typeface="DM Sans"/>
                <a:cs typeface="DM Sans"/>
                <a:sym typeface="DM Sans"/>
              </a:endParaRPr>
            </a:p>
          </p:txBody>
        </p:sp>
      </p:grpSp>
      <p:sp>
        <p:nvSpPr>
          <p:cNvPr id="47" name="AutoShape 47"/>
          <p:cNvSpPr/>
          <p:nvPr/>
        </p:nvSpPr>
        <p:spPr>
          <a:xfrm flipH="1" flipV="1">
            <a:off x="9118559" y="1084595"/>
            <a:ext cx="23061" cy="1407261"/>
          </a:xfrm>
          <a:prstGeom prst="line">
            <a:avLst/>
          </a:prstGeom>
          <a:ln w="9525" cap="rnd">
            <a:solidFill>
              <a:srgbClr val="000000"/>
            </a:solidFill>
            <a:prstDash val="solid"/>
            <a:headEnd type="none" w="sm" len="sm"/>
            <a:tailEnd type="triangle" w="lg" len="med"/>
          </a:ln>
        </p:spPr>
      </p:sp>
      <p:sp>
        <p:nvSpPr>
          <p:cNvPr id="48" name="AutoShape 48"/>
          <p:cNvSpPr/>
          <p:nvPr/>
        </p:nvSpPr>
        <p:spPr>
          <a:xfrm>
            <a:off x="13539744" y="5504710"/>
            <a:ext cx="2528501" cy="1174239"/>
          </a:xfrm>
          <a:prstGeom prst="line">
            <a:avLst/>
          </a:prstGeom>
          <a:ln w="9525" cap="rnd">
            <a:solidFill>
              <a:srgbClr val="000000"/>
            </a:solidFill>
            <a:prstDash val="solid"/>
            <a:headEnd type="none" w="sm" len="sm"/>
            <a:tailEnd type="triangle" w="lg" len="med"/>
          </a:ln>
        </p:spPr>
      </p:sp>
      <p:sp>
        <p:nvSpPr>
          <p:cNvPr id="49" name="AutoShape 49"/>
          <p:cNvSpPr/>
          <p:nvPr/>
        </p:nvSpPr>
        <p:spPr>
          <a:xfrm>
            <a:off x="10159135" y="7818019"/>
            <a:ext cx="1879889" cy="913919"/>
          </a:xfrm>
          <a:prstGeom prst="line">
            <a:avLst/>
          </a:prstGeom>
          <a:ln w="9525" cap="rnd">
            <a:solidFill>
              <a:srgbClr val="000000"/>
            </a:solidFill>
            <a:prstDash val="solid"/>
            <a:headEnd type="none" w="sm" len="sm"/>
            <a:tailEnd type="triangle" w="lg" len="med"/>
          </a:ln>
        </p:spPr>
      </p:sp>
      <p:sp>
        <p:nvSpPr>
          <p:cNvPr id="50" name="AutoShape 50"/>
          <p:cNvSpPr/>
          <p:nvPr/>
        </p:nvSpPr>
        <p:spPr>
          <a:xfrm flipH="1">
            <a:off x="6040549" y="7815651"/>
            <a:ext cx="2133494" cy="952066"/>
          </a:xfrm>
          <a:prstGeom prst="line">
            <a:avLst/>
          </a:prstGeom>
          <a:ln w="9525" cap="rnd">
            <a:solidFill>
              <a:srgbClr val="000000"/>
            </a:solidFill>
            <a:prstDash val="solid"/>
            <a:headEnd type="none" w="sm" len="sm"/>
            <a:tailEnd type="triangle" w="lg" len="med"/>
          </a:ln>
        </p:spPr>
      </p:sp>
      <p:sp>
        <p:nvSpPr>
          <p:cNvPr id="51" name="AutoShape 51"/>
          <p:cNvSpPr/>
          <p:nvPr/>
        </p:nvSpPr>
        <p:spPr>
          <a:xfrm flipV="1">
            <a:off x="13539744" y="3654288"/>
            <a:ext cx="2476420" cy="1069518"/>
          </a:xfrm>
          <a:prstGeom prst="line">
            <a:avLst/>
          </a:prstGeom>
          <a:ln w="9525" cap="rnd">
            <a:solidFill>
              <a:srgbClr val="000000"/>
            </a:solidFill>
            <a:prstDash val="solid"/>
            <a:headEnd type="none" w="sm" len="sm"/>
            <a:tailEnd type="triangle" w="lg" len="med"/>
          </a:ln>
        </p:spPr>
      </p:sp>
      <p:sp>
        <p:nvSpPr>
          <p:cNvPr id="52" name="AutoShape 52"/>
          <p:cNvSpPr/>
          <p:nvPr/>
        </p:nvSpPr>
        <p:spPr>
          <a:xfrm flipH="1" flipV="1">
            <a:off x="5876836" y="1442368"/>
            <a:ext cx="2308838" cy="1106114"/>
          </a:xfrm>
          <a:prstGeom prst="line">
            <a:avLst/>
          </a:prstGeom>
          <a:ln w="9525" cap="rnd">
            <a:solidFill>
              <a:srgbClr val="000000"/>
            </a:solidFill>
            <a:prstDash val="solid"/>
            <a:headEnd type="none" w="sm" len="sm"/>
            <a:tailEnd type="triangle" w="lg" len="med"/>
          </a:ln>
        </p:spPr>
      </p:sp>
      <p:grpSp>
        <p:nvGrpSpPr>
          <p:cNvPr id="53" name="Group 53"/>
          <p:cNvGrpSpPr/>
          <p:nvPr/>
        </p:nvGrpSpPr>
        <p:grpSpPr>
          <a:xfrm>
            <a:off x="230594" y="507132"/>
            <a:ext cx="5697538" cy="1424757"/>
            <a:chOff x="0" y="0"/>
            <a:chExt cx="7596718" cy="1899676"/>
          </a:xfrm>
        </p:grpSpPr>
        <p:sp>
          <p:nvSpPr>
            <p:cNvPr id="54" name="Freeform 54"/>
            <p:cNvSpPr/>
            <p:nvPr/>
          </p:nvSpPr>
          <p:spPr>
            <a:xfrm>
              <a:off x="0" y="0"/>
              <a:ext cx="3239772" cy="890937"/>
            </a:xfrm>
            <a:custGeom>
              <a:avLst/>
              <a:gdLst/>
              <a:ahLst/>
              <a:cxnLst/>
              <a:rect l="l" t="t" r="r" b="b"/>
              <a:pathLst>
                <a:path w="3239772" h="890937">
                  <a:moveTo>
                    <a:pt x="0" y="0"/>
                  </a:moveTo>
                  <a:lnTo>
                    <a:pt x="3239772" y="0"/>
                  </a:lnTo>
                  <a:lnTo>
                    <a:pt x="3239772" y="890937"/>
                  </a:lnTo>
                  <a:lnTo>
                    <a:pt x="0" y="890937"/>
                  </a:lnTo>
                  <a:lnTo>
                    <a:pt x="0" y="0"/>
                  </a:lnTo>
                  <a:close/>
                </a:path>
              </a:pathLst>
            </a:custGeom>
            <a:blipFill>
              <a:blip r:embed="rId2"/>
              <a:stretch>
                <a:fillRect/>
              </a:stretch>
            </a:blipFill>
          </p:spPr>
        </p:sp>
        <p:sp>
          <p:nvSpPr>
            <p:cNvPr id="55" name="TextBox 55"/>
            <p:cNvSpPr txBox="1"/>
            <p:nvPr/>
          </p:nvSpPr>
          <p:spPr>
            <a:xfrm>
              <a:off x="429559" y="-15541"/>
              <a:ext cx="2465585" cy="775970"/>
            </a:xfrm>
            <a:prstGeom prst="rect">
              <a:avLst/>
            </a:prstGeom>
          </p:spPr>
          <p:txBody>
            <a:bodyPr lIns="0" tIns="0" rIns="0" bIns="0" rtlCol="0" anchor="t">
              <a:spAutoFit/>
            </a:bodyPr>
            <a:lstStyle/>
            <a:p>
              <a:pPr algn="ctr">
                <a:lnSpc>
                  <a:spcPts val="2340"/>
                </a:lnSpc>
              </a:pPr>
              <a:r>
                <a:rPr lang="en-US" sz="1800">
                  <a:solidFill>
                    <a:srgbClr val="1F264D"/>
                  </a:solidFill>
                  <a:latin typeface="DM Sans"/>
                  <a:ea typeface="DM Sans"/>
                  <a:cs typeface="DM Sans"/>
                  <a:sym typeface="DM Sans"/>
                </a:rPr>
                <a:t>Possible Solutions</a:t>
              </a:r>
            </a:p>
          </p:txBody>
        </p:sp>
        <p:sp>
          <p:nvSpPr>
            <p:cNvPr id="56" name="TextBox 56"/>
            <p:cNvSpPr txBox="1"/>
            <p:nvPr/>
          </p:nvSpPr>
          <p:spPr>
            <a:xfrm>
              <a:off x="0" y="1340876"/>
              <a:ext cx="7596718" cy="558800"/>
            </a:xfrm>
            <a:prstGeom prst="rect">
              <a:avLst/>
            </a:prstGeom>
          </p:spPr>
          <p:txBody>
            <a:bodyPr lIns="0" tIns="0" rIns="0" bIns="0" rtlCol="0" anchor="t">
              <a:spAutoFit/>
            </a:bodyPr>
            <a:lstStyle/>
            <a:p>
              <a:pPr marL="0" lvl="0" indent="0" algn="l">
                <a:lnSpc>
                  <a:spcPts val="3360"/>
                </a:lnSpc>
                <a:spcBef>
                  <a:spcPct val="0"/>
                </a:spcBef>
              </a:pPr>
              <a:endParaRPr/>
            </a:p>
          </p:txBody>
        </p:sp>
      </p:grpSp>
      <p:grpSp>
        <p:nvGrpSpPr>
          <p:cNvPr id="57" name="Group 57"/>
          <p:cNvGrpSpPr/>
          <p:nvPr/>
        </p:nvGrpSpPr>
        <p:grpSpPr>
          <a:xfrm>
            <a:off x="826797" y="2492628"/>
            <a:ext cx="3588562" cy="1429131"/>
            <a:chOff x="0" y="0"/>
            <a:chExt cx="1752683" cy="697999"/>
          </a:xfrm>
        </p:grpSpPr>
        <p:sp>
          <p:nvSpPr>
            <p:cNvPr id="58" name="Freeform 58"/>
            <p:cNvSpPr/>
            <p:nvPr/>
          </p:nvSpPr>
          <p:spPr>
            <a:xfrm>
              <a:off x="0" y="0"/>
              <a:ext cx="1752683" cy="697999"/>
            </a:xfrm>
            <a:custGeom>
              <a:avLst/>
              <a:gdLst/>
              <a:ahLst/>
              <a:cxnLst/>
              <a:rect l="l" t="t" r="r" b="b"/>
              <a:pathLst>
                <a:path w="1752683" h="697999">
                  <a:moveTo>
                    <a:pt x="23731" y="0"/>
                  </a:moveTo>
                  <a:lnTo>
                    <a:pt x="1728952" y="0"/>
                  </a:lnTo>
                  <a:cubicBezTo>
                    <a:pt x="1735246" y="0"/>
                    <a:pt x="1741282" y="2500"/>
                    <a:pt x="1745733" y="6951"/>
                  </a:cubicBezTo>
                  <a:cubicBezTo>
                    <a:pt x="1750183" y="11401"/>
                    <a:pt x="1752683" y="17437"/>
                    <a:pt x="1752683" y="23731"/>
                  </a:cubicBezTo>
                  <a:lnTo>
                    <a:pt x="1752683" y="674268"/>
                  </a:lnTo>
                  <a:cubicBezTo>
                    <a:pt x="1752683" y="680562"/>
                    <a:pt x="1750183" y="686598"/>
                    <a:pt x="1745733" y="691049"/>
                  </a:cubicBezTo>
                  <a:cubicBezTo>
                    <a:pt x="1741282" y="695499"/>
                    <a:pt x="1735246" y="697999"/>
                    <a:pt x="1728952" y="697999"/>
                  </a:cubicBezTo>
                  <a:lnTo>
                    <a:pt x="23731" y="697999"/>
                  </a:lnTo>
                  <a:cubicBezTo>
                    <a:pt x="17437" y="697999"/>
                    <a:pt x="11401" y="695499"/>
                    <a:pt x="6951" y="691049"/>
                  </a:cubicBezTo>
                  <a:cubicBezTo>
                    <a:pt x="2500" y="686598"/>
                    <a:pt x="0" y="680562"/>
                    <a:pt x="0" y="674268"/>
                  </a:cubicBezTo>
                  <a:lnTo>
                    <a:pt x="0" y="23731"/>
                  </a:lnTo>
                  <a:cubicBezTo>
                    <a:pt x="0" y="17437"/>
                    <a:pt x="2500" y="11401"/>
                    <a:pt x="6951" y="6951"/>
                  </a:cubicBezTo>
                  <a:cubicBezTo>
                    <a:pt x="11401" y="2500"/>
                    <a:pt x="17437" y="0"/>
                    <a:pt x="23731" y="0"/>
                  </a:cubicBezTo>
                  <a:close/>
                </a:path>
              </a:pathLst>
            </a:custGeom>
            <a:solidFill>
              <a:srgbClr val="85DCE5"/>
            </a:solidFill>
          </p:spPr>
        </p:sp>
        <p:sp>
          <p:nvSpPr>
            <p:cNvPr id="59" name="TextBox 59"/>
            <p:cNvSpPr txBox="1"/>
            <p:nvPr/>
          </p:nvSpPr>
          <p:spPr>
            <a:xfrm>
              <a:off x="0" y="-38100"/>
              <a:ext cx="1752683" cy="736099"/>
            </a:xfrm>
            <a:prstGeom prst="rect">
              <a:avLst/>
            </a:prstGeom>
          </p:spPr>
          <p:txBody>
            <a:bodyPr lIns="50800" tIns="50800" rIns="50800" bIns="50800" rtlCol="0" anchor="ctr"/>
            <a:lstStyle/>
            <a:p>
              <a:pPr marL="323850" lvl="1" indent="-161925" algn="ctr">
                <a:lnSpc>
                  <a:spcPts val="2100"/>
                </a:lnSpc>
                <a:buFont typeface="Arial"/>
                <a:buChar char="•"/>
              </a:pPr>
              <a:r>
                <a:rPr lang="en-US" sz="1500">
                  <a:solidFill>
                    <a:srgbClr val="1F264D"/>
                  </a:solidFill>
                  <a:latin typeface="DM Sans"/>
                  <a:ea typeface="DM Sans"/>
                  <a:cs typeface="DM Sans"/>
                  <a:sym typeface="DM Sans"/>
                </a:rPr>
                <a:t>If upward mobility seems unattainable, explore external opportunities that value initiative and leadership potential. </a:t>
              </a:r>
            </a:p>
            <a:p>
              <a:pPr algn="ctr">
                <a:lnSpc>
                  <a:spcPts val="2100"/>
                </a:lnSpc>
              </a:pPr>
              <a:endParaRPr lang="en-US" sz="1500">
                <a:solidFill>
                  <a:srgbClr val="1F264D"/>
                </a:solidFill>
                <a:latin typeface="DM Sans"/>
                <a:ea typeface="DM Sans"/>
                <a:cs typeface="DM Sans"/>
                <a:sym typeface="DM Sans"/>
              </a:endParaRPr>
            </a:p>
          </p:txBody>
        </p:sp>
      </p:grpSp>
      <p:grpSp>
        <p:nvGrpSpPr>
          <p:cNvPr id="60" name="Group 60"/>
          <p:cNvGrpSpPr/>
          <p:nvPr/>
        </p:nvGrpSpPr>
        <p:grpSpPr>
          <a:xfrm>
            <a:off x="826797" y="5855013"/>
            <a:ext cx="3311884" cy="1647873"/>
            <a:chOff x="0" y="0"/>
            <a:chExt cx="1617551" cy="804834"/>
          </a:xfrm>
        </p:grpSpPr>
        <p:sp>
          <p:nvSpPr>
            <p:cNvPr id="61" name="Freeform 61"/>
            <p:cNvSpPr/>
            <p:nvPr/>
          </p:nvSpPr>
          <p:spPr>
            <a:xfrm>
              <a:off x="0" y="0"/>
              <a:ext cx="1617551" cy="804834"/>
            </a:xfrm>
            <a:custGeom>
              <a:avLst/>
              <a:gdLst/>
              <a:ahLst/>
              <a:cxnLst/>
              <a:rect l="l" t="t" r="r" b="b"/>
              <a:pathLst>
                <a:path w="1617551" h="804834">
                  <a:moveTo>
                    <a:pt x="25714" y="0"/>
                  </a:moveTo>
                  <a:lnTo>
                    <a:pt x="1591837" y="0"/>
                  </a:lnTo>
                  <a:cubicBezTo>
                    <a:pt x="1598657" y="0"/>
                    <a:pt x="1605198" y="2709"/>
                    <a:pt x="1610020" y="7531"/>
                  </a:cubicBezTo>
                  <a:cubicBezTo>
                    <a:pt x="1614842" y="12354"/>
                    <a:pt x="1617551" y="18894"/>
                    <a:pt x="1617551" y="25714"/>
                  </a:cubicBezTo>
                  <a:lnTo>
                    <a:pt x="1617551" y="779121"/>
                  </a:lnTo>
                  <a:cubicBezTo>
                    <a:pt x="1617551" y="785940"/>
                    <a:pt x="1614842" y="792481"/>
                    <a:pt x="1610020" y="797303"/>
                  </a:cubicBezTo>
                  <a:cubicBezTo>
                    <a:pt x="1605198" y="802125"/>
                    <a:pt x="1598657" y="804834"/>
                    <a:pt x="1591837" y="804834"/>
                  </a:cubicBezTo>
                  <a:lnTo>
                    <a:pt x="25714" y="804834"/>
                  </a:lnTo>
                  <a:cubicBezTo>
                    <a:pt x="18894" y="804834"/>
                    <a:pt x="12354" y="802125"/>
                    <a:pt x="7531" y="797303"/>
                  </a:cubicBezTo>
                  <a:cubicBezTo>
                    <a:pt x="2709" y="792481"/>
                    <a:pt x="0" y="785940"/>
                    <a:pt x="0" y="779121"/>
                  </a:cubicBezTo>
                  <a:lnTo>
                    <a:pt x="0" y="25714"/>
                  </a:lnTo>
                  <a:cubicBezTo>
                    <a:pt x="0" y="18894"/>
                    <a:pt x="2709" y="12354"/>
                    <a:pt x="7531" y="7531"/>
                  </a:cubicBezTo>
                  <a:cubicBezTo>
                    <a:pt x="12354" y="2709"/>
                    <a:pt x="18894" y="0"/>
                    <a:pt x="25714" y="0"/>
                  </a:cubicBezTo>
                  <a:close/>
                </a:path>
              </a:pathLst>
            </a:custGeom>
            <a:solidFill>
              <a:srgbClr val="85DCE5"/>
            </a:solidFill>
            <a:ln cap="sq">
              <a:noFill/>
              <a:prstDash val="solid"/>
              <a:miter/>
            </a:ln>
          </p:spPr>
        </p:sp>
        <p:sp>
          <p:nvSpPr>
            <p:cNvPr id="62" name="TextBox 62"/>
            <p:cNvSpPr txBox="1"/>
            <p:nvPr/>
          </p:nvSpPr>
          <p:spPr>
            <a:xfrm>
              <a:off x="0" y="-38100"/>
              <a:ext cx="1617551" cy="842934"/>
            </a:xfrm>
            <a:prstGeom prst="rect">
              <a:avLst/>
            </a:prstGeom>
          </p:spPr>
          <p:txBody>
            <a:bodyPr lIns="50800" tIns="50800" rIns="50800" bIns="50800" rtlCol="0" anchor="ctr"/>
            <a:lstStyle/>
            <a:p>
              <a:pPr marL="323850" lvl="1" indent="-161925" algn="ctr">
                <a:lnSpc>
                  <a:spcPts val="2100"/>
                </a:lnSpc>
                <a:spcBef>
                  <a:spcPct val="0"/>
                </a:spcBef>
                <a:buFont typeface="Arial"/>
                <a:buChar char="•"/>
              </a:pPr>
              <a:r>
                <a:rPr lang="en-US" sz="1500" u="none" strike="noStrike">
                  <a:solidFill>
                    <a:srgbClr val="1F264D"/>
                  </a:solidFill>
                  <a:latin typeface="DM Sans"/>
                  <a:ea typeface="DM Sans"/>
                  <a:cs typeface="DM Sans"/>
                  <a:sym typeface="DM Sans"/>
                </a:rPr>
                <a:t>Make career decisions based on long-term alignment with personal growth objectives rather than frustration with immediate setbacks</a:t>
              </a:r>
            </a:p>
          </p:txBody>
        </p:sp>
      </p:grpSp>
      <p:sp>
        <p:nvSpPr>
          <p:cNvPr id="63" name="AutoShape 63"/>
          <p:cNvSpPr/>
          <p:nvPr/>
        </p:nvSpPr>
        <p:spPr>
          <a:xfrm flipH="1" flipV="1">
            <a:off x="2621078" y="3921759"/>
            <a:ext cx="2766677" cy="1221741"/>
          </a:xfrm>
          <a:prstGeom prst="line">
            <a:avLst/>
          </a:prstGeom>
          <a:ln w="9525" cap="rnd">
            <a:solidFill>
              <a:srgbClr val="000000"/>
            </a:solidFill>
            <a:prstDash val="solid"/>
            <a:headEnd type="none" w="sm" len="sm"/>
            <a:tailEnd type="triangle" w="lg" len="med"/>
          </a:ln>
        </p:spPr>
      </p:sp>
      <p:sp>
        <p:nvSpPr>
          <p:cNvPr id="64" name="AutoShape 64"/>
          <p:cNvSpPr/>
          <p:nvPr/>
        </p:nvSpPr>
        <p:spPr>
          <a:xfrm flipH="1">
            <a:off x="2482739" y="5100091"/>
            <a:ext cx="2134524" cy="754922"/>
          </a:xfrm>
          <a:prstGeom prst="line">
            <a:avLst/>
          </a:prstGeom>
          <a:ln w="9525" cap="rnd">
            <a:solidFill>
              <a:srgbClr val="000000"/>
            </a:solidFill>
            <a:prstDash val="solid"/>
            <a:headEnd type="none" w="sm" len="sm"/>
            <a:tailEnd type="triangle" w="lg" len="me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flipH="1">
            <a:off x="17118270" y="2471107"/>
            <a:ext cx="1688347" cy="1996229"/>
          </a:xfrm>
          <a:custGeom>
            <a:avLst/>
            <a:gdLst/>
            <a:ahLst/>
            <a:cxnLst/>
            <a:rect l="l" t="t" r="r" b="b"/>
            <a:pathLst>
              <a:path w="1688347" h="1996229">
                <a:moveTo>
                  <a:pt x="1688348" y="0"/>
                </a:moveTo>
                <a:lnTo>
                  <a:pt x="0" y="0"/>
                </a:lnTo>
                <a:lnTo>
                  <a:pt x="0" y="1996229"/>
                </a:lnTo>
                <a:lnTo>
                  <a:pt x="1688348" y="1996229"/>
                </a:lnTo>
                <a:lnTo>
                  <a:pt x="1688348" y="0"/>
                </a:lnTo>
                <a:close/>
              </a:path>
            </a:pathLst>
          </a:custGeom>
          <a:blipFill>
            <a:blip r:embed="rId2"/>
            <a:stretch>
              <a:fillRect l="-29804" t="-638" b="-638"/>
            </a:stretch>
          </a:blipFill>
        </p:spPr>
      </p:sp>
      <p:sp>
        <p:nvSpPr>
          <p:cNvPr id="3" name="AutoShape 3"/>
          <p:cNvSpPr/>
          <p:nvPr/>
        </p:nvSpPr>
        <p:spPr>
          <a:xfrm>
            <a:off x="0" y="0"/>
            <a:ext cx="18288000" cy="1028700"/>
          </a:xfrm>
          <a:prstGeom prst="rect">
            <a:avLst/>
          </a:prstGeom>
          <a:solidFill>
            <a:srgbClr val="FFCECE">
              <a:alpha val="69804"/>
            </a:srgbClr>
          </a:solidFill>
        </p:spPr>
      </p:sp>
      <p:sp>
        <p:nvSpPr>
          <p:cNvPr id="4" name="Freeform 4"/>
          <p:cNvSpPr/>
          <p:nvPr/>
        </p:nvSpPr>
        <p:spPr>
          <a:xfrm rot="-1094911">
            <a:off x="15202708" y="-699437"/>
            <a:ext cx="1522464" cy="1528194"/>
          </a:xfrm>
          <a:custGeom>
            <a:avLst/>
            <a:gdLst/>
            <a:ahLst/>
            <a:cxnLst/>
            <a:rect l="l" t="t" r="r" b="b"/>
            <a:pathLst>
              <a:path w="1522464" h="1528194">
                <a:moveTo>
                  <a:pt x="0" y="0"/>
                </a:moveTo>
                <a:lnTo>
                  <a:pt x="1522463" y="0"/>
                </a:lnTo>
                <a:lnTo>
                  <a:pt x="1522463" y="1528194"/>
                </a:lnTo>
                <a:lnTo>
                  <a:pt x="0" y="1528194"/>
                </a:lnTo>
                <a:lnTo>
                  <a:pt x="0" y="0"/>
                </a:lnTo>
                <a:close/>
              </a:path>
            </a:pathLst>
          </a:custGeom>
          <a:blipFill>
            <a:blip r:embed="rId3"/>
            <a:stretch>
              <a:fillRect/>
            </a:stretch>
          </a:blipFill>
        </p:spPr>
      </p:sp>
      <p:sp>
        <p:nvSpPr>
          <p:cNvPr id="5" name="Freeform 5"/>
          <p:cNvSpPr/>
          <p:nvPr/>
        </p:nvSpPr>
        <p:spPr>
          <a:xfrm rot="-751690">
            <a:off x="8881552" y="-1536136"/>
            <a:ext cx="1751015" cy="2307763"/>
          </a:xfrm>
          <a:custGeom>
            <a:avLst/>
            <a:gdLst/>
            <a:ahLst/>
            <a:cxnLst/>
            <a:rect l="l" t="t" r="r" b="b"/>
            <a:pathLst>
              <a:path w="1751015" h="2307763">
                <a:moveTo>
                  <a:pt x="0" y="0"/>
                </a:moveTo>
                <a:lnTo>
                  <a:pt x="1751015" y="0"/>
                </a:lnTo>
                <a:lnTo>
                  <a:pt x="1751015" y="2307763"/>
                </a:lnTo>
                <a:lnTo>
                  <a:pt x="0" y="2307763"/>
                </a:lnTo>
                <a:lnTo>
                  <a:pt x="0" y="0"/>
                </a:lnTo>
                <a:close/>
              </a:path>
            </a:pathLst>
          </a:custGeom>
          <a:blipFill>
            <a:blip r:embed="rId4"/>
            <a:stretch>
              <a:fillRect/>
            </a:stretch>
          </a:blipFill>
        </p:spPr>
      </p:sp>
      <p:grpSp>
        <p:nvGrpSpPr>
          <p:cNvPr id="6" name="Group 6"/>
          <p:cNvGrpSpPr/>
          <p:nvPr/>
        </p:nvGrpSpPr>
        <p:grpSpPr>
          <a:xfrm>
            <a:off x="584132" y="1180371"/>
            <a:ext cx="8067967" cy="4116319"/>
            <a:chOff x="0" y="0"/>
            <a:chExt cx="6086590" cy="3105410"/>
          </a:xfrm>
        </p:grpSpPr>
        <p:sp>
          <p:nvSpPr>
            <p:cNvPr id="7" name="Freeform 7"/>
            <p:cNvSpPr/>
            <p:nvPr/>
          </p:nvSpPr>
          <p:spPr>
            <a:xfrm>
              <a:off x="0" y="0"/>
              <a:ext cx="6086590" cy="3105410"/>
            </a:xfrm>
            <a:custGeom>
              <a:avLst/>
              <a:gdLst/>
              <a:ahLst/>
              <a:cxnLst/>
              <a:rect l="l" t="t" r="r" b="b"/>
              <a:pathLst>
                <a:path w="6086590" h="3105410">
                  <a:moveTo>
                    <a:pt x="10555" y="0"/>
                  </a:moveTo>
                  <a:lnTo>
                    <a:pt x="6076035" y="0"/>
                  </a:lnTo>
                  <a:cubicBezTo>
                    <a:pt x="6078834" y="0"/>
                    <a:pt x="6081519" y="1112"/>
                    <a:pt x="6083499" y="3092"/>
                  </a:cubicBezTo>
                  <a:cubicBezTo>
                    <a:pt x="6085479" y="5071"/>
                    <a:pt x="6086590" y="7756"/>
                    <a:pt x="6086590" y="10555"/>
                  </a:cubicBezTo>
                  <a:lnTo>
                    <a:pt x="6086590" y="3094855"/>
                  </a:lnTo>
                  <a:cubicBezTo>
                    <a:pt x="6086590" y="3100684"/>
                    <a:pt x="6081865" y="3105410"/>
                    <a:pt x="6076035" y="3105410"/>
                  </a:cubicBezTo>
                  <a:lnTo>
                    <a:pt x="10555" y="3105410"/>
                  </a:lnTo>
                  <a:cubicBezTo>
                    <a:pt x="7756" y="3105410"/>
                    <a:pt x="5071" y="3104298"/>
                    <a:pt x="3092" y="3102318"/>
                  </a:cubicBezTo>
                  <a:cubicBezTo>
                    <a:pt x="1112" y="3100339"/>
                    <a:pt x="0" y="3097654"/>
                    <a:pt x="0" y="3094855"/>
                  </a:cubicBezTo>
                  <a:lnTo>
                    <a:pt x="0" y="10555"/>
                  </a:lnTo>
                  <a:cubicBezTo>
                    <a:pt x="0" y="7756"/>
                    <a:pt x="1112" y="5071"/>
                    <a:pt x="3092" y="3092"/>
                  </a:cubicBezTo>
                  <a:cubicBezTo>
                    <a:pt x="5071" y="1112"/>
                    <a:pt x="7756" y="0"/>
                    <a:pt x="10555" y="0"/>
                  </a:cubicBezTo>
                  <a:close/>
                </a:path>
              </a:pathLst>
            </a:custGeom>
            <a:solidFill>
              <a:srgbClr val="F4F4F4"/>
            </a:solidFill>
            <a:ln w="38100" cap="sq">
              <a:solidFill>
                <a:srgbClr val="000000"/>
              </a:solidFill>
              <a:prstDash val="lgDash"/>
              <a:miter/>
            </a:ln>
          </p:spPr>
        </p:sp>
        <p:sp>
          <p:nvSpPr>
            <p:cNvPr id="8" name="TextBox 8"/>
            <p:cNvSpPr txBox="1"/>
            <p:nvPr/>
          </p:nvSpPr>
          <p:spPr>
            <a:xfrm>
              <a:off x="0" y="-28575"/>
              <a:ext cx="6086590" cy="3133985"/>
            </a:xfrm>
            <a:prstGeom prst="rect">
              <a:avLst/>
            </a:prstGeom>
          </p:spPr>
          <p:txBody>
            <a:bodyPr lIns="254000" tIns="254000" rIns="254000" bIns="254000" rtlCol="0" anchor="ctr"/>
            <a:lstStyle/>
            <a:p>
              <a:pPr marL="317373" lvl="1" indent="-158686" algn="l">
                <a:lnSpc>
                  <a:spcPts val="2058"/>
                </a:lnSpc>
                <a:buFont typeface="Arial"/>
                <a:buChar char="•"/>
              </a:pPr>
              <a:r>
                <a:rPr lang="en-US" sz="1470" b="1">
                  <a:solidFill>
                    <a:srgbClr val="1F264D"/>
                  </a:solidFill>
                  <a:latin typeface="DM Sans Bold"/>
                  <a:ea typeface="DM Sans Bold"/>
                  <a:cs typeface="DM Sans Bold"/>
                  <a:sym typeface="DM Sans Bold"/>
                </a:rPr>
                <a:t>Praveen</a:t>
              </a:r>
              <a:r>
                <a:rPr lang="en-US" sz="1470" b="1" u="sng">
                  <a:solidFill>
                    <a:srgbClr val="1F264D"/>
                  </a:solidFill>
                  <a:latin typeface="DM Sans Bold"/>
                  <a:ea typeface="DM Sans Bold"/>
                  <a:cs typeface="DM Sans Bold"/>
                  <a:sym typeface="DM Sans Bold"/>
                </a:rPr>
                <a:t>:</a:t>
              </a:r>
            </a:p>
            <a:p>
              <a:pPr marL="317373" lvl="1" indent="-158686" algn="l">
                <a:lnSpc>
                  <a:spcPts val="2058"/>
                </a:lnSpc>
                <a:spcBef>
                  <a:spcPct val="0"/>
                </a:spcBef>
                <a:buFont typeface="Arial"/>
                <a:buChar char="•"/>
              </a:pPr>
              <a:r>
                <a:rPr lang="en-US" sz="1470" b="1" u="sng" strike="noStrike">
                  <a:solidFill>
                    <a:srgbClr val="1F264D"/>
                  </a:solidFill>
                  <a:latin typeface="DM Sans Bold"/>
                  <a:ea typeface="DM Sans Bold"/>
                  <a:cs typeface="DM Sans Bold"/>
                  <a:sym typeface="DM Sans Bold"/>
                </a:rPr>
                <a:t>Problem Statement:</a:t>
              </a:r>
              <a:r>
                <a:rPr lang="en-US" sz="1470" strike="noStrike">
                  <a:solidFill>
                    <a:srgbClr val="1F264D"/>
                  </a:solidFill>
                  <a:latin typeface="DM Sans"/>
                  <a:ea typeface="DM Sans"/>
                  <a:cs typeface="DM Sans"/>
                  <a:sym typeface="DM Sans"/>
                </a:rPr>
                <a:t> Initially, my aspiration to transition from an IT Administrator Support role to a BI Developer position was met with organizational constraints due to my critical involvement in ongoing IT projects.</a:t>
              </a:r>
            </a:p>
            <a:p>
              <a:pPr algn="l">
                <a:lnSpc>
                  <a:spcPts val="2058"/>
                </a:lnSpc>
                <a:spcBef>
                  <a:spcPct val="0"/>
                </a:spcBef>
              </a:pPr>
              <a:endParaRPr lang="en-US" sz="1470" strike="noStrike">
                <a:solidFill>
                  <a:srgbClr val="1F264D"/>
                </a:solidFill>
                <a:latin typeface="DM Sans"/>
                <a:ea typeface="DM Sans"/>
                <a:cs typeface="DM Sans"/>
                <a:sym typeface="DM Sans"/>
              </a:endParaRPr>
            </a:p>
            <a:p>
              <a:pPr marL="317373" lvl="1" indent="-158686" algn="l">
                <a:lnSpc>
                  <a:spcPts val="2058"/>
                </a:lnSpc>
                <a:spcBef>
                  <a:spcPct val="0"/>
                </a:spcBef>
                <a:buFont typeface="Arial"/>
                <a:buChar char="•"/>
              </a:pPr>
              <a:r>
                <a:rPr lang="en-US" sz="1470" b="1" u="sng" strike="noStrike">
                  <a:solidFill>
                    <a:srgbClr val="1F264D"/>
                  </a:solidFill>
                  <a:latin typeface="DM Sans Bold"/>
                  <a:ea typeface="DM Sans Bold"/>
                  <a:cs typeface="DM Sans Bold"/>
                  <a:sym typeface="DM Sans Bold"/>
                </a:rPr>
                <a:t>Solution &amp; Outcome:</a:t>
              </a:r>
            </a:p>
            <a:p>
              <a:pPr marL="317373" lvl="1" indent="-158686" algn="l">
                <a:lnSpc>
                  <a:spcPts val="2058"/>
                </a:lnSpc>
                <a:spcBef>
                  <a:spcPct val="0"/>
                </a:spcBef>
                <a:buFont typeface="Arial"/>
                <a:buChar char="•"/>
              </a:pPr>
              <a:r>
                <a:rPr lang="en-US" sz="1470" strike="noStrike">
                  <a:solidFill>
                    <a:srgbClr val="1F264D"/>
                  </a:solidFill>
                  <a:latin typeface="DM Sans"/>
                  <a:ea typeface="DM Sans"/>
                  <a:cs typeface="DM Sans"/>
                  <a:sym typeface="DM Sans"/>
                </a:rPr>
                <a:t>To overcome this, I proposed and successfully implemented a parallel work model. This allowed me to continue supporting my existing IT responsibilities while simultaneously taking on new BI development tasks. This proactive approach not only facilitated my career transition but also provided invaluable exposure to multiple project methodologies and fostered direct collaboration with senior management, significantly broadening my professional network and strategic understanding.</a:t>
              </a:r>
            </a:p>
            <a:p>
              <a:pPr algn="l">
                <a:lnSpc>
                  <a:spcPts val="2197"/>
                </a:lnSpc>
                <a:spcBef>
                  <a:spcPct val="0"/>
                </a:spcBef>
              </a:pPr>
              <a:endParaRPr lang="en-US" sz="1470" strike="noStrike">
                <a:solidFill>
                  <a:srgbClr val="1F264D"/>
                </a:solidFill>
                <a:latin typeface="DM Sans"/>
                <a:ea typeface="DM Sans"/>
                <a:cs typeface="DM Sans"/>
                <a:sym typeface="DM Sans"/>
              </a:endParaRPr>
            </a:p>
          </p:txBody>
        </p:sp>
      </p:grpSp>
      <p:sp>
        <p:nvSpPr>
          <p:cNvPr id="9" name="TextBox 9"/>
          <p:cNvSpPr txBox="1"/>
          <p:nvPr/>
        </p:nvSpPr>
        <p:spPr>
          <a:xfrm>
            <a:off x="378644" y="47625"/>
            <a:ext cx="8115300" cy="923925"/>
          </a:xfrm>
          <a:prstGeom prst="rect">
            <a:avLst/>
          </a:prstGeom>
        </p:spPr>
        <p:txBody>
          <a:bodyPr lIns="0" tIns="0" rIns="0" bIns="0" rtlCol="0" anchor="t">
            <a:spAutoFit/>
          </a:bodyPr>
          <a:lstStyle/>
          <a:p>
            <a:pPr algn="l">
              <a:lnSpc>
                <a:spcPts val="3600"/>
              </a:lnSpc>
            </a:pPr>
            <a:r>
              <a:rPr lang="en-US" sz="3000" b="1">
                <a:solidFill>
                  <a:srgbClr val="1F264D"/>
                </a:solidFill>
                <a:latin typeface="DM Sans Bold"/>
                <a:ea typeface="DM Sans Bold"/>
                <a:cs typeface="DM Sans Bold"/>
                <a:sym typeface="DM Sans Bold"/>
              </a:rPr>
              <a:t>Relatable Career Challenges: </a:t>
            </a:r>
          </a:p>
          <a:p>
            <a:pPr marL="0" lvl="0" indent="0" algn="l">
              <a:lnSpc>
                <a:spcPts val="3600"/>
              </a:lnSpc>
            </a:pPr>
            <a:r>
              <a:rPr lang="en-US" sz="3000" b="1">
                <a:solidFill>
                  <a:srgbClr val="1F264D"/>
                </a:solidFill>
                <a:latin typeface="DM Sans Bold"/>
                <a:ea typeface="DM Sans Bold"/>
                <a:cs typeface="DM Sans Bold"/>
                <a:sym typeface="DM Sans Bold"/>
              </a:rPr>
              <a:t>A Collective View</a:t>
            </a:r>
          </a:p>
        </p:txBody>
      </p:sp>
      <p:grpSp>
        <p:nvGrpSpPr>
          <p:cNvPr id="10" name="Group 10"/>
          <p:cNvGrpSpPr/>
          <p:nvPr/>
        </p:nvGrpSpPr>
        <p:grpSpPr>
          <a:xfrm>
            <a:off x="9199800" y="1180371"/>
            <a:ext cx="8059500" cy="4116319"/>
            <a:chOff x="0" y="0"/>
            <a:chExt cx="6080203" cy="3105410"/>
          </a:xfrm>
        </p:grpSpPr>
        <p:sp>
          <p:nvSpPr>
            <p:cNvPr id="11" name="Freeform 11"/>
            <p:cNvSpPr/>
            <p:nvPr/>
          </p:nvSpPr>
          <p:spPr>
            <a:xfrm>
              <a:off x="0" y="0"/>
              <a:ext cx="6080203" cy="3105410"/>
            </a:xfrm>
            <a:custGeom>
              <a:avLst/>
              <a:gdLst/>
              <a:ahLst/>
              <a:cxnLst/>
              <a:rect l="l" t="t" r="r" b="b"/>
              <a:pathLst>
                <a:path w="6080203" h="3105410">
                  <a:moveTo>
                    <a:pt x="10567" y="0"/>
                  </a:moveTo>
                  <a:lnTo>
                    <a:pt x="6069636" y="0"/>
                  </a:lnTo>
                  <a:cubicBezTo>
                    <a:pt x="6072438" y="0"/>
                    <a:pt x="6075126" y="1113"/>
                    <a:pt x="6077108" y="3095"/>
                  </a:cubicBezTo>
                  <a:cubicBezTo>
                    <a:pt x="6079089" y="5076"/>
                    <a:pt x="6080203" y="7764"/>
                    <a:pt x="6080203" y="10567"/>
                  </a:cubicBezTo>
                  <a:lnTo>
                    <a:pt x="6080203" y="3094843"/>
                  </a:lnTo>
                  <a:cubicBezTo>
                    <a:pt x="6080203" y="3097646"/>
                    <a:pt x="6079089" y="3100334"/>
                    <a:pt x="6077108" y="3102315"/>
                  </a:cubicBezTo>
                  <a:cubicBezTo>
                    <a:pt x="6075126" y="3104297"/>
                    <a:pt x="6072438" y="3105410"/>
                    <a:pt x="6069636" y="3105410"/>
                  </a:cubicBezTo>
                  <a:lnTo>
                    <a:pt x="10567" y="3105410"/>
                  </a:lnTo>
                  <a:cubicBezTo>
                    <a:pt x="7764" y="3105410"/>
                    <a:pt x="5076" y="3104297"/>
                    <a:pt x="3095" y="3102315"/>
                  </a:cubicBezTo>
                  <a:cubicBezTo>
                    <a:pt x="1113" y="3100334"/>
                    <a:pt x="0" y="3097646"/>
                    <a:pt x="0" y="3094843"/>
                  </a:cubicBezTo>
                  <a:lnTo>
                    <a:pt x="0" y="10567"/>
                  </a:lnTo>
                  <a:cubicBezTo>
                    <a:pt x="0" y="7764"/>
                    <a:pt x="1113" y="5076"/>
                    <a:pt x="3095" y="3095"/>
                  </a:cubicBezTo>
                  <a:cubicBezTo>
                    <a:pt x="5076" y="1113"/>
                    <a:pt x="7764" y="0"/>
                    <a:pt x="10567" y="0"/>
                  </a:cubicBezTo>
                  <a:close/>
                </a:path>
              </a:pathLst>
            </a:custGeom>
            <a:solidFill>
              <a:srgbClr val="F4F4F4"/>
            </a:solidFill>
            <a:ln w="38100" cap="sq">
              <a:solidFill>
                <a:srgbClr val="000000"/>
              </a:solidFill>
              <a:prstDash val="dash"/>
              <a:miter/>
            </a:ln>
          </p:spPr>
        </p:sp>
        <p:sp>
          <p:nvSpPr>
            <p:cNvPr id="12" name="TextBox 12"/>
            <p:cNvSpPr txBox="1"/>
            <p:nvPr/>
          </p:nvSpPr>
          <p:spPr>
            <a:xfrm>
              <a:off x="0" y="-28575"/>
              <a:ext cx="6080203" cy="3133985"/>
            </a:xfrm>
            <a:prstGeom prst="rect">
              <a:avLst/>
            </a:prstGeom>
          </p:spPr>
          <p:txBody>
            <a:bodyPr lIns="254000" tIns="254000" rIns="254000" bIns="254000" rtlCol="0" anchor="ctr"/>
            <a:lstStyle/>
            <a:p>
              <a:pPr marL="338962" lvl="1" indent="-169481" algn="l">
                <a:lnSpc>
                  <a:spcPts val="2197"/>
                </a:lnSpc>
                <a:buFont typeface="Arial"/>
                <a:buChar char="•"/>
              </a:pPr>
              <a:r>
                <a:rPr lang="en-US" sz="1569" b="1" u="sng">
                  <a:solidFill>
                    <a:srgbClr val="1F264D"/>
                  </a:solidFill>
                  <a:latin typeface="DM Sans Bold"/>
                  <a:ea typeface="DM Sans Bold"/>
                  <a:cs typeface="DM Sans Bold"/>
                  <a:sym typeface="DM Sans Bold"/>
                </a:rPr>
                <a:t>________:</a:t>
              </a:r>
            </a:p>
            <a:p>
              <a:pPr algn="l">
                <a:lnSpc>
                  <a:spcPts val="2197"/>
                </a:lnSpc>
              </a:pPr>
              <a:endParaRPr lang="en-US" sz="1569" b="1" u="sng">
                <a:solidFill>
                  <a:srgbClr val="1F264D"/>
                </a:solidFill>
                <a:latin typeface="DM Sans Bold"/>
                <a:ea typeface="DM Sans Bold"/>
                <a:cs typeface="DM Sans Bold"/>
                <a:sym typeface="DM Sans Bold"/>
              </a:endParaRPr>
            </a:p>
            <a:p>
              <a:pPr marL="338962" lvl="1" indent="-169481" algn="l">
                <a:lnSpc>
                  <a:spcPts val="2197"/>
                </a:lnSpc>
                <a:buFont typeface="Arial"/>
                <a:buChar char="•"/>
              </a:pPr>
              <a:r>
                <a:rPr lang="en-US" sz="1569" b="1" u="sng" strike="noStrike">
                  <a:solidFill>
                    <a:srgbClr val="1F264D"/>
                  </a:solidFill>
                  <a:latin typeface="DM Sans Bold"/>
                  <a:ea typeface="DM Sans Bold"/>
                  <a:cs typeface="DM Sans Bold"/>
                  <a:sym typeface="DM Sans Bold"/>
                </a:rPr>
                <a:t>Problem Statement:</a:t>
              </a:r>
              <a:r>
                <a:rPr lang="en-US" sz="1569" strike="noStrike">
                  <a:solidFill>
                    <a:srgbClr val="1F264D"/>
                  </a:solidFill>
                  <a:latin typeface="DM Sans"/>
                  <a:ea typeface="DM Sans"/>
                  <a:cs typeface="DM Sans"/>
                  <a:sym typeface="DM Sans"/>
                </a:rPr>
                <a:t> </a:t>
              </a:r>
            </a:p>
            <a:p>
              <a:pPr algn="l">
                <a:lnSpc>
                  <a:spcPts val="2197"/>
                </a:lnSpc>
              </a:pPr>
              <a:endParaRPr lang="en-US" sz="1569" strike="noStrike">
                <a:solidFill>
                  <a:srgbClr val="1F264D"/>
                </a:solidFill>
                <a:latin typeface="DM Sans"/>
                <a:ea typeface="DM Sans"/>
                <a:cs typeface="DM Sans"/>
                <a:sym typeface="DM Sans"/>
              </a:endParaRPr>
            </a:p>
            <a:p>
              <a:pPr algn="l">
                <a:lnSpc>
                  <a:spcPts val="2197"/>
                </a:lnSpc>
              </a:pPr>
              <a:endParaRPr lang="en-US" sz="1569" strike="noStrike">
                <a:solidFill>
                  <a:srgbClr val="1F264D"/>
                </a:solidFill>
                <a:latin typeface="DM Sans"/>
                <a:ea typeface="DM Sans"/>
                <a:cs typeface="DM Sans"/>
                <a:sym typeface="DM Sans"/>
              </a:endParaRPr>
            </a:p>
            <a:p>
              <a:pPr marL="338962" lvl="1" indent="-169481" algn="l">
                <a:lnSpc>
                  <a:spcPts val="2197"/>
                </a:lnSpc>
                <a:spcBef>
                  <a:spcPct val="0"/>
                </a:spcBef>
                <a:buFont typeface="Arial"/>
                <a:buChar char="•"/>
              </a:pPr>
              <a:r>
                <a:rPr lang="en-US" sz="1569" b="1" u="sng" strike="noStrike">
                  <a:solidFill>
                    <a:srgbClr val="1F264D"/>
                  </a:solidFill>
                  <a:latin typeface="DM Sans Bold"/>
                  <a:ea typeface="DM Sans Bold"/>
                  <a:cs typeface="DM Sans Bold"/>
                  <a:sym typeface="DM Sans Bold"/>
                </a:rPr>
                <a:t>Solution &amp; Outcome:</a:t>
              </a:r>
            </a:p>
            <a:p>
              <a:pPr marL="338962" lvl="1" indent="-169481" algn="l">
                <a:lnSpc>
                  <a:spcPts val="2197"/>
                </a:lnSpc>
                <a:spcBef>
                  <a:spcPct val="0"/>
                </a:spcBef>
                <a:buFont typeface="Arial"/>
                <a:buChar char="•"/>
              </a:pPr>
              <a:endParaRPr lang="en-US" sz="1569" b="1" u="sng" strike="noStrike">
                <a:solidFill>
                  <a:srgbClr val="1F264D"/>
                </a:solidFill>
                <a:latin typeface="DM Sans Bold"/>
                <a:ea typeface="DM Sans Bold"/>
                <a:cs typeface="DM Sans Bold"/>
                <a:sym typeface="DM Sans Bold"/>
              </a:endParaRPr>
            </a:p>
            <a:p>
              <a:pPr algn="l">
                <a:lnSpc>
                  <a:spcPts val="2197"/>
                </a:lnSpc>
                <a:spcBef>
                  <a:spcPct val="0"/>
                </a:spcBef>
              </a:pPr>
              <a:endParaRPr lang="en-US" sz="1569" b="1" u="sng" strike="noStrike">
                <a:solidFill>
                  <a:srgbClr val="1F264D"/>
                </a:solidFill>
                <a:latin typeface="DM Sans Bold"/>
                <a:ea typeface="DM Sans Bold"/>
                <a:cs typeface="DM Sans Bold"/>
                <a:sym typeface="DM Sans Bold"/>
              </a:endParaRPr>
            </a:p>
          </p:txBody>
        </p:sp>
      </p:grpSp>
      <p:grpSp>
        <p:nvGrpSpPr>
          <p:cNvPr id="13" name="Group 13"/>
          <p:cNvGrpSpPr/>
          <p:nvPr/>
        </p:nvGrpSpPr>
        <p:grpSpPr>
          <a:xfrm>
            <a:off x="592599" y="5544340"/>
            <a:ext cx="8059500" cy="4564752"/>
            <a:chOff x="0" y="0"/>
            <a:chExt cx="6080203" cy="3443714"/>
          </a:xfrm>
        </p:grpSpPr>
        <p:sp>
          <p:nvSpPr>
            <p:cNvPr id="14" name="Freeform 14"/>
            <p:cNvSpPr/>
            <p:nvPr/>
          </p:nvSpPr>
          <p:spPr>
            <a:xfrm>
              <a:off x="0" y="0"/>
              <a:ext cx="6080203" cy="3443714"/>
            </a:xfrm>
            <a:custGeom>
              <a:avLst/>
              <a:gdLst/>
              <a:ahLst/>
              <a:cxnLst/>
              <a:rect l="l" t="t" r="r" b="b"/>
              <a:pathLst>
                <a:path w="6080203" h="3443714">
                  <a:moveTo>
                    <a:pt x="10567" y="0"/>
                  </a:moveTo>
                  <a:lnTo>
                    <a:pt x="6069636" y="0"/>
                  </a:lnTo>
                  <a:cubicBezTo>
                    <a:pt x="6072438" y="0"/>
                    <a:pt x="6075126" y="1113"/>
                    <a:pt x="6077108" y="3095"/>
                  </a:cubicBezTo>
                  <a:cubicBezTo>
                    <a:pt x="6079089" y="5076"/>
                    <a:pt x="6080203" y="7764"/>
                    <a:pt x="6080203" y="10567"/>
                  </a:cubicBezTo>
                  <a:lnTo>
                    <a:pt x="6080203" y="3433148"/>
                  </a:lnTo>
                  <a:cubicBezTo>
                    <a:pt x="6080203" y="3435950"/>
                    <a:pt x="6079089" y="3438638"/>
                    <a:pt x="6077108" y="3440619"/>
                  </a:cubicBezTo>
                  <a:cubicBezTo>
                    <a:pt x="6075126" y="3442601"/>
                    <a:pt x="6072438" y="3443714"/>
                    <a:pt x="6069636" y="3443714"/>
                  </a:cubicBezTo>
                  <a:lnTo>
                    <a:pt x="10567" y="3443714"/>
                  </a:lnTo>
                  <a:cubicBezTo>
                    <a:pt x="7764" y="3443714"/>
                    <a:pt x="5076" y="3442601"/>
                    <a:pt x="3095" y="3440619"/>
                  </a:cubicBezTo>
                  <a:cubicBezTo>
                    <a:pt x="1113" y="3438638"/>
                    <a:pt x="0" y="3435950"/>
                    <a:pt x="0" y="3433148"/>
                  </a:cubicBezTo>
                  <a:lnTo>
                    <a:pt x="0" y="10567"/>
                  </a:lnTo>
                  <a:cubicBezTo>
                    <a:pt x="0" y="7764"/>
                    <a:pt x="1113" y="5076"/>
                    <a:pt x="3095" y="3095"/>
                  </a:cubicBezTo>
                  <a:cubicBezTo>
                    <a:pt x="5076" y="1113"/>
                    <a:pt x="7764" y="0"/>
                    <a:pt x="10567" y="0"/>
                  </a:cubicBezTo>
                  <a:close/>
                </a:path>
              </a:pathLst>
            </a:custGeom>
            <a:solidFill>
              <a:srgbClr val="F4F4F4"/>
            </a:solidFill>
            <a:ln w="38100" cap="sq">
              <a:solidFill>
                <a:srgbClr val="000000"/>
              </a:solidFill>
              <a:prstDash val="lgDash"/>
              <a:miter/>
            </a:ln>
          </p:spPr>
        </p:sp>
        <p:sp>
          <p:nvSpPr>
            <p:cNvPr id="15" name="TextBox 15"/>
            <p:cNvSpPr txBox="1"/>
            <p:nvPr/>
          </p:nvSpPr>
          <p:spPr>
            <a:xfrm>
              <a:off x="0" y="-28575"/>
              <a:ext cx="6080203" cy="3472289"/>
            </a:xfrm>
            <a:prstGeom prst="rect">
              <a:avLst/>
            </a:prstGeom>
          </p:spPr>
          <p:txBody>
            <a:bodyPr lIns="254000" tIns="254000" rIns="254000" bIns="254000" rtlCol="0" anchor="ctr"/>
            <a:lstStyle/>
            <a:p>
              <a:pPr marL="338962" lvl="1" indent="-169481" algn="l">
                <a:lnSpc>
                  <a:spcPts val="2197"/>
                </a:lnSpc>
                <a:buFont typeface="Arial"/>
                <a:buChar char="•"/>
              </a:pPr>
              <a:r>
                <a:rPr lang="en-US" sz="1569" b="1">
                  <a:solidFill>
                    <a:srgbClr val="1F264D"/>
                  </a:solidFill>
                  <a:latin typeface="DM Sans Bold"/>
                  <a:ea typeface="DM Sans Bold"/>
                  <a:cs typeface="DM Sans Bold"/>
                  <a:sym typeface="DM Sans Bold"/>
                </a:rPr>
                <a:t>_____________</a:t>
              </a:r>
            </a:p>
            <a:p>
              <a:pPr algn="l">
                <a:lnSpc>
                  <a:spcPts val="2197"/>
                </a:lnSpc>
              </a:pPr>
              <a:endParaRPr lang="en-US" sz="1569" b="1">
                <a:solidFill>
                  <a:srgbClr val="1F264D"/>
                </a:solidFill>
                <a:latin typeface="DM Sans Bold"/>
                <a:ea typeface="DM Sans Bold"/>
                <a:cs typeface="DM Sans Bold"/>
                <a:sym typeface="DM Sans Bold"/>
              </a:endParaRPr>
            </a:p>
            <a:p>
              <a:pPr marL="338962" lvl="1" indent="-169481" algn="l">
                <a:lnSpc>
                  <a:spcPts val="2197"/>
                </a:lnSpc>
                <a:spcBef>
                  <a:spcPct val="0"/>
                </a:spcBef>
                <a:buFont typeface="Arial"/>
                <a:buChar char="•"/>
              </a:pPr>
              <a:r>
                <a:rPr lang="en-US" sz="1569" b="1" u="sng">
                  <a:solidFill>
                    <a:srgbClr val="1F264D"/>
                  </a:solidFill>
                  <a:latin typeface="DM Sans Bold"/>
                  <a:ea typeface="DM Sans Bold"/>
                  <a:cs typeface="DM Sans Bold"/>
                  <a:sym typeface="DM Sans Bold"/>
                </a:rPr>
                <a:t>Problem Statement:</a:t>
              </a:r>
              <a:r>
                <a:rPr lang="en-US" sz="1569" b="1" u="sng" strike="noStrike">
                  <a:solidFill>
                    <a:srgbClr val="1F264D"/>
                  </a:solidFill>
                  <a:latin typeface="DM Sans Bold"/>
                  <a:ea typeface="DM Sans Bold"/>
                  <a:cs typeface="DM Sans Bold"/>
                  <a:sym typeface="DM Sans Bold"/>
                </a:rPr>
                <a:t> </a:t>
              </a:r>
            </a:p>
            <a:p>
              <a:pPr algn="l">
                <a:lnSpc>
                  <a:spcPts val="2197"/>
                </a:lnSpc>
                <a:spcBef>
                  <a:spcPct val="0"/>
                </a:spcBef>
              </a:pPr>
              <a:endParaRPr lang="en-US" sz="1569" b="1" u="sng" strike="noStrike">
                <a:solidFill>
                  <a:srgbClr val="1F264D"/>
                </a:solidFill>
                <a:latin typeface="DM Sans Bold"/>
                <a:ea typeface="DM Sans Bold"/>
                <a:cs typeface="DM Sans Bold"/>
                <a:sym typeface="DM Sans Bold"/>
              </a:endParaRPr>
            </a:p>
            <a:p>
              <a:pPr marL="338962" lvl="1" indent="-169481" algn="l">
                <a:lnSpc>
                  <a:spcPts val="2197"/>
                </a:lnSpc>
                <a:spcBef>
                  <a:spcPct val="0"/>
                </a:spcBef>
                <a:buFont typeface="Arial"/>
                <a:buChar char="•"/>
              </a:pPr>
              <a:r>
                <a:rPr lang="en-US" sz="1569" b="1" u="sng" strike="noStrike">
                  <a:solidFill>
                    <a:srgbClr val="1F264D"/>
                  </a:solidFill>
                  <a:latin typeface="DM Sans Bold"/>
                  <a:ea typeface="DM Sans Bold"/>
                  <a:cs typeface="DM Sans Bold"/>
                  <a:sym typeface="DM Sans Bold"/>
                </a:rPr>
                <a:t>Solution &amp; Outcome:</a:t>
              </a:r>
            </a:p>
            <a:p>
              <a:pPr marL="338962" lvl="1" indent="-169481" algn="l">
                <a:lnSpc>
                  <a:spcPts val="2197"/>
                </a:lnSpc>
                <a:spcBef>
                  <a:spcPct val="0"/>
                </a:spcBef>
                <a:buFont typeface="Arial"/>
                <a:buChar char="•"/>
              </a:pPr>
              <a:endParaRPr lang="en-US" sz="1569" b="1" u="sng" strike="noStrike">
                <a:solidFill>
                  <a:srgbClr val="1F264D"/>
                </a:solidFill>
                <a:latin typeface="DM Sans Bold"/>
                <a:ea typeface="DM Sans Bold"/>
                <a:cs typeface="DM Sans Bold"/>
                <a:sym typeface="DM Sans Bold"/>
              </a:endParaRPr>
            </a:p>
            <a:p>
              <a:pPr algn="l">
                <a:lnSpc>
                  <a:spcPts val="2197"/>
                </a:lnSpc>
                <a:spcBef>
                  <a:spcPct val="0"/>
                </a:spcBef>
              </a:pPr>
              <a:endParaRPr lang="en-US" sz="1569" b="1" u="sng" strike="noStrike">
                <a:solidFill>
                  <a:srgbClr val="1F264D"/>
                </a:solidFill>
                <a:latin typeface="DM Sans Bold"/>
                <a:ea typeface="DM Sans Bold"/>
                <a:cs typeface="DM Sans Bold"/>
                <a:sym typeface="DM Sans Bold"/>
              </a:endParaRPr>
            </a:p>
          </p:txBody>
        </p:sp>
      </p:grpSp>
      <p:grpSp>
        <p:nvGrpSpPr>
          <p:cNvPr id="16" name="Group 16"/>
          <p:cNvGrpSpPr/>
          <p:nvPr/>
        </p:nvGrpSpPr>
        <p:grpSpPr>
          <a:xfrm>
            <a:off x="9199800" y="5544340"/>
            <a:ext cx="8059500" cy="4564752"/>
            <a:chOff x="0" y="0"/>
            <a:chExt cx="6080203" cy="3443714"/>
          </a:xfrm>
        </p:grpSpPr>
        <p:sp>
          <p:nvSpPr>
            <p:cNvPr id="17" name="Freeform 17"/>
            <p:cNvSpPr/>
            <p:nvPr/>
          </p:nvSpPr>
          <p:spPr>
            <a:xfrm>
              <a:off x="0" y="0"/>
              <a:ext cx="6080203" cy="3443714"/>
            </a:xfrm>
            <a:custGeom>
              <a:avLst/>
              <a:gdLst/>
              <a:ahLst/>
              <a:cxnLst/>
              <a:rect l="l" t="t" r="r" b="b"/>
              <a:pathLst>
                <a:path w="6080203" h="3443714">
                  <a:moveTo>
                    <a:pt x="2882" y="0"/>
                  </a:moveTo>
                  <a:lnTo>
                    <a:pt x="6077321" y="0"/>
                  </a:lnTo>
                  <a:cubicBezTo>
                    <a:pt x="6078085" y="0"/>
                    <a:pt x="6078818" y="304"/>
                    <a:pt x="6079358" y="844"/>
                  </a:cubicBezTo>
                  <a:cubicBezTo>
                    <a:pt x="6079899" y="1384"/>
                    <a:pt x="6080203" y="2117"/>
                    <a:pt x="6080203" y="2882"/>
                  </a:cubicBezTo>
                  <a:lnTo>
                    <a:pt x="6080203" y="3440833"/>
                  </a:lnTo>
                  <a:cubicBezTo>
                    <a:pt x="6080203" y="3442424"/>
                    <a:pt x="6078912" y="3443714"/>
                    <a:pt x="6077321" y="3443714"/>
                  </a:cubicBezTo>
                  <a:lnTo>
                    <a:pt x="2882" y="3443714"/>
                  </a:lnTo>
                  <a:cubicBezTo>
                    <a:pt x="2117" y="3443714"/>
                    <a:pt x="1384" y="3443411"/>
                    <a:pt x="844" y="3442870"/>
                  </a:cubicBezTo>
                  <a:cubicBezTo>
                    <a:pt x="304" y="3442330"/>
                    <a:pt x="0" y="3441597"/>
                    <a:pt x="0" y="3440833"/>
                  </a:cubicBezTo>
                  <a:lnTo>
                    <a:pt x="0" y="2882"/>
                  </a:lnTo>
                  <a:cubicBezTo>
                    <a:pt x="0" y="2117"/>
                    <a:pt x="304" y="1384"/>
                    <a:pt x="844" y="844"/>
                  </a:cubicBezTo>
                  <a:cubicBezTo>
                    <a:pt x="1384" y="304"/>
                    <a:pt x="2117" y="0"/>
                    <a:pt x="2882" y="0"/>
                  </a:cubicBezTo>
                  <a:close/>
                </a:path>
              </a:pathLst>
            </a:custGeom>
            <a:solidFill>
              <a:srgbClr val="F4F4F4"/>
            </a:solidFill>
            <a:ln w="38100" cap="sq">
              <a:solidFill>
                <a:srgbClr val="000000"/>
              </a:solidFill>
              <a:prstDash val="lgDash"/>
              <a:miter/>
            </a:ln>
          </p:spPr>
        </p:sp>
        <p:sp>
          <p:nvSpPr>
            <p:cNvPr id="18" name="TextBox 18"/>
            <p:cNvSpPr txBox="1"/>
            <p:nvPr/>
          </p:nvSpPr>
          <p:spPr>
            <a:xfrm>
              <a:off x="0" y="-28575"/>
              <a:ext cx="6080203" cy="3472289"/>
            </a:xfrm>
            <a:prstGeom prst="rect">
              <a:avLst/>
            </a:prstGeom>
          </p:spPr>
          <p:txBody>
            <a:bodyPr lIns="254000" tIns="254000" rIns="254000" bIns="254000" rtlCol="0" anchor="ctr"/>
            <a:lstStyle/>
            <a:p>
              <a:pPr marL="338962" lvl="1" indent="-169481" algn="l">
                <a:lnSpc>
                  <a:spcPts val="2197"/>
                </a:lnSpc>
                <a:buFont typeface="Arial"/>
                <a:buChar char="•"/>
              </a:pPr>
              <a:r>
                <a:rPr lang="en-US" sz="1569" b="1" u="sng">
                  <a:solidFill>
                    <a:srgbClr val="1F264D"/>
                  </a:solidFill>
                  <a:latin typeface="DM Sans Bold"/>
                  <a:ea typeface="DM Sans Bold"/>
                  <a:cs typeface="DM Sans Bold"/>
                  <a:sym typeface="DM Sans Bold"/>
                </a:rPr>
                <a:t>___________:</a:t>
              </a:r>
            </a:p>
            <a:p>
              <a:pPr marL="338962" lvl="1" indent="-169481" algn="l">
                <a:lnSpc>
                  <a:spcPts val="2197"/>
                </a:lnSpc>
                <a:spcBef>
                  <a:spcPct val="0"/>
                </a:spcBef>
                <a:buFont typeface="Arial"/>
                <a:buChar char="•"/>
              </a:pPr>
              <a:r>
                <a:rPr lang="en-US" sz="1569" b="1" u="sng" strike="noStrike">
                  <a:solidFill>
                    <a:srgbClr val="1F264D"/>
                  </a:solidFill>
                  <a:latin typeface="DM Sans Bold"/>
                  <a:ea typeface="DM Sans Bold"/>
                  <a:cs typeface="DM Sans Bold"/>
                  <a:sym typeface="DM Sans Bold"/>
                </a:rPr>
                <a:t>Problem Statement:</a:t>
              </a:r>
              <a:r>
                <a:rPr lang="en-US" sz="1569" strike="noStrike">
                  <a:solidFill>
                    <a:srgbClr val="1F264D"/>
                  </a:solidFill>
                  <a:latin typeface="DM Sans"/>
                  <a:ea typeface="DM Sans"/>
                  <a:cs typeface="DM Sans"/>
                  <a:sym typeface="DM Sans"/>
                </a:rPr>
                <a:t> </a:t>
              </a:r>
            </a:p>
            <a:p>
              <a:pPr algn="l">
                <a:lnSpc>
                  <a:spcPts val="2197"/>
                </a:lnSpc>
                <a:spcBef>
                  <a:spcPct val="0"/>
                </a:spcBef>
              </a:pPr>
              <a:endParaRPr lang="en-US" sz="1569" strike="noStrike">
                <a:solidFill>
                  <a:srgbClr val="1F264D"/>
                </a:solidFill>
                <a:latin typeface="DM Sans"/>
                <a:ea typeface="DM Sans"/>
                <a:cs typeface="DM Sans"/>
                <a:sym typeface="DM Sans"/>
              </a:endParaRPr>
            </a:p>
            <a:p>
              <a:pPr marL="338962" lvl="1" indent="-169481" algn="l">
                <a:lnSpc>
                  <a:spcPts val="2197"/>
                </a:lnSpc>
                <a:spcBef>
                  <a:spcPct val="0"/>
                </a:spcBef>
                <a:buFont typeface="Arial"/>
                <a:buChar char="•"/>
              </a:pPr>
              <a:r>
                <a:rPr lang="en-US" sz="1569" b="1" u="sng" strike="noStrike">
                  <a:solidFill>
                    <a:srgbClr val="1F264D"/>
                  </a:solidFill>
                  <a:latin typeface="DM Sans Bold"/>
                  <a:ea typeface="DM Sans Bold"/>
                  <a:cs typeface="DM Sans Bold"/>
                  <a:sym typeface="DM Sans Bold"/>
                </a:rPr>
                <a:t>Solution &amp; Outcome:</a:t>
              </a:r>
            </a:p>
            <a:p>
              <a:pPr marL="338962" lvl="1" indent="-169481" algn="l">
                <a:lnSpc>
                  <a:spcPts val="2197"/>
                </a:lnSpc>
                <a:spcBef>
                  <a:spcPct val="0"/>
                </a:spcBef>
                <a:buFont typeface="Arial"/>
                <a:buChar char="•"/>
              </a:pPr>
              <a:endParaRPr lang="en-US" sz="1569" b="1" u="sng" strike="noStrike">
                <a:solidFill>
                  <a:srgbClr val="1F264D"/>
                </a:solidFill>
                <a:latin typeface="DM Sans Bold"/>
                <a:ea typeface="DM Sans Bold"/>
                <a:cs typeface="DM Sans Bold"/>
                <a:sym typeface="DM Sans Bold"/>
              </a:endParaRPr>
            </a:p>
            <a:p>
              <a:pPr algn="l">
                <a:lnSpc>
                  <a:spcPts val="2197"/>
                </a:lnSpc>
                <a:spcBef>
                  <a:spcPct val="0"/>
                </a:spcBef>
              </a:pPr>
              <a:endParaRPr lang="en-US" sz="1569" b="1" u="sng" strike="noStrike">
                <a:solidFill>
                  <a:srgbClr val="1F264D"/>
                </a:solidFill>
                <a:latin typeface="DM Sans Bold"/>
                <a:ea typeface="DM Sans Bold"/>
                <a:cs typeface="DM Sans Bold"/>
                <a:sym typeface="DM Sans Bold"/>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Bright Purple Light Pink White 3D Business Case Study and Report Business Presentation</dc:title>
  <cp:lastModifiedBy>Praveen Reddy</cp:lastModifiedBy>
  <cp:revision>2</cp:revision>
  <dcterms:created xsi:type="dcterms:W3CDTF">2006-08-16T00:00:00Z</dcterms:created>
  <dcterms:modified xsi:type="dcterms:W3CDTF">2026-09-10T18:37:27Z</dcterms:modified>
  <dc:identifier>DAGoViMb8JU</dc:identifier>
</cp:coreProperties>
</file>