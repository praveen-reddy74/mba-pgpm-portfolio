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12192000"/>
  <p:notesSz cx="6858000" cy="9144000"/>
  <p:embeddedFontLst>
    <p:embeddedFont>
      <p:font typeface="Montserrat SemiBold"/>
      <p:regular r:id="rId36"/>
      <p:bold r:id="rId37"/>
      <p:italic r:id="rId38"/>
      <p:boldItalic r:id="rId39"/>
    </p:embeddedFont>
    <p:embeddedFont>
      <p:font typeface="Montserrat"/>
      <p:bold r:id="rId40"/>
      <p:boldItalic r:id="rId41"/>
    </p:embeddedFont>
    <p:embeddedFont>
      <p:font typeface="Open Sans SemiBold"/>
      <p:regular r:id="rId42"/>
      <p:bold r:id="rId43"/>
      <p:italic r:id="rId44"/>
      <p:boldItalic r:id="rId45"/>
    </p:embeddedFont>
    <p:embeddedFont>
      <p:font typeface="Open Sans ExtraBold"/>
      <p:bold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745850-5646-438E-9981-D9D449FCAEBE}">
  <a:tblStyle styleId="{14745850-5646-438E-9981-D9D449FCAEB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42" Type="http://schemas.openxmlformats.org/officeDocument/2006/relationships/font" Target="fonts/OpenSansSemiBold-regular.fntdata"/><Relationship Id="rId41" Type="http://schemas.openxmlformats.org/officeDocument/2006/relationships/font" Target="fonts/Montserrat-boldItalic.fntdata"/><Relationship Id="rId44" Type="http://schemas.openxmlformats.org/officeDocument/2006/relationships/font" Target="fonts/OpenSansSemiBold-italic.fntdata"/><Relationship Id="rId43" Type="http://schemas.openxmlformats.org/officeDocument/2006/relationships/font" Target="fonts/OpenSansSemiBold-bold.fntdata"/><Relationship Id="rId46" Type="http://schemas.openxmlformats.org/officeDocument/2006/relationships/font" Target="fonts/OpenSansExtraBold-bold.fntdata"/><Relationship Id="rId45" Type="http://schemas.openxmlformats.org/officeDocument/2006/relationships/font" Target="fonts/OpenSans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penSans-regular.fntdata"/><Relationship Id="rId47" Type="http://schemas.openxmlformats.org/officeDocument/2006/relationships/font" Target="fonts/OpenSansExtraBold-boldItalic.fntdata"/><Relationship Id="rId49" Type="http://schemas.openxmlformats.org/officeDocument/2006/relationships/font" Target="fonts/Open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MontserratSemiBold-bold.fntdata"/><Relationship Id="rId36" Type="http://schemas.openxmlformats.org/officeDocument/2006/relationships/font" Target="fonts/MontserratSemiBold-regular.fntdata"/><Relationship Id="rId39" Type="http://schemas.openxmlformats.org/officeDocument/2006/relationships/font" Target="fonts/MontserratSemiBold-boldItalic.fntdata"/><Relationship Id="rId38" Type="http://schemas.openxmlformats.org/officeDocument/2006/relationships/font" Target="fonts/MontserratSemi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1.png"/><Relationship Id="rId10" Type="http://schemas.openxmlformats.org/officeDocument/2006/relationships/image" Target="../media/image11.png"/><Relationship Id="rId9"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9.png"/><Relationship Id="rId11" Type="http://schemas.openxmlformats.org/officeDocument/2006/relationships/image" Target="../media/image21.png"/><Relationship Id="rId10" Type="http://schemas.openxmlformats.org/officeDocument/2006/relationships/image" Target="../media/image25.png"/><Relationship Id="rId9"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61.png"/><Relationship Id="rId7" Type="http://schemas.openxmlformats.org/officeDocument/2006/relationships/image" Target="../media/image16.png"/><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33.png"/><Relationship Id="rId13" Type="http://schemas.openxmlformats.org/officeDocument/2006/relationships/image" Target="../media/image26.png"/><Relationship Id="rId12"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8.png"/><Relationship Id="rId9" Type="http://schemas.openxmlformats.org/officeDocument/2006/relationships/image" Target="../media/image19.png"/><Relationship Id="rId15" Type="http://schemas.openxmlformats.org/officeDocument/2006/relationships/image" Target="../media/image29.png"/><Relationship Id="rId14" Type="http://schemas.openxmlformats.org/officeDocument/2006/relationships/image" Target="../media/image28.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20.png"/><Relationship Id="rId8"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5.png"/><Relationship Id="rId5" Type="http://schemas.openxmlformats.org/officeDocument/2006/relationships/image" Target="../media/image32.png"/><Relationship Id="rId6" Type="http://schemas.openxmlformats.org/officeDocument/2006/relationships/image" Target="../media/image38.png"/></Relationships>
</file>

<file path=ppt/slides/_rels/slide9.xml.rels><?xml version="1.0" encoding="UTF-8" standalone="yes"?><Relationships xmlns="http://schemas.openxmlformats.org/package/2006/relationships"><Relationship Id="rId11" Type="http://schemas.openxmlformats.org/officeDocument/2006/relationships/image" Target="../media/image42.png"/><Relationship Id="rId10" Type="http://schemas.openxmlformats.org/officeDocument/2006/relationships/image" Target="../media/image49.png"/><Relationship Id="rId12"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4.png"/><Relationship Id="rId9" Type="http://schemas.openxmlformats.org/officeDocument/2006/relationships/image" Target="../media/image39.png"/><Relationship Id="rId5" Type="http://schemas.openxmlformats.org/officeDocument/2006/relationships/image" Target="../media/image36.png"/><Relationship Id="rId6" Type="http://schemas.openxmlformats.org/officeDocument/2006/relationships/image" Target="../media/image45.png"/><Relationship Id="rId7" Type="http://schemas.openxmlformats.org/officeDocument/2006/relationships/image" Target="../media/image40.png"/><Relationship Id="rId8"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0" Type="http://schemas.openxmlformats.org/officeDocument/2006/relationships/image" Target="../media/image64.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7.png"/><Relationship Id="rId9" Type="http://schemas.openxmlformats.org/officeDocument/2006/relationships/image" Target="../media/image47.png"/><Relationship Id="rId5" Type="http://schemas.openxmlformats.org/officeDocument/2006/relationships/image" Target="../media/image41.png"/><Relationship Id="rId6" Type="http://schemas.openxmlformats.org/officeDocument/2006/relationships/image" Target="../media/image46.png"/><Relationship Id="rId7" Type="http://schemas.openxmlformats.org/officeDocument/2006/relationships/image" Target="../media/image48.png"/><Relationship Id="rId8"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53.png"/><Relationship Id="rId7" Type="http://schemas.openxmlformats.org/officeDocument/2006/relationships/image" Target="../media/image52.png"/><Relationship Id="rId8"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72.png"/><Relationship Id="rId9" Type="http://schemas.openxmlformats.org/officeDocument/2006/relationships/image" Target="../media/image59.png"/><Relationship Id="rId5" Type="http://schemas.openxmlformats.org/officeDocument/2006/relationships/image" Target="../media/image6.png"/><Relationship Id="rId6" Type="http://schemas.openxmlformats.org/officeDocument/2006/relationships/image" Target="../media/image55.png"/><Relationship Id="rId7" Type="http://schemas.openxmlformats.org/officeDocument/2006/relationships/image" Target="../media/image57.png"/><Relationship Id="rId8" Type="http://schemas.openxmlformats.org/officeDocument/2006/relationships/image" Target="../media/image5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62.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60.png"/><Relationship Id="rId5" Type="http://schemas.openxmlformats.org/officeDocument/2006/relationships/image" Target="../media/image65.png"/><Relationship Id="rId6"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63.png"/><Relationship Id="rId5" Type="http://schemas.openxmlformats.org/officeDocument/2006/relationships/image" Target="../media/image66.png"/><Relationship Id="rId6" Type="http://schemas.openxmlformats.org/officeDocument/2006/relationships/image" Target="../media/image102.png"/><Relationship Id="rId7" Type="http://schemas.openxmlformats.org/officeDocument/2006/relationships/image" Target="../media/image8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6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88.png"/><Relationship Id="rId5" Type="http://schemas.openxmlformats.org/officeDocument/2006/relationships/image" Target="../media/image6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1" Type="http://schemas.openxmlformats.org/officeDocument/2006/relationships/image" Target="../media/image78.png"/><Relationship Id="rId10" Type="http://schemas.openxmlformats.org/officeDocument/2006/relationships/image" Target="../media/image76.png"/><Relationship Id="rId13" Type="http://schemas.openxmlformats.org/officeDocument/2006/relationships/image" Target="../media/image73.png"/><Relationship Id="rId12" Type="http://schemas.openxmlformats.org/officeDocument/2006/relationships/image" Target="../media/image77.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71.png"/><Relationship Id="rId9" Type="http://schemas.openxmlformats.org/officeDocument/2006/relationships/image" Target="../media/image74.png"/><Relationship Id="rId15" Type="http://schemas.openxmlformats.org/officeDocument/2006/relationships/image" Target="../media/image84.png"/><Relationship Id="rId14" Type="http://schemas.openxmlformats.org/officeDocument/2006/relationships/image" Target="../media/image80.png"/><Relationship Id="rId17" Type="http://schemas.openxmlformats.org/officeDocument/2006/relationships/image" Target="../media/image86.png"/><Relationship Id="rId16" Type="http://schemas.openxmlformats.org/officeDocument/2006/relationships/image" Target="../media/image81.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9.png"/><Relationship Id="rId8" Type="http://schemas.openxmlformats.org/officeDocument/2006/relationships/image" Target="../media/image7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8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96.png"/><Relationship Id="rId5" Type="http://schemas.openxmlformats.org/officeDocument/2006/relationships/image" Target="../media/image85.png"/><Relationship Id="rId6" Type="http://schemas.openxmlformats.org/officeDocument/2006/relationships/image" Target="../media/image89.png"/><Relationship Id="rId7" Type="http://schemas.openxmlformats.org/officeDocument/2006/relationships/image" Target="../media/image94.png"/></Relationships>
</file>

<file path=ppt/slides/_rels/slide26.xml.rels><?xml version="1.0" encoding="UTF-8" standalone="yes"?><Relationships xmlns="http://schemas.openxmlformats.org/package/2006/relationships"><Relationship Id="rId11" Type="http://schemas.openxmlformats.org/officeDocument/2006/relationships/image" Target="../media/image99.png"/><Relationship Id="rId10" Type="http://schemas.openxmlformats.org/officeDocument/2006/relationships/image" Target="../media/image91.pn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01.png"/><Relationship Id="rId9" Type="http://schemas.openxmlformats.org/officeDocument/2006/relationships/image" Target="../media/image92.png"/><Relationship Id="rId5" Type="http://schemas.openxmlformats.org/officeDocument/2006/relationships/image" Target="../media/image87.png"/><Relationship Id="rId6" Type="http://schemas.openxmlformats.org/officeDocument/2006/relationships/image" Target="../media/image95.png"/><Relationship Id="rId7" Type="http://schemas.openxmlformats.org/officeDocument/2006/relationships/image" Target="../media/image90.png"/><Relationship Id="rId8" Type="http://schemas.openxmlformats.org/officeDocument/2006/relationships/image" Target="../media/image9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9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98.png"/><Relationship Id="rId5" Type="http://schemas.openxmlformats.org/officeDocument/2006/relationships/image" Target="../media/image10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3395662" y="3838575"/>
            <a:ext cx="5400675" cy="1819126"/>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571500" y="476250"/>
            <a:ext cx="11049000" cy="5905500"/>
          </a:xfrm>
          <a:prstGeom prst="rect">
            <a:avLst/>
          </a:prstGeom>
          <a:noFill/>
          <a:ln>
            <a:noFill/>
          </a:ln>
        </p:spPr>
      </p:pic>
      <p:sp>
        <p:nvSpPr>
          <p:cNvPr id="87" name="Google Shape;87;p13"/>
          <p:cNvSpPr txBox="1"/>
          <p:nvPr/>
        </p:nvSpPr>
        <p:spPr>
          <a:xfrm>
            <a:off x="1655444" y="1200298"/>
            <a:ext cx="8881110" cy="146298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0" i="0" lang="en-US" sz="4800" u="none" cap="none" strike="noStrike">
                <a:solidFill>
                  <a:srgbClr val="034EA2"/>
                </a:solidFill>
                <a:latin typeface="Montserrat SemiBold"/>
                <a:ea typeface="Montserrat SemiBold"/>
                <a:cs typeface="Montserrat SemiBold"/>
                <a:sym typeface="Montserrat SemiBold"/>
              </a:rPr>
              <a:t>Go-To-Market Strategy</a:t>
            </a:r>
            <a:br>
              <a:rPr b="0" i="0" lang="en-US" sz="1800" u="none" cap="none" strike="noStrike">
                <a:solidFill>
                  <a:schemeClr val="dk1"/>
                </a:solidFill>
                <a:latin typeface="Calibri"/>
                <a:ea typeface="Calibri"/>
                <a:cs typeface="Calibri"/>
                <a:sym typeface="Calibri"/>
              </a:rPr>
            </a:br>
            <a:r>
              <a:rPr b="0" i="0" lang="en-US" sz="4800" u="none" cap="none" strike="noStrike">
                <a:solidFill>
                  <a:srgbClr val="034EA2"/>
                </a:solidFill>
                <a:latin typeface="Montserrat SemiBold"/>
                <a:ea typeface="Montserrat SemiBold"/>
                <a:cs typeface="Montserrat SemiBold"/>
                <a:sym typeface="Montserrat SemiBold"/>
              </a:rPr>
              <a:t> for Samsung Ballie in India</a:t>
            </a:r>
            <a:endParaRPr/>
          </a:p>
        </p:txBody>
      </p:sp>
      <p:sp>
        <p:nvSpPr>
          <p:cNvPr id="88" name="Google Shape;88;p13"/>
          <p:cNvSpPr txBox="1"/>
          <p:nvPr/>
        </p:nvSpPr>
        <p:spPr>
          <a:xfrm>
            <a:off x="3509988" y="2947100"/>
            <a:ext cx="51720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767676"/>
                </a:solidFill>
                <a:latin typeface="Open Sans"/>
                <a:ea typeface="Open Sans"/>
                <a:cs typeface="Open Sans"/>
                <a:sym typeface="Open Sans"/>
              </a:rPr>
              <a:t>AI-Powered Home Companion Robot</a:t>
            </a:r>
            <a:endParaRPr/>
          </a:p>
        </p:txBody>
      </p:sp>
      <p:sp>
        <p:nvSpPr>
          <p:cNvPr id="89" name="Google Shape;89;p13"/>
          <p:cNvSpPr txBox="1"/>
          <p:nvPr/>
        </p:nvSpPr>
        <p:spPr>
          <a:xfrm>
            <a:off x="3809523" y="4076700"/>
            <a:ext cx="46206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Marketing Management - 2 Project</a:t>
            </a:r>
            <a:endParaRPr/>
          </a:p>
        </p:txBody>
      </p:sp>
      <p:sp>
        <p:nvSpPr>
          <p:cNvPr id="90" name="Google Shape;90;p13"/>
          <p:cNvSpPr txBox="1"/>
          <p:nvPr/>
        </p:nvSpPr>
        <p:spPr>
          <a:xfrm>
            <a:off x="3919537" y="4467225"/>
            <a:ext cx="44007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21212"/>
                </a:solidFill>
                <a:latin typeface="Open Sans SemiBold"/>
                <a:ea typeface="Open Sans SemiBold"/>
                <a:cs typeface="Open Sans SemiBold"/>
                <a:sym typeface="Open Sans SemiBold"/>
              </a:rPr>
              <a:t>Group Number: 0</a:t>
            </a:r>
            <a:r>
              <a:rPr lang="en-US" sz="1350">
                <a:solidFill>
                  <a:srgbClr val="121212"/>
                </a:solidFill>
                <a:latin typeface="Open Sans SemiBold"/>
                <a:ea typeface="Open Sans SemiBold"/>
                <a:cs typeface="Open Sans SemiBold"/>
                <a:sym typeface="Open Sans SemiBold"/>
              </a:rPr>
              <a:t>1</a:t>
            </a:r>
            <a:endParaRPr/>
          </a:p>
        </p:txBody>
      </p:sp>
      <p:sp>
        <p:nvSpPr>
          <p:cNvPr id="91" name="Google Shape;91;p13"/>
          <p:cNvSpPr txBox="1"/>
          <p:nvPr/>
        </p:nvSpPr>
        <p:spPr>
          <a:xfrm>
            <a:off x="3919537" y="4789140"/>
            <a:ext cx="44007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Institute Name: </a:t>
            </a:r>
            <a:r>
              <a:rPr lang="en-US" sz="1350">
                <a:solidFill>
                  <a:srgbClr val="121212"/>
                </a:solidFill>
                <a:latin typeface="Open Sans"/>
                <a:ea typeface="Open Sans"/>
                <a:cs typeface="Open Sans"/>
                <a:sym typeface="Open Sans"/>
              </a:rPr>
              <a:t>Great Lakes Institute of Management</a:t>
            </a:r>
            <a:endParaRPr/>
          </a:p>
        </p:txBody>
      </p:sp>
      <p:sp>
        <p:nvSpPr>
          <p:cNvPr id="92" name="Google Shape;92;p13"/>
          <p:cNvSpPr txBox="1"/>
          <p:nvPr/>
        </p:nvSpPr>
        <p:spPr>
          <a:xfrm>
            <a:off x="3919537" y="5206305"/>
            <a:ext cx="4400700" cy="161700"/>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767676"/>
                </a:solidFill>
                <a:latin typeface="Open Sans"/>
                <a:ea typeface="Open Sans"/>
                <a:cs typeface="Open Sans"/>
                <a:sym typeface="Open Sans"/>
              </a:rPr>
              <a:t>Team Members: M Praveen Kumar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pic>
        <p:nvPicPr>
          <p:cNvPr descr="image.png" id="97" name="Google Shape;97;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8" name="Google Shape;98;p14"/>
          <p:cNvSpPr txBox="1"/>
          <p:nvPr/>
        </p:nvSpPr>
        <p:spPr>
          <a:xfrm>
            <a:off x="857250" y="1304925"/>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01.</a:t>
            </a:r>
            <a:r>
              <a:rPr b="0" i="0" lang="en-US" sz="1350" u="none" cap="none" strike="noStrike">
                <a:solidFill>
                  <a:srgbClr val="121212"/>
                </a:solidFill>
                <a:latin typeface="Open Sans"/>
                <a:ea typeface="Open Sans"/>
                <a:cs typeface="Open Sans"/>
                <a:sym typeface="Open Sans"/>
              </a:rPr>
              <a:t> Executive Summary</a:t>
            </a:r>
            <a:endParaRPr/>
          </a:p>
        </p:txBody>
      </p:sp>
      <p:sp>
        <p:nvSpPr>
          <p:cNvPr id="99" name="Google Shape;99;p14"/>
          <p:cNvSpPr txBox="1"/>
          <p:nvPr/>
        </p:nvSpPr>
        <p:spPr>
          <a:xfrm>
            <a:off x="857250" y="1722090"/>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02.</a:t>
            </a:r>
            <a:r>
              <a:rPr b="0" i="0" lang="en-US" sz="1350" u="none" cap="none" strike="noStrike">
                <a:solidFill>
                  <a:srgbClr val="121212"/>
                </a:solidFill>
                <a:latin typeface="Open Sans"/>
                <a:ea typeface="Open Sans"/>
                <a:cs typeface="Open Sans"/>
                <a:sym typeface="Open Sans"/>
              </a:rPr>
              <a:t> Introduction to Samsung Ballie</a:t>
            </a:r>
            <a:endParaRPr/>
          </a:p>
        </p:txBody>
      </p:sp>
      <p:sp>
        <p:nvSpPr>
          <p:cNvPr id="100" name="Google Shape;100;p14"/>
          <p:cNvSpPr txBox="1"/>
          <p:nvPr/>
        </p:nvSpPr>
        <p:spPr>
          <a:xfrm>
            <a:off x="857250" y="2139255"/>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03.</a:t>
            </a:r>
            <a:r>
              <a:rPr b="0" i="0" lang="en-US" sz="1350" u="none" cap="none" strike="noStrike">
                <a:solidFill>
                  <a:srgbClr val="121212"/>
                </a:solidFill>
                <a:latin typeface="Open Sans"/>
                <a:ea typeface="Open Sans"/>
                <a:cs typeface="Open Sans"/>
                <a:sym typeface="Open Sans"/>
              </a:rPr>
              <a:t> Macro Environment Analysis (PESTLE)</a:t>
            </a:r>
            <a:endParaRPr/>
          </a:p>
        </p:txBody>
      </p:sp>
      <p:sp>
        <p:nvSpPr>
          <p:cNvPr id="101" name="Google Shape;101;p14"/>
          <p:cNvSpPr txBox="1"/>
          <p:nvPr/>
        </p:nvSpPr>
        <p:spPr>
          <a:xfrm>
            <a:off x="857250" y="2556420"/>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04.</a:t>
            </a:r>
            <a:r>
              <a:rPr b="0" i="0" lang="en-US" sz="1350" u="none" cap="none" strike="noStrike">
                <a:solidFill>
                  <a:srgbClr val="121212"/>
                </a:solidFill>
                <a:latin typeface="Open Sans"/>
                <a:ea typeface="Open Sans"/>
                <a:cs typeface="Open Sans"/>
                <a:sym typeface="Open Sans"/>
              </a:rPr>
              <a:t> Market Needs &amp; Trends</a:t>
            </a:r>
            <a:endParaRPr/>
          </a:p>
        </p:txBody>
      </p:sp>
      <p:sp>
        <p:nvSpPr>
          <p:cNvPr id="102" name="Google Shape;102;p14"/>
          <p:cNvSpPr txBox="1"/>
          <p:nvPr/>
        </p:nvSpPr>
        <p:spPr>
          <a:xfrm>
            <a:off x="857250" y="2973585"/>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05.</a:t>
            </a:r>
            <a:r>
              <a:rPr b="0" i="0" lang="en-US" sz="1350" u="none" cap="none" strike="noStrike">
                <a:solidFill>
                  <a:srgbClr val="121212"/>
                </a:solidFill>
                <a:latin typeface="Open Sans"/>
                <a:ea typeface="Open Sans"/>
                <a:cs typeface="Open Sans"/>
                <a:sym typeface="Open Sans"/>
              </a:rPr>
              <a:t> Market Size &amp; Growth</a:t>
            </a:r>
            <a:endParaRPr/>
          </a:p>
        </p:txBody>
      </p:sp>
      <p:sp>
        <p:nvSpPr>
          <p:cNvPr id="103" name="Google Shape;103;p14"/>
          <p:cNvSpPr txBox="1"/>
          <p:nvPr/>
        </p:nvSpPr>
        <p:spPr>
          <a:xfrm>
            <a:off x="857250" y="3390751"/>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06.</a:t>
            </a:r>
            <a:r>
              <a:rPr b="0" i="0" lang="en-US" sz="1350" u="none" cap="none" strike="noStrike">
                <a:solidFill>
                  <a:srgbClr val="121212"/>
                </a:solidFill>
                <a:latin typeface="Open Sans"/>
                <a:ea typeface="Open Sans"/>
                <a:cs typeface="Open Sans"/>
                <a:sym typeface="Open Sans"/>
              </a:rPr>
              <a:t> SWOT Analysis</a:t>
            </a:r>
            <a:endParaRPr/>
          </a:p>
        </p:txBody>
      </p:sp>
      <p:sp>
        <p:nvSpPr>
          <p:cNvPr id="104" name="Google Shape;104;p14"/>
          <p:cNvSpPr txBox="1"/>
          <p:nvPr/>
        </p:nvSpPr>
        <p:spPr>
          <a:xfrm>
            <a:off x="857250" y="3807916"/>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07.</a:t>
            </a:r>
            <a:r>
              <a:rPr b="0" i="0" lang="en-US" sz="1350" u="none" cap="none" strike="noStrike">
                <a:solidFill>
                  <a:srgbClr val="121212"/>
                </a:solidFill>
                <a:latin typeface="Open Sans"/>
                <a:ea typeface="Open Sans"/>
                <a:cs typeface="Open Sans"/>
                <a:sym typeface="Open Sans"/>
              </a:rPr>
              <a:t> Competitive Analysis</a:t>
            </a:r>
            <a:endParaRPr/>
          </a:p>
        </p:txBody>
      </p:sp>
      <p:sp>
        <p:nvSpPr>
          <p:cNvPr id="105" name="Google Shape;105;p14"/>
          <p:cNvSpPr txBox="1"/>
          <p:nvPr/>
        </p:nvSpPr>
        <p:spPr>
          <a:xfrm>
            <a:off x="857250" y="4225081"/>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08.</a:t>
            </a:r>
            <a:r>
              <a:rPr b="0" i="0" lang="en-US" sz="1350" u="none" cap="none" strike="noStrike">
                <a:solidFill>
                  <a:srgbClr val="121212"/>
                </a:solidFill>
                <a:latin typeface="Open Sans"/>
                <a:ea typeface="Open Sans"/>
                <a:cs typeface="Open Sans"/>
                <a:sym typeface="Open Sans"/>
              </a:rPr>
              <a:t> Perceptual Positioning Map</a:t>
            </a:r>
            <a:endParaRPr/>
          </a:p>
        </p:txBody>
      </p:sp>
      <p:sp>
        <p:nvSpPr>
          <p:cNvPr id="106" name="Google Shape;106;p14"/>
          <p:cNvSpPr txBox="1"/>
          <p:nvPr/>
        </p:nvSpPr>
        <p:spPr>
          <a:xfrm>
            <a:off x="6572250" y="1304925"/>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09.</a:t>
            </a:r>
            <a:r>
              <a:rPr b="0" i="0" lang="en-US" sz="1350" u="none" cap="none" strike="noStrike">
                <a:solidFill>
                  <a:srgbClr val="121212"/>
                </a:solidFill>
                <a:latin typeface="Open Sans"/>
                <a:ea typeface="Open Sans"/>
                <a:cs typeface="Open Sans"/>
                <a:sym typeface="Open Sans"/>
              </a:rPr>
              <a:t> Product Offering &amp; Customer Value</a:t>
            </a:r>
            <a:endParaRPr/>
          </a:p>
        </p:txBody>
      </p:sp>
      <p:sp>
        <p:nvSpPr>
          <p:cNvPr id="107" name="Google Shape;107;p14"/>
          <p:cNvSpPr txBox="1"/>
          <p:nvPr/>
        </p:nvSpPr>
        <p:spPr>
          <a:xfrm>
            <a:off x="6572250" y="1722090"/>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10.</a:t>
            </a:r>
            <a:r>
              <a:rPr b="0" i="0" lang="en-US" sz="1350" u="none" cap="none" strike="noStrike">
                <a:solidFill>
                  <a:srgbClr val="121212"/>
                </a:solidFill>
                <a:latin typeface="Open Sans"/>
                <a:ea typeface="Open Sans"/>
                <a:cs typeface="Open Sans"/>
                <a:sym typeface="Open Sans"/>
              </a:rPr>
              <a:t> Keys to Success &amp; Critical Issues</a:t>
            </a:r>
            <a:endParaRPr/>
          </a:p>
        </p:txBody>
      </p:sp>
      <p:sp>
        <p:nvSpPr>
          <p:cNvPr id="108" name="Google Shape;108;p14"/>
          <p:cNvSpPr txBox="1"/>
          <p:nvPr/>
        </p:nvSpPr>
        <p:spPr>
          <a:xfrm>
            <a:off x="6572250" y="2139255"/>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11.</a:t>
            </a:r>
            <a:r>
              <a:rPr b="0" i="0" lang="en-US" sz="1350" u="none" cap="none" strike="noStrike">
                <a:solidFill>
                  <a:srgbClr val="121212"/>
                </a:solidFill>
                <a:latin typeface="Open Sans"/>
                <a:ea typeface="Open Sans"/>
                <a:cs typeface="Open Sans"/>
                <a:sym typeface="Open Sans"/>
              </a:rPr>
              <a:t> Marketing &amp; Financial Objectives</a:t>
            </a:r>
            <a:endParaRPr/>
          </a:p>
        </p:txBody>
      </p:sp>
      <p:sp>
        <p:nvSpPr>
          <p:cNvPr id="109" name="Google Shape;109;p14"/>
          <p:cNvSpPr txBox="1"/>
          <p:nvPr/>
        </p:nvSpPr>
        <p:spPr>
          <a:xfrm>
            <a:off x="6572250" y="2556420"/>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12.</a:t>
            </a:r>
            <a:r>
              <a:rPr b="0" i="0" lang="en-US" sz="1350" u="none" cap="none" strike="noStrike">
                <a:solidFill>
                  <a:srgbClr val="121212"/>
                </a:solidFill>
                <a:latin typeface="Open Sans"/>
                <a:ea typeface="Open Sans"/>
                <a:cs typeface="Open Sans"/>
                <a:sym typeface="Open Sans"/>
              </a:rPr>
              <a:t> Target Market (STP)</a:t>
            </a:r>
            <a:endParaRPr/>
          </a:p>
        </p:txBody>
      </p:sp>
      <p:sp>
        <p:nvSpPr>
          <p:cNvPr id="110" name="Google Shape;110;p14"/>
          <p:cNvSpPr txBox="1"/>
          <p:nvPr/>
        </p:nvSpPr>
        <p:spPr>
          <a:xfrm>
            <a:off x="6572250" y="2973585"/>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13.</a:t>
            </a:r>
            <a:r>
              <a:rPr b="0" i="0" lang="en-US" sz="1350" u="none" cap="none" strike="noStrike">
                <a:solidFill>
                  <a:srgbClr val="121212"/>
                </a:solidFill>
                <a:latin typeface="Open Sans"/>
                <a:ea typeface="Open Sans"/>
                <a:cs typeface="Open Sans"/>
                <a:sym typeface="Open Sans"/>
              </a:rPr>
              <a:t> Marketing Tactics (4Ps)</a:t>
            </a:r>
            <a:endParaRPr/>
          </a:p>
        </p:txBody>
      </p:sp>
      <p:sp>
        <p:nvSpPr>
          <p:cNvPr id="111" name="Google Shape;111;p14"/>
          <p:cNvSpPr txBox="1"/>
          <p:nvPr/>
        </p:nvSpPr>
        <p:spPr>
          <a:xfrm>
            <a:off x="6572250" y="3390751"/>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14.</a:t>
            </a:r>
            <a:r>
              <a:rPr b="0" i="0" lang="en-US" sz="1350" u="none" cap="none" strike="noStrike">
                <a:solidFill>
                  <a:srgbClr val="121212"/>
                </a:solidFill>
                <a:latin typeface="Open Sans"/>
                <a:ea typeface="Open Sans"/>
                <a:cs typeface="Open Sans"/>
                <a:sym typeface="Open Sans"/>
              </a:rPr>
              <a:t> Marketing Frameworks (BCG &amp; Ansoff)</a:t>
            </a:r>
            <a:endParaRPr/>
          </a:p>
        </p:txBody>
      </p:sp>
      <p:sp>
        <p:nvSpPr>
          <p:cNvPr id="112" name="Google Shape;112;p14"/>
          <p:cNvSpPr txBox="1"/>
          <p:nvPr/>
        </p:nvSpPr>
        <p:spPr>
          <a:xfrm>
            <a:off x="6572250" y="3807916"/>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15.</a:t>
            </a:r>
            <a:r>
              <a:rPr b="0" i="0" lang="en-US" sz="1350" u="none" cap="none" strike="noStrike">
                <a:solidFill>
                  <a:srgbClr val="121212"/>
                </a:solidFill>
                <a:latin typeface="Open Sans"/>
                <a:ea typeface="Open Sans"/>
                <a:cs typeface="Open Sans"/>
                <a:sym typeface="Open Sans"/>
              </a:rPr>
              <a:t> Conclusion &amp; Recommendations</a:t>
            </a:r>
            <a:endParaRPr/>
          </a:p>
        </p:txBody>
      </p:sp>
      <p:sp>
        <p:nvSpPr>
          <p:cNvPr id="113" name="Google Shape;113;p14"/>
          <p:cNvSpPr txBox="1"/>
          <p:nvPr/>
        </p:nvSpPr>
        <p:spPr>
          <a:xfrm>
            <a:off x="6572250" y="4225081"/>
            <a:ext cx="50482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16.</a:t>
            </a:r>
            <a:r>
              <a:rPr b="0" i="0" lang="en-US" sz="1350" u="none" cap="none" strike="noStrike">
                <a:solidFill>
                  <a:srgbClr val="121212"/>
                </a:solidFill>
                <a:latin typeface="Open Sans"/>
                <a:ea typeface="Open Sans"/>
                <a:cs typeface="Open Sans"/>
                <a:sym typeface="Open Sans"/>
              </a:rPr>
              <a:t> References</a:t>
            </a:r>
            <a:endParaRPr/>
          </a:p>
        </p:txBody>
      </p:sp>
      <p:sp>
        <p:nvSpPr>
          <p:cNvPr id="114" name="Google Shape;114;p14"/>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TABLE OF CONTENTS</a:t>
            </a:r>
            <a:endParaRPr/>
          </a:p>
        </p:txBody>
      </p:sp>
      <p:pic>
        <p:nvPicPr>
          <p:cNvPr descr="image.png" id="115" name="Google Shape;115;p14"/>
          <p:cNvPicPr preferRelativeResize="0"/>
          <p:nvPr/>
        </p:nvPicPr>
        <p:blipFill rotWithShape="1">
          <a:blip r:embed="rId4">
            <a:alphaModFix/>
          </a:blip>
          <a:srcRect b="0" l="0" r="0" t="0"/>
          <a:stretch/>
        </p:blipFill>
        <p:spPr>
          <a:xfrm>
            <a:off x="571500" y="1323975"/>
            <a:ext cx="104775" cy="180975"/>
          </a:xfrm>
          <a:prstGeom prst="rect">
            <a:avLst/>
          </a:prstGeom>
          <a:noFill/>
          <a:ln>
            <a:noFill/>
          </a:ln>
        </p:spPr>
      </p:pic>
      <p:pic>
        <p:nvPicPr>
          <p:cNvPr descr="image.png" id="116" name="Google Shape;116;p14"/>
          <p:cNvPicPr preferRelativeResize="0"/>
          <p:nvPr/>
        </p:nvPicPr>
        <p:blipFill rotWithShape="1">
          <a:blip r:embed="rId4">
            <a:alphaModFix/>
          </a:blip>
          <a:srcRect b="0" l="0" r="0" t="0"/>
          <a:stretch/>
        </p:blipFill>
        <p:spPr>
          <a:xfrm>
            <a:off x="571500" y="1741140"/>
            <a:ext cx="104775" cy="180975"/>
          </a:xfrm>
          <a:prstGeom prst="rect">
            <a:avLst/>
          </a:prstGeom>
          <a:noFill/>
          <a:ln>
            <a:noFill/>
          </a:ln>
        </p:spPr>
      </p:pic>
      <p:pic>
        <p:nvPicPr>
          <p:cNvPr descr="image.png" id="117" name="Google Shape;117;p14"/>
          <p:cNvPicPr preferRelativeResize="0"/>
          <p:nvPr/>
        </p:nvPicPr>
        <p:blipFill rotWithShape="1">
          <a:blip r:embed="rId4">
            <a:alphaModFix/>
          </a:blip>
          <a:srcRect b="0" l="0" r="0" t="0"/>
          <a:stretch/>
        </p:blipFill>
        <p:spPr>
          <a:xfrm>
            <a:off x="571500" y="2158305"/>
            <a:ext cx="104775" cy="180975"/>
          </a:xfrm>
          <a:prstGeom prst="rect">
            <a:avLst/>
          </a:prstGeom>
          <a:noFill/>
          <a:ln>
            <a:noFill/>
          </a:ln>
        </p:spPr>
      </p:pic>
      <p:pic>
        <p:nvPicPr>
          <p:cNvPr descr="image.png" id="118" name="Google Shape;118;p14"/>
          <p:cNvPicPr preferRelativeResize="0"/>
          <p:nvPr/>
        </p:nvPicPr>
        <p:blipFill rotWithShape="1">
          <a:blip r:embed="rId4">
            <a:alphaModFix/>
          </a:blip>
          <a:srcRect b="0" l="0" r="0" t="0"/>
          <a:stretch/>
        </p:blipFill>
        <p:spPr>
          <a:xfrm>
            <a:off x="571500" y="2575470"/>
            <a:ext cx="104775" cy="180975"/>
          </a:xfrm>
          <a:prstGeom prst="rect">
            <a:avLst/>
          </a:prstGeom>
          <a:noFill/>
          <a:ln>
            <a:noFill/>
          </a:ln>
        </p:spPr>
      </p:pic>
      <p:pic>
        <p:nvPicPr>
          <p:cNvPr descr="image.png" id="119" name="Google Shape;119;p14"/>
          <p:cNvPicPr preferRelativeResize="0"/>
          <p:nvPr/>
        </p:nvPicPr>
        <p:blipFill rotWithShape="1">
          <a:blip r:embed="rId4">
            <a:alphaModFix/>
          </a:blip>
          <a:srcRect b="0" l="0" r="0" t="0"/>
          <a:stretch/>
        </p:blipFill>
        <p:spPr>
          <a:xfrm>
            <a:off x="571500" y="2992635"/>
            <a:ext cx="104775" cy="180975"/>
          </a:xfrm>
          <a:prstGeom prst="rect">
            <a:avLst/>
          </a:prstGeom>
          <a:noFill/>
          <a:ln>
            <a:noFill/>
          </a:ln>
        </p:spPr>
      </p:pic>
      <p:pic>
        <p:nvPicPr>
          <p:cNvPr descr="image.png" id="120" name="Google Shape;120;p14"/>
          <p:cNvPicPr preferRelativeResize="0"/>
          <p:nvPr/>
        </p:nvPicPr>
        <p:blipFill rotWithShape="1">
          <a:blip r:embed="rId4">
            <a:alphaModFix/>
          </a:blip>
          <a:srcRect b="0" l="0" r="0" t="0"/>
          <a:stretch/>
        </p:blipFill>
        <p:spPr>
          <a:xfrm>
            <a:off x="571500" y="3409801"/>
            <a:ext cx="104775" cy="180975"/>
          </a:xfrm>
          <a:prstGeom prst="rect">
            <a:avLst/>
          </a:prstGeom>
          <a:noFill/>
          <a:ln>
            <a:noFill/>
          </a:ln>
        </p:spPr>
      </p:pic>
      <p:pic>
        <p:nvPicPr>
          <p:cNvPr descr="image.png" id="121" name="Google Shape;121;p14"/>
          <p:cNvPicPr preferRelativeResize="0"/>
          <p:nvPr/>
        </p:nvPicPr>
        <p:blipFill rotWithShape="1">
          <a:blip r:embed="rId4">
            <a:alphaModFix/>
          </a:blip>
          <a:srcRect b="0" l="0" r="0" t="0"/>
          <a:stretch/>
        </p:blipFill>
        <p:spPr>
          <a:xfrm>
            <a:off x="571500" y="3826966"/>
            <a:ext cx="104775" cy="180975"/>
          </a:xfrm>
          <a:prstGeom prst="rect">
            <a:avLst/>
          </a:prstGeom>
          <a:noFill/>
          <a:ln>
            <a:noFill/>
          </a:ln>
        </p:spPr>
      </p:pic>
      <p:pic>
        <p:nvPicPr>
          <p:cNvPr descr="image.png" id="122" name="Google Shape;122;p14"/>
          <p:cNvPicPr preferRelativeResize="0"/>
          <p:nvPr/>
        </p:nvPicPr>
        <p:blipFill rotWithShape="1">
          <a:blip r:embed="rId4">
            <a:alphaModFix/>
          </a:blip>
          <a:srcRect b="0" l="0" r="0" t="0"/>
          <a:stretch/>
        </p:blipFill>
        <p:spPr>
          <a:xfrm>
            <a:off x="571500" y="4244131"/>
            <a:ext cx="104775" cy="180975"/>
          </a:xfrm>
          <a:prstGeom prst="rect">
            <a:avLst/>
          </a:prstGeom>
          <a:noFill/>
          <a:ln>
            <a:noFill/>
          </a:ln>
        </p:spPr>
      </p:pic>
      <p:pic>
        <p:nvPicPr>
          <p:cNvPr descr="image.png" id="123" name="Google Shape;123;p14"/>
          <p:cNvPicPr preferRelativeResize="0"/>
          <p:nvPr/>
        </p:nvPicPr>
        <p:blipFill rotWithShape="1">
          <a:blip r:embed="rId4">
            <a:alphaModFix/>
          </a:blip>
          <a:srcRect b="0" l="0" r="0" t="0"/>
          <a:stretch/>
        </p:blipFill>
        <p:spPr>
          <a:xfrm>
            <a:off x="6286500" y="1323975"/>
            <a:ext cx="104775" cy="180975"/>
          </a:xfrm>
          <a:prstGeom prst="rect">
            <a:avLst/>
          </a:prstGeom>
          <a:noFill/>
          <a:ln>
            <a:noFill/>
          </a:ln>
        </p:spPr>
      </p:pic>
      <p:pic>
        <p:nvPicPr>
          <p:cNvPr descr="image.png" id="124" name="Google Shape;124;p14"/>
          <p:cNvPicPr preferRelativeResize="0"/>
          <p:nvPr/>
        </p:nvPicPr>
        <p:blipFill rotWithShape="1">
          <a:blip r:embed="rId4">
            <a:alphaModFix/>
          </a:blip>
          <a:srcRect b="0" l="0" r="0" t="0"/>
          <a:stretch/>
        </p:blipFill>
        <p:spPr>
          <a:xfrm>
            <a:off x="6286500" y="1741140"/>
            <a:ext cx="104775" cy="180975"/>
          </a:xfrm>
          <a:prstGeom prst="rect">
            <a:avLst/>
          </a:prstGeom>
          <a:noFill/>
          <a:ln>
            <a:noFill/>
          </a:ln>
        </p:spPr>
      </p:pic>
      <p:pic>
        <p:nvPicPr>
          <p:cNvPr descr="image.png" id="125" name="Google Shape;125;p14"/>
          <p:cNvPicPr preferRelativeResize="0"/>
          <p:nvPr/>
        </p:nvPicPr>
        <p:blipFill rotWithShape="1">
          <a:blip r:embed="rId4">
            <a:alphaModFix/>
          </a:blip>
          <a:srcRect b="0" l="0" r="0" t="0"/>
          <a:stretch/>
        </p:blipFill>
        <p:spPr>
          <a:xfrm>
            <a:off x="6286500" y="2158305"/>
            <a:ext cx="104775" cy="180975"/>
          </a:xfrm>
          <a:prstGeom prst="rect">
            <a:avLst/>
          </a:prstGeom>
          <a:noFill/>
          <a:ln>
            <a:noFill/>
          </a:ln>
        </p:spPr>
      </p:pic>
      <p:pic>
        <p:nvPicPr>
          <p:cNvPr descr="image.png" id="126" name="Google Shape;126;p14"/>
          <p:cNvPicPr preferRelativeResize="0"/>
          <p:nvPr/>
        </p:nvPicPr>
        <p:blipFill rotWithShape="1">
          <a:blip r:embed="rId4">
            <a:alphaModFix/>
          </a:blip>
          <a:srcRect b="0" l="0" r="0" t="0"/>
          <a:stretch/>
        </p:blipFill>
        <p:spPr>
          <a:xfrm>
            <a:off x="6286500" y="2575470"/>
            <a:ext cx="104775" cy="180975"/>
          </a:xfrm>
          <a:prstGeom prst="rect">
            <a:avLst/>
          </a:prstGeom>
          <a:noFill/>
          <a:ln>
            <a:noFill/>
          </a:ln>
        </p:spPr>
      </p:pic>
      <p:pic>
        <p:nvPicPr>
          <p:cNvPr descr="image.png" id="127" name="Google Shape;127;p14"/>
          <p:cNvPicPr preferRelativeResize="0"/>
          <p:nvPr/>
        </p:nvPicPr>
        <p:blipFill rotWithShape="1">
          <a:blip r:embed="rId4">
            <a:alphaModFix/>
          </a:blip>
          <a:srcRect b="0" l="0" r="0" t="0"/>
          <a:stretch/>
        </p:blipFill>
        <p:spPr>
          <a:xfrm>
            <a:off x="6286500" y="2992635"/>
            <a:ext cx="104775" cy="180975"/>
          </a:xfrm>
          <a:prstGeom prst="rect">
            <a:avLst/>
          </a:prstGeom>
          <a:noFill/>
          <a:ln>
            <a:noFill/>
          </a:ln>
        </p:spPr>
      </p:pic>
      <p:pic>
        <p:nvPicPr>
          <p:cNvPr descr="image.png" id="128" name="Google Shape;128;p14"/>
          <p:cNvPicPr preferRelativeResize="0"/>
          <p:nvPr/>
        </p:nvPicPr>
        <p:blipFill rotWithShape="1">
          <a:blip r:embed="rId4">
            <a:alphaModFix/>
          </a:blip>
          <a:srcRect b="0" l="0" r="0" t="0"/>
          <a:stretch/>
        </p:blipFill>
        <p:spPr>
          <a:xfrm>
            <a:off x="6286500" y="3409801"/>
            <a:ext cx="104775" cy="180975"/>
          </a:xfrm>
          <a:prstGeom prst="rect">
            <a:avLst/>
          </a:prstGeom>
          <a:noFill/>
          <a:ln>
            <a:noFill/>
          </a:ln>
        </p:spPr>
      </p:pic>
      <p:pic>
        <p:nvPicPr>
          <p:cNvPr descr="image.png" id="129" name="Google Shape;129;p14"/>
          <p:cNvPicPr preferRelativeResize="0"/>
          <p:nvPr/>
        </p:nvPicPr>
        <p:blipFill rotWithShape="1">
          <a:blip r:embed="rId4">
            <a:alphaModFix/>
          </a:blip>
          <a:srcRect b="0" l="0" r="0" t="0"/>
          <a:stretch/>
        </p:blipFill>
        <p:spPr>
          <a:xfrm>
            <a:off x="6286500" y="3826966"/>
            <a:ext cx="104775" cy="180975"/>
          </a:xfrm>
          <a:prstGeom prst="rect">
            <a:avLst/>
          </a:prstGeom>
          <a:noFill/>
          <a:ln>
            <a:noFill/>
          </a:ln>
        </p:spPr>
      </p:pic>
      <p:pic>
        <p:nvPicPr>
          <p:cNvPr descr="image.png" id="130" name="Google Shape;130;p14"/>
          <p:cNvPicPr preferRelativeResize="0"/>
          <p:nvPr/>
        </p:nvPicPr>
        <p:blipFill rotWithShape="1">
          <a:blip r:embed="rId4">
            <a:alphaModFix/>
          </a:blip>
          <a:srcRect b="0" l="0" r="0" t="0"/>
          <a:stretch/>
        </p:blipFill>
        <p:spPr>
          <a:xfrm>
            <a:off x="6286500" y="4244131"/>
            <a:ext cx="104775" cy="180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pic>
        <p:nvPicPr>
          <p:cNvPr descr="image.png" id="135" name="Google Shape;13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6" name="Google Shape;136;p15"/>
          <p:cNvPicPr preferRelativeResize="0"/>
          <p:nvPr/>
        </p:nvPicPr>
        <p:blipFill rotWithShape="1">
          <a:blip r:embed="rId4">
            <a:alphaModFix/>
          </a:blip>
          <a:srcRect b="0" l="0" r="0" t="0"/>
          <a:stretch/>
        </p:blipFill>
        <p:spPr>
          <a:xfrm>
            <a:off x="571500" y="1209675"/>
            <a:ext cx="5381625" cy="2773560"/>
          </a:xfrm>
          <a:prstGeom prst="rect">
            <a:avLst/>
          </a:prstGeom>
          <a:noFill/>
          <a:ln>
            <a:noFill/>
          </a:ln>
        </p:spPr>
      </p:pic>
      <p:pic>
        <p:nvPicPr>
          <p:cNvPr descr="image.png" id="137" name="Google Shape;137;p15"/>
          <p:cNvPicPr preferRelativeResize="0"/>
          <p:nvPr/>
        </p:nvPicPr>
        <p:blipFill rotWithShape="1">
          <a:blip r:embed="rId4">
            <a:alphaModFix/>
          </a:blip>
          <a:srcRect b="0" l="0" r="0" t="0"/>
          <a:stretch/>
        </p:blipFill>
        <p:spPr>
          <a:xfrm>
            <a:off x="6238875" y="1209675"/>
            <a:ext cx="5381625" cy="2773560"/>
          </a:xfrm>
          <a:prstGeom prst="rect">
            <a:avLst/>
          </a:prstGeom>
          <a:noFill/>
          <a:ln>
            <a:noFill/>
          </a:ln>
        </p:spPr>
      </p:pic>
      <p:pic>
        <p:nvPicPr>
          <p:cNvPr descr="image.png" id="138" name="Google Shape;138;p15"/>
          <p:cNvPicPr preferRelativeResize="0"/>
          <p:nvPr/>
        </p:nvPicPr>
        <p:blipFill rotWithShape="1">
          <a:blip r:embed="rId5">
            <a:alphaModFix/>
          </a:blip>
          <a:srcRect b="0" l="0" r="0" t="0"/>
          <a:stretch/>
        </p:blipFill>
        <p:spPr>
          <a:xfrm>
            <a:off x="571500" y="4268976"/>
            <a:ext cx="5381625" cy="2344950"/>
          </a:xfrm>
          <a:prstGeom prst="rect">
            <a:avLst/>
          </a:prstGeom>
          <a:noFill/>
          <a:ln>
            <a:noFill/>
          </a:ln>
        </p:spPr>
      </p:pic>
      <p:pic>
        <p:nvPicPr>
          <p:cNvPr descr="image.png" id="139" name="Google Shape;139;p15"/>
          <p:cNvPicPr preferRelativeResize="0"/>
          <p:nvPr/>
        </p:nvPicPr>
        <p:blipFill rotWithShape="1">
          <a:blip r:embed="rId6">
            <a:alphaModFix/>
          </a:blip>
          <a:srcRect b="0" l="0" r="0" t="0"/>
          <a:stretch/>
        </p:blipFill>
        <p:spPr>
          <a:xfrm>
            <a:off x="6238875" y="4268976"/>
            <a:ext cx="5381625" cy="2344950"/>
          </a:xfrm>
          <a:prstGeom prst="rect">
            <a:avLst/>
          </a:prstGeom>
          <a:noFill/>
          <a:ln>
            <a:noFill/>
          </a:ln>
        </p:spPr>
      </p:pic>
      <p:pic>
        <p:nvPicPr>
          <p:cNvPr descr="image.png" id="140" name="Google Shape;140;p15"/>
          <p:cNvPicPr preferRelativeResize="0"/>
          <p:nvPr/>
        </p:nvPicPr>
        <p:blipFill rotWithShape="1">
          <a:blip r:embed="rId7">
            <a:alphaModFix/>
          </a:blip>
          <a:srcRect b="0" l="0" r="0" t="0"/>
          <a:stretch/>
        </p:blipFill>
        <p:spPr>
          <a:xfrm>
            <a:off x="857250" y="1533525"/>
            <a:ext cx="428625" cy="342900"/>
          </a:xfrm>
          <a:prstGeom prst="rect">
            <a:avLst/>
          </a:prstGeom>
          <a:noFill/>
          <a:ln>
            <a:noFill/>
          </a:ln>
        </p:spPr>
      </p:pic>
      <p:sp>
        <p:nvSpPr>
          <p:cNvPr id="141" name="Google Shape;141;p15"/>
          <p:cNvSpPr txBox="1"/>
          <p:nvPr/>
        </p:nvSpPr>
        <p:spPr>
          <a:xfrm>
            <a:off x="857250" y="2066925"/>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The Product</a:t>
            </a:r>
            <a:endParaRPr/>
          </a:p>
        </p:txBody>
      </p:sp>
      <p:sp>
        <p:nvSpPr>
          <p:cNvPr id="142" name="Google Shape;142;p15"/>
          <p:cNvSpPr txBox="1"/>
          <p:nvPr/>
        </p:nvSpPr>
        <p:spPr>
          <a:xfrm>
            <a:off x="857250" y="2457450"/>
            <a:ext cx="4810125"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Samsung Ballie is a rolling AI home companion with a built-in projector, smart home integration (SmartThings via Tizen OS), and autonomous navigation. It bridges the gap between utility and companionship.</a:t>
            </a:r>
            <a:endParaRPr/>
          </a:p>
        </p:txBody>
      </p:sp>
      <p:pic>
        <p:nvPicPr>
          <p:cNvPr descr="image.png" id="143" name="Google Shape;143;p15"/>
          <p:cNvPicPr preferRelativeResize="0"/>
          <p:nvPr/>
        </p:nvPicPr>
        <p:blipFill rotWithShape="1">
          <a:blip r:embed="rId8">
            <a:alphaModFix/>
          </a:blip>
          <a:srcRect b="0" l="0" r="0" t="0"/>
          <a:stretch/>
        </p:blipFill>
        <p:spPr>
          <a:xfrm>
            <a:off x="6524625" y="1533525"/>
            <a:ext cx="342900" cy="342900"/>
          </a:xfrm>
          <a:prstGeom prst="rect">
            <a:avLst/>
          </a:prstGeom>
          <a:noFill/>
          <a:ln>
            <a:noFill/>
          </a:ln>
        </p:spPr>
      </p:pic>
      <p:sp>
        <p:nvSpPr>
          <p:cNvPr id="144" name="Google Shape;144;p15"/>
          <p:cNvSpPr txBox="1"/>
          <p:nvPr/>
        </p:nvSpPr>
        <p:spPr>
          <a:xfrm>
            <a:off x="6524625" y="2066925"/>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The Opportunity</a:t>
            </a:r>
            <a:endParaRPr/>
          </a:p>
        </p:txBody>
      </p:sp>
      <p:sp>
        <p:nvSpPr>
          <p:cNvPr id="145" name="Google Shape;145;p15"/>
          <p:cNvSpPr txBox="1"/>
          <p:nvPr/>
        </p:nvSpPr>
        <p:spPr>
          <a:xfrm>
            <a:off x="6524625" y="2457450"/>
            <a:ext cx="4810125"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India's smart home market is projected to reach $14.28B by 2029 at a 30% CAGR. Rising nuclear families, premiumization, and high tech-adoption make India ripe for autonomous AI robotics.</a:t>
            </a:r>
            <a:endParaRPr/>
          </a:p>
        </p:txBody>
      </p:sp>
      <p:pic>
        <p:nvPicPr>
          <p:cNvPr descr="image.png" id="146" name="Google Shape;146;p15"/>
          <p:cNvPicPr preferRelativeResize="0"/>
          <p:nvPr/>
        </p:nvPicPr>
        <p:blipFill rotWithShape="1">
          <a:blip r:embed="rId9">
            <a:alphaModFix/>
          </a:blip>
          <a:srcRect b="0" l="0" r="0" t="0"/>
          <a:stretch/>
        </p:blipFill>
        <p:spPr>
          <a:xfrm>
            <a:off x="857250" y="4592835"/>
            <a:ext cx="428625" cy="342900"/>
          </a:xfrm>
          <a:prstGeom prst="rect">
            <a:avLst/>
          </a:prstGeom>
          <a:noFill/>
          <a:ln>
            <a:noFill/>
          </a:ln>
        </p:spPr>
      </p:pic>
      <p:sp>
        <p:nvSpPr>
          <p:cNvPr id="147" name="Google Shape;147;p15"/>
          <p:cNvSpPr txBox="1"/>
          <p:nvPr/>
        </p:nvSpPr>
        <p:spPr>
          <a:xfrm>
            <a:off x="857250" y="5126235"/>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Target Audience</a:t>
            </a:r>
            <a:endParaRPr/>
          </a:p>
        </p:txBody>
      </p:sp>
      <p:sp>
        <p:nvSpPr>
          <p:cNvPr id="148" name="Google Shape;148;p15"/>
          <p:cNvSpPr txBox="1"/>
          <p:nvPr/>
        </p:nvSpPr>
        <p:spPr>
          <a:xfrm>
            <a:off x="857250" y="5516760"/>
            <a:ext cx="48101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Urban working professionals, nuclear families, and tech-enthusiasts (Gen Y &amp; Z) seeking convenience, security, and elderly/pet monitoring solutions.</a:t>
            </a:r>
            <a:endParaRPr/>
          </a:p>
        </p:txBody>
      </p:sp>
      <p:pic>
        <p:nvPicPr>
          <p:cNvPr descr="image.png" id="149" name="Google Shape;149;p15"/>
          <p:cNvPicPr preferRelativeResize="0"/>
          <p:nvPr/>
        </p:nvPicPr>
        <p:blipFill rotWithShape="1">
          <a:blip r:embed="rId10">
            <a:alphaModFix/>
          </a:blip>
          <a:srcRect b="0" l="0" r="0" t="0"/>
          <a:stretch/>
        </p:blipFill>
        <p:spPr>
          <a:xfrm>
            <a:off x="6524625" y="4383285"/>
            <a:ext cx="342900" cy="342900"/>
          </a:xfrm>
          <a:prstGeom prst="rect">
            <a:avLst/>
          </a:prstGeom>
          <a:noFill/>
          <a:ln>
            <a:noFill/>
          </a:ln>
        </p:spPr>
      </p:pic>
      <p:sp>
        <p:nvSpPr>
          <p:cNvPr id="150" name="Google Shape;150;p15"/>
          <p:cNvSpPr txBox="1"/>
          <p:nvPr/>
        </p:nvSpPr>
        <p:spPr>
          <a:xfrm>
            <a:off x="6524625" y="4850010"/>
            <a:ext cx="5050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Strategic Outcome</a:t>
            </a:r>
            <a:endParaRPr/>
          </a:p>
        </p:txBody>
      </p:sp>
      <p:sp>
        <p:nvSpPr>
          <p:cNvPr id="151" name="Google Shape;151;p15"/>
          <p:cNvSpPr txBox="1"/>
          <p:nvPr/>
        </p:nvSpPr>
        <p:spPr>
          <a:xfrm>
            <a:off x="6463525" y="5251035"/>
            <a:ext cx="4810200" cy="1205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Achieve a 10% market share in the premium smart assistant segment within 2 years, driving an estimated $150M in hardware revenue and boosting SmartThings ecosystem lock-in.</a:t>
            </a:r>
            <a:endParaRPr/>
          </a:p>
        </p:txBody>
      </p:sp>
      <p:sp>
        <p:nvSpPr>
          <p:cNvPr id="152" name="Google Shape;152;p15"/>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EXECUTIVE SUMMARY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pic>
        <p:nvPicPr>
          <p:cNvPr descr="image.png" id="157" name="Google Shape;15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8" name="Google Shape;158;p16"/>
          <p:cNvPicPr preferRelativeResize="0"/>
          <p:nvPr/>
        </p:nvPicPr>
        <p:blipFill rotWithShape="1">
          <a:blip r:embed="rId4">
            <a:alphaModFix/>
          </a:blip>
          <a:srcRect b="0" l="0" r="0" t="0"/>
          <a:stretch/>
        </p:blipFill>
        <p:spPr>
          <a:xfrm>
            <a:off x="6286500" y="1209675"/>
            <a:ext cx="5334000" cy="5172075"/>
          </a:xfrm>
          <a:prstGeom prst="rect">
            <a:avLst/>
          </a:prstGeom>
          <a:noFill/>
          <a:ln>
            <a:noFill/>
          </a:ln>
        </p:spPr>
      </p:pic>
      <p:sp>
        <p:nvSpPr>
          <p:cNvPr id="159" name="Google Shape;159;p16"/>
          <p:cNvSpPr txBox="1"/>
          <p:nvPr/>
        </p:nvSpPr>
        <p:spPr>
          <a:xfrm>
            <a:off x="571500" y="1209675"/>
            <a:ext cx="5334000" cy="10971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What is Ballie?</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121212"/>
                </a:solidFill>
                <a:latin typeface="Open Sans"/>
                <a:ea typeface="Open Sans"/>
                <a:cs typeface="Open Sans"/>
                <a:sym typeface="Open Sans"/>
              </a:rPr>
              <a:t> An intelligent, autonomous rolling AI companion designed to manage smart homes, provide entertainment, and ensure home security.</a:t>
            </a:r>
            <a:endParaRPr/>
          </a:p>
        </p:txBody>
      </p:sp>
      <p:sp>
        <p:nvSpPr>
          <p:cNvPr id="160" name="Google Shape;160;p16"/>
          <p:cNvSpPr txBox="1"/>
          <p:nvPr/>
        </p:nvSpPr>
        <p:spPr>
          <a:xfrm>
            <a:off x="571500" y="2449710"/>
            <a:ext cx="53340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Evolution:</a:t>
            </a:r>
            <a:r>
              <a:rPr b="0" i="0" lang="en-US" sz="1350" u="none" cap="none" strike="noStrike">
                <a:solidFill>
                  <a:srgbClr val="121212"/>
                </a:solidFill>
                <a:latin typeface="Open Sans"/>
                <a:ea typeface="Open Sans"/>
                <a:cs typeface="Open Sans"/>
                <a:sym typeface="Open Sans"/>
              </a:rPr>
              <a:t> First debuted at CES 2020. The completely revamped version was unveiled at CES 2024 with a 1080p spatial projector and Tizen OS.</a:t>
            </a:r>
            <a:endParaRPr/>
          </a:p>
        </p:txBody>
      </p:sp>
      <p:sp>
        <p:nvSpPr>
          <p:cNvPr id="161" name="Google Shape;161;p16"/>
          <p:cNvSpPr txBox="1"/>
          <p:nvPr/>
        </p:nvSpPr>
        <p:spPr>
          <a:xfrm>
            <a:off x="857250" y="3510706"/>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Built-in Projector:</a:t>
            </a:r>
            <a:r>
              <a:rPr b="0" i="0" lang="en-US" sz="1350" u="none" cap="none" strike="noStrike">
                <a:solidFill>
                  <a:srgbClr val="121212"/>
                </a:solidFill>
                <a:latin typeface="Open Sans"/>
                <a:ea typeface="Open Sans"/>
                <a:cs typeface="Open Sans"/>
                <a:sym typeface="Open Sans"/>
              </a:rPr>
              <a:t> Detects posture/facial angle to project calls or workouts on walls/ceilings.</a:t>
            </a:r>
            <a:endParaRPr/>
          </a:p>
        </p:txBody>
      </p:sp>
      <p:sp>
        <p:nvSpPr>
          <p:cNvPr id="162" name="Google Shape;162;p16"/>
          <p:cNvSpPr txBox="1"/>
          <p:nvPr/>
        </p:nvSpPr>
        <p:spPr>
          <a:xfrm>
            <a:off x="857250" y="420216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SmartThings Hub:</a:t>
            </a:r>
            <a:r>
              <a:rPr b="0" i="0" lang="en-US" sz="1350" u="none" cap="none" strike="noStrike">
                <a:solidFill>
                  <a:srgbClr val="121212"/>
                </a:solidFill>
                <a:latin typeface="Open Sans"/>
                <a:ea typeface="Open Sans"/>
                <a:cs typeface="Open Sans"/>
                <a:sym typeface="Open Sans"/>
              </a:rPr>
              <a:t> Controls IoT devices (lights, ACs, dispensers).</a:t>
            </a:r>
            <a:endParaRPr/>
          </a:p>
        </p:txBody>
      </p:sp>
      <p:sp>
        <p:nvSpPr>
          <p:cNvPr id="163" name="Google Shape;163;p16"/>
          <p:cNvSpPr txBox="1"/>
          <p:nvPr/>
        </p:nvSpPr>
        <p:spPr>
          <a:xfrm>
            <a:off x="857250" y="4893617"/>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Companion:</a:t>
            </a:r>
            <a:r>
              <a:rPr b="0" i="0" lang="en-US" sz="1350" u="none" cap="none" strike="noStrike">
                <a:solidFill>
                  <a:srgbClr val="121212"/>
                </a:solidFill>
                <a:latin typeface="Open Sans"/>
                <a:ea typeface="Open Sans"/>
                <a:cs typeface="Open Sans"/>
                <a:sym typeface="Open Sans"/>
              </a:rPr>
              <a:t> Pet monitoring, elderly care, and routine automation.</a:t>
            </a:r>
            <a:endParaRPr/>
          </a:p>
        </p:txBody>
      </p:sp>
      <p:sp>
        <p:nvSpPr>
          <p:cNvPr id="164" name="Google Shape;164;p16"/>
          <p:cNvSpPr txBox="1"/>
          <p:nvPr/>
        </p:nvSpPr>
        <p:spPr>
          <a:xfrm>
            <a:off x="857250" y="5585073"/>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Why Samsung?</a:t>
            </a:r>
            <a:r>
              <a:rPr b="0" i="0" lang="en-US" sz="1350" u="none" cap="none" strike="noStrike">
                <a:solidFill>
                  <a:srgbClr val="121212"/>
                </a:solidFill>
                <a:latin typeface="Open Sans"/>
                <a:ea typeface="Open Sans"/>
                <a:cs typeface="Open Sans"/>
                <a:sym typeface="Open Sans"/>
              </a:rPr>
              <a:t> Unmatched R&amp;D, existing vast SmartThings ecosystem, and strong brand trust in India.</a:t>
            </a:r>
            <a:endParaRPr/>
          </a:p>
        </p:txBody>
      </p:sp>
      <p:pic>
        <p:nvPicPr>
          <p:cNvPr descr="image.png" id="165" name="Google Shape;165;p16"/>
          <p:cNvPicPr preferRelativeResize="0"/>
          <p:nvPr/>
        </p:nvPicPr>
        <p:blipFill rotWithShape="1">
          <a:blip r:embed="rId5">
            <a:alphaModFix/>
          </a:blip>
          <a:srcRect b="0" l="0" r="0" t="0"/>
          <a:stretch/>
        </p:blipFill>
        <p:spPr>
          <a:xfrm>
            <a:off x="6286500" y="1209675"/>
            <a:ext cx="5334000" cy="5172075"/>
          </a:xfrm>
          <a:prstGeom prst="rect">
            <a:avLst/>
          </a:prstGeom>
          <a:noFill/>
          <a:ln>
            <a:noFill/>
          </a:ln>
        </p:spPr>
      </p:pic>
      <p:sp>
        <p:nvSpPr>
          <p:cNvPr id="166" name="Google Shape;166;p16"/>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INTRODUCTION TO SAMSUNG BALLIE</a:t>
            </a:r>
            <a:endParaRPr/>
          </a:p>
        </p:txBody>
      </p:sp>
      <p:pic>
        <p:nvPicPr>
          <p:cNvPr descr="image.png" id="167" name="Google Shape;167;p16"/>
          <p:cNvPicPr preferRelativeResize="0"/>
          <p:nvPr/>
        </p:nvPicPr>
        <p:blipFill rotWithShape="1">
          <a:blip r:embed="rId6">
            <a:alphaModFix/>
          </a:blip>
          <a:srcRect b="0" l="0" r="0" t="0"/>
          <a:stretch/>
        </p:blipFill>
        <p:spPr>
          <a:xfrm>
            <a:off x="571500" y="3529756"/>
            <a:ext cx="104775" cy="180975"/>
          </a:xfrm>
          <a:prstGeom prst="rect">
            <a:avLst/>
          </a:prstGeom>
          <a:noFill/>
          <a:ln>
            <a:noFill/>
          </a:ln>
        </p:spPr>
      </p:pic>
      <p:pic>
        <p:nvPicPr>
          <p:cNvPr descr="image.png" id="168" name="Google Shape;168;p16"/>
          <p:cNvPicPr preferRelativeResize="0"/>
          <p:nvPr/>
        </p:nvPicPr>
        <p:blipFill rotWithShape="1">
          <a:blip r:embed="rId6">
            <a:alphaModFix/>
          </a:blip>
          <a:srcRect b="0" l="0" r="0" t="0"/>
          <a:stretch/>
        </p:blipFill>
        <p:spPr>
          <a:xfrm>
            <a:off x="571500" y="4221212"/>
            <a:ext cx="104775" cy="180975"/>
          </a:xfrm>
          <a:prstGeom prst="rect">
            <a:avLst/>
          </a:prstGeom>
          <a:noFill/>
          <a:ln>
            <a:noFill/>
          </a:ln>
        </p:spPr>
      </p:pic>
      <p:pic>
        <p:nvPicPr>
          <p:cNvPr descr="image.png" id="169" name="Google Shape;169;p16"/>
          <p:cNvPicPr preferRelativeResize="0"/>
          <p:nvPr/>
        </p:nvPicPr>
        <p:blipFill rotWithShape="1">
          <a:blip r:embed="rId6">
            <a:alphaModFix/>
          </a:blip>
          <a:srcRect b="0" l="0" r="0" t="0"/>
          <a:stretch/>
        </p:blipFill>
        <p:spPr>
          <a:xfrm>
            <a:off x="571500" y="4912667"/>
            <a:ext cx="104775" cy="180975"/>
          </a:xfrm>
          <a:prstGeom prst="rect">
            <a:avLst/>
          </a:prstGeom>
          <a:noFill/>
          <a:ln>
            <a:noFill/>
          </a:ln>
        </p:spPr>
      </p:pic>
      <p:pic>
        <p:nvPicPr>
          <p:cNvPr descr="image.png" id="170" name="Google Shape;170;p16"/>
          <p:cNvPicPr preferRelativeResize="0"/>
          <p:nvPr/>
        </p:nvPicPr>
        <p:blipFill rotWithShape="1">
          <a:blip r:embed="rId6">
            <a:alphaModFix/>
          </a:blip>
          <a:srcRect b="0" l="0" r="0" t="0"/>
          <a:stretch/>
        </p:blipFill>
        <p:spPr>
          <a:xfrm>
            <a:off x="571500" y="5604123"/>
            <a:ext cx="104775" cy="180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pic>
        <p:nvPicPr>
          <p:cNvPr descr="image.png" id="175" name="Google Shape;175;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6" name="Google Shape;176;p17"/>
          <p:cNvPicPr preferRelativeResize="0"/>
          <p:nvPr/>
        </p:nvPicPr>
        <p:blipFill rotWithShape="1">
          <a:blip r:embed="rId4">
            <a:alphaModFix/>
          </a:blip>
          <a:srcRect b="0" l="0" r="0" t="0"/>
          <a:stretch/>
        </p:blipFill>
        <p:spPr>
          <a:xfrm>
            <a:off x="571500" y="1209675"/>
            <a:ext cx="3587650" cy="1638300"/>
          </a:xfrm>
          <a:prstGeom prst="rect">
            <a:avLst/>
          </a:prstGeom>
          <a:noFill/>
          <a:ln>
            <a:noFill/>
          </a:ln>
        </p:spPr>
      </p:pic>
      <p:pic>
        <p:nvPicPr>
          <p:cNvPr descr="image.png" id="177" name="Google Shape;177;p17"/>
          <p:cNvPicPr preferRelativeResize="0"/>
          <p:nvPr/>
        </p:nvPicPr>
        <p:blipFill rotWithShape="1">
          <a:blip r:embed="rId5">
            <a:alphaModFix/>
          </a:blip>
          <a:srcRect b="0" l="0" r="0" t="0"/>
          <a:stretch/>
        </p:blipFill>
        <p:spPr>
          <a:xfrm>
            <a:off x="4302025" y="1209675"/>
            <a:ext cx="3587799" cy="1638300"/>
          </a:xfrm>
          <a:prstGeom prst="rect">
            <a:avLst/>
          </a:prstGeom>
          <a:noFill/>
          <a:ln>
            <a:noFill/>
          </a:ln>
        </p:spPr>
      </p:pic>
      <p:pic>
        <p:nvPicPr>
          <p:cNvPr descr="image.png" id="178" name="Google Shape;178;p17"/>
          <p:cNvPicPr preferRelativeResize="0"/>
          <p:nvPr/>
        </p:nvPicPr>
        <p:blipFill rotWithShape="1">
          <a:blip r:embed="rId4">
            <a:alphaModFix/>
          </a:blip>
          <a:srcRect b="0" l="0" r="0" t="0"/>
          <a:stretch/>
        </p:blipFill>
        <p:spPr>
          <a:xfrm>
            <a:off x="8032700" y="1209675"/>
            <a:ext cx="3587650" cy="1638300"/>
          </a:xfrm>
          <a:prstGeom prst="rect">
            <a:avLst/>
          </a:prstGeom>
          <a:noFill/>
          <a:ln>
            <a:noFill/>
          </a:ln>
        </p:spPr>
      </p:pic>
      <p:pic>
        <p:nvPicPr>
          <p:cNvPr descr="image.png" id="179" name="Google Shape;179;p17"/>
          <p:cNvPicPr preferRelativeResize="0"/>
          <p:nvPr/>
        </p:nvPicPr>
        <p:blipFill rotWithShape="1">
          <a:blip r:embed="rId4">
            <a:alphaModFix/>
          </a:blip>
          <a:srcRect b="0" l="0" r="0" t="0"/>
          <a:stretch/>
        </p:blipFill>
        <p:spPr>
          <a:xfrm>
            <a:off x="571500" y="2990850"/>
            <a:ext cx="3587650" cy="1638300"/>
          </a:xfrm>
          <a:prstGeom prst="rect">
            <a:avLst/>
          </a:prstGeom>
          <a:noFill/>
          <a:ln>
            <a:noFill/>
          </a:ln>
        </p:spPr>
      </p:pic>
      <p:pic>
        <p:nvPicPr>
          <p:cNvPr descr="image.png" id="180" name="Google Shape;180;p17"/>
          <p:cNvPicPr preferRelativeResize="0"/>
          <p:nvPr/>
        </p:nvPicPr>
        <p:blipFill rotWithShape="1">
          <a:blip r:embed="rId5">
            <a:alphaModFix/>
          </a:blip>
          <a:srcRect b="0" l="0" r="0" t="0"/>
          <a:stretch/>
        </p:blipFill>
        <p:spPr>
          <a:xfrm>
            <a:off x="4302025" y="2990850"/>
            <a:ext cx="3587799" cy="1638300"/>
          </a:xfrm>
          <a:prstGeom prst="rect">
            <a:avLst/>
          </a:prstGeom>
          <a:noFill/>
          <a:ln>
            <a:noFill/>
          </a:ln>
        </p:spPr>
      </p:pic>
      <p:pic>
        <p:nvPicPr>
          <p:cNvPr descr="image.png" id="181" name="Google Shape;181;p17"/>
          <p:cNvPicPr preferRelativeResize="0"/>
          <p:nvPr/>
        </p:nvPicPr>
        <p:blipFill rotWithShape="1">
          <a:blip r:embed="rId4">
            <a:alphaModFix/>
          </a:blip>
          <a:srcRect b="0" l="0" r="0" t="0"/>
          <a:stretch/>
        </p:blipFill>
        <p:spPr>
          <a:xfrm>
            <a:off x="8032700" y="2990850"/>
            <a:ext cx="3587650" cy="1638300"/>
          </a:xfrm>
          <a:prstGeom prst="rect">
            <a:avLst/>
          </a:prstGeom>
          <a:noFill/>
          <a:ln>
            <a:noFill/>
          </a:ln>
        </p:spPr>
      </p:pic>
      <p:sp>
        <p:nvSpPr>
          <p:cNvPr id="182" name="Google Shape;182;p17"/>
          <p:cNvSpPr txBox="1"/>
          <p:nvPr/>
        </p:nvSpPr>
        <p:spPr>
          <a:xfrm>
            <a:off x="762000" y="1438275"/>
            <a:ext cx="3366983" cy="276225"/>
          </a:xfrm>
          <a:prstGeom prst="rect">
            <a:avLst/>
          </a:prstGeom>
          <a:noFill/>
          <a:ln>
            <a:noFill/>
          </a:ln>
        </p:spPr>
        <p:txBody>
          <a:bodyPr anchorCtr="0" anchor="t" bIns="0" lIns="228600" spcFirstLastPara="1" rIns="0" wrap="square" tIns="0">
            <a:spAutoFit/>
          </a:bodyPr>
          <a:lstStyle/>
          <a:p>
            <a:pPr indent="0" lvl="0" marL="0" marR="0" rtl="0" algn="l">
              <a:spcBef>
                <a:spcPts val="0"/>
              </a:spcBef>
              <a:spcAft>
                <a:spcPts val="0"/>
              </a:spcAft>
              <a:buNone/>
            </a:pPr>
            <a:r>
              <a:rPr b="0" i="0" lang="en-US" sz="1800" u="none" cap="none" strike="noStrike">
                <a:solidFill>
                  <a:srgbClr val="034EA2"/>
                </a:solidFill>
                <a:latin typeface="Montserrat SemiBold"/>
                <a:ea typeface="Montserrat SemiBold"/>
                <a:cs typeface="Montserrat SemiBold"/>
                <a:sym typeface="Montserrat SemiBold"/>
              </a:rPr>
              <a:t>Political</a:t>
            </a:r>
            <a:endParaRPr/>
          </a:p>
        </p:txBody>
      </p:sp>
      <p:sp>
        <p:nvSpPr>
          <p:cNvPr id="183" name="Google Shape;183;p17"/>
          <p:cNvSpPr txBox="1"/>
          <p:nvPr/>
        </p:nvSpPr>
        <p:spPr>
          <a:xfrm>
            <a:off x="762000" y="1828800"/>
            <a:ext cx="320665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Government initiatives like "Smart Cities Mission" and "Digital India" strongly promote tech adoption and digital infrastructure.</a:t>
            </a:r>
            <a:endParaRPr/>
          </a:p>
        </p:txBody>
      </p:sp>
      <p:sp>
        <p:nvSpPr>
          <p:cNvPr id="184" name="Google Shape;184;p17"/>
          <p:cNvSpPr txBox="1"/>
          <p:nvPr/>
        </p:nvSpPr>
        <p:spPr>
          <a:xfrm>
            <a:off x="4492525" y="1438275"/>
            <a:ext cx="3367139" cy="276225"/>
          </a:xfrm>
          <a:prstGeom prst="rect">
            <a:avLst/>
          </a:prstGeom>
          <a:noFill/>
          <a:ln>
            <a:noFill/>
          </a:ln>
        </p:spPr>
        <p:txBody>
          <a:bodyPr anchorCtr="0" anchor="t" bIns="0" lIns="257175" spcFirstLastPara="1" rIns="0" wrap="square" tIns="0">
            <a:spAutoFit/>
          </a:bodyPr>
          <a:lstStyle/>
          <a:p>
            <a:pPr indent="0" lvl="0" marL="0" marR="0" rtl="0" algn="l">
              <a:spcBef>
                <a:spcPts val="0"/>
              </a:spcBef>
              <a:spcAft>
                <a:spcPts val="0"/>
              </a:spcAft>
              <a:buNone/>
            </a:pPr>
            <a:r>
              <a:rPr b="0" i="0" lang="en-US" sz="1800" u="none" cap="none" strike="noStrike">
                <a:solidFill>
                  <a:srgbClr val="034EA2"/>
                </a:solidFill>
                <a:latin typeface="Montserrat SemiBold"/>
                <a:ea typeface="Montserrat SemiBold"/>
                <a:cs typeface="Montserrat SemiBold"/>
                <a:sym typeface="Montserrat SemiBold"/>
              </a:rPr>
              <a:t>Economic</a:t>
            </a:r>
            <a:endParaRPr/>
          </a:p>
        </p:txBody>
      </p:sp>
      <p:sp>
        <p:nvSpPr>
          <p:cNvPr id="185" name="Google Shape;185;p17"/>
          <p:cNvSpPr txBox="1"/>
          <p:nvPr/>
        </p:nvSpPr>
        <p:spPr>
          <a:xfrm>
            <a:off x="4492525" y="1828800"/>
            <a:ext cx="3206799"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Rising disposable incomes and expansion of the urban middle class. India's GDP growth supports premium appliance spending.</a:t>
            </a:r>
            <a:endParaRPr/>
          </a:p>
        </p:txBody>
      </p:sp>
      <p:sp>
        <p:nvSpPr>
          <p:cNvPr id="186" name="Google Shape;186;p17"/>
          <p:cNvSpPr txBox="1"/>
          <p:nvPr/>
        </p:nvSpPr>
        <p:spPr>
          <a:xfrm>
            <a:off x="8223200" y="1438275"/>
            <a:ext cx="3366983" cy="276225"/>
          </a:xfrm>
          <a:prstGeom prst="rect">
            <a:avLst/>
          </a:prstGeom>
          <a:noFill/>
          <a:ln>
            <a:noFill/>
          </a:ln>
        </p:spPr>
        <p:txBody>
          <a:bodyPr anchorCtr="0" anchor="t" bIns="0" lIns="285750" spcFirstLastPara="1" rIns="0" wrap="square" tIns="0">
            <a:spAutoFit/>
          </a:bodyPr>
          <a:lstStyle/>
          <a:p>
            <a:pPr indent="0" lvl="0" marL="0" marR="0" rtl="0" algn="l">
              <a:spcBef>
                <a:spcPts val="0"/>
              </a:spcBef>
              <a:spcAft>
                <a:spcPts val="0"/>
              </a:spcAft>
              <a:buNone/>
            </a:pPr>
            <a:r>
              <a:rPr b="0" i="0" lang="en-US" sz="1800" u="none" cap="none" strike="noStrike">
                <a:solidFill>
                  <a:srgbClr val="034EA2"/>
                </a:solidFill>
                <a:latin typeface="Montserrat SemiBold"/>
                <a:ea typeface="Montserrat SemiBold"/>
                <a:cs typeface="Montserrat SemiBold"/>
                <a:sym typeface="Montserrat SemiBold"/>
              </a:rPr>
              <a:t>Social</a:t>
            </a:r>
            <a:endParaRPr/>
          </a:p>
        </p:txBody>
      </p:sp>
      <p:sp>
        <p:nvSpPr>
          <p:cNvPr id="187" name="Google Shape;187;p17"/>
          <p:cNvSpPr txBox="1"/>
          <p:nvPr/>
        </p:nvSpPr>
        <p:spPr>
          <a:xfrm>
            <a:off x="8223200" y="1828800"/>
            <a:ext cx="320665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Increase in nuclear families, dual-income households, and a rising need for remote elderly and pet care solutions.</a:t>
            </a:r>
            <a:endParaRPr/>
          </a:p>
        </p:txBody>
      </p:sp>
      <p:sp>
        <p:nvSpPr>
          <p:cNvPr id="188" name="Google Shape;188;p17"/>
          <p:cNvSpPr txBox="1"/>
          <p:nvPr/>
        </p:nvSpPr>
        <p:spPr>
          <a:xfrm>
            <a:off x="762000" y="3219450"/>
            <a:ext cx="3366983" cy="276225"/>
          </a:xfrm>
          <a:prstGeom prst="rect">
            <a:avLst/>
          </a:prstGeom>
          <a:noFill/>
          <a:ln>
            <a:noFill/>
          </a:ln>
        </p:spPr>
        <p:txBody>
          <a:bodyPr anchorCtr="0" anchor="t" bIns="0" lIns="228600" spcFirstLastPara="1" rIns="0" wrap="square" tIns="0">
            <a:spAutoFit/>
          </a:bodyPr>
          <a:lstStyle/>
          <a:p>
            <a:pPr indent="0" lvl="0" marL="0" marR="0" rtl="0" algn="l">
              <a:spcBef>
                <a:spcPts val="0"/>
              </a:spcBef>
              <a:spcAft>
                <a:spcPts val="0"/>
              </a:spcAft>
              <a:buNone/>
            </a:pPr>
            <a:r>
              <a:rPr b="0" i="0" lang="en-US" sz="1800" u="none" cap="none" strike="noStrike">
                <a:solidFill>
                  <a:srgbClr val="034EA2"/>
                </a:solidFill>
                <a:latin typeface="Montserrat SemiBold"/>
                <a:ea typeface="Montserrat SemiBold"/>
                <a:cs typeface="Montserrat SemiBold"/>
                <a:sym typeface="Montserrat SemiBold"/>
              </a:rPr>
              <a:t>Technological</a:t>
            </a:r>
            <a:endParaRPr/>
          </a:p>
        </p:txBody>
      </p:sp>
      <p:sp>
        <p:nvSpPr>
          <p:cNvPr id="189" name="Google Shape;189;p17"/>
          <p:cNvSpPr txBox="1"/>
          <p:nvPr/>
        </p:nvSpPr>
        <p:spPr>
          <a:xfrm>
            <a:off x="762000" y="3609975"/>
            <a:ext cx="320665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Rapid 5G rollout (85% coverage) and high smartphone penetration enable seamless IoT and AI integrations.</a:t>
            </a:r>
            <a:endParaRPr/>
          </a:p>
        </p:txBody>
      </p:sp>
      <p:sp>
        <p:nvSpPr>
          <p:cNvPr id="190" name="Google Shape;190;p17"/>
          <p:cNvSpPr txBox="1"/>
          <p:nvPr/>
        </p:nvSpPr>
        <p:spPr>
          <a:xfrm>
            <a:off x="4492525" y="3219450"/>
            <a:ext cx="3367139" cy="276225"/>
          </a:xfrm>
          <a:prstGeom prst="rect">
            <a:avLst/>
          </a:prstGeom>
          <a:noFill/>
          <a:ln>
            <a:noFill/>
          </a:ln>
        </p:spPr>
        <p:txBody>
          <a:bodyPr anchorCtr="0" anchor="t" bIns="0" lIns="228600" spcFirstLastPara="1" rIns="0" wrap="square" tIns="0">
            <a:spAutoFit/>
          </a:bodyPr>
          <a:lstStyle/>
          <a:p>
            <a:pPr indent="0" lvl="0" marL="0" marR="0" rtl="0" algn="l">
              <a:spcBef>
                <a:spcPts val="0"/>
              </a:spcBef>
              <a:spcAft>
                <a:spcPts val="0"/>
              </a:spcAft>
              <a:buNone/>
            </a:pPr>
            <a:r>
              <a:rPr b="0" i="0" lang="en-US" sz="1800" u="none" cap="none" strike="noStrike">
                <a:solidFill>
                  <a:srgbClr val="034EA2"/>
                </a:solidFill>
                <a:latin typeface="Montserrat SemiBold"/>
                <a:ea typeface="Montserrat SemiBold"/>
                <a:cs typeface="Montserrat SemiBold"/>
                <a:sym typeface="Montserrat SemiBold"/>
              </a:rPr>
              <a:t>Legal</a:t>
            </a:r>
            <a:endParaRPr/>
          </a:p>
        </p:txBody>
      </p:sp>
      <p:sp>
        <p:nvSpPr>
          <p:cNvPr id="191" name="Google Shape;191;p17"/>
          <p:cNvSpPr txBox="1"/>
          <p:nvPr/>
        </p:nvSpPr>
        <p:spPr>
          <a:xfrm>
            <a:off x="4492525" y="3609975"/>
            <a:ext cx="3206799"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Implementation of the DPDP (Digital Personal Data Protection) Act requires strict compliance for AI data processing.</a:t>
            </a:r>
            <a:endParaRPr/>
          </a:p>
        </p:txBody>
      </p:sp>
      <p:sp>
        <p:nvSpPr>
          <p:cNvPr id="192" name="Google Shape;192;p17"/>
          <p:cNvSpPr txBox="1"/>
          <p:nvPr/>
        </p:nvSpPr>
        <p:spPr>
          <a:xfrm>
            <a:off x="8223200" y="3219450"/>
            <a:ext cx="3366983" cy="276225"/>
          </a:xfrm>
          <a:prstGeom prst="rect">
            <a:avLst/>
          </a:prstGeom>
          <a:noFill/>
          <a:ln>
            <a:noFill/>
          </a:ln>
        </p:spPr>
        <p:txBody>
          <a:bodyPr anchorCtr="0" anchor="t" bIns="0" lIns="228600" spcFirstLastPara="1" rIns="0" wrap="square" tIns="0">
            <a:spAutoFit/>
          </a:bodyPr>
          <a:lstStyle/>
          <a:p>
            <a:pPr indent="0" lvl="0" marL="0" marR="0" rtl="0" algn="l">
              <a:spcBef>
                <a:spcPts val="0"/>
              </a:spcBef>
              <a:spcAft>
                <a:spcPts val="0"/>
              </a:spcAft>
              <a:buNone/>
            </a:pPr>
            <a:r>
              <a:rPr b="0" i="0" lang="en-US" sz="1800" u="none" cap="none" strike="noStrike">
                <a:solidFill>
                  <a:srgbClr val="034EA2"/>
                </a:solidFill>
                <a:latin typeface="Montserrat SemiBold"/>
                <a:ea typeface="Montserrat SemiBold"/>
                <a:cs typeface="Montserrat SemiBold"/>
                <a:sym typeface="Montserrat SemiBold"/>
              </a:rPr>
              <a:t>Environmental</a:t>
            </a:r>
            <a:endParaRPr/>
          </a:p>
        </p:txBody>
      </p:sp>
      <p:sp>
        <p:nvSpPr>
          <p:cNvPr id="193" name="Google Shape;193;p17"/>
          <p:cNvSpPr txBox="1"/>
          <p:nvPr/>
        </p:nvSpPr>
        <p:spPr>
          <a:xfrm>
            <a:off x="8223200" y="3609975"/>
            <a:ext cx="320665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Growing consumer focus on energy efficiency. Ballie can optimize home HVAC and lighting to reduce carbon footprints.</a:t>
            </a:r>
            <a:endParaRPr/>
          </a:p>
        </p:txBody>
      </p:sp>
      <p:pic>
        <p:nvPicPr>
          <p:cNvPr descr="image.png" id="194" name="Google Shape;194;p17"/>
          <p:cNvPicPr preferRelativeResize="0"/>
          <p:nvPr/>
        </p:nvPicPr>
        <p:blipFill rotWithShape="1">
          <a:blip r:embed="rId6">
            <a:alphaModFix/>
          </a:blip>
          <a:srcRect b="0" l="0" r="0" t="0"/>
          <a:stretch/>
        </p:blipFill>
        <p:spPr>
          <a:xfrm>
            <a:off x="762000" y="1457325"/>
            <a:ext cx="228600" cy="228600"/>
          </a:xfrm>
          <a:prstGeom prst="rect">
            <a:avLst/>
          </a:prstGeom>
          <a:noFill/>
          <a:ln>
            <a:noFill/>
          </a:ln>
        </p:spPr>
      </p:pic>
      <p:pic>
        <p:nvPicPr>
          <p:cNvPr descr="image.png" id="195" name="Google Shape;195;p17"/>
          <p:cNvPicPr preferRelativeResize="0"/>
          <p:nvPr/>
        </p:nvPicPr>
        <p:blipFill rotWithShape="1">
          <a:blip r:embed="rId7">
            <a:alphaModFix/>
          </a:blip>
          <a:srcRect b="0" l="0" r="0" t="0"/>
          <a:stretch/>
        </p:blipFill>
        <p:spPr>
          <a:xfrm>
            <a:off x="4492525" y="1457325"/>
            <a:ext cx="257175" cy="228600"/>
          </a:xfrm>
          <a:prstGeom prst="rect">
            <a:avLst/>
          </a:prstGeom>
          <a:noFill/>
          <a:ln>
            <a:noFill/>
          </a:ln>
        </p:spPr>
      </p:pic>
      <p:pic>
        <p:nvPicPr>
          <p:cNvPr descr="image.png" id="196" name="Google Shape;196;p17"/>
          <p:cNvPicPr preferRelativeResize="0"/>
          <p:nvPr/>
        </p:nvPicPr>
        <p:blipFill rotWithShape="1">
          <a:blip r:embed="rId8">
            <a:alphaModFix/>
          </a:blip>
          <a:srcRect b="0" l="0" r="0" t="0"/>
          <a:stretch/>
        </p:blipFill>
        <p:spPr>
          <a:xfrm>
            <a:off x="8223200" y="1457325"/>
            <a:ext cx="285750" cy="228600"/>
          </a:xfrm>
          <a:prstGeom prst="rect">
            <a:avLst/>
          </a:prstGeom>
          <a:noFill/>
          <a:ln>
            <a:noFill/>
          </a:ln>
        </p:spPr>
      </p:pic>
      <p:pic>
        <p:nvPicPr>
          <p:cNvPr descr="image.png" id="197" name="Google Shape;197;p17"/>
          <p:cNvPicPr preferRelativeResize="0"/>
          <p:nvPr/>
        </p:nvPicPr>
        <p:blipFill rotWithShape="1">
          <a:blip r:embed="rId9">
            <a:alphaModFix/>
          </a:blip>
          <a:srcRect b="0" l="0" r="0" t="0"/>
          <a:stretch/>
        </p:blipFill>
        <p:spPr>
          <a:xfrm>
            <a:off x="762000" y="3238500"/>
            <a:ext cx="228600" cy="228600"/>
          </a:xfrm>
          <a:prstGeom prst="rect">
            <a:avLst/>
          </a:prstGeom>
          <a:noFill/>
          <a:ln>
            <a:noFill/>
          </a:ln>
        </p:spPr>
      </p:pic>
      <p:pic>
        <p:nvPicPr>
          <p:cNvPr descr="image.png" id="198" name="Google Shape;198;p17"/>
          <p:cNvPicPr preferRelativeResize="0"/>
          <p:nvPr/>
        </p:nvPicPr>
        <p:blipFill rotWithShape="1">
          <a:blip r:embed="rId10">
            <a:alphaModFix/>
          </a:blip>
          <a:srcRect b="0" l="0" r="0" t="0"/>
          <a:stretch/>
        </p:blipFill>
        <p:spPr>
          <a:xfrm>
            <a:off x="4492525" y="3238500"/>
            <a:ext cx="228600" cy="228600"/>
          </a:xfrm>
          <a:prstGeom prst="rect">
            <a:avLst/>
          </a:prstGeom>
          <a:noFill/>
          <a:ln>
            <a:noFill/>
          </a:ln>
        </p:spPr>
      </p:pic>
      <p:pic>
        <p:nvPicPr>
          <p:cNvPr descr="image.png" id="199" name="Google Shape;199;p17"/>
          <p:cNvPicPr preferRelativeResize="0"/>
          <p:nvPr/>
        </p:nvPicPr>
        <p:blipFill rotWithShape="1">
          <a:blip r:embed="rId11">
            <a:alphaModFix/>
          </a:blip>
          <a:srcRect b="0" l="0" r="0" t="0"/>
          <a:stretch/>
        </p:blipFill>
        <p:spPr>
          <a:xfrm>
            <a:off x="8223200" y="3238500"/>
            <a:ext cx="228600" cy="228600"/>
          </a:xfrm>
          <a:prstGeom prst="rect">
            <a:avLst/>
          </a:prstGeom>
          <a:noFill/>
          <a:ln>
            <a:noFill/>
          </a:ln>
        </p:spPr>
      </p:pic>
      <p:sp>
        <p:nvSpPr>
          <p:cNvPr id="200" name="Google Shape;200;p17"/>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MACRO ENVIRONMENT ANALYSIS (PESTLE) - INDIA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pic>
        <p:nvPicPr>
          <p:cNvPr descr="image.png" id="205" name="Google Shape;20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6" name="Google Shape;206;p18"/>
          <p:cNvPicPr preferRelativeResize="0"/>
          <p:nvPr/>
        </p:nvPicPr>
        <p:blipFill rotWithShape="1">
          <a:blip r:embed="rId4">
            <a:alphaModFix/>
          </a:blip>
          <a:srcRect b="0" l="0" r="0" t="0"/>
          <a:stretch/>
        </p:blipFill>
        <p:spPr>
          <a:xfrm>
            <a:off x="571500" y="1209675"/>
            <a:ext cx="3524250" cy="2619225"/>
          </a:xfrm>
          <a:prstGeom prst="rect">
            <a:avLst/>
          </a:prstGeom>
          <a:noFill/>
          <a:ln>
            <a:noFill/>
          </a:ln>
        </p:spPr>
      </p:pic>
      <p:pic>
        <p:nvPicPr>
          <p:cNvPr descr="image.png" id="207" name="Google Shape;207;p18"/>
          <p:cNvPicPr preferRelativeResize="0"/>
          <p:nvPr/>
        </p:nvPicPr>
        <p:blipFill rotWithShape="1">
          <a:blip r:embed="rId5">
            <a:alphaModFix/>
          </a:blip>
          <a:srcRect b="0" l="0" r="0" t="0"/>
          <a:stretch/>
        </p:blipFill>
        <p:spPr>
          <a:xfrm>
            <a:off x="4333875" y="1209675"/>
            <a:ext cx="3524250" cy="2619225"/>
          </a:xfrm>
          <a:prstGeom prst="rect">
            <a:avLst/>
          </a:prstGeom>
          <a:noFill/>
          <a:ln>
            <a:noFill/>
          </a:ln>
        </p:spPr>
      </p:pic>
      <p:pic>
        <p:nvPicPr>
          <p:cNvPr descr="image.png" id="208" name="Google Shape;208;p18"/>
          <p:cNvPicPr preferRelativeResize="0"/>
          <p:nvPr/>
        </p:nvPicPr>
        <p:blipFill rotWithShape="1">
          <a:blip r:embed="rId6">
            <a:alphaModFix/>
          </a:blip>
          <a:srcRect b="0" l="0" r="0" t="0"/>
          <a:stretch/>
        </p:blipFill>
        <p:spPr>
          <a:xfrm>
            <a:off x="8096250" y="1209675"/>
            <a:ext cx="3524250" cy="2553825"/>
          </a:xfrm>
          <a:prstGeom prst="rect">
            <a:avLst/>
          </a:prstGeom>
          <a:noFill/>
          <a:ln>
            <a:noFill/>
          </a:ln>
        </p:spPr>
      </p:pic>
      <p:pic>
        <p:nvPicPr>
          <p:cNvPr descr="image.png" id="209" name="Google Shape;209;p18"/>
          <p:cNvPicPr preferRelativeResize="0"/>
          <p:nvPr/>
        </p:nvPicPr>
        <p:blipFill rotWithShape="1">
          <a:blip r:embed="rId7">
            <a:alphaModFix/>
          </a:blip>
          <a:srcRect b="0" l="0" r="0" t="0"/>
          <a:stretch/>
        </p:blipFill>
        <p:spPr>
          <a:xfrm>
            <a:off x="433375" y="4114650"/>
            <a:ext cx="3524250" cy="2505075"/>
          </a:xfrm>
          <a:prstGeom prst="rect">
            <a:avLst/>
          </a:prstGeom>
          <a:noFill/>
          <a:ln>
            <a:noFill/>
          </a:ln>
        </p:spPr>
      </p:pic>
      <p:pic>
        <p:nvPicPr>
          <p:cNvPr descr="image.png" id="210" name="Google Shape;210;p18"/>
          <p:cNvPicPr preferRelativeResize="0"/>
          <p:nvPr/>
        </p:nvPicPr>
        <p:blipFill rotWithShape="1">
          <a:blip r:embed="rId8">
            <a:alphaModFix/>
          </a:blip>
          <a:srcRect b="0" l="0" r="0" t="0"/>
          <a:stretch/>
        </p:blipFill>
        <p:spPr>
          <a:xfrm>
            <a:off x="4333875" y="4114650"/>
            <a:ext cx="3524250" cy="2553825"/>
          </a:xfrm>
          <a:prstGeom prst="rect">
            <a:avLst/>
          </a:prstGeom>
          <a:noFill/>
          <a:ln>
            <a:noFill/>
          </a:ln>
        </p:spPr>
      </p:pic>
      <p:pic>
        <p:nvPicPr>
          <p:cNvPr descr="image.png" id="211" name="Google Shape;211;p18"/>
          <p:cNvPicPr preferRelativeResize="0"/>
          <p:nvPr/>
        </p:nvPicPr>
        <p:blipFill rotWithShape="1">
          <a:blip r:embed="rId9">
            <a:alphaModFix/>
          </a:blip>
          <a:srcRect b="0" l="0" r="0" t="0"/>
          <a:stretch/>
        </p:blipFill>
        <p:spPr>
          <a:xfrm>
            <a:off x="8096250" y="4114650"/>
            <a:ext cx="3524250" cy="2505075"/>
          </a:xfrm>
          <a:prstGeom prst="rect">
            <a:avLst/>
          </a:prstGeom>
          <a:noFill/>
          <a:ln>
            <a:noFill/>
          </a:ln>
        </p:spPr>
      </p:pic>
      <p:pic>
        <p:nvPicPr>
          <p:cNvPr descr="image.png" id="212" name="Google Shape;212;p18"/>
          <p:cNvPicPr preferRelativeResize="0"/>
          <p:nvPr/>
        </p:nvPicPr>
        <p:blipFill rotWithShape="1">
          <a:blip r:embed="rId10">
            <a:alphaModFix/>
          </a:blip>
          <a:srcRect b="0" l="0" r="0" t="0"/>
          <a:stretch/>
        </p:blipFill>
        <p:spPr>
          <a:xfrm>
            <a:off x="857250" y="1533525"/>
            <a:ext cx="390525" cy="342900"/>
          </a:xfrm>
          <a:prstGeom prst="rect">
            <a:avLst/>
          </a:prstGeom>
          <a:noFill/>
          <a:ln>
            <a:noFill/>
          </a:ln>
        </p:spPr>
      </p:pic>
      <p:sp>
        <p:nvSpPr>
          <p:cNvPr id="213" name="Google Shape;213;p18"/>
          <p:cNvSpPr txBox="1"/>
          <p:nvPr/>
        </p:nvSpPr>
        <p:spPr>
          <a:xfrm>
            <a:off x="857250" y="2066925"/>
            <a:ext cx="310038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Smart Home Automation</a:t>
            </a:r>
            <a:endParaRPr/>
          </a:p>
        </p:txBody>
      </p:sp>
      <p:sp>
        <p:nvSpPr>
          <p:cNvPr id="214" name="Google Shape;214;p18"/>
          <p:cNvSpPr txBox="1"/>
          <p:nvPr/>
        </p:nvSpPr>
        <p:spPr>
          <a:xfrm>
            <a:off x="857250" y="2457450"/>
            <a:ext cx="295275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Consumers want centralized, seamless control over disparate devices (ACs, lights, security) without navigating multiple complex apps.</a:t>
            </a:r>
            <a:endParaRPr/>
          </a:p>
        </p:txBody>
      </p:sp>
      <p:pic>
        <p:nvPicPr>
          <p:cNvPr descr="image.png" id="215" name="Google Shape;215;p18"/>
          <p:cNvPicPr preferRelativeResize="0"/>
          <p:nvPr/>
        </p:nvPicPr>
        <p:blipFill rotWithShape="1">
          <a:blip r:embed="rId11">
            <a:alphaModFix/>
          </a:blip>
          <a:srcRect b="0" l="0" r="0" t="0"/>
          <a:stretch/>
        </p:blipFill>
        <p:spPr>
          <a:xfrm>
            <a:off x="4619625" y="1533525"/>
            <a:ext cx="304800" cy="342900"/>
          </a:xfrm>
          <a:prstGeom prst="rect">
            <a:avLst/>
          </a:prstGeom>
          <a:noFill/>
          <a:ln>
            <a:noFill/>
          </a:ln>
        </p:spPr>
      </p:pic>
      <p:sp>
        <p:nvSpPr>
          <p:cNvPr id="216" name="Google Shape;216;p18"/>
          <p:cNvSpPr txBox="1"/>
          <p:nvPr/>
        </p:nvSpPr>
        <p:spPr>
          <a:xfrm>
            <a:off x="5281500" y="1552088"/>
            <a:ext cx="3100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Elderly &amp; Child Care</a:t>
            </a:r>
            <a:endParaRPr/>
          </a:p>
        </p:txBody>
      </p:sp>
      <p:sp>
        <p:nvSpPr>
          <p:cNvPr id="217" name="Google Shape;217;p18"/>
          <p:cNvSpPr txBox="1"/>
          <p:nvPr/>
        </p:nvSpPr>
        <p:spPr>
          <a:xfrm>
            <a:off x="4619550" y="2102800"/>
            <a:ext cx="2952900" cy="1537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With dual-working parents, there is a massive need for autonomous monitoring devices that can detect falls, send video alerts, and facilitate emergency calls.</a:t>
            </a:r>
            <a:endParaRPr/>
          </a:p>
        </p:txBody>
      </p:sp>
      <p:pic>
        <p:nvPicPr>
          <p:cNvPr descr="image.png" id="218" name="Google Shape;218;p18"/>
          <p:cNvPicPr preferRelativeResize="0"/>
          <p:nvPr/>
        </p:nvPicPr>
        <p:blipFill rotWithShape="1">
          <a:blip r:embed="rId12">
            <a:alphaModFix/>
          </a:blip>
          <a:srcRect b="0" l="0" r="0" t="0"/>
          <a:stretch/>
        </p:blipFill>
        <p:spPr>
          <a:xfrm>
            <a:off x="8382000" y="1533525"/>
            <a:ext cx="342900" cy="342900"/>
          </a:xfrm>
          <a:prstGeom prst="rect">
            <a:avLst/>
          </a:prstGeom>
          <a:noFill/>
          <a:ln>
            <a:noFill/>
          </a:ln>
        </p:spPr>
      </p:pic>
      <p:sp>
        <p:nvSpPr>
          <p:cNvPr id="219" name="Google Shape;219;p18"/>
          <p:cNvSpPr txBox="1"/>
          <p:nvPr/>
        </p:nvSpPr>
        <p:spPr>
          <a:xfrm>
            <a:off x="8855475" y="1600200"/>
            <a:ext cx="3100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Pet Companionship</a:t>
            </a:r>
            <a:endParaRPr/>
          </a:p>
        </p:txBody>
      </p:sp>
      <p:sp>
        <p:nvSpPr>
          <p:cNvPr id="220" name="Google Shape;220;p18"/>
          <p:cNvSpPr txBox="1"/>
          <p:nvPr/>
        </p:nvSpPr>
        <p:spPr>
          <a:xfrm>
            <a:off x="8382000" y="2161213"/>
            <a:ext cx="2952900" cy="1205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Pet ownership in India is booming. Owners need devices to monitor, entertain, and feed pets while at the office.</a:t>
            </a:r>
            <a:endParaRPr/>
          </a:p>
        </p:txBody>
      </p:sp>
      <p:pic>
        <p:nvPicPr>
          <p:cNvPr descr="image.png" id="221" name="Google Shape;221;p18"/>
          <p:cNvPicPr preferRelativeResize="0"/>
          <p:nvPr/>
        </p:nvPicPr>
        <p:blipFill rotWithShape="1">
          <a:blip r:embed="rId13">
            <a:alphaModFix/>
          </a:blip>
          <a:srcRect b="0" l="0" r="0" t="0"/>
          <a:stretch/>
        </p:blipFill>
        <p:spPr>
          <a:xfrm>
            <a:off x="881063" y="4477564"/>
            <a:ext cx="342900" cy="342900"/>
          </a:xfrm>
          <a:prstGeom prst="rect">
            <a:avLst/>
          </a:prstGeom>
          <a:noFill/>
          <a:ln>
            <a:noFill/>
          </a:ln>
        </p:spPr>
      </p:pic>
      <p:sp>
        <p:nvSpPr>
          <p:cNvPr id="222" name="Google Shape;222;p18"/>
          <p:cNvSpPr txBox="1"/>
          <p:nvPr/>
        </p:nvSpPr>
        <p:spPr>
          <a:xfrm>
            <a:off x="1253675" y="4510901"/>
            <a:ext cx="3100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Working Professionals</a:t>
            </a:r>
            <a:endParaRPr/>
          </a:p>
        </p:txBody>
      </p:sp>
      <p:sp>
        <p:nvSpPr>
          <p:cNvPr id="223" name="Google Shape;223;p18"/>
          <p:cNvSpPr txBox="1"/>
          <p:nvPr/>
        </p:nvSpPr>
        <p:spPr>
          <a:xfrm>
            <a:off x="857100" y="5226526"/>
            <a:ext cx="2952900" cy="1205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WFH and hybrid models demand productivity tools. Ballie's ability to project video calls and calendar updates solves friction points.</a:t>
            </a:r>
            <a:endParaRPr/>
          </a:p>
        </p:txBody>
      </p:sp>
      <p:pic>
        <p:nvPicPr>
          <p:cNvPr descr="image.png" id="224" name="Google Shape;224;p18"/>
          <p:cNvPicPr preferRelativeResize="0"/>
          <p:nvPr/>
        </p:nvPicPr>
        <p:blipFill rotWithShape="1">
          <a:blip r:embed="rId14">
            <a:alphaModFix/>
          </a:blip>
          <a:srcRect b="0" l="0" r="0" t="0"/>
          <a:stretch/>
        </p:blipFill>
        <p:spPr>
          <a:xfrm>
            <a:off x="4600575" y="4383426"/>
            <a:ext cx="342900" cy="342900"/>
          </a:xfrm>
          <a:prstGeom prst="rect">
            <a:avLst/>
          </a:prstGeom>
          <a:noFill/>
          <a:ln>
            <a:noFill/>
          </a:ln>
        </p:spPr>
      </p:pic>
      <p:sp>
        <p:nvSpPr>
          <p:cNvPr id="225" name="Google Shape;225;p18"/>
          <p:cNvSpPr txBox="1"/>
          <p:nvPr/>
        </p:nvSpPr>
        <p:spPr>
          <a:xfrm>
            <a:off x="5190000" y="4450101"/>
            <a:ext cx="3100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Home Security</a:t>
            </a:r>
            <a:endParaRPr/>
          </a:p>
        </p:txBody>
      </p:sp>
      <p:sp>
        <p:nvSpPr>
          <p:cNvPr id="226" name="Google Shape;226;p18"/>
          <p:cNvSpPr txBox="1"/>
          <p:nvPr/>
        </p:nvSpPr>
        <p:spPr>
          <a:xfrm>
            <a:off x="4550475" y="5060176"/>
            <a:ext cx="2952900" cy="1537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50% of smart home buyers in India are motivated by security. Mobile, autonomous patrolling offers superior peace of mind over fixed cameras.</a:t>
            </a:r>
            <a:endParaRPr/>
          </a:p>
        </p:txBody>
      </p:sp>
      <p:pic>
        <p:nvPicPr>
          <p:cNvPr descr="image.png" id="227" name="Google Shape;227;p18"/>
          <p:cNvPicPr preferRelativeResize="0"/>
          <p:nvPr/>
        </p:nvPicPr>
        <p:blipFill rotWithShape="1">
          <a:blip r:embed="rId15">
            <a:alphaModFix/>
          </a:blip>
          <a:srcRect b="0" l="0" r="0" t="0"/>
          <a:stretch/>
        </p:blipFill>
        <p:spPr>
          <a:xfrm>
            <a:off x="8290375" y="4383426"/>
            <a:ext cx="304800" cy="342900"/>
          </a:xfrm>
          <a:prstGeom prst="rect">
            <a:avLst/>
          </a:prstGeom>
          <a:noFill/>
          <a:ln>
            <a:noFill/>
          </a:ln>
        </p:spPr>
      </p:pic>
      <p:sp>
        <p:nvSpPr>
          <p:cNvPr id="228" name="Google Shape;228;p18"/>
          <p:cNvSpPr txBox="1"/>
          <p:nvPr/>
        </p:nvSpPr>
        <p:spPr>
          <a:xfrm>
            <a:off x="8724900" y="4416764"/>
            <a:ext cx="3100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Energy Management</a:t>
            </a:r>
            <a:endParaRPr/>
          </a:p>
        </p:txBody>
      </p:sp>
      <p:sp>
        <p:nvSpPr>
          <p:cNvPr id="229" name="Google Shape;229;p18"/>
          <p:cNvSpPr txBox="1"/>
          <p:nvPr/>
        </p:nvSpPr>
        <p:spPr>
          <a:xfrm>
            <a:off x="8290500" y="5010301"/>
            <a:ext cx="29529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Rising electricity costs push the need for AI systems that can proactively turn off appliances in empty rooms.</a:t>
            </a:r>
            <a:endParaRPr/>
          </a:p>
        </p:txBody>
      </p:sp>
      <p:sp>
        <p:nvSpPr>
          <p:cNvPr id="230" name="Google Shape;230;p18"/>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UNDERSTANDING MARKET NEEDS IN INDIA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pic>
        <p:nvPicPr>
          <p:cNvPr descr="image.png" id="235" name="Google Shape;235;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6" name="Google Shape;236;p19"/>
          <p:cNvPicPr preferRelativeResize="0"/>
          <p:nvPr/>
        </p:nvPicPr>
        <p:blipFill rotWithShape="1">
          <a:blip r:embed="rId4">
            <a:alphaModFix/>
          </a:blip>
          <a:srcRect b="0" l="0" r="0" t="0"/>
          <a:stretch/>
        </p:blipFill>
        <p:spPr>
          <a:xfrm>
            <a:off x="6286500" y="1209675"/>
            <a:ext cx="5334000" cy="5172075"/>
          </a:xfrm>
          <a:prstGeom prst="rect">
            <a:avLst/>
          </a:prstGeom>
          <a:noFill/>
          <a:ln>
            <a:noFill/>
          </a:ln>
        </p:spPr>
      </p:pic>
      <p:sp>
        <p:nvSpPr>
          <p:cNvPr id="237" name="Google Shape;237;p19"/>
          <p:cNvSpPr txBox="1"/>
          <p:nvPr/>
        </p:nvSpPr>
        <p:spPr>
          <a:xfrm>
            <a:off x="6153150" y="1400175"/>
            <a:ext cx="5600700"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121212"/>
                </a:solidFill>
                <a:latin typeface="Montserrat SemiBold"/>
                <a:ea typeface="Montserrat SemiBold"/>
                <a:cs typeface="Montserrat SemiBold"/>
                <a:sym typeface="Montserrat SemiBold"/>
              </a:rPr>
              <a:t>India Smart Home Market Growth Forecast</a:t>
            </a:r>
            <a:endParaRPr/>
          </a:p>
        </p:txBody>
      </p:sp>
      <p:sp>
        <p:nvSpPr>
          <p:cNvPr id="238" name="Google Shape;238;p19"/>
          <p:cNvSpPr txBox="1"/>
          <p:nvPr/>
        </p:nvSpPr>
        <p:spPr>
          <a:xfrm>
            <a:off x="857250" y="1304925"/>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AI &amp; Machine Learning:</a:t>
            </a:r>
            <a:r>
              <a:rPr b="0" i="0" lang="en-US" sz="1350" u="none" cap="none" strike="noStrike">
                <a:solidFill>
                  <a:srgbClr val="121212"/>
                </a:solidFill>
                <a:latin typeface="Open Sans"/>
                <a:ea typeface="Open Sans"/>
                <a:cs typeface="Open Sans"/>
                <a:sym typeface="Open Sans"/>
              </a:rPr>
              <a:t> Shift from reactive voice assistants to proactive, context-aware AI that anticipates user needs.</a:t>
            </a:r>
            <a:endParaRPr/>
          </a:p>
        </p:txBody>
      </p:sp>
      <p:sp>
        <p:nvSpPr>
          <p:cNvPr id="239" name="Google Shape;239;p19"/>
          <p:cNvSpPr txBox="1"/>
          <p:nvPr/>
        </p:nvSpPr>
        <p:spPr>
          <a:xfrm>
            <a:off x="857250" y="1996380"/>
            <a:ext cx="50482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Matter Standard Integration:</a:t>
            </a:r>
            <a:r>
              <a:rPr b="0" i="0" lang="en-US" sz="1350" u="none" cap="none" strike="noStrike">
                <a:solidFill>
                  <a:srgbClr val="121212"/>
                </a:solidFill>
                <a:latin typeface="Open Sans"/>
                <a:ea typeface="Open Sans"/>
                <a:cs typeface="Open Sans"/>
                <a:sym typeface="Open Sans"/>
              </a:rPr>
              <a:t> Unified connectivity is reducing ecosystem fragmentation, allowing Samsung to orchestrate third-party devices easily.</a:t>
            </a:r>
            <a:endParaRPr/>
          </a:p>
        </p:txBody>
      </p:sp>
      <p:sp>
        <p:nvSpPr>
          <p:cNvPr id="240" name="Google Shape;240;p19"/>
          <p:cNvSpPr txBox="1"/>
          <p:nvPr/>
        </p:nvSpPr>
        <p:spPr>
          <a:xfrm>
            <a:off x="857250" y="2962126"/>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Retrofit Smart Homes:</a:t>
            </a:r>
            <a:r>
              <a:rPr b="0" i="0" lang="en-US" sz="1350" u="none" cap="none" strike="noStrike">
                <a:solidFill>
                  <a:srgbClr val="121212"/>
                </a:solidFill>
                <a:latin typeface="Open Sans"/>
                <a:ea typeface="Open Sans"/>
                <a:cs typeface="Open Sans"/>
                <a:sym typeface="Open Sans"/>
              </a:rPr>
              <a:t> Indian consumers prefer plug-and-play modular solutions over complete structural overhauls.</a:t>
            </a:r>
            <a:endParaRPr/>
          </a:p>
        </p:txBody>
      </p:sp>
      <p:sp>
        <p:nvSpPr>
          <p:cNvPr id="241" name="Google Shape;241;p19"/>
          <p:cNvSpPr txBox="1"/>
          <p:nvPr/>
        </p:nvSpPr>
        <p:spPr>
          <a:xfrm>
            <a:off x="857250" y="3653581"/>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Domestic Robotics:</a:t>
            </a:r>
            <a:r>
              <a:rPr b="0" i="0" lang="en-US" sz="1350" u="none" cap="none" strike="noStrike">
                <a:solidFill>
                  <a:srgbClr val="121212"/>
                </a:solidFill>
                <a:latin typeface="Open Sans"/>
                <a:ea typeface="Open Sans"/>
                <a:cs typeface="Open Sans"/>
                <a:sym typeface="Open Sans"/>
              </a:rPr>
              <a:t> Moving beyond simple robotic vacuums to multi-functional AI companions.</a:t>
            </a:r>
            <a:endParaRPr/>
          </a:p>
        </p:txBody>
      </p:sp>
      <p:sp>
        <p:nvSpPr>
          <p:cNvPr id="242" name="Google Shape;242;p19"/>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KEY MARKET TRENDS DRIVING ADOPTION</a:t>
            </a:r>
            <a:endParaRPr/>
          </a:p>
        </p:txBody>
      </p:sp>
      <p:pic>
        <p:nvPicPr>
          <p:cNvPr descr="image.png" id="243" name="Google Shape;243;p19"/>
          <p:cNvPicPr preferRelativeResize="0"/>
          <p:nvPr/>
        </p:nvPicPr>
        <p:blipFill rotWithShape="1">
          <a:blip r:embed="rId5">
            <a:alphaModFix/>
          </a:blip>
          <a:srcRect b="0" l="0" r="0" t="0"/>
          <a:stretch/>
        </p:blipFill>
        <p:spPr>
          <a:xfrm>
            <a:off x="571500" y="1323975"/>
            <a:ext cx="104775" cy="180975"/>
          </a:xfrm>
          <a:prstGeom prst="rect">
            <a:avLst/>
          </a:prstGeom>
          <a:noFill/>
          <a:ln>
            <a:noFill/>
          </a:ln>
        </p:spPr>
      </p:pic>
      <p:pic>
        <p:nvPicPr>
          <p:cNvPr descr="image.png" id="244" name="Google Shape;244;p19"/>
          <p:cNvPicPr preferRelativeResize="0"/>
          <p:nvPr/>
        </p:nvPicPr>
        <p:blipFill rotWithShape="1">
          <a:blip r:embed="rId5">
            <a:alphaModFix/>
          </a:blip>
          <a:srcRect b="0" l="0" r="0" t="0"/>
          <a:stretch/>
        </p:blipFill>
        <p:spPr>
          <a:xfrm>
            <a:off x="571500" y="2015430"/>
            <a:ext cx="104775" cy="180975"/>
          </a:xfrm>
          <a:prstGeom prst="rect">
            <a:avLst/>
          </a:prstGeom>
          <a:noFill/>
          <a:ln>
            <a:noFill/>
          </a:ln>
        </p:spPr>
      </p:pic>
      <p:pic>
        <p:nvPicPr>
          <p:cNvPr descr="image.png" id="245" name="Google Shape;245;p19"/>
          <p:cNvPicPr preferRelativeResize="0"/>
          <p:nvPr/>
        </p:nvPicPr>
        <p:blipFill rotWithShape="1">
          <a:blip r:embed="rId5">
            <a:alphaModFix/>
          </a:blip>
          <a:srcRect b="0" l="0" r="0" t="0"/>
          <a:stretch/>
        </p:blipFill>
        <p:spPr>
          <a:xfrm>
            <a:off x="571500" y="2981176"/>
            <a:ext cx="104775" cy="180975"/>
          </a:xfrm>
          <a:prstGeom prst="rect">
            <a:avLst/>
          </a:prstGeom>
          <a:noFill/>
          <a:ln>
            <a:noFill/>
          </a:ln>
        </p:spPr>
      </p:pic>
      <p:pic>
        <p:nvPicPr>
          <p:cNvPr descr="image.png" id="246" name="Google Shape;246;p19"/>
          <p:cNvPicPr preferRelativeResize="0"/>
          <p:nvPr/>
        </p:nvPicPr>
        <p:blipFill rotWithShape="1">
          <a:blip r:embed="rId5">
            <a:alphaModFix/>
          </a:blip>
          <a:srcRect b="0" l="0" r="0" t="0"/>
          <a:stretch/>
        </p:blipFill>
        <p:spPr>
          <a:xfrm>
            <a:off x="571500" y="3672631"/>
            <a:ext cx="104775" cy="180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pic>
        <p:nvPicPr>
          <p:cNvPr descr="image.png" id="251" name="Google Shape;25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2" name="Google Shape;252;p20"/>
          <p:cNvPicPr preferRelativeResize="0"/>
          <p:nvPr/>
        </p:nvPicPr>
        <p:blipFill rotWithShape="1">
          <a:blip r:embed="rId4">
            <a:alphaModFix/>
          </a:blip>
          <a:srcRect b="0" l="0" r="0" t="0"/>
          <a:stretch/>
        </p:blipFill>
        <p:spPr>
          <a:xfrm>
            <a:off x="571500" y="2540347"/>
            <a:ext cx="5334000" cy="2510730"/>
          </a:xfrm>
          <a:prstGeom prst="rect">
            <a:avLst/>
          </a:prstGeom>
          <a:noFill/>
          <a:ln>
            <a:noFill/>
          </a:ln>
        </p:spPr>
      </p:pic>
      <p:pic>
        <p:nvPicPr>
          <p:cNvPr descr="image.png" id="253" name="Google Shape;253;p20"/>
          <p:cNvPicPr preferRelativeResize="0"/>
          <p:nvPr/>
        </p:nvPicPr>
        <p:blipFill rotWithShape="1">
          <a:blip r:embed="rId5">
            <a:alphaModFix/>
          </a:blip>
          <a:srcRect b="0" l="0" r="0" t="0"/>
          <a:stretch/>
        </p:blipFill>
        <p:spPr>
          <a:xfrm>
            <a:off x="6286500" y="2366962"/>
            <a:ext cx="5334000" cy="2857500"/>
          </a:xfrm>
          <a:prstGeom prst="rect">
            <a:avLst/>
          </a:prstGeom>
          <a:noFill/>
          <a:ln>
            <a:noFill/>
          </a:ln>
        </p:spPr>
      </p:pic>
      <p:sp>
        <p:nvSpPr>
          <p:cNvPr id="254" name="Google Shape;254;p20"/>
          <p:cNvSpPr txBox="1"/>
          <p:nvPr/>
        </p:nvSpPr>
        <p:spPr>
          <a:xfrm>
            <a:off x="571500" y="2540347"/>
            <a:ext cx="56007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Addressable Market (India)</a:t>
            </a:r>
            <a:endParaRPr/>
          </a:p>
        </p:txBody>
      </p:sp>
      <p:sp>
        <p:nvSpPr>
          <p:cNvPr id="255" name="Google Shape;255;p20"/>
          <p:cNvSpPr txBox="1"/>
          <p:nvPr/>
        </p:nvSpPr>
        <p:spPr>
          <a:xfrm>
            <a:off x="571500" y="2930872"/>
            <a:ext cx="533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The Indian Smart Home Market is projected to grow from </a:t>
            </a:r>
            <a:r>
              <a:rPr b="1" i="0" lang="en-US" sz="1350" u="none" cap="none" strike="noStrike">
                <a:solidFill>
                  <a:srgbClr val="121212"/>
                </a:solidFill>
                <a:latin typeface="Open Sans"/>
                <a:ea typeface="Open Sans"/>
                <a:cs typeface="Open Sans"/>
                <a:sym typeface="Open Sans"/>
              </a:rPr>
              <a:t>$4.0 Billion (2024) to $14.28 Billion (2029)</a:t>
            </a:r>
            <a:r>
              <a:rPr b="0" i="0" lang="en-US" sz="1350" u="none" cap="none" strike="noStrike">
                <a:solidFill>
                  <a:srgbClr val="121212"/>
                </a:solidFill>
                <a:latin typeface="Open Sans"/>
                <a:ea typeface="Open Sans"/>
                <a:cs typeface="Open Sans"/>
                <a:sym typeface="Open Sans"/>
              </a:rPr>
              <a:t> at a staggering CAGR of 30%.</a:t>
            </a:r>
            <a:endParaRPr/>
          </a:p>
        </p:txBody>
      </p:sp>
      <p:pic>
        <p:nvPicPr>
          <p:cNvPr descr="image.png" id="256" name="Google Shape;256;p20"/>
          <p:cNvPicPr preferRelativeResize="0"/>
          <p:nvPr/>
        </p:nvPicPr>
        <p:blipFill rotWithShape="1">
          <a:blip r:embed="rId6">
            <a:alphaModFix/>
          </a:blip>
          <a:srcRect b="0" l="0" r="0" t="0"/>
          <a:stretch/>
        </p:blipFill>
        <p:spPr>
          <a:xfrm>
            <a:off x="6286500" y="2366962"/>
            <a:ext cx="5334000" cy="2667000"/>
          </a:xfrm>
          <a:prstGeom prst="rect">
            <a:avLst/>
          </a:prstGeom>
          <a:noFill/>
          <a:ln>
            <a:noFill/>
          </a:ln>
        </p:spPr>
      </p:pic>
      <p:sp>
        <p:nvSpPr>
          <p:cNvPr id="257" name="Google Shape;257;p20"/>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MARKET SIZE &amp; GROWTH POTENTIAL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pic>
        <p:nvPicPr>
          <p:cNvPr descr="image.png" id="262" name="Google Shape;26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3" name="Google Shape;263;p21"/>
          <p:cNvPicPr preferRelativeResize="0"/>
          <p:nvPr/>
        </p:nvPicPr>
        <p:blipFill rotWithShape="1">
          <a:blip r:embed="rId4">
            <a:alphaModFix/>
          </a:blip>
          <a:srcRect b="0" l="0" r="0" t="0"/>
          <a:stretch/>
        </p:blipFill>
        <p:spPr>
          <a:xfrm>
            <a:off x="571500" y="1209675"/>
            <a:ext cx="5453062" cy="3045916"/>
          </a:xfrm>
          <a:prstGeom prst="rect">
            <a:avLst/>
          </a:prstGeom>
          <a:noFill/>
          <a:ln>
            <a:noFill/>
          </a:ln>
        </p:spPr>
      </p:pic>
      <p:pic>
        <p:nvPicPr>
          <p:cNvPr descr="image.png" id="264" name="Google Shape;264;p21"/>
          <p:cNvPicPr preferRelativeResize="0"/>
          <p:nvPr/>
        </p:nvPicPr>
        <p:blipFill rotWithShape="1">
          <a:blip r:embed="rId5">
            <a:alphaModFix/>
          </a:blip>
          <a:srcRect b="0" l="0" r="0" t="0"/>
          <a:stretch/>
        </p:blipFill>
        <p:spPr>
          <a:xfrm>
            <a:off x="6167437" y="1209675"/>
            <a:ext cx="5453062" cy="3045916"/>
          </a:xfrm>
          <a:prstGeom prst="rect">
            <a:avLst/>
          </a:prstGeom>
          <a:noFill/>
          <a:ln>
            <a:noFill/>
          </a:ln>
        </p:spPr>
      </p:pic>
      <p:pic>
        <p:nvPicPr>
          <p:cNvPr descr="image.png" id="265" name="Google Shape;265;p21"/>
          <p:cNvPicPr preferRelativeResize="0"/>
          <p:nvPr/>
        </p:nvPicPr>
        <p:blipFill rotWithShape="1">
          <a:blip r:embed="rId6">
            <a:alphaModFix/>
          </a:blip>
          <a:srcRect b="0" l="0" r="0" t="0"/>
          <a:stretch/>
        </p:blipFill>
        <p:spPr>
          <a:xfrm>
            <a:off x="571500" y="4398473"/>
            <a:ext cx="5453050" cy="2291500"/>
          </a:xfrm>
          <a:prstGeom prst="rect">
            <a:avLst/>
          </a:prstGeom>
          <a:noFill/>
          <a:ln>
            <a:noFill/>
          </a:ln>
        </p:spPr>
      </p:pic>
      <p:pic>
        <p:nvPicPr>
          <p:cNvPr descr="image.png" id="266" name="Google Shape;266;p21"/>
          <p:cNvPicPr preferRelativeResize="0"/>
          <p:nvPr/>
        </p:nvPicPr>
        <p:blipFill rotWithShape="1">
          <a:blip r:embed="rId7">
            <a:alphaModFix/>
          </a:blip>
          <a:srcRect b="0" l="0" r="0" t="0"/>
          <a:stretch/>
        </p:blipFill>
        <p:spPr>
          <a:xfrm>
            <a:off x="6167425" y="4398473"/>
            <a:ext cx="5453075" cy="2291500"/>
          </a:xfrm>
          <a:prstGeom prst="rect">
            <a:avLst/>
          </a:prstGeom>
          <a:noFill/>
          <a:ln>
            <a:noFill/>
          </a:ln>
        </p:spPr>
      </p:pic>
      <p:sp>
        <p:nvSpPr>
          <p:cNvPr id="267" name="Google Shape;267;p21"/>
          <p:cNvSpPr txBox="1"/>
          <p:nvPr/>
        </p:nvSpPr>
        <p:spPr>
          <a:xfrm>
            <a:off x="1190625" y="1495425"/>
            <a:ext cx="4576762"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Strengths</a:t>
            </a:r>
            <a:endParaRPr/>
          </a:p>
        </p:txBody>
      </p:sp>
      <p:sp>
        <p:nvSpPr>
          <p:cNvPr id="268" name="Google Shape;268;p21"/>
          <p:cNvSpPr txBox="1"/>
          <p:nvPr/>
        </p:nvSpPr>
        <p:spPr>
          <a:xfrm>
            <a:off x="6786562" y="1495425"/>
            <a:ext cx="4576762"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767676"/>
                </a:solidFill>
                <a:latin typeface="Open Sans"/>
                <a:ea typeface="Open Sans"/>
                <a:cs typeface="Open Sans"/>
                <a:sym typeface="Open Sans"/>
              </a:rPr>
              <a:t>Weaknesses</a:t>
            </a:r>
            <a:endParaRPr/>
          </a:p>
        </p:txBody>
      </p:sp>
      <p:sp>
        <p:nvSpPr>
          <p:cNvPr id="269" name="Google Shape;269;p21"/>
          <p:cNvSpPr txBox="1"/>
          <p:nvPr/>
        </p:nvSpPr>
        <p:spPr>
          <a:xfrm>
            <a:off x="1085850" y="4684216"/>
            <a:ext cx="4681537"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Opportunities</a:t>
            </a:r>
            <a:endParaRPr/>
          </a:p>
        </p:txBody>
      </p:sp>
      <p:sp>
        <p:nvSpPr>
          <p:cNvPr id="270" name="Google Shape;270;p21"/>
          <p:cNvSpPr txBox="1"/>
          <p:nvPr/>
        </p:nvSpPr>
        <p:spPr>
          <a:xfrm>
            <a:off x="6729412" y="4684216"/>
            <a:ext cx="4633912"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767676"/>
                </a:solidFill>
                <a:latin typeface="Open Sans"/>
                <a:ea typeface="Open Sans"/>
                <a:cs typeface="Open Sans"/>
                <a:sym typeface="Open Sans"/>
              </a:rPr>
              <a:t>Threats</a:t>
            </a:r>
            <a:endParaRPr/>
          </a:p>
        </p:txBody>
      </p:sp>
      <p:pic>
        <p:nvPicPr>
          <p:cNvPr descr="image.png" id="271" name="Google Shape;271;p21"/>
          <p:cNvPicPr preferRelativeResize="0"/>
          <p:nvPr/>
        </p:nvPicPr>
        <p:blipFill rotWithShape="1">
          <a:blip r:embed="rId8">
            <a:alphaModFix/>
          </a:blip>
          <a:srcRect b="0" l="0" r="0" t="0"/>
          <a:stretch/>
        </p:blipFill>
        <p:spPr>
          <a:xfrm>
            <a:off x="828675" y="1533525"/>
            <a:ext cx="266700" cy="209550"/>
          </a:xfrm>
          <a:prstGeom prst="rect">
            <a:avLst/>
          </a:prstGeom>
          <a:noFill/>
          <a:ln>
            <a:noFill/>
          </a:ln>
        </p:spPr>
      </p:pic>
      <p:sp>
        <p:nvSpPr>
          <p:cNvPr id="272" name="Google Shape;272;p21"/>
          <p:cNvSpPr txBox="1"/>
          <p:nvPr/>
        </p:nvSpPr>
        <p:spPr>
          <a:xfrm>
            <a:off x="1114425" y="1924050"/>
            <a:ext cx="46529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Innovative built-in spatial projector.</a:t>
            </a:r>
            <a:endParaRPr/>
          </a:p>
        </p:txBody>
      </p:sp>
      <p:sp>
        <p:nvSpPr>
          <p:cNvPr id="273" name="Google Shape;273;p21"/>
          <p:cNvSpPr txBox="1"/>
          <p:nvPr/>
        </p:nvSpPr>
        <p:spPr>
          <a:xfrm>
            <a:off x="1114425" y="2341215"/>
            <a:ext cx="4652962"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Seamless integration with Samsung SmartThings &amp; Tizen OS.</a:t>
            </a:r>
            <a:endParaRPr/>
          </a:p>
        </p:txBody>
      </p:sp>
      <p:sp>
        <p:nvSpPr>
          <p:cNvPr id="274" name="Google Shape;274;p21"/>
          <p:cNvSpPr txBox="1"/>
          <p:nvPr/>
        </p:nvSpPr>
        <p:spPr>
          <a:xfrm>
            <a:off x="1114425" y="3032670"/>
            <a:ext cx="46529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High brand equity &amp; trust in the Indian appliance market.</a:t>
            </a:r>
            <a:endParaRPr/>
          </a:p>
        </p:txBody>
      </p:sp>
      <p:sp>
        <p:nvSpPr>
          <p:cNvPr id="275" name="Google Shape;275;p21"/>
          <p:cNvSpPr txBox="1"/>
          <p:nvPr/>
        </p:nvSpPr>
        <p:spPr>
          <a:xfrm>
            <a:off x="1114425" y="3449835"/>
            <a:ext cx="46529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Advanced on-device AI and mobility (LiDAR/UWB).</a:t>
            </a:r>
            <a:endParaRPr/>
          </a:p>
        </p:txBody>
      </p:sp>
      <p:pic>
        <p:nvPicPr>
          <p:cNvPr descr="image.png" id="276" name="Google Shape;276;p21"/>
          <p:cNvPicPr preferRelativeResize="0"/>
          <p:nvPr/>
        </p:nvPicPr>
        <p:blipFill rotWithShape="1">
          <a:blip r:embed="rId9">
            <a:alphaModFix/>
          </a:blip>
          <a:srcRect b="0" l="0" r="0" t="0"/>
          <a:stretch/>
        </p:blipFill>
        <p:spPr>
          <a:xfrm>
            <a:off x="6424612" y="1533525"/>
            <a:ext cx="266700" cy="209550"/>
          </a:xfrm>
          <a:prstGeom prst="rect">
            <a:avLst/>
          </a:prstGeom>
          <a:noFill/>
          <a:ln>
            <a:noFill/>
          </a:ln>
        </p:spPr>
      </p:pic>
      <p:sp>
        <p:nvSpPr>
          <p:cNvPr id="277" name="Google Shape;277;p21"/>
          <p:cNvSpPr txBox="1"/>
          <p:nvPr/>
        </p:nvSpPr>
        <p:spPr>
          <a:xfrm>
            <a:off x="6710362" y="1924050"/>
            <a:ext cx="4652962"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Expected high premium pricing restricts mass-market adoption.</a:t>
            </a:r>
            <a:endParaRPr/>
          </a:p>
        </p:txBody>
      </p:sp>
      <p:sp>
        <p:nvSpPr>
          <p:cNvPr id="278" name="Google Shape;278;p21"/>
          <p:cNvSpPr txBox="1"/>
          <p:nvPr/>
        </p:nvSpPr>
        <p:spPr>
          <a:xfrm>
            <a:off x="6710362" y="2615505"/>
            <a:ext cx="4652962"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Privacy concerns regarding a roaming camera in Indian households.</a:t>
            </a:r>
            <a:endParaRPr/>
          </a:p>
        </p:txBody>
      </p:sp>
      <p:sp>
        <p:nvSpPr>
          <p:cNvPr id="279" name="Google Shape;279;p21"/>
          <p:cNvSpPr txBox="1"/>
          <p:nvPr/>
        </p:nvSpPr>
        <p:spPr>
          <a:xfrm>
            <a:off x="6710362" y="3306960"/>
            <a:ext cx="4652962"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Dependency on reliable, high-speed indoor Wi-Fi networks.</a:t>
            </a:r>
            <a:endParaRPr/>
          </a:p>
        </p:txBody>
      </p:sp>
      <p:pic>
        <p:nvPicPr>
          <p:cNvPr descr="image.png" id="280" name="Google Shape;280;p21"/>
          <p:cNvPicPr preferRelativeResize="0"/>
          <p:nvPr/>
        </p:nvPicPr>
        <p:blipFill rotWithShape="1">
          <a:blip r:embed="rId10">
            <a:alphaModFix/>
          </a:blip>
          <a:srcRect b="0" l="0" r="0" t="0"/>
          <a:stretch/>
        </p:blipFill>
        <p:spPr>
          <a:xfrm>
            <a:off x="828675" y="4722316"/>
            <a:ext cx="161925" cy="209550"/>
          </a:xfrm>
          <a:prstGeom prst="rect">
            <a:avLst/>
          </a:prstGeom>
          <a:noFill/>
          <a:ln>
            <a:noFill/>
          </a:ln>
        </p:spPr>
      </p:pic>
      <p:sp>
        <p:nvSpPr>
          <p:cNvPr id="281" name="Google Shape;281;p21"/>
          <p:cNvSpPr txBox="1"/>
          <p:nvPr/>
        </p:nvSpPr>
        <p:spPr>
          <a:xfrm>
            <a:off x="1114425" y="5112841"/>
            <a:ext cx="46529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Booming 30% CAGR in the Indian smart home sector.</a:t>
            </a:r>
            <a:endParaRPr/>
          </a:p>
        </p:txBody>
      </p:sp>
      <p:sp>
        <p:nvSpPr>
          <p:cNvPr id="282" name="Google Shape;282;p21"/>
          <p:cNvSpPr txBox="1"/>
          <p:nvPr/>
        </p:nvSpPr>
        <p:spPr>
          <a:xfrm>
            <a:off x="1114425" y="5530006"/>
            <a:ext cx="46529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Rising demand for pet tech and elderly care solutions.</a:t>
            </a:r>
            <a:endParaRPr/>
          </a:p>
        </p:txBody>
      </p:sp>
      <p:sp>
        <p:nvSpPr>
          <p:cNvPr id="283" name="Google Shape;283;p21"/>
          <p:cNvSpPr txBox="1"/>
          <p:nvPr/>
        </p:nvSpPr>
        <p:spPr>
          <a:xfrm>
            <a:off x="1114425" y="5947171"/>
            <a:ext cx="4652962"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Partnerships with premium real estate developers (PropTech).</a:t>
            </a:r>
            <a:endParaRPr/>
          </a:p>
        </p:txBody>
      </p:sp>
      <p:pic>
        <p:nvPicPr>
          <p:cNvPr descr="image.png" id="284" name="Google Shape;284;p21"/>
          <p:cNvPicPr preferRelativeResize="0"/>
          <p:nvPr/>
        </p:nvPicPr>
        <p:blipFill rotWithShape="1">
          <a:blip r:embed="rId11">
            <a:alphaModFix/>
          </a:blip>
          <a:srcRect b="0" l="0" r="0" t="0"/>
          <a:stretch/>
        </p:blipFill>
        <p:spPr>
          <a:xfrm>
            <a:off x="6424612" y="4722316"/>
            <a:ext cx="209550" cy="209550"/>
          </a:xfrm>
          <a:prstGeom prst="rect">
            <a:avLst/>
          </a:prstGeom>
          <a:noFill/>
          <a:ln>
            <a:noFill/>
          </a:ln>
        </p:spPr>
      </p:pic>
      <p:sp>
        <p:nvSpPr>
          <p:cNvPr id="285" name="Google Shape;285;p21"/>
          <p:cNvSpPr txBox="1"/>
          <p:nvPr/>
        </p:nvSpPr>
        <p:spPr>
          <a:xfrm>
            <a:off x="6710362" y="5112841"/>
            <a:ext cx="4652962"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Strong entrenchment of Amazon Alexa and Google Assistant ecosystems.</a:t>
            </a:r>
            <a:endParaRPr/>
          </a:p>
        </p:txBody>
      </p:sp>
      <p:sp>
        <p:nvSpPr>
          <p:cNvPr id="286" name="Google Shape;286;p21"/>
          <p:cNvSpPr txBox="1"/>
          <p:nvPr/>
        </p:nvSpPr>
        <p:spPr>
          <a:xfrm>
            <a:off x="6710362" y="5804296"/>
            <a:ext cx="46529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Invasion of cheaper, single-purpose smart home gadgets.</a:t>
            </a:r>
            <a:endParaRPr/>
          </a:p>
        </p:txBody>
      </p:sp>
      <p:sp>
        <p:nvSpPr>
          <p:cNvPr id="287" name="Google Shape;287;p21"/>
          <p:cNvSpPr txBox="1"/>
          <p:nvPr/>
        </p:nvSpPr>
        <p:spPr>
          <a:xfrm>
            <a:off x="6710362" y="6221462"/>
            <a:ext cx="46529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Rapid tech obsolescence requiring constant updates.</a:t>
            </a:r>
            <a:endParaRPr/>
          </a:p>
        </p:txBody>
      </p:sp>
      <p:sp>
        <p:nvSpPr>
          <p:cNvPr id="288" name="Google Shape;288;p21"/>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SWOT ANALYSIS: SAMSUNG BALLIE</a:t>
            </a:r>
            <a:endParaRPr/>
          </a:p>
        </p:txBody>
      </p:sp>
      <p:pic>
        <p:nvPicPr>
          <p:cNvPr descr="image.png" id="289" name="Google Shape;289;p21"/>
          <p:cNvPicPr preferRelativeResize="0"/>
          <p:nvPr/>
        </p:nvPicPr>
        <p:blipFill rotWithShape="1">
          <a:blip r:embed="rId12">
            <a:alphaModFix/>
          </a:blip>
          <a:srcRect b="0" l="0" r="0" t="0"/>
          <a:stretch/>
        </p:blipFill>
        <p:spPr>
          <a:xfrm>
            <a:off x="828675" y="1943100"/>
            <a:ext cx="104775" cy="180975"/>
          </a:xfrm>
          <a:prstGeom prst="rect">
            <a:avLst/>
          </a:prstGeom>
          <a:noFill/>
          <a:ln>
            <a:noFill/>
          </a:ln>
        </p:spPr>
      </p:pic>
      <p:pic>
        <p:nvPicPr>
          <p:cNvPr descr="image.png" id="290" name="Google Shape;290;p21"/>
          <p:cNvPicPr preferRelativeResize="0"/>
          <p:nvPr/>
        </p:nvPicPr>
        <p:blipFill rotWithShape="1">
          <a:blip r:embed="rId12">
            <a:alphaModFix/>
          </a:blip>
          <a:srcRect b="0" l="0" r="0" t="0"/>
          <a:stretch/>
        </p:blipFill>
        <p:spPr>
          <a:xfrm>
            <a:off x="828675" y="2360265"/>
            <a:ext cx="104775" cy="180975"/>
          </a:xfrm>
          <a:prstGeom prst="rect">
            <a:avLst/>
          </a:prstGeom>
          <a:noFill/>
          <a:ln>
            <a:noFill/>
          </a:ln>
        </p:spPr>
      </p:pic>
      <p:pic>
        <p:nvPicPr>
          <p:cNvPr descr="image.png" id="291" name="Google Shape;291;p21"/>
          <p:cNvPicPr preferRelativeResize="0"/>
          <p:nvPr/>
        </p:nvPicPr>
        <p:blipFill rotWithShape="1">
          <a:blip r:embed="rId12">
            <a:alphaModFix/>
          </a:blip>
          <a:srcRect b="0" l="0" r="0" t="0"/>
          <a:stretch/>
        </p:blipFill>
        <p:spPr>
          <a:xfrm>
            <a:off x="828675" y="3051720"/>
            <a:ext cx="104775" cy="180975"/>
          </a:xfrm>
          <a:prstGeom prst="rect">
            <a:avLst/>
          </a:prstGeom>
          <a:noFill/>
          <a:ln>
            <a:noFill/>
          </a:ln>
        </p:spPr>
      </p:pic>
      <p:pic>
        <p:nvPicPr>
          <p:cNvPr descr="image.png" id="292" name="Google Shape;292;p21"/>
          <p:cNvPicPr preferRelativeResize="0"/>
          <p:nvPr/>
        </p:nvPicPr>
        <p:blipFill rotWithShape="1">
          <a:blip r:embed="rId12">
            <a:alphaModFix/>
          </a:blip>
          <a:srcRect b="0" l="0" r="0" t="0"/>
          <a:stretch/>
        </p:blipFill>
        <p:spPr>
          <a:xfrm>
            <a:off x="828675" y="3468885"/>
            <a:ext cx="104775" cy="180975"/>
          </a:xfrm>
          <a:prstGeom prst="rect">
            <a:avLst/>
          </a:prstGeom>
          <a:noFill/>
          <a:ln>
            <a:noFill/>
          </a:ln>
        </p:spPr>
      </p:pic>
      <p:pic>
        <p:nvPicPr>
          <p:cNvPr descr="image.png" id="293" name="Google Shape;293;p21"/>
          <p:cNvPicPr preferRelativeResize="0"/>
          <p:nvPr/>
        </p:nvPicPr>
        <p:blipFill rotWithShape="1">
          <a:blip r:embed="rId12">
            <a:alphaModFix/>
          </a:blip>
          <a:srcRect b="0" l="0" r="0" t="0"/>
          <a:stretch/>
        </p:blipFill>
        <p:spPr>
          <a:xfrm>
            <a:off x="6424612" y="1943100"/>
            <a:ext cx="104775" cy="180975"/>
          </a:xfrm>
          <a:prstGeom prst="rect">
            <a:avLst/>
          </a:prstGeom>
          <a:noFill/>
          <a:ln>
            <a:noFill/>
          </a:ln>
        </p:spPr>
      </p:pic>
      <p:pic>
        <p:nvPicPr>
          <p:cNvPr descr="image.png" id="294" name="Google Shape;294;p21"/>
          <p:cNvPicPr preferRelativeResize="0"/>
          <p:nvPr/>
        </p:nvPicPr>
        <p:blipFill rotWithShape="1">
          <a:blip r:embed="rId12">
            <a:alphaModFix/>
          </a:blip>
          <a:srcRect b="0" l="0" r="0" t="0"/>
          <a:stretch/>
        </p:blipFill>
        <p:spPr>
          <a:xfrm>
            <a:off x="6424612" y="2634555"/>
            <a:ext cx="104775" cy="180975"/>
          </a:xfrm>
          <a:prstGeom prst="rect">
            <a:avLst/>
          </a:prstGeom>
          <a:noFill/>
          <a:ln>
            <a:noFill/>
          </a:ln>
        </p:spPr>
      </p:pic>
      <p:pic>
        <p:nvPicPr>
          <p:cNvPr descr="image.png" id="295" name="Google Shape;295;p21"/>
          <p:cNvPicPr preferRelativeResize="0"/>
          <p:nvPr/>
        </p:nvPicPr>
        <p:blipFill rotWithShape="1">
          <a:blip r:embed="rId12">
            <a:alphaModFix/>
          </a:blip>
          <a:srcRect b="0" l="0" r="0" t="0"/>
          <a:stretch/>
        </p:blipFill>
        <p:spPr>
          <a:xfrm>
            <a:off x="6424612" y="3326010"/>
            <a:ext cx="104775" cy="180975"/>
          </a:xfrm>
          <a:prstGeom prst="rect">
            <a:avLst/>
          </a:prstGeom>
          <a:noFill/>
          <a:ln>
            <a:noFill/>
          </a:ln>
        </p:spPr>
      </p:pic>
      <p:pic>
        <p:nvPicPr>
          <p:cNvPr descr="image.png" id="296" name="Google Shape;296;p21"/>
          <p:cNvPicPr preferRelativeResize="0"/>
          <p:nvPr/>
        </p:nvPicPr>
        <p:blipFill rotWithShape="1">
          <a:blip r:embed="rId12">
            <a:alphaModFix/>
          </a:blip>
          <a:srcRect b="0" l="0" r="0" t="0"/>
          <a:stretch/>
        </p:blipFill>
        <p:spPr>
          <a:xfrm>
            <a:off x="828675" y="5131891"/>
            <a:ext cx="104775" cy="180975"/>
          </a:xfrm>
          <a:prstGeom prst="rect">
            <a:avLst/>
          </a:prstGeom>
          <a:noFill/>
          <a:ln>
            <a:noFill/>
          </a:ln>
        </p:spPr>
      </p:pic>
      <p:pic>
        <p:nvPicPr>
          <p:cNvPr descr="image.png" id="297" name="Google Shape;297;p21"/>
          <p:cNvPicPr preferRelativeResize="0"/>
          <p:nvPr/>
        </p:nvPicPr>
        <p:blipFill rotWithShape="1">
          <a:blip r:embed="rId12">
            <a:alphaModFix/>
          </a:blip>
          <a:srcRect b="0" l="0" r="0" t="0"/>
          <a:stretch/>
        </p:blipFill>
        <p:spPr>
          <a:xfrm>
            <a:off x="828675" y="5549056"/>
            <a:ext cx="104775" cy="180975"/>
          </a:xfrm>
          <a:prstGeom prst="rect">
            <a:avLst/>
          </a:prstGeom>
          <a:noFill/>
          <a:ln>
            <a:noFill/>
          </a:ln>
        </p:spPr>
      </p:pic>
      <p:pic>
        <p:nvPicPr>
          <p:cNvPr descr="image.png" id="298" name="Google Shape;298;p21"/>
          <p:cNvPicPr preferRelativeResize="0"/>
          <p:nvPr/>
        </p:nvPicPr>
        <p:blipFill rotWithShape="1">
          <a:blip r:embed="rId12">
            <a:alphaModFix/>
          </a:blip>
          <a:srcRect b="0" l="0" r="0" t="0"/>
          <a:stretch/>
        </p:blipFill>
        <p:spPr>
          <a:xfrm>
            <a:off x="828675" y="5966221"/>
            <a:ext cx="104775" cy="180975"/>
          </a:xfrm>
          <a:prstGeom prst="rect">
            <a:avLst/>
          </a:prstGeom>
          <a:noFill/>
          <a:ln>
            <a:noFill/>
          </a:ln>
        </p:spPr>
      </p:pic>
      <p:pic>
        <p:nvPicPr>
          <p:cNvPr descr="image.png" id="299" name="Google Shape;299;p21"/>
          <p:cNvPicPr preferRelativeResize="0"/>
          <p:nvPr/>
        </p:nvPicPr>
        <p:blipFill rotWithShape="1">
          <a:blip r:embed="rId12">
            <a:alphaModFix/>
          </a:blip>
          <a:srcRect b="0" l="0" r="0" t="0"/>
          <a:stretch/>
        </p:blipFill>
        <p:spPr>
          <a:xfrm>
            <a:off x="6424612" y="5131891"/>
            <a:ext cx="104775" cy="180975"/>
          </a:xfrm>
          <a:prstGeom prst="rect">
            <a:avLst/>
          </a:prstGeom>
          <a:noFill/>
          <a:ln>
            <a:noFill/>
          </a:ln>
        </p:spPr>
      </p:pic>
      <p:pic>
        <p:nvPicPr>
          <p:cNvPr descr="image.png" id="300" name="Google Shape;300;p21"/>
          <p:cNvPicPr preferRelativeResize="0"/>
          <p:nvPr/>
        </p:nvPicPr>
        <p:blipFill rotWithShape="1">
          <a:blip r:embed="rId12">
            <a:alphaModFix/>
          </a:blip>
          <a:srcRect b="0" l="0" r="0" t="0"/>
          <a:stretch/>
        </p:blipFill>
        <p:spPr>
          <a:xfrm>
            <a:off x="6424612" y="5823346"/>
            <a:ext cx="104775" cy="180975"/>
          </a:xfrm>
          <a:prstGeom prst="rect">
            <a:avLst/>
          </a:prstGeom>
          <a:noFill/>
          <a:ln>
            <a:noFill/>
          </a:ln>
        </p:spPr>
      </p:pic>
      <p:pic>
        <p:nvPicPr>
          <p:cNvPr descr="image.png" id="301" name="Google Shape;301;p21"/>
          <p:cNvPicPr preferRelativeResize="0"/>
          <p:nvPr/>
        </p:nvPicPr>
        <p:blipFill rotWithShape="1">
          <a:blip r:embed="rId12">
            <a:alphaModFix/>
          </a:blip>
          <a:srcRect b="0" l="0" r="0" t="0"/>
          <a:stretch/>
        </p:blipFill>
        <p:spPr>
          <a:xfrm>
            <a:off x="6424612" y="6240512"/>
            <a:ext cx="104775" cy="180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pic>
        <p:nvPicPr>
          <p:cNvPr descr="image.png" id="306" name="Google Shape;306;p22"/>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307" name="Google Shape;307;p22"/>
          <p:cNvGraphicFramePr/>
          <p:nvPr/>
        </p:nvGraphicFramePr>
        <p:xfrm>
          <a:off x="571500" y="1400175"/>
          <a:ext cx="3000000" cy="3000000"/>
        </p:xfrm>
        <a:graphic>
          <a:graphicData uri="http://schemas.openxmlformats.org/drawingml/2006/table">
            <a:tbl>
              <a:tblPr bandRow="1" firstRow="1">
                <a:noFill/>
                <a:tableStyleId>{14745850-5646-438E-9981-D9D449FCAEBE}</a:tableStyleId>
              </a:tblPr>
              <a:tblGrid>
                <a:gridCol w="1957525"/>
                <a:gridCol w="1892500"/>
                <a:gridCol w="3565475"/>
                <a:gridCol w="3633500"/>
              </a:tblGrid>
              <a:tr h="825575">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Competitor Profile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Product / Service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Strengths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Weaknesses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r>
              <a:tr h="82557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Direct: Amazon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Echo Show 10 / Astro (US)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Massive ecosystem, low price point, deep market penetration.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Stationary (Echo), limited physical utility, screen-dependent.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2557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Direct: Google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Nest Hub Max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Superior voice AI, search integration, affordability.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Stationary, lacks physical roaming and projector capabilities.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r>
              <a:tr h="82557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Direct: Apple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HomePod Ecosystem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High privacy standards, premium build, walled garden lock-in.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Highly restrictive ecosystem, no visual UI/mobility.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2557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Indirect: Xiaomi / IRobot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Robotic Vacuums / CCTVs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Highly functional chore completion, budget-friendly.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Single-purpose, lacks personality and AI companionship.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r>
            </a:tbl>
          </a:graphicData>
        </a:graphic>
      </p:graphicFrame>
      <p:sp>
        <p:nvSpPr>
          <p:cNvPr id="308" name="Google Shape;308;p22"/>
          <p:cNvSpPr/>
          <p:nvPr/>
        </p:nvSpPr>
        <p:spPr>
          <a:xfrm>
            <a:off x="571500" y="2062162"/>
            <a:ext cx="1957536"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2"/>
          <p:cNvSpPr/>
          <p:nvPr/>
        </p:nvSpPr>
        <p:spPr>
          <a:xfrm>
            <a:off x="2529036" y="2062162"/>
            <a:ext cx="189249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2"/>
          <p:cNvSpPr/>
          <p:nvPr/>
        </p:nvSpPr>
        <p:spPr>
          <a:xfrm>
            <a:off x="4421534" y="2062162"/>
            <a:ext cx="356547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2"/>
          <p:cNvSpPr/>
          <p:nvPr/>
        </p:nvSpPr>
        <p:spPr>
          <a:xfrm>
            <a:off x="7987010" y="2062162"/>
            <a:ext cx="363348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2"/>
          <p:cNvSpPr/>
          <p:nvPr/>
        </p:nvSpPr>
        <p:spPr>
          <a:xfrm>
            <a:off x="571500" y="2925067"/>
            <a:ext cx="1957536"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2"/>
          <p:cNvSpPr/>
          <p:nvPr/>
        </p:nvSpPr>
        <p:spPr>
          <a:xfrm>
            <a:off x="2529036" y="2925067"/>
            <a:ext cx="189249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2"/>
          <p:cNvSpPr/>
          <p:nvPr/>
        </p:nvSpPr>
        <p:spPr>
          <a:xfrm>
            <a:off x="4421534" y="2925067"/>
            <a:ext cx="356547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22"/>
          <p:cNvSpPr/>
          <p:nvPr/>
        </p:nvSpPr>
        <p:spPr>
          <a:xfrm>
            <a:off x="7987010" y="2925067"/>
            <a:ext cx="363348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22"/>
          <p:cNvSpPr/>
          <p:nvPr/>
        </p:nvSpPr>
        <p:spPr>
          <a:xfrm>
            <a:off x="571500" y="3787973"/>
            <a:ext cx="1957536"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2"/>
          <p:cNvSpPr/>
          <p:nvPr/>
        </p:nvSpPr>
        <p:spPr>
          <a:xfrm>
            <a:off x="2529036" y="3787973"/>
            <a:ext cx="189249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22"/>
          <p:cNvSpPr/>
          <p:nvPr/>
        </p:nvSpPr>
        <p:spPr>
          <a:xfrm>
            <a:off x="4421534" y="3787973"/>
            <a:ext cx="356547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2"/>
          <p:cNvSpPr/>
          <p:nvPr/>
        </p:nvSpPr>
        <p:spPr>
          <a:xfrm>
            <a:off x="7987010" y="3787973"/>
            <a:ext cx="363348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2"/>
          <p:cNvSpPr/>
          <p:nvPr/>
        </p:nvSpPr>
        <p:spPr>
          <a:xfrm>
            <a:off x="571500" y="4650878"/>
            <a:ext cx="1957536"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2"/>
          <p:cNvSpPr/>
          <p:nvPr/>
        </p:nvSpPr>
        <p:spPr>
          <a:xfrm>
            <a:off x="2529036" y="4650878"/>
            <a:ext cx="189249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22"/>
          <p:cNvSpPr/>
          <p:nvPr/>
        </p:nvSpPr>
        <p:spPr>
          <a:xfrm>
            <a:off x="4421534" y="4650878"/>
            <a:ext cx="356547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22"/>
          <p:cNvSpPr/>
          <p:nvPr/>
        </p:nvSpPr>
        <p:spPr>
          <a:xfrm>
            <a:off x="7987010" y="4650878"/>
            <a:ext cx="363348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22"/>
          <p:cNvSpPr/>
          <p:nvPr/>
        </p:nvSpPr>
        <p:spPr>
          <a:xfrm>
            <a:off x="571500" y="5513784"/>
            <a:ext cx="1957536"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22"/>
          <p:cNvSpPr/>
          <p:nvPr/>
        </p:nvSpPr>
        <p:spPr>
          <a:xfrm>
            <a:off x="2529036" y="5513784"/>
            <a:ext cx="189249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2"/>
          <p:cNvSpPr/>
          <p:nvPr/>
        </p:nvSpPr>
        <p:spPr>
          <a:xfrm>
            <a:off x="4421534" y="5513784"/>
            <a:ext cx="356547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22"/>
          <p:cNvSpPr/>
          <p:nvPr/>
        </p:nvSpPr>
        <p:spPr>
          <a:xfrm>
            <a:off x="7987010" y="5513784"/>
            <a:ext cx="363348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22"/>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COMPETITIVE ANALYSIS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4" name="Google Shape;334;p23"/>
          <p:cNvPicPr preferRelativeResize="0"/>
          <p:nvPr/>
        </p:nvPicPr>
        <p:blipFill rotWithShape="1">
          <a:blip r:embed="rId4">
            <a:alphaModFix/>
          </a:blip>
          <a:srcRect b="0" l="0" r="0" t="0"/>
          <a:stretch/>
        </p:blipFill>
        <p:spPr>
          <a:xfrm>
            <a:off x="571500" y="1747837"/>
            <a:ext cx="11049000" cy="4286250"/>
          </a:xfrm>
          <a:prstGeom prst="rect">
            <a:avLst/>
          </a:prstGeom>
          <a:noFill/>
          <a:ln>
            <a:noFill/>
          </a:ln>
        </p:spPr>
      </p:pic>
      <p:pic>
        <p:nvPicPr>
          <p:cNvPr descr="image.png" id="335" name="Google Shape;335;p23"/>
          <p:cNvPicPr preferRelativeResize="0"/>
          <p:nvPr/>
        </p:nvPicPr>
        <p:blipFill rotWithShape="1">
          <a:blip r:embed="rId5">
            <a:alphaModFix/>
          </a:blip>
          <a:srcRect b="0" l="0" r="0" t="0"/>
          <a:stretch/>
        </p:blipFill>
        <p:spPr>
          <a:xfrm>
            <a:off x="9153525" y="2162175"/>
            <a:ext cx="1619250" cy="457200"/>
          </a:xfrm>
          <a:prstGeom prst="rect">
            <a:avLst/>
          </a:prstGeom>
          <a:noFill/>
          <a:ln>
            <a:noFill/>
          </a:ln>
        </p:spPr>
      </p:pic>
      <p:pic>
        <p:nvPicPr>
          <p:cNvPr descr="image.png" id="336" name="Google Shape;336;p23"/>
          <p:cNvPicPr preferRelativeResize="0"/>
          <p:nvPr/>
        </p:nvPicPr>
        <p:blipFill rotWithShape="1">
          <a:blip r:embed="rId6">
            <a:alphaModFix/>
          </a:blip>
          <a:srcRect b="0" l="0" r="0" t="0"/>
          <a:stretch/>
        </p:blipFill>
        <p:spPr>
          <a:xfrm>
            <a:off x="3662362" y="2847975"/>
            <a:ext cx="1552575" cy="371475"/>
          </a:xfrm>
          <a:prstGeom prst="rect">
            <a:avLst/>
          </a:prstGeom>
          <a:noFill/>
          <a:ln>
            <a:noFill/>
          </a:ln>
        </p:spPr>
      </p:pic>
      <p:pic>
        <p:nvPicPr>
          <p:cNvPr descr="image.png" id="337" name="Google Shape;337;p23"/>
          <p:cNvPicPr preferRelativeResize="0"/>
          <p:nvPr/>
        </p:nvPicPr>
        <p:blipFill rotWithShape="1">
          <a:blip r:embed="rId7">
            <a:alphaModFix/>
          </a:blip>
          <a:srcRect b="0" l="0" r="0" t="0"/>
          <a:stretch/>
        </p:blipFill>
        <p:spPr>
          <a:xfrm>
            <a:off x="4291012" y="3062287"/>
            <a:ext cx="1400175" cy="371475"/>
          </a:xfrm>
          <a:prstGeom prst="rect">
            <a:avLst/>
          </a:prstGeom>
          <a:noFill/>
          <a:ln>
            <a:noFill/>
          </a:ln>
        </p:spPr>
      </p:pic>
      <p:pic>
        <p:nvPicPr>
          <p:cNvPr descr="image.png" id="338" name="Google Shape;338;p23"/>
          <p:cNvPicPr preferRelativeResize="0"/>
          <p:nvPr/>
        </p:nvPicPr>
        <p:blipFill rotWithShape="1">
          <a:blip r:embed="rId8">
            <a:alphaModFix/>
          </a:blip>
          <a:srcRect b="0" l="0" r="0" t="0"/>
          <a:stretch/>
        </p:blipFill>
        <p:spPr>
          <a:xfrm>
            <a:off x="2662237" y="3919537"/>
            <a:ext cx="1343025" cy="371475"/>
          </a:xfrm>
          <a:prstGeom prst="rect">
            <a:avLst/>
          </a:prstGeom>
          <a:noFill/>
          <a:ln>
            <a:noFill/>
          </a:ln>
        </p:spPr>
      </p:pic>
      <p:pic>
        <p:nvPicPr>
          <p:cNvPr descr="image.png" id="339" name="Google Shape;339;p23"/>
          <p:cNvPicPr preferRelativeResize="0"/>
          <p:nvPr/>
        </p:nvPicPr>
        <p:blipFill rotWithShape="1">
          <a:blip r:embed="rId9">
            <a:alphaModFix/>
          </a:blip>
          <a:srcRect b="0" l="0" r="0" t="0"/>
          <a:stretch/>
        </p:blipFill>
        <p:spPr>
          <a:xfrm>
            <a:off x="7877175" y="5205412"/>
            <a:ext cx="1962150" cy="371475"/>
          </a:xfrm>
          <a:prstGeom prst="rect">
            <a:avLst/>
          </a:prstGeom>
          <a:noFill/>
          <a:ln>
            <a:noFill/>
          </a:ln>
        </p:spPr>
      </p:pic>
      <p:pic>
        <p:nvPicPr>
          <p:cNvPr descr="image.png" id="340" name="Google Shape;340;p23"/>
          <p:cNvPicPr preferRelativeResize="0"/>
          <p:nvPr/>
        </p:nvPicPr>
        <p:blipFill rotWithShape="1">
          <a:blip r:embed="rId10">
            <a:alphaModFix/>
          </a:blip>
          <a:srcRect b="0" l="0" r="0" t="0"/>
          <a:stretch/>
        </p:blipFill>
        <p:spPr>
          <a:xfrm>
            <a:off x="1695450" y="5419725"/>
            <a:ext cx="1066800" cy="371475"/>
          </a:xfrm>
          <a:prstGeom prst="rect">
            <a:avLst/>
          </a:prstGeom>
          <a:noFill/>
          <a:ln>
            <a:noFill/>
          </a:ln>
        </p:spPr>
      </p:pic>
      <p:sp>
        <p:nvSpPr>
          <p:cNvPr id="341" name="Google Shape;341;p23"/>
          <p:cNvSpPr/>
          <p:nvPr/>
        </p:nvSpPr>
        <p:spPr>
          <a:xfrm>
            <a:off x="6096000" y="1747837"/>
            <a:ext cx="19050" cy="4286250"/>
          </a:xfrm>
          <a:prstGeom prst="rect">
            <a:avLst/>
          </a:prstGeom>
          <a:solidFill>
            <a:srgbClr val="76767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3"/>
          <p:cNvSpPr/>
          <p:nvPr/>
        </p:nvSpPr>
        <p:spPr>
          <a:xfrm>
            <a:off x="571500" y="3890962"/>
            <a:ext cx="11049000" cy="19050"/>
          </a:xfrm>
          <a:prstGeom prst="rect">
            <a:avLst/>
          </a:prstGeom>
          <a:solidFill>
            <a:srgbClr val="76767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3"/>
          <p:cNvSpPr txBox="1"/>
          <p:nvPr/>
        </p:nvSpPr>
        <p:spPr>
          <a:xfrm>
            <a:off x="6206430" y="1843087"/>
            <a:ext cx="2733675"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121212"/>
                </a:solidFill>
                <a:latin typeface="Open Sans SemiBold"/>
                <a:ea typeface="Open Sans SemiBold"/>
                <a:cs typeface="Open Sans SemiBold"/>
                <a:sym typeface="Open Sans SemiBold"/>
              </a:rPr>
              <a:t>High Human Interaction / Companionship</a:t>
            </a:r>
            <a:endParaRPr/>
          </a:p>
        </p:txBody>
      </p:sp>
      <p:sp>
        <p:nvSpPr>
          <p:cNvPr id="344" name="Google Shape;344;p23"/>
          <p:cNvSpPr txBox="1"/>
          <p:nvPr/>
        </p:nvSpPr>
        <p:spPr>
          <a:xfrm>
            <a:off x="6206430" y="5757862"/>
            <a:ext cx="20574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121212"/>
                </a:solidFill>
                <a:latin typeface="Open Sans SemiBold"/>
                <a:ea typeface="Open Sans SemiBold"/>
                <a:cs typeface="Open Sans SemiBold"/>
                <a:sym typeface="Open Sans SemiBold"/>
              </a:rPr>
              <a:t>Low Human Interaction (Utility)</a:t>
            </a:r>
            <a:endParaRPr/>
          </a:p>
        </p:txBody>
      </p:sp>
      <p:sp>
        <p:nvSpPr>
          <p:cNvPr id="345" name="Google Shape;345;p23"/>
          <p:cNvSpPr txBox="1"/>
          <p:nvPr/>
        </p:nvSpPr>
        <p:spPr>
          <a:xfrm>
            <a:off x="9810750" y="3933825"/>
            <a:ext cx="17145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121212"/>
                </a:solidFill>
                <a:latin typeface="Open Sans SemiBold"/>
                <a:ea typeface="Open Sans SemiBold"/>
                <a:cs typeface="Open Sans SemiBold"/>
                <a:sym typeface="Open Sans SemiBold"/>
              </a:rPr>
              <a:t>High Innovation / Mobility</a:t>
            </a:r>
            <a:endParaRPr/>
          </a:p>
        </p:txBody>
      </p:sp>
      <p:sp>
        <p:nvSpPr>
          <p:cNvPr id="346" name="Google Shape;346;p23"/>
          <p:cNvSpPr txBox="1"/>
          <p:nvPr/>
        </p:nvSpPr>
        <p:spPr>
          <a:xfrm>
            <a:off x="97800" y="3729238"/>
            <a:ext cx="1524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121212"/>
                </a:solidFill>
                <a:latin typeface="Open Sans SemiBold"/>
                <a:ea typeface="Open Sans SemiBold"/>
                <a:cs typeface="Open Sans SemiBold"/>
                <a:sym typeface="Open Sans SemiBold"/>
              </a:rPr>
              <a:t>Stationary / Traditional</a:t>
            </a:r>
            <a:endParaRPr/>
          </a:p>
        </p:txBody>
      </p:sp>
      <p:sp>
        <p:nvSpPr>
          <p:cNvPr id="347" name="Google Shape;347;p23"/>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PERCEPTUAL POSITIONING MAP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pic>
        <p:nvPicPr>
          <p:cNvPr descr="image.png" id="352" name="Google Shape;352;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53" name="Google Shape;353;p24"/>
          <p:cNvPicPr preferRelativeResize="0"/>
          <p:nvPr/>
        </p:nvPicPr>
        <p:blipFill rotWithShape="1">
          <a:blip r:embed="rId4">
            <a:alphaModFix/>
          </a:blip>
          <a:srcRect b="0" l="0" r="0" t="0"/>
          <a:stretch/>
        </p:blipFill>
        <p:spPr>
          <a:xfrm>
            <a:off x="571500" y="1209675"/>
            <a:ext cx="3524250" cy="3808065"/>
          </a:xfrm>
          <a:prstGeom prst="rect">
            <a:avLst/>
          </a:prstGeom>
          <a:noFill/>
          <a:ln>
            <a:noFill/>
          </a:ln>
        </p:spPr>
      </p:pic>
      <p:pic>
        <p:nvPicPr>
          <p:cNvPr descr="image.png" id="354" name="Google Shape;354;p24"/>
          <p:cNvPicPr preferRelativeResize="0"/>
          <p:nvPr/>
        </p:nvPicPr>
        <p:blipFill rotWithShape="1">
          <a:blip r:embed="rId5">
            <a:alphaModFix/>
          </a:blip>
          <a:srcRect b="0" l="0" r="0" t="0"/>
          <a:stretch/>
        </p:blipFill>
        <p:spPr>
          <a:xfrm>
            <a:off x="4333875" y="1209675"/>
            <a:ext cx="3524250" cy="3808065"/>
          </a:xfrm>
          <a:prstGeom prst="rect">
            <a:avLst/>
          </a:prstGeom>
          <a:noFill/>
          <a:ln>
            <a:noFill/>
          </a:ln>
        </p:spPr>
      </p:pic>
      <p:pic>
        <p:nvPicPr>
          <p:cNvPr descr="image.png" id="355" name="Google Shape;355;p24"/>
          <p:cNvPicPr preferRelativeResize="0"/>
          <p:nvPr/>
        </p:nvPicPr>
        <p:blipFill rotWithShape="1">
          <a:blip r:embed="rId5">
            <a:alphaModFix/>
          </a:blip>
          <a:srcRect b="0" l="0" r="0" t="0"/>
          <a:stretch/>
        </p:blipFill>
        <p:spPr>
          <a:xfrm>
            <a:off x="8096250" y="1209675"/>
            <a:ext cx="3524250" cy="3808065"/>
          </a:xfrm>
          <a:prstGeom prst="rect">
            <a:avLst/>
          </a:prstGeom>
          <a:noFill/>
          <a:ln>
            <a:noFill/>
          </a:ln>
        </p:spPr>
      </p:pic>
      <p:pic>
        <p:nvPicPr>
          <p:cNvPr descr="image.png" id="356" name="Google Shape;356;p24"/>
          <p:cNvPicPr preferRelativeResize="0"/>
          <p:nvPr/>
        </p:nvPicPr>
        <p:blipFill rotWithShape="1">
          <a:blip r:embed="rId6">
            <a:alphaModFix/>
          </a:blip>
          <a:srcRect b="0" l="0" r="0" t="0"/>
          <a:stretch/>
        </p:blipFill>
        <p:spPr>
          <a:xfrm>
            <a:off x="1762125" y="1533525"/>
            <a:ext cx="1143000" cy="1143000"/>
          </a:xfrm>
          <a:prstGeom prst="rect">
            <a:avLst/>
          </a:prstGeom>
          <a:noFill/>
          <a:ln>
            <a:noFill/>
          </a:ln>
        </p:spPr>
      </p:pic>
      <p:pic>
        <p:nvPicPr>
          <p:cNvPr descr="image.png" id="357" name="Google Shape;357;p24"/>
          <p:cNvPicPr preferRelativeResize="0"/>
          <p:nvPr/>
        </p:nvPicPr>
        <p:blipFill rotWithShape="1">
          <a:blip r:embed="rId7">
            <a:alphaModFix/>
          </a:blip>
          <a:srcRect b="0" l="0" r="0" t="0"/>
          <a:stretch/>
        </p:blipFill>
        <p:spPr>
          <a:xfrm>
            <a:off x="5524500" y="1533525"/>
            <a:ext cx="1143000" cy="1143000"/>
          </a:xfrm>
          <a:prstGeom prst="rect">
            <a:avLst/>
          </a:prstGeom>
          <a:noFill/>
          <a:ln>
            <a:noFill/>
          </a:ln>
        </p:spPr>
      </p:pic>
      <p:pic>
        <p:nvPicPr>
          <p:cNvPr descr="image.png" id="358" name="Google Shape;358;p24"/>
          <p:cNvPicPr preferRelativeResize="0"/>
          <p:nvPr/>
        </p:nvPicPr>
        <p:blipFill rotWithShape="1">
          <a:blip r:embed="rId8">
            <a:alphaModFix/>
          </a:blip>
          <a:srcRect b="0" l="0" r="0" t="0"/>
          <a:stretch/>
        </p:blipFill>
        <p:spPr>
          <a:xfrm>
            <a:off x="9286875" y="1533525"/>
            <a:ext cx="1143000" cy="1143000"/>
          </a:xfrm>
          <a:prstGeom prst="rect">
            <a:avLst/>
          </a:prstGeom>
          <a:noFill/>
          <a:ln>
            <a:noFill/>
          </a:ln>
        </p:spPr>
      </p:pic>
      <p:sp>
        <p:nvSpPr>
          <p:cNvPr id="359" name="Google Shape;359;p24"/>
          <p:cNvSpPr txBox="1"/>
          <p:nvPr/>
        </p:nvSpPr>
        <p:spPr>
          <a:xfrm>
            <a:off x="783431" y="2867025"/>
            <a:ext cx="310038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Core Product</a:t>
            </a:r>
            <a:endParaRPr/>
          </a:p>
        </p:txBody>
      </p:sp>
      <p:sp>
        <p:nvSpPr>
          <p:cNvPr id="360" name="Google Shape;360;p24"/>
          <p:cNvSpPr txBox="1"/>
          <p:nvPr/>
        </p:nvSpPr>
        <p:spPr>
          <a:xfrm>
            <a:off x="857250" y="3257550"/>
            <a:ext cx="295275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Peace of Mind &amp; Convenience</a:t>
            </a:r>
            <a:endParaRPr/>
          </a:p>
        </p:txBody>
      </p:sp>
      <p:sp>
        <p:nvSpPr>
          <p:cNvPr id="361" name="Google Shape;361;p24"/>
          <p:cNvSpPr txBox="1"/>
          <p:nvPr/>
        </p:nvSpPr>
        <p:spPr>
          <a:xfrm>
            <a:off x="857250" y="3674715"/>
            <a:ext cx="295275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767676"/>
                </a:solidFill>
                <a:latin typeface="Open Sans"/>
                <a:ea typeface="Open Sans"/>
                <a:cs typeface="Open Sans"/>
                <a:sym typeface="Open Sans"/>
              </a:rPr>
              <a:t>The fundamental benefit. Users are buying seamless home management, security reassurance, and an enhanced lifestyle without manual effort.</a:t>
            </a:r>
            <a:endParaRPr/>
          </a:p>
        </p:txBody>
      </p:sp>
      <p:sp>
        <p:nvSpPr>
          <p:cNvPr id="362" name="Google Shape;362;p24"/>
          <p:cNvSpPr txBox="1"/>
          <p:nvPr/>
        </p:nvSpPr>
        <p:spPr>
          <a:xfrm>
            <a:off x="4545806" y="2867025"/>
            <a:ext cx="310038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Actual Product</a:t>
            </a:r>
            <a:endParaRPr/>
          </a:p>
        </p:txBody>
      </p:sp>
      <p:sp>
        <p:nvSpPr>
          <p:cNvPr id="363" name="Google Shape;363;p24"/>
          <p:cNvSpPr txBox="1"/>
          <p:nvPr/>
        </p:nvSpPr>
        <p:spPr>
          <a:xfrm>
            <a:off x="4619625" y="3257550"/>
            <a:ext cx="295275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Ballie Hardware &amp; Tizen OS</a:t>
            </a:r>
            <a:endParaRPr/>
          </a:p>
        </p:txBody>
      </p:sp>
      <p:sp>
        <p:nvSpPr>
          <p:cNvPr id="364" name="Google Shape;364;p24"/>
          <p:cNvSpPr txBox="1"/>
          <p:nvPr/>
        </p:nvSpPr>
        <p:spPr>
          <a:xfrm>
            <a:off x="4619625" y="3674715"/>
            <a:ext cx="295275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767676"/>
                </a:solidFill>
                <a:latin typeface="Open Sans"/>
                <a:ea typeface="Open Sans"/>
                <a:cs typeface="Open Sans"/>
                <a:sym typeface="Open Sans"/>
              </a:rPr>
              <a:t>The physical rolling robot, 1080p spatial projector, LiDAR/UWB sensors, cameras, microphones, and the Tizen-powered SmartThings UI.</a:t>
            </a:r>
            <a:endParaRPr/>
          </a:p>
        </p:txBody>
      </p:sp>
      <p:sp>
        <p:nvSpPr>
          <p:cNvPr id="365" name="Google Shape;365;p24"/>
          <p:cNvSpPr txBox="1"/>
          <p:nvPr/>
        </p:nvSpPr>
        <p:spPr>
          <a:xfrm>
            <a:off x="8308181" y="2867025"/>
            <a:ext cx="310038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Augmented Product</a:t>
            </a:r>
            <a:endParaRPr/>
          </a:p>
        </p:txBody>
      </p:sp>
      <p:sp>
        <p:nvSpPr>
          <p:cNvPr id="366" name="Google Shape;366;p24"/>
          <p:cNvSpPr txBox="1"/>
          <p:nvPr/>
        </p:nvSpPr>
        <p:spPr>
          <a:xfrm>
            <a:off x="8382000" y="3257550"/>
            <a:ext cx="295275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Ecosystem &amp; Support</a:t>
            </a:r>
            <a:endParaRPr/>
          </a:p>
        </p:txBody>
      </p:sp>
      <p:sp>
        <p:nvSpPr>
          <p:cNvPr id="367" name="Google Shape;367;p24"/>
          <p:cNvSpPr txBox="1"/>
          <p:nvPr/>
        </p:nvSpPr>
        <p:spPr>
          <a:xfrm>
            <a:off x="8382000" y="3674715"/>
            <a:ext cx="2952750" cy="685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767676"/>
                </a:solidFill>
                <a:latin typeface="Open Sans"/>
                <a:ea typeface="Open Sans"/>
                <a:cs typeface="Open Sans"/>
                <a:sym typeface="Open Sans"/>
              </a:rPr>
              <a:t>Samsung Care+ warranty, continuous OTA AI firmware updates, integration with Galaxy wearables, and 24/7 customer support.</a:t>
            </a:r>
            <a:endParaRPr/>
          </a:p>
        </p:txBody>
      </p:sp>
      <p:sp>
        <p:nvSpPr>
          <p:cNvPr id="368" name="Google Shape;368;p24"/>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PRODUCT OFFERING: THE THREE LEVELS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pic>
        <p:nvPicPr>
          <p:cNvPr descr="image.png" id="373" name="Google Shape;373;p2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374" name="Google Shape;374;p25"/>
          <p:cNvGrpSpPr/>
          <p:nvPr/>
        </p:nvGrpSpPr>
        <p:grpSpPr>
          <a:xfrm>
            <a:off x="1809750" y="1714500"/>
            <a:ext cx="9382125" cy="3238500"/>
            <a:chOff x="1809750" y="1714500"/>
            <a:chExt cx="9382125" cy="3238500"/>
          </a:xfrm>
        </p:grpSpPr>
        <p:sp>
          <p:nvSpPr>
            <p:cNvPr id="375" name="Google Shape;375;p25"/>
            <p:cNvSpPr/>
            <p:nvPr/>
          </p:nvSpPr>
          <p:spPr>
            <a:xfrm>
              <a:off x="4095750" y="1714500"/>
              <a:ext cx="4000500" cy="571500"/>
            </a:xfrm>
            <a:prstGeom prst="roundRect">
              <a:avLst>
                <a:gd fmla="val 13333" name="adj"/>
              </a:avLst>
            </a:prstGeom>
            <a:solidFill>
              <a:srgbClr val="00A3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5"/>
            <p:cNvSpPr txBox="1"/>
            <p:nvPr/>
          </p:nvSpPr>
          <p:spPr>
            <a:xfrm>
              <a:off x="4095750" y="1714500"/>
              <a:ext cx="4000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00">
                  <a:solidFill>
                    <a:srgbClr val="FFFFFF"/>
                  </a:solidFill>
                  <a:latin typeface="Open Sans ExtraBold"/>
                  <a:ea typeface="Open Sans ExtraBold"/>
                  <a:cs typeface="Open Sans ExtraBold"/>
                  <a:sym typeface="Open Sans ExtraBold"/>
                </a:rPr>
                <a:t>Potential Product</a:t>
              </a:r>
              <a:endParaRPr sz="1200">
                <a:solidFill>
                  <a:srgbClr val="FFFFFF"/>
                </a:solidFill>
                <a:latin typeface="Open Sans"/>
                <a:ea typeface="Open Sans"/>
                <a:cs typeface="Open Sans"/>
                <a:sym typeface="Open Sans"/>
              </a:endParaRPr>
            </a:p>
            <a:p>
              <a:pPr indent="0" lvl="0" marL="0" rtl="0" algn="ctr">
                <a:spcBef>
                  <a:spcPts val="0"/>
                </a:spcBef>
                <a:spcAft>
                  <a:spcPts val="0"/>
                </a:spcAft>
                <a:buNone/>
              </a:pPr>
              <a:r>
                <a:rPr lang="en-US" sz="1100">
                  <a:solidFill>
                    <a:srgbClr val="FFFFFF"/>
                  </a:solidFill>
                  <a:latin typeface="Open Sans"/>
                  <a:ea typeface="Open Sans"/>
                  <a:cs typeface="Open Sans"/>
                  <a:sym typeface="Open Sans"/>
                </a:rPr>
                <a:t>Predictive Personal Response</a:t>
              </a:r>
              <a:endParaRPr sz="1100">
                <a:solidFill>
                  <a:srgbClr val="FFFFFF"/>
                </a:solidFill>
                <a:latin typeface="Open Sans"/>
                <a:ea typeface="Open Sans"/>
                <a:cs typeface="Open Sans"/>
                <a:sym typeface="Open Sans"/>
              </a:endParaRPr>
            </a:p>
          </p:txBody>
        </p:sp>
        <p:sp>
          <p:nvSpPr>
            <p:cNvPr id="377" name="Google Shape;377;p25"/>
            <p:cNvSpPr/>
            <p:nvPr/>
          </p:nvSpPr>
          <p:spPr>
            <a:xfrm>
              <a:off x="3524250" y="2381250"/>
              <a:ext cx="5143500" cy="571500"/>
            </a:xfrm>
            <a:prstGeom prst="roundRect">
              <a:avLst>
                <a:gd fmla="val 13333" name="adj"/>
              </a:avLst>
            </a:prstGeom>
            <a:solidFill>
              <a:srgbClr val="007B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5"/>
            <p:cNvSpPr txBox="1"/>
            <p:nvPr/>
          </p:nvSpPr>
          <p:spPr>
            <a:xfrm>
              <a:off x="3524250" y="2381250"/>
              <a:ext cx="5143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00">
                  <a:solidFill>
                    <a:srgbClr val="FFFFFF"/>
                  </a:solidFill>
                  <a:latin typeface="Open Sans ExtraBold"/>
                  <a:ea typeface="Open Sans ExtraBold"/>
                  <a:cs typeface="Open Sans ExtraBold"/>
                  <a:sym typeface="Open Sans ExtraBold"/>
                </a:rPr>
                <a:t>Augmented Product</a:t>
              </a:r>
              <a:endParaRPr sz="1200">
                <a:solidFill>
                  <a:srgbClr val="FFFFFF"/>
                </a:solidFill>
                <a:latin typeface="Open Sans"/>
                <a:ea typeface="Open Sans"/>
                <a:cs typeface="Open Sans"/>
                <a:sym typeface="Open Sans"/>
              </a:endParaRPr>
            </a:p>
            <a:p>
              <a:pPr indent="0" lvl="0" marL="0" rtl="0" algn="ctr">
                <a:spcBef>
                  <a:spcPts val="0"/>
                </a:spcBef>
                <a:spcAft>
                  <a:spcPts val="0"/>
                </a:spcAft>
                <a:buNone/>
              </a:pPr>
              <a:r>
                <a:rPr lang="en-US" sz="1100">
                  <a:solidFill>
                    <a:srgbClr val="FFFFFF"/>
                  </a:solidFill>
                  <a:latin typeface="Open Sans"/>
                  <a:ea typeface="Open Sans"/>
                  <a:cs typeface="Open Sans"/>
                  <a:sym typeface="Open Sans"/>
                </a:rPr>
                <a:t>Spatial Projector, Pet Feeder Integration</a:t>
              </a:r>
              <a:endParaRPr sz="1100">
                <a:solidFill>
                  <a:srgbClr val="FFFFFF"/>
                </a:solidFill>
                <a:latin typeface="Open Sans"/>
                <a:ea typeface="Open Sans"/>
                <a:cs typeface="Open Sans"/>
                <a:sym typeface="Open Sans"/>
              </a:endParaRPr>
            </a:p>
          </p:txBody>
        </p:sp>
        <p:sp>
          <p:nvSpPr>
            <p:cNvPr id="379" name="Google Shape;379;p25"/>
            <p:cNvSpPr/>
            <p:nvPr/>
          </p:nvSpPr>
          <p:spPr>
            <a:xfrm>
              <a:off x="2952750" y="3048000"/>
              <a:ext cx="6286500" cy="571500"/>
            </a:xfrm>
            <a:prstGeom prst="roundRect">
              <a:avLst>
                <a:gd fmla="val 13333" name="adj"/>
              </a:avLst>
            </a:prstGeom>
            <a:solidFill>
              <a:srgbClr val="0056B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25"/>
            <p:cNvSpPr txBox="1"/>
            <p:nvPr/>
          </p:nvSpPr>
          <p:spPr>
            <a:xfrm>
              <a:off x="2952750" y="3048000"/>
              <a:ext cx="6286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00">
                  <a:solidFill>
                    <a:srgbClr val="FFFFFF"/>
                  </a:solidFill>
                  <a:latin typeface="Open Sans ExtraBold"/>
                  <a:ea typeface="Open Sans ExtraBold"/>
                  <a:cs typeface="Open Sans ExtraBold"/>
                  <a:sym typeface="Open Sans ExtraBold"/>
                </a:rPr>
                <a:t>Expected Product</a:t>
              </a:r>
              <a:endParaRPr sz="1200">
                <a:solidFill>
                  <a:srgbClr val="FFFFFF"/>
                </a:solidFill>
                <a:latin typeface="Open Sans"/>
                <a:ea typeface="Open Sans"/>
                <a:cs typeface="Open Sans"/>
                <a:sym typeface="Open Sans"/>
              </a:endParaRPr>
            </a:p>
            <a:p>
              <a:pPr indent="0" lvl="0" marL="0" rtl="0" algn="ctr">
                <a:spcBef>
                  <a:spcPts val="0"/>
                </a:spcBef>
                <a:spcAft>
                  <a:spcPts val="0"/>
                </a:spcAft>
                <a:buNone/>
              </a:pPr>
              <a:r>
                <a:rPr lang="en-US" sz="1100">
                  <a:solidFill>
                    <a:srgbClr val="FFFFFF"/>
                  </a:solidFill>
                  <a:latin typeface="Open Sans"/>
                  <a:ea typeface="Open Sans"/>
                  <a:cs typeface="Open Sans"/>
                  <a:sym typeface="Open Sans"/>
                </a:rPr>
                <a:t>App Control, Smart Home Hub, Alerts</a:t>
              </a:r>
              <a:endParaRPr sz="1100">
                <a:solidFill>
                  <a:srgbClr val="FFFFFF"/>
                </a:solidFill>
                <a:latin typeface="Open Sans"/>
                <a:ea typeface="Open Sans"/>
                <a:cs typeface="Open Sans"/>
                <a:sym typeface="Open Sans"/>
              </a:endParaRPr>
            </a:p>
          </p:txBody>
        </p:sp>
        <p:sp>
          <p:nvSpPr>
            <p:cNvPr id="381" name="Google Shape;381;p25"/>
            <p:cNvSpPr/>
            <p:nvPr/>
          </p:nvSpPr>
          <p:spPr>
            <a:xfrm>
              <a:off x="2381250" y="3714750"/>
              <a:ext cx="7429500" cy="571500"/>
            </a:xfrm>
            <a:prstGeom prst="roundRect">
              <a:avLst>
                <a:gd fmla="val 13333" name="adj"/>
              </a:avLst>
            </a:prstGeom>
            <a:solidFill>
              <a:srgbClr val="1A3F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25"/>
            <p:cNvSpPr txBox="1"/>
            <p:nvPr/>
          </p:nvSpPr>
          <p:spPr>
            <a:xfrm>
              <a:off x="2381250" y="3714750"/>
              <a:ext cx="7429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00">
                  <a:solidFill>
                    <a:srgbClr val="FFFFFF"/>
                  </a:solidFill>
                  <a:latin typeface="Open Sans ExtraBold"/>
                  <a:ea typeface="Open Sans ExtraBold"/>
                  <a:cs typeface="Open Sans ExtraBold"/>
                  <a:sym typeface="Open Sans ExtraBold"/>
                </a:rPr>
                <a:t>Basic Product</a:t>
              </a:r>
              <a:endParaRPr sz="1200">
                <a:solidFill>
                  <a:srgbClr val="FFFFFF"/>
                </a:solidFill>
                <a:latin typeface="Open Sans"/>
                <a:ea typeface="Open Sans"/>
                <a:cs typeface="Open Sans"/>
                <a:sym typeface="Open Sans"/>
              </a:endParaRPr>
            </a:p>
            <a:p>
              <a:pPr indent="0" lvl="0" marL="0" rtl="0" algn="ctr">
                <a:spcBef>
                  <a:spcPts val="0"/>
                </a:spcBef>
                <a:spcAft>
                  <a:spcPts val="0"/>
                </a:spcAft>
                <a:buNone/>
              </a:pPr>
              <a:r>
                <a:rPr lang="en-US" sz="1100">
                  <a:solidFill>
                    <a:srgbClr val="FFFFFF"/>
                  </a:solidFill>
                  <a:latin typeface="Open Sans"/>
                  <a:ea typeface="Open Sans"/>
                  <a:cs typeface="Open Sans"/>
                  <a:sym typeface="Open Sans"/>
                </a:rPr>
                <a:t>Rolling Camera with Voice Control</a:t>
              </a:r>
              <a:endParaRPr sz="1100">
                <a:solidFill>
                  <a:srgbClr val="FFFFFF"/>
                </a:solidFill>
                <a:latin typeface="Open Sans"/>
                <a:ea typeface="Open Sans"/>
                <a:cs typeface="Open Sans"/>
                <a:sym typeface="Open Sans"/>
              </a:endParaRPr>
            </a:p>
          </p:txBody>
        </p:sp>
        <p:sp>
          <p:nvSpPr>
            <p:cNvPr id="383" name="Google Shape;383;p25"/>
            <p:cNvSpPr/>
            <p:nvPr/>
          </p:nvSpPr>
          <p:spPr>
            <a:xfrm>
              <a:off x="1809750" y="4381500"/>
              <a:ext cx="8572500" cy="571500"/>
            </a:xfrm>
            <a:prstGeom prst="roundRect">
              <a:avLst>
                <a:gd fmla="val 13333" name="adj"/>
              </a:avLst>
            </a:prstGeom>
            <a:solidFill>
              <a:srgbClr val="0A25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5"/>
            <p:cNvSpPr txBox="1"/>
            <p:nvPr/>
          </p:nvSpPr>
          <p:spPr>
            <a:xfrm>
              <a:off x="1809750" y="4381500"/>
              <a:ext cx="8572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00">
                  <a:solidFill>
                    <a:srgbClr val="FFFFFF"/>
                  </a:solidFill>
                  <a:latin typeface="Open Sans ExtraBold"/>
                  <a:ea typeface="Open Sans ExtraBold"/>
                  <a:cs typeface="Open Sans ExtraBold"/>
                  <a:sym typeface="Open Sans ExtraBold"/>
                </a:rPr>
                <a:t>Core Benefit</a:t>
              </a:r>
              <a:endParaRPr sz="1200">
                <a:solidFill>
                  <a:srgbClr val="FFFFFF"/>
                </a:solidFill>
                <a:latin typeface="Open Sans"/>
                <a:ea typeface="Open Sans"/>
                <a:cs typeface="Open Sans"/>
                <a:sym typeface="Open Sans"/>
              </a:endParaRPr>
            </a:p>
            <a:p>
              <a:pPr indent="0" lvl="0" marL="0" rtl="0" algn="ctr">
                <a:spcBef>
                  <a:spcPts val="0"/>
                </a:spcBef>
                <a:spcAft>
                  <a:spcPts val="0"/>
                </a:spcAft>
                <a:buNone/>
              </a:pPr>
              <a:r>
                <a:rPr lang="en-US" sz="1100">
                  <a:solidFill>
                    <a:srgbClr val="FFFFFF"/>
                  </a:solidFill>
                  <a:latin typeface="Open Sans"/>
                  <a:ea typeface="Open Sans"/>
                  <a:cs typeface="Open Sans"/>
                  <a:sym typeface="Open Sans"/>
                </a:rPr>
                <a:t>Digital Companionship &amp; Unseen Automation</a:t>
              </a:r>
              <a:endParaRPr sz="1100">
                <a:solidFill>
                  <a:srgbClr val="FFFFFF"/>
                </a:solidFill>
                <a:latin typeface="Open Sans"/>
                <a:ea typeface="Open Sans"/>
                <a:cs typeface="Open Sans"/>
                <a:sym typeface="Open Sans"/>
              </a:endParaRPr>
            </a:p>
          </p:txBody>
        </p:sp>
        <p:sp>
          <p:nvSpPr>
            <p:cNvPr id="385" name="Google Shape;385;p25"/>
            <p:cNvSpPr txBox="1"/>
            <p:nvPr/>
          </p:nvSpPr>
          <p:spPr>
            <a:xfrm>
              <a:off x="10810875" y="2190750"/>
              <a:ext cx="3810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
                  <a:solidFill>
                    <a:srgbClr val="034EA2"/>
                  </a:solidFill>
                  <a:latin typeface="Montserrat"/>
                  <a:ea typeface="Montserrat"/>
                  <a:cs typeface="Montserrat"/>
                  <a:sym typeface="Montserrat"/>
                </a:rPr>
                <a:t>DIFFERENTIATION &amp; VALUE</a:t>
              </a:r>
              <a:endParaRPr b="1" sz="250">
                <a:solidFill>
                  <a:srgbClr val="034EA2"/>
                </a:solidFill>
                <a:latin typeface="Montserrat"/>
                <a:ea typeface="Montserrat"/>
                <a:cs typeface="Montserrat"/>
                <a:sym typeface="Montserrat"/>
              </a:endParaRPr>
            </a:p>
          </p:txBody>
        </p:sp>
      </p:grpSp>
      <p:sp>
        <p:nvSpPr>
          <p:cNvPr id="386" name="Google Shape;386;p25"/>
          <p:cNvSpPr txBox="1"/>
          <p:nvPr/>
        </p:nvSpPr>
        <p:spPr>
          <a:xfrm>
            <a:off x="571500" y="476250"/>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CUSTOMER VALUE HIERARCHY</a:t>
            </a:r>
            <a:endParaRPr/>
          </a:p>
        </p:txBody>
      </p:sp>
      <p:sp>
        <p:nvSpPr>
          <p:cNvPr id="387" name="Google Shape;387;p25"/>
          <p:cNvSpPr txBox="1"/>
          <p:nvPr/>
        </p:nvSpPr>
        <p:spPr>
          <a:xfrm>
            <a:off x="1333500" y="5238750"/>
            <a:ext cx="9525000" cy="207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i="1" lang="en-US" sz="1350">
                <a:solidFill>
                  <a:srgbClr val="555555"/>
                </a:solidFill>
                <a:latin typeface="Open Sans"/>
                <a:ea typeface="Open Sans"/>
                <a:cs typeface="Open Sans"/>
                <a:sym typeface="Open Sans"/>
              </a:rPr>
              <a:t>Moving up the hierarchy differentiates Ballie from a commodity to a premium lifestyle necessity.</a:t>
            </a:r>
            <a:endParaRPr b="0" i="1" sz="1350">
              <a:solidFill>
                <a:srgbClr val="555555"/>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pic>
        <p:nvPicPr>
          <p:cNvPr descr="image.png" id="392" name="Google Shape;392;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3" name="Google Shape;393;p26"/>
          <p:cNvPicPr preferRelativeResize="0"/>
          <p:nvPr/>
        </p:nvPicPr>
        <p:blipFill rotWithShape="1">
          <a:blip r:embed="rId4">
            <a:alphaModFix/>
          </a:blip>
          <a:srcRect b="0" l="0" r="0" t="0"/>
          <a:stretch/>
        </p:blipFill>
        <p:spPr>
          <a:xfrm>
            <a:off x="571500" y="1209675"/>
            <a:ext cx="5381625" cy="2499270"/>
          </a:xfrm>
          <a:prstGeom prst="rect">
            <a:avLst/>
          </a:prstGeom>
          <a:noFill/>
          <a:ln>
            <a:noFill/>
          </a:ln>
        </p:spPr>
      </p:pic>
      <p:pic>
        <p:nvPicPr>
          <p:cNvPr descr="image.png" id="394" name="Google Shape;394;p26"/>
          <p:cNvPicPr preferRelativeResize="0"/>
          <p:nvPr/>
        </p:nvPicPr>
        <p:blipFill rotWithShape="1">
          <a:blip r:embed="rId4">
            <a:alphaModFix/>
          </a:blip>
          <a:srcRect b="0" l="0" r="0" t="0"/>
          <a:stretch/>
        </p:blipFill>
        <p:spPr>
          <a:xfrm>
            <a:off x="6238875" y="1209675"/>
            <a:ext cx="5381625" cy="2499270"/>
          </a:xfrm>
          <a:prstGeom prst="rect">
            <a:avLst/>
          </a:prstGeom>
          <a:noFill/>
          <a:ln>
            <a:noFill/>
          </a:ln>
        </p:spPr>
      </p:pic>
      <p:pic>
        <p:nvPicPr>
          <p:cNvPr descr="image.png" id="395" name="Google Shape;395;p26"/>
          <p:cNvPicPr preferRelativeResize="0"/>
          <p:nvPr/>
        </p:nvPicPr>
        <p:blipFill rotWithShape="1">
          <a:blip r:embed="rId5">
            <a:alphaModFix/>
          </a:blip>
          <a:srcRect b="0" l="0" r="0" t="0"/>
          <a:stretch/>
        </p:blipFill>
        <p:spPr>
          <a:xfrm>
            <a:off x="571500" y="3994695"/>
            <a:ext cx="5381625" cy="2499270"/>
          </a:xfrm>
          <a:prstGeom prst="rect">
            <a:avLst/>
          </a:prstGeom>
          <a:noFill/>
          <a:ln>
            <a:noFill/>
          </a:ln>
        </p:spPr>
      </p:pic>
      <p:pic>
        <p:nvPicPr>
          <p:cNvPr descr="image.png" id="396" name="Google Shape;396;p26"/>
          <p:cNvPicPr preferRelativeResize="0"/>
          <p:nvPr/>
        </p:nvPicPr>
        <p:blipFill rotWithShape="1">
          <a:blip r:embed="rId5">
            <a:alphaModFix/>
          </a:blip>
          <a:srcRect b="0" l="0" r="0" t="0"/>
          <a:stretch/>
        </p:blipFill>
        <p:spPr>
          <a:xfrm>
            <a:off x="6238875" y="3994695"/>
            <a:ext cx="5381625" cy="2499270"/>
          </a:xfrm>
          <a:prstGeom prst="rect">
            <a:avLst/>
          </a:prstGeom>
          <a:noFill/>
          <a:ln>
            <a:noFill/>
          </a:ln>
        </p:spPr>
      </p:pic>
      <p:pic>
        <p:nvPicPr>
          <p:cNvPr descr="image.png" id="397" name="Google Shape;397;p26"/>
          <p:cNvPicPr preferRelativeResize="0"/>
          <p:nvPr/>
        </p:nvPicPr>
        <p:blipFill rotWithShape="1">
          <a:blip r:embed="rId6">
            <a:alphaModFix/>
          </a:blip>
          <a:srcRect b="0" l="0" r="0" t="0"/>
          <a:stretch/>
        </p:blipFill>
        <p:spPr>
          <a:xfrm>
            <a:off x="857250" y="1533525"/>
            <a:ext cx="428625" cy="342900"/>
          </a:xfrm>
          <a:prstGeom prst="rect">
            <a:avLst/>
          </a:prstGeom>
          <a:noFill/>
          <a:ln>
            <a:noFill/>
          </a:ln>
        </p:spPr>
      </p:pic>
      <p:sp>
        <p:nvSpPr>
          <p:cNvPr id="398" name="Google Shape;398;p26"/>
          <p:cNvSpPr txBox="1"/>
          <p:nvPr/>
        </p:nvSpPr>
        <p:spPr>
          <a:xfrm>
            <a:off x="857250" y="2066925"/>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Ecosystem Synergy</a:t>
            </a:r>
            <a:endParaRPr/>
          </a:p>
        </p:txBody>
      </p:sp>
      <p:sp>
        <p:nvSpPr>
          <p:cNvPr id="399" name="Google Shape;399;p26"/>
          <p:cNvSpPr txBox="1"/>
          <p:nvPr/>
        </p:nvSpPr>
        <p:spPr>
          <a:xfrm>
            <a:off x="857250" y="2457450"/>
            <a:ext cx="48101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Leveraging the existing base of Samsung Galaxy, TV, and appliance users in India to create a seamless, locked-in smart home environment.</a:t>
            </a:r>
            <a:endParaRPr/>
          </a:p>
        </p:txBody>
      </p:sp>
      <p:pic>
        <p:nvPicPr>
          <p:cNvPr descr="image.png" id="400" name="Google Shape;400;p26"/>
          <p:cNvPicPr preferRelativeResize="0"/>
          <p:nvPr/>
        </p:nvPicPr>
        <p:blipFill rotWithShape="1">
          <a:blip r:embed="rId7">
            <a:alphaModFix/>
          </a:blip>
          <a:srcRect b="0" l="0" r="0" t="0"/>
          <a:stretch/>
        </p:blipFill>
        <p:spPr>
          <a:xfrm>
            <a:off x="6524625" y="1533525"/>
            <a:ext cx="428625" cy="342900"/>
          </a:xfrm>
          <a:prstGeom prst="rect">
            <a:avLst/>
          </a:prstGeom>
          <a:noFill/>
          <a:ln>
            <a:noFill/>
          </a:ln>
        </p:spPr>
      </p:pic>
      <p:sp>
        <p:nvSpPr>
          <p:cNvPr id="401" name="Google Shape;401;p26"/>
          <p:cNvSpPr txBox="1"/>
          <p:nvPr/>
        </p:nvSpPr>
        <p:spPr>
          <a:xfrm>
            <a:off x="6524625" y="2066925"/>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Consumer Education</a:t>
            </a:r>
            <a:endParaRPr/>
          </a:p>
        </p:txBody>
      </p:sp>
      <p:sp>
        <p:nvSpPr>
          <p:cNvPr id="402" name="Google Shape;402;p26"/>
          <p:cNvSpPr txBox="1"/>
          <p:nvPr/>
        </p:nvSpPr>
        <p:spPr>
          <a:xfrm>
            <a:off x="6524625" y="2457450"/>
            <a:ext cx="48101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Transitioning consumer perception from viewing Ballie as a "toy" to recognizing it as an indispensable home management utility.</a:t>
            </a:r>
            <a:endParaRPr/>
          </a:p>
        </p:txBody>
      </p:sp>
      <p:pic>
        <p:nvPicPr>
          <p:cNvPr descr="image.png" id="403" name="Google Shape;403;p26"/>
          <p:cNvPicPr preferRelativeResize="0"/>
          <p:nvPr/>
        </p:nvPicPr>
        <p:blipFill rotWithShape="1">
          <a:blip r:embed="rId8">
            <a:alphaModFix/>
          </a:blip>
          <a:srcRect b="0" l="0" r="0" t="0"/>
          <a:stretch/>
        </p:blipFill>
        <p:spPr>
          <a:xfrm>
            <a:off x="857250" y="4318545"/>
            <a:ext cx="390525" cy="342900"/>
          </a:xfrm>
          <a:prstGeom prst="rect">
            <a:avLst/>
          </a:prstGeom>
          <a:noFill/>
          <a:ln>
            <a:noFill/>
          </a:ln>
        </p:spPr>
      </p:pic>
      <p:sp>
        <p:nvSpPr>
          <p:cNvPr id="404" name="Google Shape;404;p26"/>
          <p:cNvSpPr txBox="1"/>
          <p:nvPr/>
        </p:nvSpPr>
        <p:spPr>
          <a:xfrm>
            <a:off x="857250" y="4851945"/>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Experiential Retail</a:t>
            </a:r>
            <a:endParaRPr/>
          </a:p>
        </p:txBody>
      </p:sp>
      <p:sp>
        <p:nvSpPr>
          <p:cNvPr id="405" name="Google Shape;405;p26"/>
          <p:cNvSpPr txBox="1"/>
          <p:nvPr/>
        </p:nvSpPr>
        <p:spPr>
          <a:xfrm>
            <a:off x="857250" y="5242470"/>
            <a:ext cx="48101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Deploying interactive demo zones in premium locations (e.g., Samsung Opera House, Bengaluru) so users can experience the projector and AI in a simulated home.</a:t>
            </a:r>
            <a:endParaRPr/>
          </a:p>
        </p:txBody>
      </p:sp>
      <p:pic>
        <p:nvPicPr>
          <p:cNvPr descr="image.png" id="406" name="Google Shape;406;p26"/>
          <p:cNvPicPr preferRelativeResize="0"/>
          <p:nvPr/>
        </p:nvPicPr>
        <p:blipFill rotWithShape="1">
          <a:blip r:embed="rId9">
            <a:alphaModFix/>
          </a:blip>
          <a:srcRect b="0" l="0" r="0" t="0"/>
          <a:stretch/>
        </p:blipFill>
        <p:spPr>
          <a:xfrm>
            <a:off x="6524625" y="4318545"/>
            <a:ext cx="304800" cy="342900"/>
          </a:xfrm>
          <a:prstGeom prst="rect">
            <a:avLst/>
          </a:prstGeom>
          <a:noFill/>
          <a:ln>
            <a:noFill/>
          </a:ln>
        </p:spPr>
      </p:pic>
      <p:sp>
        <p:nvSpPr>
          <p:cNvPr id="407" name="Google Shape;407;p26"/>
          <p:cNvSpPr txBox="1"/>
          <p:nvPr/>
        </p:nvSpPr>
        <p:spPr>
          <a:xfrm>
            <a:off x="6524625" y="4851945"/>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Data Privacy Assurance</a:t>
            </a:r>
            <a:endParaRPr/>
          </a:p>
        </p:txBody>
      </p:sp>
      <p:sp>
        <p:nvSpPr>
          <p:cNvPr id="408" name="Google Shape;408;p26"/>
          <p:cNvSpPr txBox="1"/>
          <p:nvPr/>
        </p:nvSpPr>
        <p:spPr>
          <a:xfrm>
            <a:off x="6524625" y="5242470"/>
            <a:ext cx="48101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Establishing absolute trust via Samsung Knox security, ensuring Indian consumers that roaming camera data is processed on-device and highly secure.</a:t>
            </a:r>
            <a:endParaRPr/>
          </a:p>
        </p:txBody>
      </p:sp>
      <p:sp>
        <p:nvSpPr>
          <p:cNvPr id="409" name="Google Shape;409;p26"/>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KEYS TO SUCCESS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pic>
        <p:nvPicPr>
          <p:cNvPr descr="image.png" id="414" name="Google Shape;414;p27"/>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415" name="Google Shape;415;p27"/>
          <p:cNvGraphicFramePr/>
          <p:nvPr/>
        </p:nvGraphicFramePr>
        <p:xfrm>
          <a:off x="571500" y="1400175"/>
          <a:ext cx="3000000" cy="3000000"/>
        </p:xfrm>
        <a:graphic>
          <a:graphicData uri="http://schemas.openxmlformats.org/drawingml/2006/table">
            <a:tbl>
              <a:tblPr bandRow="1" firstRow="1">
                <a:noFill/>
                <a:tableStyleId>{14745850-5646-438E-9981-D9D449FCAEBE}</a:tableStyleId>
              </a:tblPr>
              <a:tblGrid>
                <a:gridCol w="3079850"/>
                <a:gridCol w="1361625"/>
                <a:gridCol w="6607525"/>
              </a:tblGrid>
              <a:tr h="990150">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Critical Issue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Impact Level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Mitigation Strategy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r>
              <a:tr h="990150">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High Pricing Barrier</a:t>
                      </a:r>
                      <a:br>
                        <a:rPr lang="en-US" sz="1800" u="none" cap="none" strike="noStrike">
                          <a:solidFill>
                            <a:schemeClr val="dk1"/>
                          </a:solidFill>
                          <a:latin typeface="Calibri"/>
                          <a:ea typeface="Calibri"/>
                          <a:cs typeface="Calibri"/>
                          <a:sym typeface="Calibri"/>
                        </a:rPr>
                      </a:br>
                      <a:r>
                        <a:rPr b="0" i="0" lang="en-US" sz="1350" u="none" cap="none" strike="noStrike">
                          <a:latin typeface="Open Sans"/>
                          <a:ea typeface="Open Sans"/>
                          <a:cs typeface="Open Sans"/>
                          <a:sym typeface="Open Sans"/>
                        </a:rPr>
                        <a:t>Expected premium price alienates middle-class.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350" u="none" cap="none" strike="noStrike">
                          <a:solidFill>
                            <a:srgbClr val="EF4444"/>
                          </a:solidFill>
                          <a:latin typeface="Open Sans"/>
                          <a:ea typeface="Open Sans"/>
                          <a:cs typeface="Open Sans"/>
                          <a:sym typeface="Open Sans"/>
                        </a:rPr>
                        <a:t>High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Target NCCS A segment initially. Offer EMI schemes, and bundle with premium Galaxy Z-series or Neo QLED TVs.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90150">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Data Privacy Concerns</a:t>
                      </a:r>
                      <a:br>
                        <a:rPr lang="en-US" sz="1800" u="none" cap="none" strike="noStrike">
                          <a:solidFill>
                            <a:schemeClr val="dk1"/>
                          </a:solidFill>
                          <a:latin typeface="Calibri"/>
                          <a:ea typeface="Calibri"/>
                          <a:cs typeface="Calibri"/>
                          <a:sym typeface="Calibri"/>
                        </a:rPr>
                      </a:br>
                      <a:r>
                        <a:rPr b="0" i="0" lang="en-US" sz="1350" u="none" cap="none" strike="noStrike">
                          <a:latin typeface="Open Sans"/>
                          <a:ea typeface="Open Sans"/>
                          <a:cs typeface="Open Sans"/>
                          <a:sym typeface="Open Sans"/>
                        </a:rPr>
                        <a:t>Fear of constant surveillance/hacking.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1" i="0" lang="en-US" sz="1350" u="none" cap="none" strike="noStrike">
                          <a:solidFill>
                            <a:srgbClr val="EF4444"/>
                          </a:solidFill>
                          <a:latin typeface="Open Sans"/>
                          <a:ea typeface="Open Sans"/>
                          <a:cs typeface="Open Sans"/>
                          <a:sym typeface="Open Sans"/>
                        </a:rPr>
                        <a:t>High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Highlight Knox Matrix security. Include physical privacy shutters/modes. Transparent local processing policies.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r>
              <a:tr h="990150">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Low Tech Awareness</a:t>
                      </a:r>
                      <a:br>
                        <a:rPr lang="en-US" sz="1800" u="none" cap="none" strike="noStrike">
                          <a:solidFill>
                            <a:schemeClr val="dk1"/>
                          </a:solidFill>
                          <a:latin typeface="Calibri"/>
                          <a:ea typeface="Calibri"/>
                          <a:cs typeface="Calibri"/>
                          <a:sym typeface="Calibri"/>
                        </a:rPr>
                      </a:br>
                      <a:r>
                        <a:rPr b="0" i="0" lang="en-US" sz="1350" u="none" cap="none" strike="noStrike">
                          <a:latin typeface="Open Sans"/>
                          <a:ea typeface="Open Sans"/>
                          <a:cs typeface="Open Sans"/>
                          <a:sym typeface="Open Sans"/>
                        </a:rPr>
                        <a:t>Confusion regarding utility vs existing smart speakers.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Medium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Aggressive PR &amp; Influencer campaigns demonstrating specific use-cases (e.g., fitness projection, pet monitoring).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90150">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Infrastructure Dependencies</a:t>
                      </a:r>
                      <a:br>
                        <a:rPr lang="en-US" sz="1800" u="none" cap="none" strike="noStrike">
                          <a:solidFill>
                            <a:schemeClr val="dk1"/>
                          </a:solidFill>
                          <a:latin typeface="Calibri"/>
                          <a:ea typeface="Calibri"/>
                          <a:cs typeface="Calibri"/>
                          <a:sym typeface="Calibri"/>
                        </a:rPr>
                      </a:br>
                      <a:r>
                        <a:rPr b="0" i="0" lang="en-US" sz="1350" u="none" cap="none" strike="noStrike">
                          <a:latin typeface="Open Sans"/>
                          <a:ea typeface="Open Sans"/>
                          <a:cs typeface="Open Sans"/>
                          <a:sym typeface="Open Sans"/>
                        </a:rPr>
                        <a:t>Power cuts, poor Wi-Fi, cluttered Indian homes.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Medium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Emphasize battery backup, robust LiDAR pathfinding capabilities, and offline basic automation features.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r>
            </a:tbl>
          </a:graphicData>
        </a:graphic>
      </p:graphicFrame>
      <p:sp>
        <p:nvSpPr>
          <p:cNvPr id="416" name="Google Shape;416;p27"/>
          <p:cNvSpPr/>
          <p:nvPr/>
        </p:nvSpPr>
        <p:spPr>
          <a:xfrm>
            <a:off x="571500" y="2062162"/>
            <a:ext cx="307984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27"/>
          <p:cNvSpPr/>
          <p:nvPr/>
        </p:nvSpPr>
        <p:spPr>
          <a:xfrm>
            <a:off x="3651349" y="2062162"/>
            <a:ext cx="136162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27"/>
          <p:cNvSpPr/>
          <p:nvPr/>
        </p:nvSpPr>
        <p:spPr>
          <a:xfrm>
            <a:off x="5012977" y="2062162"/>
            <a:ext cx="660752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27"/>
          <p:cNvSpPr/>
          <p:nvPr/>
        </p:nvSpPr>
        <p:spPr>
          <a:xfrm>
            <a:off x="571500" y="3199358"/>
            <a:ext cx="307984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0" name="Google Shape;420;p27"/>
          <p:cNvSpPr/>
          <p:nvPr/>
        </p:nvSpPr>
        <p:spPr>
          <a:xfrm>
            <a:off x="3651349" y="3199358"/>
            <a:ext cx="136162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27"/>
          <p:cNvSpPr/>
          <p:nvPr/>
        </p:nvSpPr>
        <p:spPr>
          <a:xfrm>
            <a:off x="5012977" y="3199358"/>
            <a:ext cx="660752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27"/>
          <p:cNvSpPr/>
          <p:nvPr/>
        </p:nvSpPr>
        <p:spPr>
          <a:xfrm>
            <a:off x="571500" y="4062263"/>
            <a:ext cx="307984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7"/>
          <p:cNvSpPr/>
          <p:nvPr/>
        </p:nvSpPr>
        <p:spPr>
          <a:xfrm>
            <a:off x="3651349" y="4062263"/>
            <a:ext cx="136162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27"/>
          <p:cNvSpPr/>
          <p:nvPr/>
        </p:nvSpPr>
        <p:spPr>
          <a:xfrm>
            <a:off x="5012977" y="4062263"/>
            <a:ext cx="660752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27"/>
          <p:cNvSpPr/>
          <p:nvPr/>
        </p:nvSpPr>
        <p:spPr>
          <a:xfrm>
            <a:off x="571500" y="5199459"/>
            <a:ext cx="307984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6" name="Google Shape;426;p27"/>
          <p:cNvSpPr/>
          <p:nvPr/>
        </p:nvSpPr>
        <p:spPr>
          <a:xfrm>
            <a:off x="3651349" y="5199459"/>
            <a:ext cx="136162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27"/>
          <p:cNvSpPr/>
          <p:nvPr/>
        </p:nvSpPr>
        <p:spPr>
          <a:xfrm>
            <a:off x="5012977" y="5199459"/>
            <a:ext cx="660752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8" name="Google Shape;428;p27"/>
          <p:cNvSpPr/>
          <p:nvPr/>
        </p:nvSpPr>
        <p:spPr>
          <a:xfrm>
            <a:off x="571500" y="6336655"/>
            <a:ext cx="3079849"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9" name="Google Shape;429;p27"/>
          <p:cNvSpPr/>
          <p:nvPr/>
        </p:nvSpPr>
        <p:spPr>
          <a:xfrm>
            <a:off x="3651349" y="6336655"/>
            <a:ext cx="1361628"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27"/>
          <p:cNvSpPr/>
          <p:nvPr/>
        </p:nvSpPr>
        <p:spPr>
          <a:xfrm>
            <a:off x="5012977" y="6336655"/>
            <a:ext cx="660752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27"/>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CRITICAL ISSUES &amp; MITIGATION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pic>
        <p:nvPicPr>
          <p:cNvPr descr="image.png" id="436" name="Google Shape;436;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37" name="Google Shape;437;p28"/>
          <p:cNvPicPr preferRelativeResize="0"/>
          <p:nvPr/>
        </p:nvPicPr>
        <p:blipFill rotWithShape="1">
          <a:blip r:embed="rId4">
            <a:alphaModFix/>
          </a:blip>
          <a:srcRect b="0" l="0" r="0" t="0"/>
          <a:stretch/>
        </p:blipFill>
        <p:spPr>
          <a:xfrm>
            <a:off x="571500" y="2067966"/>
            <a:ext cx="11049000" cy="3455491"/>
          </a:xfrm>
          <a:prstGeom prst="rect">
            <a:avLst/>
          </a:prstGeom>
          <a:noFill/>
          <a:ln>
            <a:noFill/>
          </a:ln>
        </p:spPr>
      </p:pic>
      <p:sp>
        <p:nvSpPr>
          <p:cNvPr id="438" name="Google Shape;438;p28"/>
          <p:cNvSpPr txBox="1"/>
          <p:nvPr/>
        </p:nvSpPr>
        <p:spPr>
          <a:xfrm>
            <a:off x="1314450" y="2544216"/>
            <a:ext cx="99250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Brand Awareness:</a:t>
            </a:r>
            <a:r>
              <a:rPr b="0" i="0" lang="en-US" sz="1350" u="none" cap="none" strike="noStrike">
                <a:solidFill>
                  <a:srgbClr val="121212"/>
                </a:solidFill>
                <a:latin typeface="Open Sans"/>
                <a:ea typeface="Open Sans"/>
                <a:cs typeface="Open Sans"/>
                <a:sym typeface="Open Sans"/>
              </a:rPr>
              <a:t> Achieve 60% aided brand awareness among Tier-1 SEC A households within the first 6 months of launch via digital campaigns.</a:t>
            </a:r>
            <a:endParaRPr/>
          </a:p>
        </p:txBody>
      </p:sp>
      <p:sp>
        <p:nvSpPr>
          <p:cNvPr id="439" name="Google Shape;439;p28"/>
          <p:cNvSpPr txBox="1"/>
          <p:nvPr/>
        </p:nvSpPr>
        <p:spPr>
          <a:xfrm>
            <a:off x="1314450" y="3330922"/>
            <a:ext cx="99250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Market Penetration:</a:t>
            </a:r>
            <a:r>
              <a:rPr b="0" i="0" lang="en-US" sz="1350" u="none" cap="none" strike="noStrike">
                <a:solidFill>
                  <a:srgbClr val="121212"/>
                </a:solidFill>
                <a:latin typeface="Open Sans"/>
                <a:ea typeface="Open Sans"/>
                <a:cs typeface="Open Sans"/>
                <a:sym typeface="Open Sans"/>
              </a:rPr>
              <a:t> Capture a 10% share of the premium smart home hub market in India by the end of Year 1.</a:t>
            </a:r>
            <a:endParaRPr/>
          </a:p>
        </p:txBody>
      </p:sp>
      <p:sp>
        <p:nvSpPr>
          <p:cNvPr id="440" name="Google Shape;440;p28"/>
          <p:cNvSpPr txBox="1"/>
          <p:nvPr/>
        </p:nvSpPr>
        <p:spPr>
          <a:xfrm>
            <a:off x="1314450" y="3843337"/>
            <a:ext cx="99250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Ecosystem Expansion:</a:t>
            </a:r>
            <a:r>
              <a:rPr b="0" i="0" lang="en-US" sz="1350" u="none" cap="none" strike="noStrike">
                <a:solidFill>
                  <a:srgbClr val="121212"/>
                </a:solidFill>
                <a:latin typeface="Open Sans"/>
                <a:ea typeface="Open Sans"/>
                <a:cs typeface="Open Sans"/>
                <a:sym typeface="Open Sans"/>
              </a:rPr>
              <a:t> Ensure 40% of Ballie purchasers link at least 3 other Samsung smart appliances within 30 days of activation.</a:t>
            </a:r>
            <a:endParaRPr/>
          </a:p>
        </p:txBody>
      </p:sp>
      <p:sp>
        <p:nvSpPr>
          <p:cNvPr id="441" name="Google Shape;441;p28"/>
          <p:cNvSpPr txBox="1"/>
          <p:nvPr/>
        </p:nvSpPr>
        <p:spPr>
          <a:xfrm>
            <a:off x="1314450" y="4630042"/>
            <a:ext cx="99250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Customer Engagement:</a:t>
            </a:r>
            <a:r>
              <a:rPr b="0" i="0" lang="en-US" sz="1350" u="none" cap="none" strike="noStrike">
                <a:solidFill>
                  <a:srgbClr val="121212"/>
                </a:solidFill>
                <a:latin typeface="Open Sans"/>
                <a:ea typeface="Open Sans"/>
                <a:cs typeface="Open Sans"/>
                <a:sym typeface="Open Sans"/>
              </a:rPr>
              <a:t> Generate 100,000+ interactive demos across Samsung Experience Stores nationwide in Q1.</a:t>
            </a:r>
            <a:endParaRPr/>
          </a:p>
        </p:txBody>
      </p:sp>
      <p:sp>
        <p:nvSpPr>
          <p:cNvPr id="442" name="Google Shape;442;p28"/>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MARKETING OBJECTIVES (SMART)</a:t>
            </a:r>
            <a:endParaRPr/>
          </a:p>
        </p:txBody>
      </p:sp>
      <p:pic>
        <p:nvPicPr>
          <p:cNvPr descr="image.png" id="443" name="Google Shape;443;p28"/>
          <p:cNvPicPr preferRelativeResize="0"/>
          <p:nvPr/>
        </p:nvPicPr>
        <p:blipFill rotWithShape="1">
          <a:blip r:embed="rId5">
            <a:alphaModFix/>
          </a:blip>
          <a:srcRect b="0" l="0" r="0" t="0"/>
          <a:stretch/>
        </p:blipFill>
        <p:spPr>
          <a:xfrm>
            <a:off x="1028700" y="2563266"/>
            <a:ext cx="104775" cy="180975"/>
          </a:xfrm>
          <a:prstGeom prst="rect">
            <a:avLst/>
          </a:prstGeom>
          <a:noFill/>
          <a:ln>
            <a:noFill/>
          </a:ln>
        </p:spPr>
      </p:pic>
      <p:pic>
        <p:nvPicPr>
          <p:cNvPr descr="image.png" id="444" name="Google Shape;444;p28"/>
          <p:cNvPicPr preferRelativeResize="0"/>
          <p:nvPr/>
        </p:nvPicPr>
        <p:blipFill rotWithShape="1">
          <a:blip r:embed="rId5">
            <a:alphaModFix/>
          </a:blip>
          <a:srcRect b="0" l="0" r="0" t="0"/>
          <a:stretch/>
        </p:blipFill>
        <p:spPr>
          <a:xfrm>
            <a:off x="1028700" y="3349972"/>
            <a:ext cx="104775" cy="180975"/>
          </a:xfrm>
          <a:prstGeom prst="rect">
            <a:avLst/>
          </a:prstGeom>
          <a:noFill/>
          <a:ln>
            <a:noFill/>
          </a:ln>
        </p:spPr>
      </p:pic>
      <p:pic>
        <p:nvPicPr>
          <p:cNvPr descr="image.png" id="445" name="Google Shape;445;p28"/>
          <p:cNvPicPr preferRelativeResize="0"/>
          <p:nvPr/>
        </p:nvPicPr>
        <p:blipFill rotWithShape="1">
          <a:blip r:embed="rId5">
            <a:alphaModFix/>
          </a:blip>
          <a:srcRect b="0" l="0" r="0" t="0"/>
          <a:stretch/>
        </p:blipFill>
        <p:spPr>
          <a:xfrm>
            <a:off x="1028700" y="3862387"/>
            <a:ext cx="104775" cy="180975"/>
          </a:xfrm>
          <a:prstGeom prst="rect">
            <a:avLst/>
          </a:prstGeom>
          <a:noFill/>
          <a:ln>
            <a:noFill/>
          </a:ln>
        </p:spPr>
      </p:pic>
      <p:pic>
        <p:nvPicPr>
          <p:cNvPr descr="image.png" id="446" name="Google Shape;446;p28"/>
          <p:cNvPicPr preferRelativeResize="0"/>
          <p:nvPr/>
        </p:nvPicPr>
        <p:blipFill rotWithShape="1">
          <a:blip r:embed="rId5">
            <a:alphaModFix/>
          </a:blip>
          <a:srcRect b="0" l="0" r="0" t="0"/>
          <a:stretch/>
        </p:blipFill>
        <p:spPr>
          <a:xfrm>
            <a:off x="1028700" y="4649092"/>
            <a:ext cx="104775" cy="180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pic>
        <p:nvPicPr>
          <p:cNvPr descr="image.png" id="451" name="Google Shape;451;p29"/>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452" name="Google Shape;452;p29"/>
          <p:cNvGraphicFramePr/>
          <p:nvPr/>
        </p:nvGraphicFramePr>
        <p:xfrm>
          <a:off x="571500" y="1590675"/>
          <a:ext cx="3000000" cy="3000000"/>
        </p:xfrm>
        <a:graphic>
          <a:graphicData uri="http://schemas.openxmlformats.org/drawingml/2006/table">
            <a:tbl>
              <a:tblPr bandRow="1" firstRow="1">
                <a:noFill/>
                <a:tableStyleId>{14745850-5646-438E-9981-D9D449FCAEBE}</a:tableStyleId>
              </a:tblPr>
              <a:tblGrid>
                <a:gridCol w="1808400"/>
                <a:gridCol w="2033000"/>
                <a:gridCol w="2033000"/>
                <a:gridCol w="5174600"/>
              </a:tblGrid>
              <a:tr h="734525">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Metric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Year 1 Target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Year 2 Target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Strategic Rationale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r>
              <a:tr h="73452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Unit Sales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15,000 Units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35,000 Units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Targeting early adopters &amp; premium real estate developers.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452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Revenue Target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₹112 Crores (~$13.5M)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₹260 Crores (~$31M)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Assumes an ASP of ~₹75,000. Revenue scales as production costs drop.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r>
              <a:tr h="73452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Market Penetration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10% (Premium Segment)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18% (Premium Segment)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Capitalizing on the 30% overall smart home market CAGR.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452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Ecosystem ROI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+15% Appliance Sales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+25% Appliance Sales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Ballie acts as a loss-leader/catalyst for broader SmartThings hardware sales.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r>
            </a:tbl>
          </a:graphicData>
        </a:graphic>
      </p:graphicFrame>
      <p:sp>
        <p:nvSpPr>
          <p:cNvPr id="453" name="Google Shape;453;p29"/>
          <p:cNvSpPr/>
          <p:nvPr/>
        </p:nvSpPr>
        <p:spPr>
          <a:xfrm>
            <a:off x="571500" y="2071687"/>
            <a:ext cx="180841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29"/>
          <p:cNvSpPr/>
          <p:nvPr/>
        </p:nvSpPr>
        <p:spPr>
          <a:xfrm>
            <a:off x="2379910" y="2071687"/>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29"/>
          <p:cNvSpPr/>
          <p:nvPr/>
        </p:nvSpPr>
        <p:spPr>
          <a:xfrm>
            <a:off x="4412902" y="2071687"/>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6" name="Google Shape;456;p29"/>
          <p:cNvSpPr/>
          <p:nvPr/>
        </p:nvSpPr>
        <p:spPr>
          <a:xfrm>
            <a:off x="6445894" y="2071687"/>
            <a:ext cx="517460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29"/>
          <p:cNvSpPr/>
          <p:nvPr/>
        </p:nvSpPr>
        <p:spPr>
          <a:xfrm>
            <a:off x="571500" y="2660302"/>
            <a:ext cx="180841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29"/>
          <p:cNvSpPr/>
          <p:nvPr/>
        </p:nvSpPr>
        <p:spPr>
          <a:xfrm>
            <a:off x="2379910" y="2660302"/>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29"/>
          <p:cNvSpPr/>
          <p:nvPr/>
        </p:nvSpPr>
        <p:spPr>
          <a:xfrm>
            <a:off x="4412902" y="2660302"/>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29"/>
          <p:cNvSpPr/>
          <p:nvPr/>
        </p:nvSpPr>
        <p:spPr>
          <a:xfrm>
            <a:off x="6445894" y="2660302"/>
            <a:ext cx="517460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29"/>
          <p:cNvSpPr/>
          <p:nvPr/>
        </p:nvSpPr>
        <p:spPr>
          <a:xfrm>
            <a:off x="571500" y="3523208"/>
            <a:ext cx="180841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29"/>
          <p:cNvSpPr/>
          <p:nvPr/>
        </p:nvSpPr>
        <p:spPr>
          <a:xfrm>
            <a:off x="2379910" y="3523208"/>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29"/>
          <p:cNvSpPr/>
          <p:nvPr/>
        </p:nvSpPr>
        <p:spPr>
          <a:xfrm>
            <a:off x="4412902" y="3523208"/>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4" name="Google Shape;464;p29"/>
          <p:cNvSpPr/>
          <p:nvPr/>
        </p:nvSpPr>
        <p:spPr>
          <a:xfrm>
            <a:off x="6445894" y="3523208"/>
            <a:ext cx="517460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29"/>
          <p:cNvSpPr/>
          <p:nvPr/>
        </p:nvSpPr>
        <p:spPr>
          <a:xfrm>
            <a:off x="571500" y="4386113"/>
            <a:ext cx="180841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6" name="Google Shape;466;p29"/>
          <p:cNvSpPr/>
          <p:nvPr/>
        </p:nvSpPr>
        <p:spPr>
          <a:xfrm>
            <a:off x="2379910" y="4386113"/>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29"/>
          <p:cNvSpPr/>
          <p:nvPr/>
        </p:nvSpPr>
        <p:spPr>
          <a:xfrm>
            <a:off x="4412902" y="4386113"/>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8" name="Google Shape;468;p29"/>
          <p:cNvSpPr/>
          <p:nvPr/>
        </p:nvSpPr>
        <p:spPr>
          <a:xfrm>
            <a:off x="6445894" y="4386113"/>
            <a:ext cx="517460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29"/>
          <p:cNvSpPr/>
          <p:nvPr/>
        </p:nvSpPr>
        <p:spPr>
          <a:xfrm>
            <a:off x="571500" y="5249019"/>
            <a:ext cx="180841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0" name="Google Shape;470;p29"/>
          <p:cNvSpPr/>
          <p:nvPr/>
        </p:nvSpPr>
        <p:spPr>
          <a:xfrm>
            <a:off x="2379910" y="5249019"/>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1" name="Google Shape;471;p29"/>
          <p:cNvSpPr/>
          <p:nvPr/>
        </p:nvSpPr>
        <p:spPr>
          <a:xfrm>
            <a:off x="4412902" y="5249019"/>
            <a:ext cx="2032992"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29"/>
          <p:cNvSpPr/>
          <p:nvPr/>
        </p:nvSpPr>
        <p:spPr>
          <a:xfrm>
            <a:off x="6445894" y="5249019"/>
            <a:ext cx="517460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3" name="Google Shape;473;p29"/>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FINANCIAL OBJECTIVES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pic>
        <p:nvPicPr>
          <p:cNvPr descr="image.png" id="478" name="Google Shape;478;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79" name="Google Shape;479;p30"/>
          <p:cNvPicPr preferRelativeResize="0"/>
          <p:nvPr/>
        </p:nvPicPr>
        <p:blipFill rotWithShape="1">
          <a:blip r:embed="rId4">
            <a:alphaModFix/>
          </a:blip>
          <a:srcRect b="0" l="0" r="0" t="0"/>
          <a:stretch/>
        </p:blipFill>
        <p:spPr>
          <a:xfrm>
            <a:off x="571500" y="1209675"/>
            <a:ext cx="3524250" cy="4314527"/>
          </a:xfrm>
          <a:prstGeom prst="rect">
            <a:avLst/>
          </a:prstGeom>
          <a:noFill/>
          <a:ln>
            <a:noFill/>
          </a:ln>
        </p:spPr>
      </p:pic>
      <p:pic>
        <p:nvPicPr>
          <p:cNvPr descr="image.png" id="480" name="Google Shape;480;p30"/>
          <p:cNvPicPr preferRelativeResize="0"/>
          <p:nvPr/>
        </p:nvPicPr>
        <p:blipFill rotWithShape="1">
          <a:blip r:embed="rId5">
            <a:alphaModFix/>
          </a:blip>
          <a:srcRect b="0" l="0" r="0" t="0"/>
          <a:stretch/>
        </p:blipFill>
        <p:spPr>
          <a:xfrm>
            <a:off x="4333875" y="1209675"/>
            <a:ext cx="3524250" cy="4314527"/>
          </a:xfrm>
          <a:prstGeom prst="rect">
            <a:avLst/>
          </a:prstGeom>
          <a:noFill/>
          <a:ln>
            <a:noFill/>
          </a:ln>
        </p:spPr>
      </p:pic>
      <p:pic>
        <p:nvPicPr>
          <p:cNvPr descr="image.png" id="481" name="Google Shape;481;p30"/>
          <p:cNvPicPr preferRelativeResize="0"/>
          <p:nvPr/>
        </p:nvPicPr>
        <p:blipFill rotWithShape="1">
          <a:blip r:embed="rId5">
            <a:alphaModFix/>
          </a:blip>
          <a:srcRect b="0" l="0" r="0" t="0"/>
          <a:stretch/>
        </p:blipFill>
        <p:spPr>
          <a:xfrm>
            <a:off x="8096250" y="1209675"/>
            <a:ext cx="3524250" cy="4314527"/>
          </a:xfrm>
          <a:prstGeom prst="rect">
            <a:avLst/>
          </a:prstGeom>
          <a:noFill/>
          <a:ln>
            <a:noFill/>
          </a:ln>
        </p:spPr>
      </p:pic>
      <p:sp>
        <p:nvSpPr>
          <p:cNvPr id="482" name="Google Shape;482;p30"/>
          <p:cNvSpPr txBox="1"/>
          <p:nvPr/>
        </p:nvSpPr>
        <p:spPr>
          <a:xfrm>
            <a:off x="857250" y="1533525"/>
            <a:ext cx="310038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34EA2"/>
                </a:solidFill>
                <a:latin typeface="Montserrat SemiBold"/>
                <a:ea typeface="Montserrat SemiBold"/>
                <a:cs typeface="Montserrat SemiBold"/>
                <a:sym typeface="Montserrat SemiBold"/>
              </a:rPr>
              <a:t>1. Segmentation</a:t>
            </a:r>
            <a:endParaRPr/>
          </a:p>
        </p:txBody>
      </p:sp>
      <p:sp>
        <p:nvSpPr>
          <p:cNvPr id="483" name="Google Shape;483;p30"/>
          <p:cNvSpPr txBox="1"/>
          <p:nvPr/>
        </p:nvSpPr>
        <p:spPr>
          <a:xfrm>
            <a:off x="4619625" y="1533525"/>
            <a:ext cx="310038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34EA2"/>
                </a:solidFill>
                <a:latin typeface="Montserrat SemiBold"/>
                <a:ea typeface="Montserrat SemiBold"/>
                <a:cs typeface="Montserrat SemiBold"/>
                <a:sym typeface="Montserrat SemiBold"/>
              </a:rPr>
              <a:t>2. Targeting</a:t>
            </a:r>
            <a:endParaRPr/>
          </a:p>
        </p:txBody>
      </p:sp>
      <p:sp>
        <p:nvSpPr>
          <p:cNvPr id="484" name="Google Shape;484;p30"/>
          <p:cNvSpPr txBox="1"/>
          <p:nvPr/>
        </p:nvSpPr>
        <p:spPr>
          <a:xfrm>
            <a:off x="4619625" y="1924050"/>
            <a:ext cx="295275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121212"/>
                </a:solidFill>
                <a:latin typeface="Open Sans"/>
                <a:ea typeface="Open Sans"/>
                <a:cs typeface="Open Sans"/>
                <a:sym typeface="Open Sans"/>
              </a:rPr>
              <a:t>Primary:</a:t>
            </a:r>
            <a:r>
              <a:rPr b="0" i="0" lang="en-US" sz="1125" u="none" cap="none" strike="noStrike">
                <a:solidFill>
                  <a:srgbClr val="121212"/>
                </a:solidFill>
                <a:latin typeface="Open Sans"/>
                <a:ea typeface="Open Sans"/>
                <a:cs typeface="Open Sans"/>
                <a:sym typeface="Open Sans"/>
              </a:rPr>
              <a:t> DINKs (Double Income, No Kids) and nuclear families with pets or elderly parents requiring remote monitoring.</a:t>
            </a:r>
            <a:endParaRPr/>
          </a:p>
        </p:txBody>
      </p:sp>
      <p:sp>
        <p:nvSpPr>
          <p:cNvPr id="485" name="Google Shape;485;p30"/>
          <p:cNvSpPr txBox="1"/>
          <p:nvPr/>
        </p:nvSpPr>
        <p:spPr>
          <a:xfrm>
            <a:off x="4619625" y="2752725"/>
            <a:ext cx="295275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121212"/>
                </a:solidFill>
                <a:latin typeface="Open Sans"/>
                <a:ea typeface="Open Sans"/>
                <a:cs typeface="Open Sans"/>
                <a:sym typeface="Open Sans"/>
              </a:rPr>
              <a:t>Secondary:</a:t>
            </a:r>
            <a:r>
              <a:rPr b="0" i="0" lang="en-US" sz="1125" u="none" cap="none" strike="noStrike">
                <a:solidFill>
                  <a:srgbClr val="121212"/>
                </a:solidFill>
                <a:latin typeface="Open Sans"/>
                <a:ea typeface="Open Sans"/>
                <a:cs typeface="Open Sans"/>
                <a:sym typeface="Open Sans"/>
              </a:rPr>
              <a:t> Prop-Tech developers and luxury real estate builders looking to pre-install smart home infrastructure.</a:t>
            </a:r>
            <a:endParaRPr/>
          </a:p>
        </p:txBody>
      </p:sp>
      <p:sp>
        <p:nvSpPr>
          <p:cNvPr id="486" name="Google Shape;486;p30"/>
          <p:cNvSpPr txBox="1"/>
          <p:nvPr/>
        </p:nvSpPr>
        <p:spPr>
          <a:xfrm>
            <a:off x="8382000" y="1533525"/>
            <a:ext cx="310038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34EA2"/>
                </a:solidFill>
                <a:latin typeface="Montserrat SemiBold"/>
                <a:ea typeface="Montserrat SemiBold"/>
                <a:cs typeface="Montserrat SemiBold"/>
                <a:sym typeface="Montserrat SemiBold"/>
              </a:rPr>
              <a:t>3. Positioning</a:t>
            </a:r>
            <a:endParaRPr/>
          </a:p>
        </p:txBody>
      </p:sp>
      <p:sp>
        <p:nvSpPr>
          <p:cNvPr id="487" name="Google Shape;487;p30"/>
          <p:cNvSpPr txBox="1"/>
          <p:nvPr/>
        </p:nvSpPr>
        <p:spPr>
          <a:xfrm>
            <a:off x="8382000" y="1924050"/>
            <a:ext cx="295275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Positioned not just as a smart speaker, but as an </a:t>
            </a:r>
            <a:r>
              <a:rPr b="0" i="1" lang="en-US" sz="1125" u="none" cap="none" strike="noStrike">
                <a:solidFill>
                  <a:srgbClr val="121212"/>
                </a:solidFill>
                <a:latin typeface="Open Sans"/>
                <a:ea typeface="Open Sans"/>
                <a:cs typeface="Open Sans"/>
                <a:sym typeface="Open Sans"/>
              </a:rPr>
              <a:t>"Intelligent, autonomous family member."</a:t>
            </a:r>
            <a:endParaRPr/>
          </a:p>
        </p:txBody>
      </p:sp>
      <p:sp>
        <p:nvSpPr>
          <p:cNvPr id="488" name="Google Shape;488;p30"/>
          <p:cNvSpPr txBox="1"/>
          <p:nvPr/>
        </p:nvSpPr>
        <p:spPr>
          <a:xfrm>
            <a:off x="8382000" y="2752725"/>
            <a:ext cx="295275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Premium, highly secure, and visually interactive (projector) compared to stationary, voice-only alternatives.</a:t>
            </a:r>
            <a:endParaRPr/>
          </a:p>
        </p:txBody>
      </p:sp>
      <p:sp>
        <p:nvSpPr>
          <p:cNvPr id="489" name="Google Shape;489;p30"/>
          <p:cNvSpPr txBox="1"/>
          <p:nvPr/>
        </p:nvSpPr>
        <p:spPr>
          <a:xfrm>
            <a:off x="1143000" y="1924050"/>
            <a:ext cx="2667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Demographic:</a:t>
            </a:r>
            <a:r>
              <a:rPr b="0" i="0" lang="en-US" sz="1350" u="none" cap="none" strike="noStrike">
                <a:solidFill>
                  <a:srgbClr val="121212"/>
                </a:solidFill>
                <a:latin typeface="Open Sans"/>
                <a:ea typeface="Open Sans"/>
                <a:cs typeface="Open Sans"/>
                <a:sym typeface="Open Sans"/>
              </a:rPr>
              <a:t> 25-45 years, SEC A+, dual-income.</a:t>
            </a:r>
            <a:endParaRPr/>
          </a:p>
        </p:txBody>
      </p:sp>
      <p:sp>
        <p:nvSpPr>
          <p:cNvPr id="490" name="Google Shape;490;p30"/>
          <p:cNvSpPr txBox="1"/>
          <p:nvPr/>
        </p:nvSpPr>
        <p:spPr>
          <a:xfrm>
            <a:off x="1143000" y="2615505"/>
            <a:ext cx="2667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Geographic:</a:t>
            </a:r>
            <a:r>
              <a:rPr b="0" i="0" lang="en-US" sz="1350" u="none" cap="none" strike="noStrike">
                <a:solidFill>
                  <a:srgbClr val="121212"/>
                </a:solidFill>
                <a:latin typeface="Open Sans"/>
                <a:ea typeface="Open Sans"/>
                <a:cs typeface="Open Sans"/>
                <a:sym typeface="Open Sans"/>
              </a:rPr>
              <a:t> Tier 1 &amp; Metro cities (Mumbai, Bengaluru, Delhi NCR).</a:t>
            </a:r>
            <a:endParaRPr/>
          </a:p>
        </p:txBody>
      </p:sp>
      <p:sp>
        <p:nvSpPr>
          <p:cNvPr id="491" name="Google Shape;491;p30"/>
          <p:cNvSpPr txBox="1"/>
          <p:nvPr/>
        </p:nvSpPr>
        <p:spPr>
          <a:xfrm>
            <a:off x="1143000" y="3306960"/>
            <a:ext cx="26670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Psychographic:</a:t>
            </a:r>
            <a:r>
              <a:rPr b="0" i="0" lang="en-US" sz="1350" u="none" cap="none" strike="noStrike">
                <a:solidFill>
                  <a:srgbClr val="121212"/>
                </a:solidFill>
                <a:latin typeface="Open Sans"/>
                <a:ea typeface="Open Sans"/>
                <a:cs typeface="Open Sans"/>
                <a:sym typeface="Open Sans"/>
              </a:rPr>
              <a:t> Tech-savvy, status-conscious, values convenience and security.</a:t>
            </a:r>
            <a:endParaRPr/>
          </a:p>
        </p:txBody>
      </p:sp>
      <p:sp>
        <p:nvSpPr>
          <p:cNvPr id="492" name="Google Shape;492;p30"/>
          <p:cNvSpPr txBox="1"/>
          <p:nvPr/>
        </p:nvSpPr>
        <p:spPr>
          <a:xfrm>
            <a:off x="1143000" y="4272706"/>
            <a:ext cx="26670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Behavioral:</a:t>
            </a:r>
            <a:r>
              <a:rPr b="0" i="0" lang="en-US" sz="1350" u="none" cap="none" strike="noStrike">
                <a:solidFill>
                  <a:srgbClr val="121212"/>
                </a:solidFill>
                <a:latin typeface="Open Sans"/>
                <a:ea typeface="Open Sans"/>
                <a:cs typeface="Open Sans"/>
                <a:sym typeface="Open Sans"/>
              </a:rPr>
              <a:t> Early adopters, heavily invested in existing smart ecosystems.</a:t>
            </a:r>
            <a:endParaRPr/>
          </a:p>
        </p:txBody>
      </p:sp>
      <p:sp>
        <p:nvSpPr>
          <p:cNvPr id="493" name="Google Shape;493;p30"/>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TARGET MARKET (STP STRATEGY)</a:t>
            </a:r>
            <a:endParaRPr/>
          </a:p>
        </p:txBody>
      </p:sp>
      <p:pic>
        <p:nvPicPr>
          <p:cNvPr descr="image.png" id="494" name="Google Shape;494;p30"/>
          <p:cNvPicPr preferRelativeResize="0"/>
          <p:nvPr/>
        </p:nvPicPr>
        <p:blipFill rotWithShape="1">
          <a:blip r:embed="rId6">
            <a:alphaModFix/>
          </a:blip>
          <a:srcRect b="0" l="0" r="0" t="0"/>
          <a:stretch/>
        </p:blipFill>
        <p:spPr>
          <a:xfrm>
            <a:off x="857250" y="1943100"/>
            <a:ext cx="104775" cy="180975"/>
          </a:xfrm>
          <a:prstGeom prst="rect">
            <a:avLst/>
          </a:prstGeom>
          <a:noFill/>
          <a:ln>
            <a:noFill/>
          </a:ln>
        </p:spPr>
      </p:pic>
      <p:pic>
        <p:nvPicPr>
          <p:cNvPr descr="image.png" id="495" name="Google Shape;495;p30"/>
          <p:cNvPicPr preferRelativeResize="0"/>
          <p:nvPr/>
        </p:nvPicPr>
        <p:blipFill rotWithShape="1">
          <a:blip r:embed="rId6">
            <a:alphaModFix/>
          </a:blip>
          <a:srcRect b="0" l="0" r="0" t="0"/>
          <a:stretch/>
        </p:blipFill>
        <p:spPr>
          <a:xfrm>
            <a:off x="857250" y="2634555"/>
            <a:ext cx="104775" cy="180975"/>
          </a:xfrm>
          <a:prstGeom prst="rect">
            <a:avLst/>
          </a:prstGeom>
          <a:noFill/>
          <a:ln>
            <a:noFill/>
          </a:ln>
        </p:spPr>
      </p:pic>
      <p:pic>
        <p:nvPicPr>
          <p:cNvPr descr="image.png" id="496" name="Google Shape;496;p30"/>
          <p:cNvPicPr preferRelativeResize="0"/>
          <p:nvPr/>
        </p:nvPicPr>
        <p:blipFill rotWithShape="1">
          <a:blip r:embed="rId6">
            <a:alphaModFix/>
          </a:blip>
          <a:srcRect b="0" l="0" r="0" t="0"/>
          <a:stretch/>
        </p:blipFill>
        <p:spPr>
          <a:xfrm>
            <a:off x="857250" y="3326010"/>
            <a:ext cx="104775" cy="180975"/>
          </a:xfrm>
          <a:prstGeom prst="rect">
            <a:avLst/>
          </a:prstGeom>
          <a:noFill/>
          <a:ln>
            <a:noFill/>
          </a:ln>
        </p:spPr>
      </p:pic>
      <p:pic>
        <p:nvPicPr>
          <p:cNvPr descr="image.png" id="497" name="Google Shape;497;p30"/>
          <p:cNvPicPr preferRelativeResize="0"/>
          <p:nvPr/>
        </p:nvPicPr>
        <p:blipFill rotWithShape="1">
          <a:blip r:embed="rId6">
            <a:alphaModFix/>
          </a:blip>
          <a:srcRect b="0" l="0" r="0" t="0"/>
          <a:stretch/>
        </p:blipFill>
        <p:spPr>
          <a:xfrm>
            <a:off x="857250" y="4291756"/>
            <a:ext cx="104775" cy="180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pic>
        <p:nvPicPr>
          <p:cNvPr descr="image.png" id="502" name="Google Shape;502;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03" name="Google Shape;503;p31"/>
          <p:cNvPicPr preferRelativeResize="0"/>
          <p:nvPr/>
        </p:nvPicPr>
        <p:blipFill rotWithShape="1">
          <a:blip r:embed="rId4">
            <a:alphaModFix/>
          </a:blip>
          <a:srcRect b="0" l="0" r="0" t="0"/>
          <a:stretch/>
        </p:blipFill>
        <p:spPr>
          <a:xfrm>
            <a:off x="571500" y="4633614"/>
            <a:ext cx="3555950" cy="1257300"/>
          </a:xfrm>
          <a:prstGeom prst="rect">
            <a:avLst/>
          </a:prstGeom>
          <a:noFill/>
          <a:ln>
            <a:noFill/>
          </a:ln>
        </p:spPr>
      </p:pic>
      <p:pic>
        <p:nvPicPr>
          <p:cNvPr descr="image.png" id="504" name="Google Shape;504;p31"/>
          <p:cNvPicPr preferRelativeResize="0"/>
          <p:nvPr/>
        </p:nvPicPr>
        <p:blipFill rotWithShape="1">
          <a:blip r:embed="rId5">
            <a:alphaModFix/>
          </a:blip>
          <a:srcRect b="0" l="0" r="0" t="0"/>
          <a:stretch/>
        </p:blipFill>
        <p:spPr>
          <a:xfrm>
            <a:off x="4317950" y="4633614"/>
            <a:ext cx="3555950" cy="1257300"/>
          </a:xfrm>
          <a:prstGeom prst="rect">
            <a:avLst/>
          </a:prstGeom>
          <a:noFill/>
          <a:ln>
            <a:noFill/>
          </a:ln>
        </p:spPr>
      </p:pic>
      <p:pic>
        <p:nvPicPr>
          <p:cNvPr descr="image.png" id="505" name="Google Shape;505;p31"/>
          <p:cNvPicPr preferRelativeResize="0"/>
          <p:nvPr/>
        </p:nvPicPr>
        <p:blipFill rotWithShape="1">
          <a:blip r:embed="rId6">
            <a:alphaModFix/>
          </a:blip>
          <a:srcRect b="0" l="0" r="0" t="0"/>
          <a:stretch/>
        </p:blipFill>
        <p:spPr>
          <a:xfrm>
            <a:off x="8064400" y="4633614"/>
            <a:ext cx="3555950" cy="1257300"/>
          </a:xfrm>
          <a:prstGeom prst="rect">
            <a:avLst/>
          </a:prstGeom>
          <a:noFill/>
          <a:ln>
            <a:noFill/>
          </a:ln>
        </p:spPr>
      </p:pic>
      <p:pic>
        <p:nvPicPr>
          <p:cNvPr descr="image.png" id="506" name="Google Shape;506;p31"/>
          <p:cNvPicPr preferRelativeResize="0"/>
          <p:nvPr/>
        </p:nvPicPr>
        <p:blipFill rotWithShape="1">
          <a:blip r:embed="rId7">
            <a:alphaModFix/>
          </a:blip>
          <a:srcRect b="0" l="0" r="0" t="0"/>
          <a:stretch/>
        </p:blipFill>
        <p:spPr>
          <a:xfrm>
            <a:off x="5924550" y="1700510"/>
            <a:ext cx="342900" cy="381000"/>
          </a:xfrm>
          <a:prstGeom prst="rect">
            <a:avLst/>
          </a:prstGeom>
          <a:noFill/>
          <a:ln>
            <a:noFill/>
          </a:ln>
        </p:spPr>
      </p:pic>
      <p:sp>
        <p:nvSpPr>
          <p:cNvPr id="507" name="Google Shape;507;p31"/>
          <p:cNvSpPr txBox="1"/>
          <p:nvPr/>
        </p:nvSpPr>
        <p:spPr>
          <a:xfrm>
            <a:off x="1455419" y="2272010"/>
            <a:ext cx="9281160" cy="186630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34EA2"/>
                </a:solidFill>
                <a:latin typeface="Montserrat SemiBold"/>
                <a:ea typeface="Montserrat SemiBold"/>
                <a:cs typeface="Montserrat SemiBold"/>
                <a:sym typeface="Montserrat SemiBold"/>
              </a:rPr>
              <a:t>"For tech-forward Indian households seeking seamless convenience and peace of mind, Samsung Ballie is the ultimate AI robotic companion that proactively manages your home, protects your loved ones, and elevates your lifestyle through intuitive mobility and visual interaction."</a:t>
            </a:r>
            <a:endParaRPr/>
          </a:p>
        </p:txBody>
      </p:sp>
      <p:sp>
        <p:nvSpPr>
          <p:cNvPr id="508" name="Google Shape;508;p31"/>
          <p:cNvSpPr txBox="1"/>
          <p:nvPr/>
        </p:nvSpPr>
        <p:spPr>
          <a:xfrm>
            <a:off x="682626" y="4824114"/>
            <a:ext cx="3333697"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121212"/>
                </a:solidFill>
                <a:latin typeface="Montserrat SemiBold"/>
                <a:ea typeface="Montserrat SemiBold"/>
                <a:cs typeface="Montserrat SemiBold"/>
                <a:sym typeface="Montserrat SemiBold"/>
              </a:rPr>
              <a:t>Brand Promise</a:t>
            </a:r>
            <a:endParaRPr/>
          </a:p>
        </p:txBody>
      </p:sp>
      <p:sp>
        <p:nvSpPr>
          <p:cNvPr id="509" name="Google Shape;509;p31"/>
          <p:cNvSpPr txBox="1"/>
          <p:nvPr/>
        </p:nvSpPr>
        <p:spPr>
          <a:xfrm>
            <a:off x="762000" y="5100339"/>
            <a:ext cx="3174950"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Intelligent care and effortless control, always by your side.</a:t>
            </a:r>
            <a:endParaRPr/>
          </a:p>
        </p:txBody>
      </p:sp>
      <p:sp>
        <p:nvSpPr>
          <p:cNvPr id="510" name="Google Shape;510;p31"/>
          <p:cNvSpPr txBox="1"/>
          <p:nvPr/>
        </p:nvSpPr>
        <p:spPr>
          <a:xfrm>
            <a:off x="4429076" y="4824114"/>
            <a:ext cx="3333697"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121212"/>
                </a:solidFill>
                <a:latin typeface="Montserrat SemiBold"/>
                <a:ea typeface="Montserrat SemiBold"/>
                <a:cs typeface="Montserrat SemiBold"/>
                <a:sym typeface="Montserrat SemiBold"/>
              </a:rPr>
              <a:t>Customer Pain Reliever</a:t>
            </a:r>
            <a:endParaRPr/>
          </a:p>
        </p:txBody>
      </p:sp>
      <p:sp>
        <p:nvSpPr>
          <p:cNvPr id="511" name="Google Shape;511;p31"/>
          <p:cNvSpPr txBox="1"/>
          <p:nvPr/>
        </p:nvSpPr>
        <p:spPr>
          <a:xfrm>
            <a:off x="4508450" y="5100339"/>
            <a:ext cx="3174950"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Eliminates the anxiety of unmonitored homes and pets.</a:t>
            </a:r>
            <a:endParaRPr/>
          </a:p>
        </p:txBody>
      </p:sp>
      <p:sp>
        <p:nvSpPr>
          <p:cNvPr id="512" name="Google Shape;512;p31"/>
          <p:cNvSpPr txBox="1"/>
          <p:nvPr/>
        </p:nvSpPr>
        <p:spPr>
          <a:xfrm>
            <a:off x="8175527" y="4824114"/>
            <a:ext cx="3333697"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121212"/>
                </a:solidFill>
                <a:latin typeface="Montserrat SemiBold"/>
                <a:ea typeface="Montserrat SemiBold"/>
                <a:cs typeface="Montserrat SemiBold"/>
                <a:sym typeface="Montserrat SemiBold"/>
              </a:rPr>
              <a:t>Gain Creator</a:t>
            </a:r>
            <a:endParaRPr/>
          </a:p>
        </p:txBody>
      </p:sp>
      <p:sp>
        <p:nvSpPr>
          <p:cNvPr id="513" name="Google Shape;513;p31"/>
          <p:cNvSpPr txBox="1"/>
          <p:nvPr/>
        </p:nvSpPr>
        <p:spPr>
          <a:xfrm>
            <a:off x="8254900" y="5100339"/>
            <a:ext cx="3174950"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121212"/>
                </a:solidFill>
                <a:latin typeface="Open Sans"/>
                <a:ea typeface="Open Sans"/>
                <a:cs typeface="Open Sans"/>
                <a:sym typeface="Open Sans"/>
              </a:rPr>
              <a:t>Projects content dynamically, turning any wall into a screen.</a:t>
            </a:r>
            <a:endParaRPr/>
          </a:p>
        </p:txBody>
      </p:sp>
      <p:sp>
        <p:nvSpPr>
          <p:cNvPr id="514" name="Google Shape;514;p31"/>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POSITIONING &amp; VALUE PROPOSITION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8" name="Shape 518"/>
        <p:cNvGrpSpPr/>
        <p:nvPr/>
      </p:nvGrpSpPr>
      <p:grpSpPr>
        <a:xfrm>
          <a:off x="0" y="0"/>
          <a:ext cx="0" cy="0"/>
          <a:chOff x="0" y="0"/>
          <a:chExt cx="0" cy="0"/>
        </a:xfrm>
      </p:grpSpPr>
      <p:pic>
        <p:nvPicPr>
          <p:cNvPr descr="image.png" id="519" name="Google Shape;519;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20" name="Google Shape;520;p32"/>
          <p:cNvPicPr preferRelativeResize="0"/>
          <p:nvPr/>
        </p:nvPicPr>
        <p:blipFill rotWithShape="1">
          <a:blip r:embed="rId4">
            <a:alphaModFix/>
          </a:blip>
          <a:srcRect b="0" l="0" r="0" t="0"/>
          <a:stretch/>
        </p:blipFill>
        <p:spPr>
          <a:xfrm>
            <a:off x="571500" y="1209675"/>
            <a:ext cx="11049000" cy="5172075"/>
          </a:xfrm>
          <a:prstGeom prst="rect">
            <a:avLst/>
          </a:prstGeom>
          <a:noFill/>
          <a:ln>
            <a:noFill/>
          </a:ln>
        </p:spPr>
      </p:pic>
      <p:sp>
        <p:nvSpPr>
          <p:cNvPr id="521" name="Google Shape;521;p32"/>
          <p:cNvSpPr txBox="1"/>
          <p:nvPr/>
        </p:nvSpPr>
        <p:spPr>
          <a:xfrm>
            <a:off x="571500" y="1209675"/>
            <a:ext cx="100203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Product Type:</a:t>
            </a:r>
            <a:r>
              <a:rPr b="0" i="0" lang="en-US" sz="1350" u="none" cap="none" strike="noStrike">
                <a:solidFill>
                  <a:srgbClr val="121212"/>
                </a:solidFill>
                <a:latin typeface="Open Sans"/>
                <a:ea typeface="Open Sans"/>
                <a:cs typeface="Open Sans"/>
                <a:sym typeface="Open Sans"/>
              </a:rPr>
              <a:t> Specialty/Shopping Product. </a:t>
            </a:r>
            <a:r>
              <a:rPr b="1" i="0" lang="en-US" sz="1350" u="none" cap="none" strike="noStrike">
                <a:solidFill>
                  <a:srgbClr val="121212"/>
                </a:solidFill>
                <a:latin typeface="Open Sans"/>
                <a:ea typeface="Open Sans"/>
                <a:cs typeface="Open Sans"/>
                <a:sym typeface="Open Sans"/>
              </a:rPr>
              <a:t>Impact:</a:t>
            </a:r>
            <a:r>
              <a:rPr b="0" i="0" lang="en-US" sz="1350" u="none" cap="none" strike="noStrike">
                <a:solidFill>
                  <a:srgbClr val="121212"/>
                </a:solidFill>
                <a:latin typeface="Open Sans"/>
                <a:ea typeface="Open Sans"/>
                <a:cs typeface="Open Sans"/>
                <a:sym typeface="Open Sans"/>
              </a:rPr>
              <a:t> Disruptive innovation creating a new sub-category of mobile smart hubs.</a:t>
            </a:r>
            <a:endParaRPr/>
          </a:p>
        </p:txBody>
      </p:sp>
      <p:sp>
        <p:nvSpPr>
          <p:cNvPr id="522" name="Google Shape;522;p32"/>
          <p:cNvSpPr txBox="1"/>
          <p:nvPr/>
        </p:nvSpPr>
        <p:spPr>
          <a:xfrm>
            <a:off x="571500" y="1912590"/>
            <a:ext cx="630078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21212"/>
                </a:solidFill>
                <a:latin typeface="Montserrat SemiBold"/>
                <a:ea typeface="Montserrat SemiBold"/>
                <a:cs typeface="Montserrat SemiBold"/>
                <a:sym typeface="Montserrat SemiBold"/>
              </a:rPr>
              <a:t>New Product Development (Localization for India) Flowchart</a:t>
            </a:r>
            <a:endParaRPr/>
          </a:p>
        </p:txBody>
      </p:sp>
      <p:sp>
        <p:nvSpPr>
          <p:cNvPr id="523" name="Google Shape;523;p32"/>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PRODUCT STRATEGY &amp; NPD PROCESS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pic>
        <p:nvPicPr>
          <p:cNvPr descr="image.png" id="528" name="Google Shape;528;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29" name="Google Shape;529;p33"/>
          <p:cNvPicPr preferRelativeResize="0"/>
          <p:nvPr/>
        </p:nvPicPr>
        <p:blipFill rotWithShape="1">
          <a:blip r:embed="rId4">
            <a:alphaModFix/>
          </a:blip>
          <a:srcRect b="0" l="0" r="0" t="0"/>
          <a:stretch/>
        </p:blipFill>
        <p:spPr>
          <a:xfrm>
            <a:off x="571500" y="1209675"/>
            <a:ext cx="5381625" cy="2443162"/>
          </a:xfrm>
          <a:prstGeom prst="rect">
            <a:avLst/>
          </a:prstGeom>
          <a:noFill/>
          <a:ln>
            <a:noFill/>
          </a:ln>
        </p:spPr>
      </p:pic>
      <p:pic>
        <p:nvPicPr>
          <p:cNvPr descr="image.png" id="530" name="Google Shape;530;p33"/>
          <p:cNvPicPr preferRelativeResize="0"/>
          <p:nvPr/>
        </p:nvPicPr>
        <p:blipFill rotWithShape="1">
          <a:blip r:embed="rId4">
            <a:alphaModFix/>
          </a:blip>
          <a:srcRect b="0" l="0" r="0" t="0"/>
          <a:stretch/>
        </p:blipFill>
        <p:spPr>
          <a:xfrm>
            <a:off x="6238875" y="1209675"/>
            <a:ext cx="5381625" cy="2443162"/>
          </a:xfrm>
          <a:prstGeom prst="rect">
            <a:avLst/>
          </a:prstGeom>
          <a:noFill/>
          <a:ln>
            <a:noFill/>
          </a:ln>
        </p:spPr>
      </p:pic>
      <p:pic>
        <p:nvPicPr>
          <p:cNvPr descr="image.png" id="531" name="Google Shape;531;p33"/>
          <p:cNvPicPr preferRelativeResize="0"/>
          <p:nvPr/>
        </p:nvPicPr>
        <p:blipFill rotWithShape="1">
          <a:blip r:embed="rId5">
            <a:alphaModFix/>
          </a:blip>
          <a:srcRect b="0" l="0" r="0" t="0"/>
          <a:stretch/>
        </p:blipFill>
        <p:spPr>
          <a:xfrm>
            <a:off x="571500" y="3938587"/>
            <a:ext cx="5381625" cy="2443162"/>
          </a:xfrm>
          <a:prstGeom prst="rect">
            <a:avLst/>
          </a:prstGeom>
          <a:noFill/>
          <a:ln>
            <a:noFill/>
          </a:ln>
        </p:spPr>
      </p:pic>
      <p:pic>
        <p:nvPicPr>
          <p:cNvPr descr="image.png" id="532" name="Google Shape;532;p33"/>
          <p:cNvPicPr preferRelativeResize="0"/>
          <p:nvPr/>
        </p:nvPicPr>
        <p:blipFill rotWithShape="1">
          <a:blip r:embed="rId5">
            <a:alphaModFix/>
          </a:blip>
          <a:srcRect b="0" l="0" r="0" t="0"/>
          <a:stretch/>
        </p:blipFill>
        <p:spPr>
          <a:xfrm>
            <a:off x="6238875" y="3938587"/>
            <a:ext cx="5381625" cy="2443162"/>
          </a:xfrm>
          <a:prstGeom prst="rect">
            <a:avLst/>
          </a:prstGeom>
          <a:noFill/>
          <a:ln>
            <a:noFill/>
          </a:ln>
        </p:spPr>
      </p:pic>
      <p:sp>
        <p:nvSpPr>
          <p:cNvPr id="533" name="Google Shape;533;p33"/>
          <p:cNvSpPr txBox="1"/>
          <p:nvPr/>
        </p:nvSpPr>
        <p:spPr>
          <a:xfrm>
            <a:off x="857250" y="1533525"/>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Physique</a:t>
            </a:r>
            <a:endParaRPr/>
          </a:p>
        </p:txBody>
      </p:sp>
      <p:sp>
        <p:nvSpPr>
          <p:cNvPr id="534" name="Google Shape;534;p33"/>
          <p:cNvSpPr txBox="1"/>
          <p:nvPr/>
        </p:nvSpPr>
        <p:spPr>
          <a:xfrm>
            <a:off x="857250" y="1924050"/>
            <a:ext cx="48101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Iconic spherical design, bowling-ball size, sleek yellow/white casing, high-tech spatial projector lens, and rolling mobility.</a:t>
            </a:r>
            <a:endParaRPr/>
          </a:p>
        </p:txBody>
      </p:sp>
      <p:sp>
        <p:nvSpPr>
          <p:cNvPr id="535" name="Google Shape;535;p33"/>
          <p:cNvSpPr txBox="1"/>
          <p:nvPr/>
        </p:nvSpPr>
        <p:spPr>
          <a:xfrm>
            <a:off x="6524625" y="1533525"/>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Personality</a:t>
            </a:r>
            <a:endParaRPr/>
          </a:p>
        </p:txBody>
      </p:sp>
      <p:sp>
        <p:nvSpPr>
          <p:cNvPr id="536" name="Google Shape;536;p33"/>
          <p:cNvSpPr txBox="1"/>
          <p:nvPr/>
        </p:nvSpPr>
        <p:spPr>
          <a:xfrm>
            <a:off x="6524625" y="1924050"/>
            <a:ext cx="48101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Helpful, intuitive, slightly playful, highly intelligent, loyal, and unobtrusive (like an ideal digital butler or smart pet).</a:t>
            </a:r>
            <a:endParaRPr/>
          </a:p>
        </p:txBody>
      </p:sp>
      <p:sp>
        <p:nvSpPr>
          <p:cNvPr id="537" name="Google Shape;537;p33"/>
          <p:cNvSpPr txBox="1"/>
          <p:nvPr/>
        </p:nvSpPr>
        <p:spPr>
          <a:xfrm>
            <a:off x="857250" y="4262437"/>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Relationship</a:t>
            </a:r>
            <a:endParaRPr/>
          </a:p>
        </p:txBody>
      </p:sp>
      <p:sp>
        <p:nvSpPr>
          <p:cNvPr id="538" name="Google Shape;538;p33"/>
          <p:cNvSpPr txBox="1"/>
          <p:nvPr/>
        </p:nvSpPr>
        <p:spPr>
          <a:xfrm>
            <a:off x="857250" y="4652962"/>
            <a:ext cx="48101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A companion rather than a tool. Fosters trust, safety, and a personalized bond through AI learning of user habits.</a:t>
            </a:r>
            <a:endParaRPr/>
          </a:p>
        </p:txBody>
      </p:sp>
      <p:sp>
        <p:nvSpPr>
          <p:cNvPr id="539" name="Google Shape;539;p33"/>
          <p:cNvSpPr txBox="1"/>
          <p:nvPr/>
        </p:nvSpPr>
        <p:spPr>
          <a:xfrm>
            <a:off x="6524625" y="4262437"/>
            <a:ext cx="50506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21212"/>
                </a:solidFill>
                <a:latin typeface="Montserrat SemiBold"/>
                <a:ea typeface="Montserrat SemiBold"/>
                <a:cs typeface="Montserrat SemiBold"/>
                <a:sym typeface="Montserrat SemiBold"/>
              </a:rPr>
              <a:t>Customer Reflection</a:t>
            </a:r>
            <a:endParaRPr/>
          </a:p>
        </p:txBody>
      </p:sp>
      <p:sp>
        <p:nvSpPr>
          <p:cNvPr id="540" name="Google Shape;540;p33"/>
          <p:cNvSpPr txBox="1"/>
          <p:nvPr/>
        </p:nvSpPr>
        <p:spPr>
          <a:xfrm>
            <a:off x="6524625" y="4652962"/>
            <a:ext cx="48101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The user sees themselves as a modern, successful, tech-forward individual who values premium lifestyle and efficiency.</a:t>
            </a:r>
            <a:endParaRPr/>
          </a:p>
        </p:txBody>
      </p:sp>
      <p:sp>
        <p:nvSpPr>
          <p:cNvPr id="541" name="Google Shape;541;p33"/>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BRAND ATTRIBUTES (IDENTITY PRISM)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pic>
        <p:nvPicPr>
          <p:cNvPr descr="image.png" id="546" name="Google Shape;546;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47" name="Google Shape;547;p34"/>
          <p:cNvSpPr txBox="1"/>
          <p:nvPr/>
        </p:nvSpPr>
        <p:spPr>
          <a:xfrm>
            <a:off x="571500" y="1209675"/>
            <a:ext cx="93345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Primary Objective:</a:t>
            </a:r>
            <a:r>
              <a:rPr b="0" i="0" lang="en-US" sz="1350" u="none" cap="none" strike="noStrike">
                <a:solidFill>
                  <a:srgbClr val="121212"/>
                </a:solidFill>
                <a:latin typeface="Open Sans"/>
                <a:ea typeface="Open Sans"/>
                <a:cs typeface="Open Sans"/>
                <a:sym typeface="Open Sans"/>
              </a:rPr>
              <a:t> Market Skimming (Maximize revenue from early tech-adopters, establish premium brand equity).</a:t>
            </a:r>
            <a:endParaRPr/>
          </a:p>
        </p:txBody>
      </p:sp>
      <p:graphicFrame>
        <p:nvGraphicFramePr>
          <p:cNvPr id="548" name="Google Shape;548;p34"/>
          <p:cNvGraphicFramePr/>
          <p:nvPr/>
        </p:nvGraphicFramePr>
        <p:xfrm>
          <a:off x="571500" y="1817340"/>
          <a:ext cx="3000000" cy="3000000"/>
        </p:xfrm>
        <a:graphic>
          <a:graphicData uri="http://schemas.openxmlformats.org/drawingml/2006/table">
            <a:tbl>
              <a:tblPr bandRow="1" firstRow="1">
                <a:noFill/>
                <a:tableStyleId>{14745850-5646-438E-9981-D9D449FCAEBE}</a:tableStyleId>
              </a:tblPr>
              <a:tblGrid>
                <a:gridCol w="1896675"/>
                <a:gridCol w="3549100"/>
                <a:gridCol w="5603225"/>
              </a:tblGrid>
              <a:tr h="789375">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Element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Strategy / Tactic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Montserrat SemiBold"/>
                          <a:ea typeface="Montserrat SemiBold"/>
                          <a:cs typeface="Montserrat SemiBold"/>
                          <a:sym typeface="Montserrat SemiBold"/>
                        </a:rPr>
                        <a:t>Rationale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34EA2"/>
                    </a:solidFill>
                  </a:tcPr>
                </a:tc>
              </a:tr>
              <a:tr h="78937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Pricing Policy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Premium Skimming Pricing (~₹70,000 - ₹85,000)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Covers high R&amp;D/import costs. Positions Ballie above stationary smart speakers as a luxury robotic asset.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8937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Competitor Reaction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Aggressive discounts on Echo/Nest.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Competitors will defend their low-end dominance. Ballie must justify premium via the projector &amp; mobility.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r>
              <a:tr h="78937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Customer Incentives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Pre-order bundled with Galaxy Buds / SmartTags. No-cost EMI.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Lowers the psychological barrier to entry. Drives ecosystem lock-in.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89375">
                <a:tc>
                  <a:txBody>
                    <a:bodyPr/>
                    <a:lstStyle/>
                    <a:p>
                      <a:pPr indent="0" lvl="0" marL="0" marR="0" rtl="0" algn="l">
                        <a:spcBef>
                          <a:spcPts val="0"/>
                        </a:spcBef>
                        <a:spcAft>
                          <a:spcPts val="0"/>
                        </a:spcAft>
                        <a:buNone/>
                      </a:pPr>
                      <a:r>
                        <a:rPr b="1" i="0" lang="en-US" sz="1350" u="none" cap="none" strike="noStrike">
                          <a:solidFill>
                            <a:srgbClr val="121212"/>
                          </a:solidFill>
                          <a:latin typeface="Open Sans"/>
                          <a:ea typeface="Open Sans"/>
                          <a:cs typeface="Open Sans"/>
                          <a:sym typeface="Open Sans"/>
                        </a:rPr>
                        <a:t>Collaborator Incentives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High margins for premium integrators &amp; Prop-Tech builders.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c>
                  <a:txBody>
                    <a:bodyPr/>
                    <a:lstStyle/>
                    <a:p>
                      <a:pPr indent="0" lvl="0" marL="0" marR="0" rtl="0" algn="l">
                        <a:spcBef>
                          <a:spcPts val="0"/>
                        </a:spcBef>
                        <a:spcAft>
                          <a:spcPts val="0"/>
                        </a:spcAft>
                        <a:buNone/>
                      </a:pPr>
                      <a:r>
                        <a:rPr b="0" i="0" lang="en-US" sz="1350" u="none" cap="none" strike="noStrike">
                          <a:solidFill>
                            <a:srgbClr val="121212"/>
                          </a:solidFill>
                          <a:latin typeface="Open Sans"/>
                          <a:ea typeface="Open Sans"/>
                          <a:cs typeface="Open Sans"/>
                          <a:sym typeface="Open Sans"/>
                        </a:rPr>
                        <a:t>Encourages B2B push where Ballie is sold as part of a ₹5L smart home package.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AFB"/>
                    </a:solidFill>
                  </a:tcPr>
                </a:tc>
              </a:tr>
            </a:tbl>
          </a:graphicData>
        </a:graphic>
      </p:graphicFrame>
      <p:sp>
        <p:nvSpPr>
          <p:cNvPr id="549" name="Google Shape;549;p34"/>
          <p:cNvSpPr/>
          <p:nvPr/>
        </p:nvSpPr>
        <p:spPr>
          <a:xfrm>
            <a:off x="571500" y="2298352"/>
            <a:ext cx="189666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0" name="Google Shape;550;p34"/>
          <p:cNvSpPr/>
          <p:nvPr/>
        </p:nvSpPr>
        <p:spPr>
          <a:xfrm>
            <a:off x="2468165" y="2298352"/>
            <a:ext cx="3549104"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1" name="Google Shape;551;p34"/>
          <p:cNvSpPr/>
          <p:nvPr/>
        </p:nvSpPr>
        <p:spPr>
          <a:xfrm>
            <a:off x="6017269" y="2298352"/>
            <a:ext cx="560323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2" name="Google Shape;552;p34"/>
          <p:cNvSpPr/>
          <p:nvPr/>
        </p:nvSpPr>
        <p:spPr>
          <a:xfrm>
            <a:off x="571500" y="3161258"/>
            <a:ext cx="189666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3" name="Google Shape;553;p34"/>
          <p:cNvSpPr/>
          <p:nvPr/>
        </p:nvSpPr>
        <p:spPr>
          <a:xfrm>
            <a:off x="2468165" y="3161258"/>
            <a:ext cx="3549104"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4" name="Google Shape;554;p34"/>
          <p:cNvSpPr/>
          <p:nvPr/>
        </p:nvSpPr>
        <p:spPr>
          <a:xfrm>
            <a:off x="6017269" y="3161258"/>
            <a:ext cx="560323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5" name="Google Shape;555;p34"/>
          <p:cNvSpPr/>
          <p:nvPr/>
        </p:nvSpPr>
        <p:spPr>
          <a:xfrm>
            <a:off x="571500" y="4024163"/>
            <a:ext cx="189666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34"/>
          <p:cNvSpPr/>
          <p:nvPr/>
        </p:nvSpPr>
        <p:spPr>
          <a:xfrm>
            <a:off x="2468165" y="4024163"/>
            <a:ext cx="3549104"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34"/>
          <p:cNvSpPr/>
          <p:nvPr/>
        </p:nvSpPr>
        <p:spPr>
          <a:xfrm>
            <a:off x="6017269" y="4024163"/>
            <a:ext cx="560323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8" name="Google Shape;558;p34"/>
          <p:cNvSpPr/>
          <p:nvPr/>
        </p:nvSpPr>
        <p:spPr>
          <a:xfrm>
            <a:off x="571500" y="4887069"/>
            <a:ext cx="189666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34"/>
          <p:cNvSpPr/>
          <p:nvPr/>
        </p:nvSpPr>
        <p:spPr>
          <a:xfrm>
            <a:off x="2468165" y="4887069"/>
            <a:ext cx="3549104"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0" name="Google Shape;560;p34"/>
          <p:cNvSpPr/>
          <p:nvPr/>
        </p:nvSpPr>
        <p:spPr>
          <a:xfrm>
            <a:off x="6017269" y="4887069"/>
            <a:ext cx="560323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34"/>
          <p:cNvSpPr/>
          <p:nvPr/>
        </p:nvSpPr>
        <p:spPr>
          <a:xfrm>
            <a:off x="571500" y="5749974"/>
            <a:ext cx="1896665"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34"/>
          <p:cNvSpPr/>
          <p:nvPr/>
        </p:nvSpPr>
        <p:spPr>
          <a:xfrm>
            <a:off x="2468165" y="5749974"/>
            <a:ext cx="3549104"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3" name="Google Shape;563;p34"/>
          <p:cNvSpPr/>
          <p:nvPr/>
        </p:nvSpPr>
        <p:spPr>
          <a:xfrm>
            <a:off x="6017269" y="5749974"/>
            <a:ext cx="560323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4" name="Google Shape;564;p34"/>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PRICING STRATEGY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8" name="Shape 568"/>
        <p:cNvGrpSpPr/>
        <p:nvPr/>
      </p:nvGrpSpPr>
      <p:grpSpPr>
        <a:xfrm>
          <a:off x="0" y="0"/>
          <a:ext cx="0" cy="0"/>
          <a:chOff x="0" y="0"/>
          <a:chExt cx="0" cy="0"/>
        </a:xfrm>
      </p:grpSpPr>
      <p:pic>
        <p:nvPicPr>
          <p:cNvPr descr="image.png" id="569" name="Google Shape;569;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70" name="Google Shape;570;p35"/>
          <p:cNvPicPr preferRelativeResize="0"/>
          <p:nvPr/>
        </p:nvPicPr>
        <p:blipFill rotWithShape="1">
          <a:blip r:embed="rId4">
            <a:alphaModFix/>
          </a:blip>
          <a:srcRect b="0" l="0" r="0" t="0"/>
          <a:stretch/>
        </p:blipFill>
        <p:spPr>
          <a:xfrm>
            <a:off x="3952875" y="1652587"/>
            <a:ext cx="4286250" cy="4286250"/>
          </a:xfrm>
          <a:prstGeom prst="rect">
            <a:avLst/>
          </a:prstGeom>
          <a:noFill/>
          <a:ln>
            <a:noFill/>
          </a:ln>
        </p:spPr>
      </p:pic>
      <p:pic>
        <p:nvPicPr>
          <p:cNvPr descr="image.png" id="571" name="Google Shape;571;p35"/>
          <p:cNvPicPr preferRelativeResize="0"/>
          <p:nvPr/>
        </p:nvPicPr>
        <p:blipFill rotWithShape="1">
          <a:blip r:embed="rId5">
            <a:alphaModFix/>
          </a:blip>
          <a:srcRect b="0" l="0" r="0" t="0"/>
          <a:stretch/>
        </p:blipFill>
        <p:spPr>
          <a:xfrm>
            <a:off x="5334000" y="1500187"/>
            <a:ext cx="1524000" cy="742950"/>
          </a:xfrm>
          <a:prstGeom prst="rect">
            <a:avLst/>
          </a:prstGeom>
          <a:noFill/>
          <a:ln>
            <a:noFill/>
          </a:ln>
        </p:spPr>
      </p:pic>
      <p:pic>
        <p:nvPicPr>
          <p:cNvPr descr="image.png" id="572" name="Google Shape;572;p35"/>
          <p:cNvPicPr preferRelativeResize="0"/>
          <p:nvPr/>
        </p:nvPicPr>
        <p:blipFill rotWithShape="1">
          <a:blip r:embed="rId6">
            <a:alphaModFix/>
          </a:blip>
          <a:srcRect b="0" l="0" r="0" t="0"/>
          <a:stretch/>
        </p:blipFill>
        <p:spPr>
          <a:xfrm>
            <a:off x="7439025" y="2532608"/>
            <a:ext cx="1524000" cy="742950"/>
          </a:xfrm>
          <a:prstGeom prst="rect">
            <a:avLst/>
          </a:prstGeom>
          <a:noFill/>
          <a:ln>
            <a:noFill/>
          </a:ln>
        </p:spPr>
      </p:pic>
      <p:pic>
        <p:nvPicPr>
          <p:cNvPr descr="image.png" id="573" name="Google Shape;573;p35"/>
          <p:cNvPicPr preferRelativeResize="0"/>
          <p:nvPr/>
        </p:nvPicPr>
        <p:blipFill rotWithShape="1">
          <a:blip r:embed="rId7">
            <a:alphaModFix/>
          </a:blip>
          <a:srcRect b="0" l="0" r="0" t="0"/>
          <a:stretch/>
        </p:blipFill>
        <p:spPr>
          <a:xfrm>
            <a:off x="7439025" y="4315866"/>
            <a:ext cx="1524000" cy="742950"/>
          </a:xfrm>
          <a:prstGeom prst="rect">
            <a:avLst/>
          </a:prstGeom>
          <a:noFill/>
          <a:ln>
            <a:noFill/>
          </a:ln>
        </p:spPr>
      </p:pic>
      <p:pic>
        <p:nvPicPr>
          <p:cNvPr descr="image.png" id="574" name="Google Shape;574;p35"/>
          <p:cNvPicPr preferRelativeResize="0"/>
          <p:nvPr/>
        </p:nvPicPr>
        <p:blipFill rotWithShape="1">
          <a:blip r:embed="rId8">
            <a:alphaModFix/>
          </a:blip>
          <a:srcRect b="0" l="0" r="0" t="0"/>
          <a:stretch/>
        </p:blipFill>
        <p:spPr>
          <a:xfrm>
            <a:off x="5334000" y="5348287"/>
            <a:ext cx="1524000" cy="742950"/>
          </a:xfrm>
          <a:prstGeom prst="rect">
            <a:avLst/>
          </a:prstGeom>
          <a:noFill/>
          <a:ln>
            <a:noFill/>
          </a:ln>
        </p:spPr>
      </p:pic>
      <p:pic>
        <p:nvPicPr>
          <p:cNvPr descr="image.png" id="575" name="Google Shape;575;p35"/>
          <p:cNvPicPr preferRelativeResize="0"/>
          <p:nvPr/>
        </p:nvPicPr>
        <p:blipFill rotWithShape="1">
          <a:blip r:embed="rId9">
            <a:alphaModFix/>
          </a:blip>
          <a:srcRect b="0" l="0" r="0" t="0"/>
          <a:stretch/>
        </p:blipFill>
        <p:spPr>
          <a:xfrm>
            <a:off x="3228975" y="4106316"/>
            <a:ext cx="1524000" cy="952500"/>
          </a:xfrm>
          <a:prstGeom prst="rect">
            <a:avLst/>
          </a:prstGeom>
          <a:noFill/>
          <a:ln>
            <a:noFill/>
          </a:ln>
        </p:spPr>
      </p:pic>
      <p:pic>
        <p:nvPicPr>
          <p:cNvPr descr="image.png" id="576" name="Google Shape;576;p35"/>
          <p:cNvPicPr preferRelativeResize="0"/>
          <p:nvPr/>
        </p:nvPicPr>
        <p:blipFill rotWithShape="1">
          <a:blip r:embed="rId10">
            <a:alphaModFix/>
          </a:blip>
          <a:srcRect b="0" l="0" r="0" t="0"/>
          <a:stretch/>
        </p:blipFill>
        <p:spPr>
          <a:xfrm>
            <a:off x="3228975" y="2532608"/>
            <a:ext cx="1524000" cy="742950"/>
          </a:xfrm>
          <a:prstGeom prst="rect">
            <a:avLst/>
          </a:prstGeom>
          <a:noFill/>
          <a:ln>
            <a:noFill/>
          </a:ln>
        </p:spPr>
      </p:pic>
      <p:pic>
        <p:nvPicPr>
          <p:cNvPr descr="image.png" id="577" name="Google Shape;577;p35"/>
          <p:cNvPicPr preferRelativeResize="0"/>
          <p:nvPr/>
        </p:nvPicPr>
        <p:blipFill rotWithShape="1">
          <a:blip r:embed="rId11">
            <a:alphaModFix/>
          </a:blip>
          <a:srcRect b="0" l="0" r="0" t="0"/>
          <a:stretch/>
        </p:blipFill>
        <p:spPr>
          <a:xfrm>
            <a:off x="5381625" y="3081337"/>
            <a:ext cx="1428750" cy="1428750"/>
          </a:xfrm>
          <a:prstGeom prst="rect">
            <a:avLst/>
          </a:prstGeom>
          <a:noFill/>
          <a:ln>
            <a:noFill/>
          </a:ln>
        </p:spPr>
      </p:pic>
      <p:pic>
        <p:nvPicPr>
          <p:cNvPr descr="image.png" id="578" name="Google Shape;578;p35"/>
          <p:cNvPicPr preferRelativeResize="0"/>
          <p:nvPr/>
        </p:nvPicPr>
        <p:blipFill rotWithShape="1">
          <a:blip r:embed="rId12">
            <a:alphaModFix/>
          </a:blip>
          <a:srcRect b="0" l="0" r="0" t="0"/>
          <a:stretch/>
        </p:blipFill>
        <p:spPr>
          <a:xfrm>
            <a:off x="5557837" y="1690687"/>
            <a:ext cx="133350" cy="152400"/>
          </a:xfrm>
          <a:prstGeom prst="rect">
            <a:avLst/>
          </a:prstGeom>
          <a:noFill/>
          <a:ln>
            <a:noFill/>
          </a:ln>
        </p:spPr>
      </p:pic>
      <p:sp>
        <p:nvSpPr>
          <p:cNvPr id="579" name="Google Shape;579;p35"/>
          <p:cNvSpPr txBox="1"/>
          <p:nvPr/>
        </p:nvSpPr>
        <p:spPr>
          <a:xfrm>
            <a:off x="5543550" y="1909762"/>
            <a:ext cx="110490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000000"/>
                </a:solidFill>
                <a:latin typeface="Open Sans"/>
                <a:ea typeface="Open Sans"/>
                <a:cs typeface="Open Sans"/>
                <a:sym typeface="Open Sans"/>
              </a:rPr>
              <a:t>#MeetBallie Teasers</a:t>
            </a:r>
            <a:endParaRPr/>
          </a:p>
        </p:txBody>
      </p:sp>
      <p:pic>
        <p:nvPicPr>
          <p:cNvPr descr="image.png" id="580" name="Google Shape;580;p35"/>
          <p:cNvPicPr preferRelativeResize="0"/>
          <p:nvPr/>
        </p:nvPicPr>
        <p:blipFill rotWithShape="1">
          <a:blip r:embed="rId13">
            <a:alphaModFix/>
          </a:blip>
          <a:srcRect b="0" l="0" r="0" t="0"/>
          <a:stretch/>
        </p:blipFill>
        <p:spPr>
          <a:xfrm>
            <a:off x="7543044" y="2743722"/>
            <a:ext cx="202406" cy="161925"/>
          </a:xfrm>
          <a:prstGeom prst="rect">
            <a:avLst/>
          </a:prstGeom>
          <a:noFill/>
          <a:ln>
            <a:noFill/>
          </a:ln>
        </p:spPr>
      </p:pic>
      <p:sp>
        <p:nvSpPr>
          <p:cNvPr id="581" name="Google Shape;581;p35"/>
          <p:cNvSpPr txBox="1"/>
          <p:nvPr/>
        </p:nvSpPr>
        <p:spPr>
          <a:xfrm>
            <a:off x="7662862" y="2942183"/>
            <a:ext cx="107632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000000"/>
                </a:solidFill>
                <a:latin typeface="Open Sans"/>
                <a:ea typeface="Open Sans"/>
                <a:cs typeface="Open Sans"/>
                <a:sym typeface="Open Sans"/>
              </a:rPr>
              <a:t>Tech &amp; Pet Bloggers</a:t>
            </a:r>
            <a:endParaRPr/>
          </a:p>
        </p:txBody>
      </p:sp>
      <p:pic>
        <p:nvPicPr>
          <p:cNvPr descr="image.png" id="582" name="Google Shape;582;p35"/>
          <p:cNvPicPr preferRelativeResize="0"/>
          <p:nvPr/>
        </p:nvPicPr>
        <p:blipFill rotWithShape="1">
          <a:blip r:embed="rId14">
            <a:alphaModFix/>
          </a:blip>
          <a:srcRect b="0" l="0" r="0" t="0"/>
          <a:stretch/>
        </p:blipFill>
        <p:spPr>
          <a:xfrm>
            <a:off x="7558525" y="4506366"/>
            <a:ext cx="171450" cy="152400"/>
          </a:xfrm>
          <a:prstGeom prst="rect">
            <a:avLst/>
          </a:prstGeom>
          <a:noFill/>
          <a:ln>
            <a:noFill/>
          </a:ln>
        </p:spPr>
      </p:pic>
      <p:sp>
        <p:nvSpPr>
          <p:cNvPr id="583" name="Google Shape;583;p35"/>
          <p:cNvSpPr txBox="1"/>
          <p:nvPr/>
        </p:nvSpPr>
        <p:spPr>
          <a:xfrm>
            <a:off x="7672387" y="4725441"/>
            <a:ext cx="105727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000000"/>
                </a:solidFill>
                <a:latin typeface="Open Sans"/>
                <a:ea typeface="Open Sans"/>
                <a:cs typeface="Open Sans"/>
                <a:sym typeface="Open Sans"/>
              </a:rPr>
              <a:t>Live Demos in Malls</a:t>
            </a:r>
            <a:endParaRPr/>
          </a:p>
        </p:txBody>
      </p:sp>
      <p:pic>
        <p:nvPicPr>
          <p:cNvPr descr="image.png" id="584" name="Google Shape;584;p35"/>
          <p:cNvPicPr preferRelativeResize="0"/>
          <p:nvPr/>
        </p:nvPicPr>
        <p:blipFill rotWithShape="1">
          <a:blip r:embed="rId15">
            <a:alphaModFix/>
          </a:blip>
          <a:srcRect b="0" l="0" r="0" t="0"/>
          <a:stretch/>
        </p:blipFill>
        <p:spPr>
          <a:xfrm>
            <a:off x="5548312" y="5519737"/>
            <a:ext cx="152400" cy="152400"/>
          </a:xfrm>
          <a:prstGeom prst="rect">
            <a:avLst/>
          </a:prstGeom>
          <a:noFill/>
          <a:ln>
            <a:noFill/>
          </a:ln>
        </p:spPr>
      </p:pic>
      <p:sp>
        <p:nvSpPr>
          <p:cNvPr id="585" name="Google Shape;585;p35"/>
          <p:cNvSpPr txBox="1"/>
          <p:nvPr/>
        </p:nvSpPr>
        <p:spPr>
          <a:xfrm>
            <a:off x="5634037" y="5757862"/>
            <a:ext cx="92392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000000"/>
                </a:solidFill>
                <a:latin typeface="Open Sans"/>
                <a:ea typeface="Open Sans"/>
                <a:cs typeface="Open Sans"/>
                <a:sym typeface="Open Sans"/>
              </a:rPr>
              <a:t>Tech Publications</a:t>
            </a:r>
            <a:endParaRPr/>
          </a:p>
        </p:txBody>
      </p:sp>
      <p:pic>
        <p:nvPicPr>
          <p:cNvPr descr="image.png" id="586" name="Google Shape;586;p35"/>
          <p:cNvPicPr preferRelativeResize="0"/>
          <p:nvPr/>
        </p:nvPicPr>
        <p:blipFill rotWithShape="1">
          <a:blip r:embed="rId16">
            <a:alphaModFix/>
          </a:blip>
          <a:srcRect b="0" l="0" r="0" t="0"/>
          <a:stretch/>
        </p:blipFill>
        <p:spPr>
          <a:xfrm>
            <a:off x="3355212" y="4315866"/>
            <a:ext cx="171450" cy="152400"/>
          </a:xfrm>
          <a:prstGeom prst="rect">
            <a:avLst/>
          </a:prstGeom>
          <a:noFill/>
          <a:ln>
            <a:noFill/>
          </a:ln>
        </p:spPr>
      </p:pic>
      <p:sp>
        <p:nvSpPr>
          <p:cNvPr id="587" name="Google Shape;587;p35"/>
          <p:cNvSpPr txBox="1"/>
          <p:nvPr/>
        </p:nvSpPr>
        <p:spPr>
          <a:xfrm>
            <a:off x="3600450" y="4515891"/>
            <a:ext cx="781050"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000000"/>
                </a:solidFill>
                <a:latin typeface="Open Sans"/>
                <a:ea typeface="Open Sans"/>
                <a:cs typeface="Open Sans"/>
                <a:sym typeface="Open Sans"/>
              </a:rPr>
              <a:t>Targeted YouTube/Meta</a:t>
            </a:r>
            <a:endParaRPr/>
          </a:p>
        </p:txBody>
      </p:sp>
      <p:pic>
        <p:nvPicPr>
          <p:cNvPr descr="image.png" id="588" name="Google Shape;588;p35"/>
          <p:cNvPicPr preferRelativeResize="0"/>
          <p:nvPr/>
        </p:nvPicPr>
        <p:blipFill rotWithShape="1">
          <a:blip r:embed="rId17">
            <a:alphaModFix/>
          </a:blip>
          <a:srcRect b="0" l="0" r="0" t="0"/>
          <a:stretch/>
        </p:blipFill>
        <p:spPr>
          <a:xfrm flipH="1">
            <a:off x="3390917" y="2723105"/>
            <a:ext cx="100000" cy="100000"/>
          </a:xfrm>
          <a:prstGeom prst="rect">
            <a:avLst/>
          </a:prstGeom>
          <a:noFill/>
          <a:ln>
            <a:noFill/>
          </a:ln>
        </p:spPr>
      </p:pic>
      <p:sp>
        <p:nvSpPr>
          <p:cNvPr id="589" name="Google Shape;589;p35"/>
          <p:cNvSpPr txBox="1"/>
          <p:nvPr/>
        </p:nvSpPr>
        <p:spPr>
          <a:xfrm>
            <a:off x="3390900" y="2942183"/>
            <a:ext cx="120015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000000"/>
                </a:solidFill>
                <a:latin typeface="Open Sans"/>
                <a:ea typeface="Open Sans"/>
                <a:cs typeface="Open Sans"/>
                <a:sym typeface="Open Sans"/>
              </a:rPr>
              <a:t>To Samsung Members</a:t>
            </a:r>
            <a:endParaRPr/>
          </a:p>
        </p:txBody>
      </p:sp>
      <p:sp>
        <p:nvSpPr>
          <p:cNvPr id="590" name="Google Shape;590;p35"/>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COMMUNICATION STRATEGY (IMC)</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4" name="Shape 594"/>
        <p:cNvGrpSpPr/>
        <p:nvPr/>
      </p:nvGrpSpPr>
      <p:grpSpPr>
        <a:xfrm>
          <a:off x="0" y="0"/>
          <a:ext cx="0" cy="0"/>
          <a:chOff x="0" y="0"/>
          <a:chExt cx="0" cy="0"/>
        </a:xfrm>
      </p:grpSpPr>
      <p:pic>
        <p:nvPicPr>
          <p:cNvPr descr="image.png" id="595" name="Google Shape;595;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96" name="Google Shape;596;p36"/>
          <p:cNvPicPr preferRelativeResize="0"/>
          <p:nvPr/>
        </p:nvPicPr>
        <p:blipFill rotWithShape="1">
          <a:blip r:embed="rId4">
            <a:alphaModFix/>
          </a:blip>
          <a:srcRect b="0" l="0" r="0" t="0"/>
          <a:stretch/>
        </p:blipFill>
        <p:spPr>
          <a:xfrm>
            <a:off x="571500" y="1209675"/>
            <a:ext cx="11049000" cy="5172075"/>
          </a:xfrm>
          <a:prstGeom prst="rect">
            <a:avLst/>
          </a:prstGeom>
          <a:noFill/>
          <a:ln>
            <a:noFill/>
          </a:ln>
        </p:spPr>
      </p:pic>
      <p:sp>
        <p:nvSpPr>
          <p:cNvPr id="597" name="Google Shape;597;p36"/>
          <p:cNvSpPr txBox="1"/>
          <p:nvPr/>
        </p:nvSpPr>
        <p:spPr>
          <a:xfrm>
            <a:off x="571500" y="1209675"/>
            <a:ext cx="71247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Omnichannel approach with a focus on High-Touch Premium Retail and B2B Integrators.</a:t>
            </a:r>
            <a:endParaRPr/>
          </a:p>
        </p:txBody>
      </p:sp>
      <p:sp>
        <p:nvSpPr>
          <p:cNvPr id="598" name="Google Shape;598;p36"/>
          <p:cNvSpPr txBox="1"/>
          <p:nvPr/>
        </p:nvSpPr>
        <p:spPr>
          <a:xfrm>
            <a:off x="571500" y="3731865"/>
            <a:ext cx="95440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200" u="none" cap="none" strike="noStrike">
                <a:solidFill>
                  <a:srgbClr val="121212"/>
                </a:solidFill>
                <a:latin typeface="Open Sans"/>
                <a:ea typeface="Open Sans"/>
                <a:cs typeface="Open Sans"/>
                <a:sym typeface="Open Sans"/>
              </a:rPr>
              <a:t>*Critical: In-home installation and ecosystem setup by Samsung technicians is mandatory to ensure a flawless initial user experience.</a:t>
            </a:r>
            <a:endParaRPr/>
          </a:p>
        </p:txBody>
      </p:sp>
      <p:sp>
        <p:nvSpPr>
          <p:cNvPr id="599" name="Google Shape;599;p36"/>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DISTRIBUTION STRATEGY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3" name="Shape 603"/>
        <p:cNvGrpSpPr/>
        <p:nvPr/>
      </p:nvGrpSpPr>
      <p:grpSpPr>
        <a:xfrm>
          <a:off x="0" y="0"/>
          <a:ext cx="0" cy="0"/>
          <a:chOff x="0" y="0"/>
          <a:chExt cx="0" cy="0"/>
        </a:xfrm>
      </p:grpSpPr>
      <p:pic>
        <p:nvPicPr>
          <p:cNvPr descr="image.png" id="604" name="Google Shape;604;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05" name="Google Shape;605;p37"/>
          <p:cNvPicPr preferRelativeResize="0"/>
          <p:nvPr/>
        </p:nvPicPr>
        <p:blipFill rotWithShape="1">
          <a:blip r:embed="rId4">
            <a:alphaModFix/>
          </a:blip>
          <a:srcRect b="0" l="0" r="0" t="0"/>
          <a:stretch/>
        </p:blipFill>
        <p:spPr>
          <a:xfrm>
            <a:off x="571500" y="1209675"/>
            <a:ext cx="5453062" cy="2514600"/>
          </a:xfrm>
          <a:prstGeom prst="rect">
            <a:avLst/>
          </a:prstGeom>
          <a:noFill/>
          <a:ln>
            <a:noFill/>
          </a:ln>
        </p:spPr>
      </p:pic>
      <p:pic>
        <p:nvPicPr>
          <p:cNvPr descr="image.png" id="606" name="Google Shape;606;p37"/>
          <p:cNvPicPr preferRelativeResize="0"/>
          <p:nvPr/>
        </p:nvPicPr>
        <p:blipFill rotWithShape="1">
          <a:blip r:embed="rId5">
            <a:alphaModFix/>
          </a:blip>
          <a:srcRect b="0" l="0" r="0" t="0"/>
          <a:stretch/>
        </p:blipFill>
        <p:spPr>
          <a:xfrm>
            <a:off x="6167437" y="1209675"/>
            <a:ext cx="5453062" cy="2514600"/>
          </a:xfrm>
          <a:prstGeom prst="rect">
            <a:avLst/>
          </a:prstGeom>
          <a:noFill/>
          <a:ln>
            <a:noFill/>
          </a:ln>
        </p:spPr>
      </p:pic>
      <p:pic>
        <p:nvPicPr>
          <p:cNvPr descr="image.png" id="607" name="Google Shape;607;p37"/>
          <p:cNvPicPr preferRelativeResize="0"/>
          <p:nvPr/>
        </p:nvPicPr>
        <p:blipFill rotWithShape="1">
          <a:blip r:embed="rId6">
            <a:alphaModFix/>
          </a:blip>
          <a:srcRect b="0" l="0" r="0" t="0"/>
          <a:stretch/>
        </p:blipFill>
        <p:spPr>
          <a:xfrm>
            <a:off x="571500" y="3867150"/>
            <a:ext cx="5453062" cy="2514600"/>
          </a:xfrm>
          <a:prstGeom prst="rect">
            <a:avLst/>
          </a:prstGeom>
          <a:noFill/>
          <a:ln>
            <a:noFill/>
          </a:ln>
        </p:spPr>
      </p:pic>
      <p:pic>
        <p:nvPicPr>
          <p:cNvPr descr="image.png" id="608" name="Google Shape;608;p37"/>
          <p:cNvPicPr preferRelativeResize="0"/>
          <p:nvPr/>
        </p:nvPicPr>
        <p:blipFill rotWithShape="1">
          <a:blip r:embed="rId7">
            <a:alphaModFix/>
          </a:blip>
          <a:srcRect b="0" l="0" r="0" t="0"/>
          <a:stretch/>
        </p:blipFill>
        <p:spPr>
          <a:xfrm>
            <a:off x="6167437" y="3867150"/>
            <a:ext cx="5453062" cy="2514600"/>
          </a:xfrm>
          <a:prstGeom prst="rect">
            <a:avLst/>
          </a:prstGeom>
          <a:noFill/>
          <a:ln>
            <a:noFill/>
          </a:ln>
        </p:spPr>
      </p:pic>
      <p:sp>
        <p:nvSpPr>
          <p:cNvPr id="609" name="Google Shape;609;p37"/>
          <p:cNvSpPr txBox="1"/>
          <p:nvPr/>
        </p:nvSpPr>
        <p:spPr>
          <a:xfrm>
            <a:off x="828675" y="1466850"/>
            <a:ext cx="4938712"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Market Penetration</a:t>
            </a:r>
            <a:endParaRPr/>
          </a:p>
        </p:txBody>
      </p:sp>
      <p:sp>
        <p:nvSpPr>
          <p:cNvPr id="610" name="Google Shape;610;p37"/>
          <p:cNvSpPr txBox="1"/>
          <p:nvPr/>
        </p:nvSpPr>
        <p:spPr>
          <a:xfrm>
            <a:off x="828675" y="1895475"/>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21212"/>
                </a:solidFill>
                <a:latin typeface="Open Sans"/>
                <a:ea typeface="Open Sans"/>
                <a:cs typeface="Open Sans"/>
                <a:sym typeface="Open Sans"/>
              </a:rPr>
              <a:t>Existing Products / Existing Markets</a:t>
            </a:r>
            <a:endParaRPr/>
          </a:p>
        </p:txBody>
      </p:sp>
      <p:sp>
        <p:nvSpPr>
          <p:cNvPr id="611" name="Google Shape;611;p37"/>
          <p:cNvSpPr txBox="1"/>
          <p:nvPr/>
        </p:nvSpPr>
        <p:spPr>
          <a:xfrm>
            <a:off x="828675" y="2251620"/>
            <a:ext cx="4938712"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767676"/>
                </a:solidFill>
                <a:latin typeface="Open Sans"/>
                <a:ea typeface="Open Sans"/>
                <a:cs typeface="Open Sans"/>
                <a:sym typeface="Open Sans"/>
              </a:rPr>
              <a:t>Selling more Galaxy phones or standard Smart TVs in India through aggressive promos.</a:t>
            </a:r>
            <a:endParaRPr/>
          </a:p>
        </p:txBody>
      </p:sp>
      <p:sp>
        <p:nvSpPr>
          <p:cNvPr id="612" name="Google Shape;612;p37"/>
          <p:cNvSpPr txBox="1"/>
          <p:nvPr/>
        </p:nvSpPr>
        <p:spPr>
          <a:xfrm>
            <a:off x="6424612" y="1466850"/>
            <a:ext cx="4938712"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Product Development</a:t>
            </a:r>
            <a:endParaRPr/>
          </a:p>
        </p:txBody>
      </p:sp>
      <p:sp>
        <p:nvSpPr>
          <p:cNvPr id="613" name="Google Shape;613;p37"/>
          <p:cNvSpPr txBox="1"/>
          <p:nvPr/>
        </p:nvSpPr>
        <p:spPr>
          <a:xfrm>
            <a:off x="6424612" y="1895475"/>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21212"/>
                </a:solidFill>
                <a:latin typeface="Open Sans"/>
                <a:ea typeface="Open Sans"/>
                <a:cs typeface="Open Sans"/>
                <a:sym typeface="Open Sans"/>
              </a:rPr>
              <a:t>New Products / Existing Markets</a:t>
            </a:r>
            <a:endParaRPr/>
          </a:p>
        </p:txBody>
      </p:sp>
      <p:sp>
        <p:nvSpPr>
          <p:cNvPr id="614" name="Google Shape;614;p37"/>
          <p:cNvSpPr txBox="1"/>
          <p:nvPr/>
        </p:nvSpPr>
        <p:spPr>
          <a:xfrm>
            <a:off x="6424612" y="2251620"/>
            <a:ext cx="4938712" cy="594270"/>
          </a:xfrm>
          <a:prstGeom prst="rect">
            <a:avLst/>
          </a:prstGeom>
          <a:noFill/>
          <a:ln>
            <a:noFill/>
          </a:ln>
        </p:spPr>
        <p:txBody>
          <a:bodyPr anchorCtr="0" anchor="t" bIns="0" lIns="0" spcFirstLastPara="1" rIns="0" wrap="square" tIns="0">
            <a:spAutoFit/>
          </a:bodyPr>
          <a:lstStyle/>
          <a:p>
            <a:pPr indent="0" lvl="0" marL="0" marR="0" rtl="0" algn="l">
              <a:lnSpc>
                <a:spcPct val="86666"/>
              </a:lnSpc>
              <a:spcBef>
                <a:spcPts val="0"/>
              </a:spcBef>
              <a:spcAft>
                <a:spcPts val="0"/>
              </a:spcAft>
              <a:buNone/>
            </a:pPr>
            <a:r>
              <a:rPr b="1" i="0" lang="en-US" sz="975" u="none" cap="none" strike="noStrike">
                <a:solidFill>
                  <a:srgbClr val="767676"/>
                </a:solidFill>
                <a:latin typeface="Open Sans"/>
                <a:ea typeface="Open Sans"/>
                <a:cs typeface="Open Sans"/>
                <a:sym typeface="Open Sans"/>
              </a:rPr>
              <a:t>*Primary Ballie Strategy*</a:t>
            </a:r>
            <a:br>
              <a:rPr b="0" i="0" lang="en-US" sz="1800" u="none" cap="none" strike="noStrike">
                <a:solidFill>
                  <a:schemeClr val="dk1"/>
                </a:solidFill>
                <a:latin typeface="Calibri"/>
                <a:ea typeface="Calibri"/>
                <a:cs typeface="Calibri"/>
                <a:sym typeface="Calibri"/>
              </a:rPr>
            </a:br>
            <a:r>
              <a:rPr b="0" i="0" lang="en-US" sz="975" u="none" cap="none" strike="noStrike">
                <a:solidFill>
                  <a:srgbClr val="767676"/>
                </a:solidFill>
                <a:latin typeface="Open Sans"/>
                <a:ea typeface="Open Sans"/>
                <a:cs typeface="Open Sans"/>
                <a:sym typeface="Open Sans"/>
              </a:rPr>
              <a:t> Introducing a completely new, innovative product (Ballie) to Samsung's existing loyal customer base in India.</a:t>
            </a:r>
            <a:endParaRPr/>
          </a:p>
        </p:txBody>
      </p:sp>
      <p:sp>
        <p:nvSpPr>
          <p:cNvPr id="615" name="Google Shape;615;p37"/>
          <p:cNvSpPr txBox="1"/>
          <p:nvPr/>
        </p:nvSpPr>
        <p:spPr>
          <a:xfrm>
            <a:off x="828675" y="4124325"/>
            <a:ext cx="4938712"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Market Development</a:t>
            </a:r>
            <a:endParaRPr/>
          </a:p>
        </p:txBody>
      </p:sp>
      <p:sp>
        <p:nvSpPr>
          <p:cNvPr id="616" name="Google Shape;616;p37"/>
          <p:cNvSpPr txBox="1"/>
          <p:nvPr/>
        </p:nvSpPr>
        <p:spPr>
          <a:xfrm>
            <a:off x="828675" y="4552950"/>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21212"/>
                </a:solidFill>
                <a:latin typeface="Open Sans"/>
                <a:ea typeface="Open Sans"/>
                <a:cs typeface="Open Sans"/>
                <a:sym typeface="Open Sans"/>
              </a:rPr>
              <a:t>Existing Products / New Markets</a:t>
            </a:r>
            <a:endParaRPr/>
          </a:p>
        </p:txBody>
      </p:sp>
      <p:sp>
        <p:nvSpPr>
          <p:cNvPr id="617" name="Google Shape;617;p37"/>
          <p:cNvSpPr txBox="1"/>
          <p:nvPr/>
        </p:nvSpPr>
        <p:spPr>
          <a:xfrm>
            <a:off x="828675" y="4909095"/>
            <a:ext cx="4938712"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767676"/>
                </a:solidFill>
                <a:latin typeface="Open Sans"/>
                <a:ea typeface="Open Sans"/>
                <a:cs typeface="Open Sans"/>
                <a:sym typeface="Open Sans"/>
              </a:rPr>
              <a:t>Expanding current appliance sales into deeper Tier-3/Tier-4 rural Indian markets.</a:t>
            </a:r>
            <a:endParaRPr/>
          </a:p>
        </p:txBody>
      </p:sp>
      <p:sp>
        <p:nvSpPr>
          <p:cNvPr id="618" name="Google Shape;618;p37"/>
          <p:cNvSpPr txBox="1"/>
          <p:nvPr/>
        </p:nvSpPr>
        <p:spPr>
          <a:xfrm>
            <a:off x="6424612" y="4124325"/>
            <a:ext cx="4938712"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Diversification</a:t>
            </a:r>
            <a:endParaRPr/>
          </a:p>
        </p:txBody>
      </p:sp>
      <p:sp>
        <p:nvSpPr>
          <p:cNvPr id="619" name="Google Shape;619;p37"/>
          <p:cNvSpPr txBox="1"/>
          <p:nvPr/>
        </p:nvSpPr>
        <p:spPr>
          <a:xfrm>
            <a:off x="6424612" y="4552950"/>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21212"/>
                </a:solidFill>
                <a:latin typeface="Open Sans"/>
                <a:ea typeface="Open Sans"/>
                <a:cs typeface="Open Sans"/>
                <a:sym typeface="Open Sans"/>
              </a:rPr>
              <a:t>New Products / New Markets</a:t>
            </a:r>
            <a:endParaRPr/>
          </a:p>
        </p:txBody>
      </p:sp>
      <p:sp>
        <p:nvSpPr>
          <p:cNvPr id="620" name="Google Shape;620;p37"/>
          <p:cNvSpPr txBox="1"/>
          <p:nvPr/>
        </p:nvSpPr>
        <p:spPr>
          <a:xfrm>
            <a:off x="6424612" y="4909095"/>
            <a:ext cx="4938712"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767676"/>
                </a:solidFill>
                <a:latin typeface="Open Sans"/>
                <a:ea typeface="Open Sans"/>
                <a:cs typeface="Open Sans"/>
                <a:sym typeface="Open Sans"/>
              </a:rPr>
              <a:t>Samsung creating enterprise-level industrial robotics for new B2B manufacturing clients.</a:t>
            </a:r>
            <a:endParaRPr/>
          </a:p>
        </p:txBody>
      </p:sp>
      <p:sp>
        <p:nvSpPr>
          <p:cNvPr id="621" name="Google Shape;621;p37"/>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GROWTH STRATEGY: ANSOFF MATRIX</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pic>
        <p:nvPicPr>
          <p:cNvPr descr="image.png" id="626" name="Google Shape;626;p3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27" name="Google Shape;627;p38"/>
          <p:cNvPicPr preferRelativeResize="0"/>
          <p:nvPr/>
        </p:nvPicPr>
        <p:blipFill rotWithShape="1">
          <a:blip r:embed="rId4">
            <a:alphaModFix/>
          </a:blip>
          <a:srcRect b="0" l="0" r="0" t="0"/>
          <a:stretch/>
        </p:blipFill>
        <p:spPr>
          <a:xfrm>
            <a:off x="571500" y="1674465"/>
            <a:ext cx="5453062" cy="2282130"/>
          </a:xfrm>
          <a:prstGeom prst="rect">
            <a:avLst/>
          </a:prstGeom>
          <a:noFill/>
          <a:ln>
            <a:noFill/>
          </a:ln>
        </p:spPr>
      </p:pic>
      <p:pic>
        <p:nvPicPr>
          <p:cNvPr descr="image.png" id="628" name="Google Shape;628;p38"/>
          <p:cNvPicPr preferRelativeResize="0"/>
          <p:nvPr/>
        </p:nvPicPr>
        <p:blipFill rotWithShape="1">
          <a:blip r:embed="rId5">
            <a:alphaModFix/>
          </a:blip>
          <a:srcRect b="0" l="0" r="0" t="0"/>
          <a:stretch/>
        </p:blipFill>
        <p:spPr>
          <a:xfrm>
            <a:off x="6167437" y="1674465"/>
            <a:ext cx="5453062" cy="2282130"/>
          </a:xfrm>
          <a:prstGeom prst="rect">
            <a:avLst/>
          </a:prstGeom>
          <a:noFill/>
          <a:ln>
            <a:noFill/>
          </a:ln>
        </p:spPr>
      </p:pic>
      <p:pic>
        <p:nvPicPr>
          <p:cNvPr descr="image.png" id="629" name="Google Shape;629;p38"/>
          <p:cNvPicPr preferRelativeResize="0"/>
          <p:nvPr/>
        </p:nvPicPr>
        <p:blipFill rotWithShape="1">
          <a:blip r:embed="rId6">
            <a:alphaModFix/>
          </a:blip>
          <a:srcRect b="0" l="0" r="0" t="0"/>
          <a:stretch/>
        </p:blipFill>
        <p:spPr>
          <a:xfrm>
            <a:off x="571500" y="4099470"/>
            <a:ext cx="5453062" cy="2282279"/>
          </a:xfrm>
          <a:prstGeom prst="rect">
            <a:avLst/>
          </a:prstGeom>
          <a:noFill/>
          <a:ln>
            <a:noFill/>
          </a:ln>
        </p:spPr>
      </p:pic>
      <p:pic>
        <p:nvPicPr>
          <p:cNvPr descr="image.png" id="630" name="Google Shape;630;p38"/>
          <p:cNvPicPr preferRelativeResize="0"/>
          <p:nvPr/>
        </p:nvPicPr>
        <p:blipFill rotWithShape="1">
          <a:blip r:embed="rId7">
            <a:alphaModFix/>
          </a:blip>
          <a:srcRect b="0" l="0" r="0" t="0"/>
          <a:stretch/>
        </p:blipFill>
        <p:spPr>
          <a:xfrm>
            <a:off x="6167437" y="4099470"/>
            <a:ext cx="5453062" cy="2282279"/>
          </a:xfrm>
          <a:prstGeom prst="rect">
            <a:avLst/>
          </a:prstGeom>
          <a:noFill/>
          <a:ln>
            <a:noFill/>
          </a:ln>
        </p:spPr>
      </p:pic>
      <p:sp>
        <p:nvSpPr>
          <p:cNvPr id="631" name="Google Shape;631;p38"/>
          <p:cNvSpPr txBox="1"/>
          <p:nvPr/>
        </p:nvSpPr>
        <p:spPr>
          <a:xfrm>
            <a:off x="571500" y="1209675"/>
            <a:ext cx="51816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21212"/>
                </a:solidFill>
                <a:latin typeface="Open Sans"/>
                <a:ea typeface="Open Sans"/>
                <a:cs typeface="Open Sans"/>
                <a:sym typeface="Open Sans"/>
              </a:rPr>
              <a:t>Evaluating Ballie within Samsung's Indian Smart Home Portfolio:</a:t>
            </a:r>
            <a:endParaRPr/>
          </a:p>
        </p:txBody>
      </p:sp>
      <p:sp>
        <p:nvSpPr>
          <p:cNvPr id="632" name="Google Shape;632;p38"/>
          <p:cNvSpPr txBox="1"/>
          <p:nvPr/>
        </p:nvSpPr>
        <p:spPr>
          <a:xfrm>
            <a:off x="5295900" y="1436340"/>
            <a:ext cx="16002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00000"/>
                </a:solidFill>
                <a:latin typeface="Open Sans"/>
                <a:ea typeface="Open Sans"/>
                <a:cs typeface="Open Sans"/>
                <a:sym typeface="Open Sans"/>
              </a:rPr>
              <a:t>Relative Market Share →</a:t>
            </a:r>
            <a:endParaRPr/>
          </a:p>
        </p:txBody>
      </p:sp>
      <p:sp>
        <p:nvSpPr>
          <p:cNvPr id="633" name="Google Shape;633;p38"/>
          <p:cNvSpPr txBox="1"/>
          <p:nvPr/>
        </p:nvSpPr>
        <p:spPr>
          <a:xfrm>
            <a:off x="895350" y="3280320"/>
            <a:ext cx="1809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634" name="Google Shape;634;p38"/>
          <p:cNvSpPr txBox="1"/>
          <p:nvPr/>
        </p:nvSpPr>
        <p:spPr>
          <a:xfrm>
            <a:off x="1162050" y="1931640"/>
            <a:ext cx="4605337"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Stars</a:t>
            </a:r>
            <a:endParaRPr/>
          </a:p>
        </p:txBody>
      </p:sp>
      <p:sp>
        <p:nvSpPr>
          <p:cNvPr id="635" name="Google Shape;635;p38"/>
          <p:cNvSpPr txBox="1"/>
          <p:nvPr/>
        </p:nvSpPr>
        <p:spPr>
          <a:xfrm>
            <a:off x="828675" y="2360265"/>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1" i="0" lang="en-US" sz="1050" u="none" cap="none" strike="noStrike">
                <a:solidFill>
                  <a:srgbClr val="121212"/>
                </a:solidFill>
                <a:latin typeface="Open Sans"/>
                <a:ea typeface="Open Sans"/>
                <a:cs typeface="Open Sans"/>
                <a:sym typeface="Open Sans"/>
              </a:rPr>
              <a:t>(High Growth, High Share)</a:t>
            </a:r>
            <a:endParaRPr/>
          </a:p>
        </p:txBody>
      </p:sp>
      <p:sp>
        <p:nvSpPr>
          <p:cNvPr id="636" name="Google Shape;636;p38"/>
          <p:cNvSpPr txBox="1"/>
          <p:nvPr/>
        </p:nvSpPr>
        <p:spPr>
          <a:xfrm>
            <a:off x="828675" y="2716410"/>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21212"/>
                </a:solidFill>
                <a:latin typeface="Open Sans"/>
                <a:ea typeface="Open Sans"/>
                <a:cs typeface="Open Sans"/>
                <a:sym typeface="Open Sans"/>
              </a:rPr>
              <a:t>Samsung Smart TVs, Premium Neo QLEDs, and Smart Refrigerators.</a:t>
            </a:r>
            <a:endParaRPr/>
          </a:p>
        </p:txBody>
      </p:sp>
      <p:sp>
        <p:nvSpPr>
          <p:cNvPr id="637" name="Google Shape;637;p38"/>
          <p:cNvSpPr txBox="1"/>
          <p:nvPr/>
        </p:nvSpPr>
        <p:spPr>
          <a:xfrm>
            <a:off x="6662737" y="1941165"/>
            <a:ext cx="4691062"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Question Marks</a:t>
            </a:r>
            <a:endParaRPr/>
          </a:p>
        </p:txBody>
      </p:sp>
      <p:sp>
        <p:nvSpPr>
          <p:cNvPr id="638" name="Google Shape;638;p38"/>
          <p:cNvSpPr txBox="1"/>
          <p:nvPr/>
        </p:nvSpPr>
        <p:spPr>
          <a:xfrm>
            <a:off x="6434137" y="2369790"/>
            <a:ext cx="491966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1" i="0" lang="en-US" sz="1050" u="none" cap="none" strike="noStrike">
                <a:solidFill>
                  <a:srgbClr val="121212"/>
                </a:solidFill>
                <a:latin typeface="Open Sans"/>
                <a:ea typeface="Open Sans"/>
                <a:cs typeface="Open Sans"/>
                <a:sym typeface="Open Sans"/>
              </a:rPr>
              <a:t>(High Growth, Low Share)</a:t>
            </a:r>
            <a:endParaRPr/>
          </a:p>
        </p:txBody>
      </p:sp>
      <p:sp>
        <p:nvSpPr>
          <p:cNvPr id="639" name="Google Shape;639;p38"/>
          <p:cNvSpPr txBox="1"/>
          <p:nvPr/>
        </p:nvSpPr>
        <p:spPr>
          <a:xfrm>
            <a:off x="6434137" y="2725935"/>
            <a:ext cx="4919662" cy="426541"/>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1" i="0" lang="en-US" sz="1050" u="none" cap="none" strike="noStrike">
                <a:solidFill>
                  <a:srgbClr val="121212"/>
                </a:solidFill>
                <a:latin typeface="Open Sans"/>
                <a:ea typeface="Open Sans"/>
                <a:cs typeface="Open Sans"/>
                <a:sym typeface="Open Sans"/>
              </a:rPr>
              <a:t>Samsung Ballie.</a:t>
            </a:r>
            <a:r>
              <a:rPr b="0" i="0" lang="en-US" sz="1050" u="none" cap="none" strike="noStrike">
                <a:solidFill>
                  <a:srgbClr val="121212"/>
                </a:solidFill>
                <a:latin typeface="Open Sans"/>
                <a:ea typeface="Open Sans"/>
                <a:cs typeface="Open Sans"/>
                <a:sym typeface="Open Sans"/>
              </a:rPr>
              <a:t> Operates in a booming 30% CAGR market, but holds 0% share at launch. Requires heavy investment to become a Star.</a:t>
            </a:r>
            <a:endParaRPr/>
          </a:p>
        </p:txBody>
      </p:sp>
      <p:sp>
        <p:nvSpPr>
          <p:cNvPr id="640" name="Google Shape;640;p38"/>
          <p:cNvSpPr txBox="1"/>
          <p:nvPr/>
        </p:nvSpPr>
        <p:spPr>
          <a:xfrm>
            <a:off x="1133475" y="4356645"/>
            <a:ext cx="4633912"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Cash Cows</a:t>
            </a:r>
            <a:endParaRPr/>
          </a:p>
        </p:txBody>
      </p:sp>
      <p:sp>
        <p:nvSpPr>
          <p:cNvPr id="641" name="Google Shape;641;p38"/>
          <p:cNvSpPr txBox="1"/>
          <p:nvPr/>
        </p:nvSpPr>
        <p:spPr>
          <a:xfrm>
            <a:off x="828675" y="4785270"/>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1" i="0" lang="en-US" sz="1050" u="none" cap="none" strike="noStrike">
                <a:solidFill>
                  <a:srgbClr val="121212"/>
                </a:solidFill>
                <a:latin typeface="Open Sans"/>
                <a:ea typeface="Open Sans"/>
                <a:cs typeface="Open Sans"/>
                <a:sym typeface="Open Sans"/>
              </a:rPr>
              <a:t>(Low Growth, High Share)</a:t>
            </a:r>
            <a:endParaRPr/>
          </a:p>
        </p:txBody>
      </p:sp>
      <p:sp>
        <p:nvSpPr>
          <p:cNvPr id="642" name="Google Shape;642;p38"/>
          <p:cNvSpPr txBox="1"/>
          <p:nvPr/>
        </p:nvSpPr>
        <p:spPr>
          <a:xfrm>
            <a:off x="828675" y="5141416"/>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21212"/>
                </a:solidFill>
                <a:latin typeface="Open Sans"/>
                <a:ea typeface="Open Sans"/>
                <a:cs typeface="Open Sans"/>
                <a:sym typeface="Open Sans"/>
              </a:rPr>
              <a:t>Standard Microwave Ovens, Traditional AC units, Mid-range smartphones.</a:t>
            </a:r>
            <a:endParaRPr/>
          </a:p>
        </p:txBody>
      </p:sp>
      <p:sp>
        <p:nvSpPr>
          <p:cNvPr id="643" name="Google Shape;643;p38"/>
          <p:cNvSpPr txBox="1"/>
          <p:nvPr/>
        </p:nvSpPr>
        <p:spPr>
          <a:xfrm>
            <a:off x="6757987" y="4356645"/>
            <a:ext cx="4605337"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34EA2"/>
                </a:solidFill>
                <a:latin typeface="Open Sans"/>
                <a:ea typeface="Open Sans"/>
                <a:cs typeface="Open Sans"/>
                <a:sym typeface="Open Sans"/>
              </a:rPr>
              <a:t>Dogs</a:t>
            </a:r>
            <a:endParaRPr/>
          </a:p>
        </p:txBody>
      </p:sp>
      <p:sp>
        <p:nvSpPr>
          <p:cNvPr id="644" name="Google Shape;644;p38"/>
          <p:cNvSpPr txBox="1"/>
          <p:nvPr/>
        </p:nvSpPr>
        <p:spPr>
          <a:xfrm>
            <a:off x="6424612" y="4785270"/>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1" i="0" lang="en-US" sz="1050" u="none" cap="none" strike="noStrike">
                <a:solidFill>
                  <a:srgbClr val="121212"/>
                </a:solidFill>
                <a:latin typeface="Open Sans"/>
                <a:ea typeface="Open Sans"/>
                <a:cs typeface="Open Sans"/>
                <a:sym typeface="Open Sans"/>
              </a:rPr>
              <a:t>(Low Growth, Low Share)</a:t>
            </a:r>
            <a:endParaRPr/>
          </a:p>
        </p:txBody>
      </p:sp>
      <p:sp>
        <p:nvSpPr>
          <p:cNvPr id="645" name="Google Shape;645;p38"/>
          <p:cNvSpPr txBox="1"/>
          <p:nvPr/>
        </p:nvSpPr>
        <p:spPr>
          <a:xfrm>
            <a:off x="6424612" y="5141416"/>
            <a:ext cx="4938712"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21212"/>
                </a:solidFill>
                <a:latin typeface="Open Sans"/>
                <a:ea typeface="Open Sans"/>
                <a:cs typeface="Open Sans"/>
                <a:sym typeface="Open Sans"/>
              </a:rPr>
              <a:t>Outdated point-and-shoot cameras, obsolete feature phones.</a:t>
            </a:r>
            <a:endParaRPr/>
          </a:p>
        </p:txBody>
      </p:sp>
      <p:pic>
        <p:nvPicPr>
          <p:cNvPr descr="image.png" id="646" name="Google Shape;646;p38"/>
          <p:cNvPicPr preferRelativeResize="0"/>
          <p:nvPr/>
        </p:nvPicPr>
        <p:blipFill rotWithShape="1">
          <a:blip r:embed="rId8">
            <a:alphaModFix/>
          </a:blip>
          <a:srcRect b="0" l="0" r="0" t="0"/>
          <a:stretch/>
        </p:blipFill>
        <p:spPr>
          <a:xfrm>
            <a:off x="828675" y="1969740"/>
            <a:ext cx="238125" cy="209550"/>
          </a:xfrm>
          <a:prstGeom prst="rect">
            <a:avLst/>
          </a:prstGeom>
          <a:noFill/>
          <a:ln>
            <a:noFill/>
          </a:ln>
        </p:spPr>
      </p:pic>
      <p:pic>
        <p:nvPicPr>
          <p:cNvPr descr="image.png" id="647" name="Google Shape;647;p38"/>
          <p:cNvPicPr preferRelativeResize="0"/>
          <p:nvPr/>
        </p:nvPicPr>
        <p:blipFill rotWithShape="1">
          <a:blip r:embed="rId9">
            <a:alphaModFix/>
          </a:blip>
          <a:srcRect b="0" l="0" r="0" t="0"/>
          <a:stretch/>
        </p:blipFill>
        <p:spPr>
          <a:xfrm>
            <a:off x="6434137" y="1979265"/>
            <a:ext cx="133350" cy="209550"/>
          </a:xfrm>
          <a:prstGeom prst="rect">
            <a:avLst/>
          </a:prstGeom>
          <a:noFill/>
          <a:ln>
            <a:noFill/>
          </a:ln>
        </p:spPr>
      </p:pic>
      <p:pic>
        <p:nvPicPr>
          <p:cNvPr descr="image.png" id="648" name="Google Shape;648;p38"/>
          <p:cNvPicPr preferRelativeResize="0"/>
          <p:nvPr/>
        </p:nvPicPr>
        <p:blipFill rotWithShape="1">
          <a:blip r:embed="rId10">
            <a:alphaModFix/>
          </a:blip>
          <a:srcRect b="0" l="0" r="0" t="0"/>
          <a:stretch/>
        </p:blipFill>
        <p:spPr>
          <a:xfrm>
            <a:off x="828675" y="4394745"/>
            <a:ext cx="209550" cy="209550"/>
          </a:xfrm>
          <a:prstGeom prst="rect">
            <a:avLst/>
          </a:prstGeom>
          <a:noFill/>
          <a:ln>
            <a:noFill/>
          </a:ln>
        </p:spPr>
      </p:pic>
      <p:pic>
        <p:nvPicPr>
          <p:cNvPr descr="image.png" id="649" name="Google Shape;649;p38"/>
          <p:cNvPicPr preferRelativeResize="0"/>
          <p:nvPr/>
        </p:nvPicPr>
        <p:blipFill rotWithShape="1">
          <a:blip r:embed="rId11">
            <a:alphaModFix/>
          </a:blip>
          <a:srcRect b="0" l="0" r="0" t="0"/>
          <a:stretch/>
        </p:blipFill>
        <p:spPr>
          <a:xfrm>
            <a:off x="6424612" y="4394745"/>
            <a:ext cx="238125" cy="209550"/>
          </a:xfrm>
          <a:prstGeom prst="rect">
            <a:avLst/>
          </a:prstGeom>
          <a:noFill/>
          <a:ln>
            <a:noFill/>
          </a:ln>
        </p:spPr>
      </p:pic>
      <p:sp>
        <p:nvSpPr>
          <p:cNvPr id="650" name="Google Shape;650;p38"/>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PRODUCT PORTFOLIO ANALYSIS: BCG MATRIX</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4" name="Shape 654"/>
        <p:cNvGrpSpPr/>
        <p:nvPr/>
      </p:nvGrpSpPr>
      <p:grpSpPr>
        <a:xfrm>
          <a:off x="0" y="0"/>
          <a:ext cx="0" cy="0"/>
          <a:chOff x="0" y="0"/>
          <a:chExt cx="0" cy="0"/>
        </a:xfrm>
      </p:grpSpPr>
      <p:pic>
        <p:nvPicPr>
          <p:cNvPr descr="image.png" id="655" name="Google Shape;655;p3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56" name="Google Shape;656;p39"/>
          <p:cNvSpPr txBox="1"/>
          <p:nvPr/>
        </p:nvSpPr>
        <p:spPr>
          <a:xfrm>
            <a:off x="323135" y="1409848"/>
            <a:ext cx="10431303" cy="552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600" u="none" cap="none" strike="noStrike">
                <a:solidFill>
                  <a:srgbClr val="034EA2"/>
                </a:solidFill>
                <a:latin typeface="Montserrat SemiBold"/>
                <a:ea typeface="Montserrat SemiBold"/>
                <a:cs typeface="Montserrat SemiBold"/>
                <a:sym typeface="Montserrat SemiBold"/>
              </a:rPr>
              <a:t>Conclusion &amp; Strategic Recommendations</a:t>
            </a:r>
            <a:endParaRPr/>
          </a:p>
        </p:txBody>
      </p:sp>
      <p:sp>
        <p:nvSpPr>
          <p:cNvPr id="657" name="Google Shape;657;p39"/>
          <p:cNvSpPr/>
          <p:nvPr/>
        </p:nvSpPr>
        <p:spPr>
          <a:xfrm>
            <a:off x="5157787" y="2152798"/>
            <a:ext cx="762000" cy="3810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8" name="Google Shape;658;p39"/>
          <p:cNvSpPr txBox="1"/>
          <p:nvPr/>
        </p:nvSpPr>
        <p:spPr>
          <a:xfrm>
            <a:off x="1252537" y="2571898"/>
            <a:ext cx="8572500" cy="6703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121212"/>
                </a:solidFill>
                <a:latin typeface="Open Sans"/>
                <a:ea typeface="Open Sans"/>
                <a:cs typeface="Open Sans"/>
                <a:sym typeface="Open Sans"/>
              </a:rPr>
              <a:t>Samsung Ballie is positioned to redefine the Indian Smart Home landscape, moving beyond reactive voice control to </a:t>
            </a:r>
            <a:r>
              <a:rPr b="1" i="0" lang="en-US" sz="1650" u="none" cap="none" strike="noStrike">
                <a:solidFill>
                  <a:srgbClr val="121212"/>
                </a:solidFill>
                <a:latin typeface="Open Sans"/>
                <a:ea typeface="Open Sans"/>
                <a:cs typeface="Open Sans"/>
                <a:sym typeface="Open Sans"/>
              </a:rPr>
              <a:t>proactive, visual, and mobile companionship.</a:t>
            </a:r>
            <a:endParaRPr/>
          </a:p>
        </p:txBody>
      </p:sp>
      <p:sp>
        <p:nvSpPr>
          <p:cNvPr id="659" name="Google Shape;659;p39"/>
          <p:cNvSpPr txBox="1"/>
          <p:nvPr/>
        </p:nvSpPr>
        <p:spPr>
          <a:xfrm>
            <a:off x="1728787" y="3527970"/>
            <a:ext cx="7620000" cy="548580"/>
          </a:xfrm>
          <a:prstGeom prst="rect">
            <a:avLst/>
          </a:prstGeom>
          <a:noFill/>
          <a:ln>
            <a:noFill/>
          </a:ln>
        </p:spPr>
        <p:txBody>
          <a:bodyPr anchorCtr="0" anchor="t" bIns="0" lIns="2476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Focus on Experiential Marketing:</a:t>
            </a:r>
            <a:r>
              <a:rPr b="0" i="0" lang="en-US" sz="1350" u="none" cap="none" strike="noStrike">
                <a:solidFill>
                  <a:srgbClr val="121212"/>
                </a:solidFill>
                <a:latin typeface="Open Sans"/>
                <a:ea typeface="Open Sans"/>
                <a:cs typeface="Open Sans"/>
                <a:sym typeface="Open Sans"/>
              </a:rPr>
              <a:t> Demos are critical; consumers must </a:t>
            </a:r>
            <a:r>
              <a:rPr b="0" i="1" lang="en-US" sz="1350" u="none" cap="none" strike="noStrike">
                <a:solidFill>
                  <a:srgbClr val="121212"/>
                </a:solidFill>
                <a:latin typeface="Open Sans"/>
                <a:ea typeface="Open Sans"/>
                <a:cs typeface="Open Sans"/>
                <a:sym typeface="Open Sans"/>
              </a:rPr>
              <a:t>see</a:t>
            </a:r>
            <a:r>
              <a:rPr b="0" i="0" lang="en-US" sz="1350" u="none" cap="none" strike="noStrike">
                <a:solidFill>
                  <a:srgbClr val="121212"/>
                </a:solidFill>
                <a:latin typeface="Open Sans"/>
                <a:ea typeface="Open Sans"/>
                <a:cs typeface="Open Sans"/>
                <a:sym typeface="Open Sans"/>
              </a:rPr>
              <a:t> the projector and tracking in action.</a:t>
            </a:r>
            <a:endParaRPr/>
          </a:p>
        </p:txBody>
      </p:sp>
      <p:sp>
        <p:nvSpPr>
          <p:cNvPr id="660" name="Google Shape;660;p39"/>
          <p:cNvSpPr txBox="1"/>
          <p:nvPr/>
        </p:nvSpPr>
        <p:spPr>
          <a:xfrm>
            <a:off x="1728787" y="4076551"/>
            <a:ext cx="7620000" cy="548580"/>
          </a:xfrm>
          <a:prstGeom prst="rect">
            <a:avLst/>
          </a:prstGeom>
          <a:noFill/>
          <a:ln>
            <a:noFill/>
          </a:ln>
        </p:spPr>
        <p:txBody>
          <a:bodyPr anchorCtr="0" anchor="t" bIns="0" lIns="2476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Leverage the Galaxy Ecosystem:</a:t>
            </a:r>
            <a:r>
              <a:rPr b="0" i="0" lang="en-US" sz="1350" u="none" cap="none" strike="noStrike">
                <a:solidFill>
                  <a:srgbClr val="121212"/>
                </a:solidFill>
                <a:latin typeface="Open Sans"/>
                <a:ea typeface="Open Sans"/>
                <a:cs typeface="Open Sans"/>
                <a:sym typeface="Open Sans"/>
              </a:rPr>
              <a:t> Bundle with existing premium products to lower the initial price barrier.</a:t>
            </a:r>
            <a:endParaRPr/>
          </a:p>
        </p:txBody>
      </p:sp>
      <p:sp>
        <p:nvSpPr>
          <p:cNvPr id="661" name="Google Shape;661;p39"/>
          <p:cNvSpPr txBox="1"/>
          <p:nvPr/>
        </p:nvSpPr>
        <p:spPr>
          <a:xfrm>
            <a:off x="1728787" y="4625131"/>
            <a:ext cx="7620000" cy="548580"/>
          </a:xfrm>
          <a:prstGeom prst="rect">
            <a:avLst/>
          </a:prstGeom>
          <a:noFill/>
          <a:ln>
            <a:noFill/>
          </a:ln>
        </p:spPr>
        <p:txBody>
          <a:bodyPr anchorCtr="0" anchor="t" bIns="0" lIns="2476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Prioritize B2B PropTech:</a:t>
            </a:r>
            <a:r>
              <a:rPr b="0" i="0" lang="en-US" sz="1350" u="none" cap="none" strike="noStrike">
                <a:solidFill>
                  <a:srgbClr val="121212"/>
                </a:solidFill>
                <a:latin typeface="Open Sans"/>
                <a:ea typeface="Open Sans"/>
                <a:cs typeface="Open Sans"/>
                <a:sym typeface="Open Sans"/>
              </a:rPr>
              <a:t> Partner with luxury builders to integrate Ballie as a standard home feature.</a:t>
            </a:r>
            <a:endParaRPr/>
          </a:p>
        </p:txBody>
      </p:sp>
      <p:sp>
        <p:nvSpPr>
          <p:cNvPr id="662" name="Google Shape;662;p39"/>
          <p:cNvSpPr txBox="1"/>
          <p:nvPr/>
        </p:nvSpPr>
        <p:spPr>
          <a:xfrm>
            <a:off x="1728787" y="5173712"/>
            <a:ext cx="7620000" cy="274290"/>
          </a:xfrm>
          <a:prstGeom prst="rect">
            <a:avLst/>
          </a:prstGeom>
          <a:noFill/>
          <a:ln>
            <a:noFill/>
          </a:ln>
        </p:spPr>
        <p:txBody>
          <a:bodyPr anchorCtr="0" anchor="t" bIns="0" lIns="2476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121212"/>
                </a:solidFill>
                <a:latin typeface="Open Sans"/>
                <a:ea typeface="Open Sans"/>
                <a:cs typeface="Open Sans"/>
                <a:sym typeface="Open Sans"/>
              </a:rPr>
              <a:t>Emphasize Security &amp; Care:</a:t>
            </a:r>
            <a:r>
              <a:rPr b="0" i="0" lang="en-US" sz="1350" u="none" cap="none" strike="noStrike">
                <a:solidFill>
                  <a:srgbClr val="121212"/>
                </a:solidFill>
                <a:latin typeface="Open Sans"/>
                <a:ea typeface="Open Sans"/>
                <a:cs typeface="Open Sans"/>
                <a:sym typeface="Open Sans"/>
              </a:rPr>
              <a:t> Win the trust of working parents and pet owners.</a:t>
            </a:r>
            <a:endParaRPr/>
          </a:p>
        </p:txBody>
      </p:sp>
      <p:pic>
        <p:nvPicPr>
          <p:cNvPr descr="image.png" id="663" name="Google Shape;663;p39"/>
          <p:cNvPicPr preferRelativeResize="0"/>
          <p:nvPr/>
        </p:nvPicPr>
        <p:blipFill rotWithShape="1">
          <a:blip r:embed="rId4">
            <a:alphaModFix/>
          </a:blip>
          <a:srcRect b="0" l="0" r="0" t="0"/>
          <a:stretch/>
        </p:blipFill>
        <p:spPr>
          <a:xfrm>
            <a:off x="1728787" y="3580358"/>
            <a:ext cx="152400" cy="180975"/>
          </a:xfrm>
          <a:prstGeom prst="rect">
            <a:avLst/>
          </a:prstGeom>
          <a:noFill/>
          <a:ln>
            <a:noFill/>
          </a:ln>
        </p:spPr>
      </p:pic>
      <p:pic>
        <p:nvPicPr>
          <p:cNvPr descr="image.png" id="664" name="Google Shape;664;p39"/>
          <p:cNvPicPr preferRelativeResize="0"/>
          <p:nvPr/>
        </p:nvPicPr>
        <p:blipFill rotWithShape="1">
          <a:blip r:embed="rId4">
            <a:alphaModFix/>
          </a:blip>
          <a:srcRect b="0" l="0" r="0" t="0"/>
          <a:stretch/>
        </p:blipFill>
        <p:spPr>
          <a:xfrm>
            <a:off x="1728787" y="4128938"/>
            <a:ext cx="152400" cy="180975"/>
          </a:xfrm>
          <a:prstGeom prst="rect">
            <a:avLst/>
          </a:prstGeom>
          <a:noFill/>
          <a:ln>
            <a:noFill/>
          </a:ln>
        </p:spPr>
      </p:pic>
      <p:pic>
        <p:nvPicPr>
          <p:cNvPr descr="image.png" id="665" name="Google Shape;665;p39"/>
          <p:cNvPicPr preferRelativeResize="0"/>
          <p:nvPr/>
        </p:nvPicPr>
        <p:blipFill rotWithShape="1">
          <a:blip r:embed="rId4">
            <a:alphaModFix/>
          </a:blip>
          <a:srcRect b="0" l="0" r="0" t="0"/>
          <a:stretch/>
        </p:blipFill>
        <p:spPr>
          <a:xfrm>
            <a:off x="1728787" y="4677519"/>
            <a:ext cx="152400" cy="180975"/>
          </a:xfrm>
          <a:prstGeom prst="rect">
            <a:avLst/>
          </a:prstGeom>
          <a:noFill/>
          <a:ln>
            <a:noFill/>
          </a:ln>
        </p:spPr>
      </p:pic>
      <p:pic>
        <p:nvPicPr>
          <p:cNvPr descr="image.png" id="666" name="Google Shape;666;p39"/>
          <p:cNvPicPr preferRelativeResize="0"/>
          <p:nvPr/>
        </p:nvPicPr>
        <p:blipFill rotWithShape="1">
          <a:blip r:embed="rId4">
            <a:alphaModFix/>
          </a:blip>
          <a:srcRect b="0" l="0" r="0" t="0"/>
          <a:stretch/>
        </p:blipFill>
        <p:spPr>
          <a:xfrm>
            <a:off x="1728787" y="5226099"/>
            <a:ext cx="152400" cy="1809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0" name="Shape 670"/>
        <p:cNvGrpSpPr/>
        <p:nvPr/>
      </p:nvGrpSpPr>
      <p:grpSpPr>
        <a:xfrm>
          <a:off x="0" y="0"/>
          <a:ext cx="0" cy="0"/>
          <a:chOff x="0" y="0"/>
          <a:chExt cx="0" cy="0"/>
        </a:xfrm>
      </p:grpSpPr>
      <p:pic>
        <p:nvPicPr>
          <p:cNvPr descr="image.png" id="671" name="Google Shape;671;p4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72" name="Google Shape;672;p40"/>
          <p:cNvSpPr txBox="1"/>
          <p:nvPr/>
        </p:nvSpPr>
        <p:spPr>
          <a:xfrm>
            <a:off x="857250" y="1209675"/>
            <a:ext cx="107632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21212"/>
                </a:solidFill>
                <a:latin typeface="Open Sans"/>
                <a:ea typeface="Open Sans"/>
                <a:cs typeface="Open Sans"/>
                <a:sym typeface="Open Sans"/>
              </a:rPr>
              <a:t>Gulf News. (2024, January). </a:t>
            </a:r>
            <a:r>
              <a:rPr b="0" i="1" lang="en-US" sz="1200" u="none" cap="none" strike="noStrike">
                <a:solidFill>
                  <a:srgbClr val="121212"/>
                </a:solidFill>
                <a:latin typeface="Open Sans"/>
                <a:ea typeface="Open Sans"/>
                <a:cs typeface="Open Sans"/>
                <a:sym typeface="Open Sans"/>
              </a:rPr>
              <a:t>CES 2024: Meet Samsung's Ballie, a rolling AI robot that helps control your home, entertain pets</a:t>
            </a:r>
            <a:r>
              <a:rPr b="0" i="0" lang="en-US" sz="1200" u="none" cap="none" strike="noStrike">
                <a:solidFill>
                  <a:srgbClr val="121212"/>
                </a:solidFill>
                <a:latin typeface="Open Sans"/>
                <a:ea typeface="Open Sans"/>
                <a:cs typeface="Open Sans"/>
                <a:sym typeface="Open Sans"/>
              </a:rPr>
              <a:t>. Retrieved from https://gulfnews.com</a:t>
            </a:r>
            <a:endParaRPr/>
          </a:p>
        </p:txBody>
      </p:sp>
      <p:sp>
        <p:nvSpPr>
          <p:cNvPr id="673" name="Google Shape;673;p40"/>
          <p:cNvSpPr txBox="1"/>
          <p:nvPr/>
        </p:nvSpPr>
        <p:spPr>
          <a:xfrm>
            <a:off x="857250" y="1840110"/>
            <a:ext cx="107632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21212"/>
                </a:solidFill>
                <a:latin typeface="Open Sans"/>
                <a:ea typeface="Open Sans"/>
                <a:cs typeface="Open Sans"/>
                <a:sym typeface="Open Sans"/>
              </a:rPr>
              <a:t>IMARC Group. (2025). </a:t>
            </a:r>
            <a:r>
              <a:rPr b="0" i="1" lang="en-US" sz="1200" u="none" cap="none" strike="noStrike">
                <a:solidFill>
                  <a:srgbClr val="121212"/>
                </a:solidFill>
                <a:latin typeface="Open Sans"/>
                <a:ea typeface="Open Sans"/>
                <a:cs typeface="Open Sans"/>
                <a:sym typeface="Open Sans"/>
              </a:rPr>
              <a:t>Smart Home Devices Market in India - Size &amp; Forecast 2034</a:t>
            </a:r>
            <a:r>
              <a:rPr b="0" i="0" lang="en-US" sz="1200" u="none" cap="none" strike="noStrike">
                <a:solidFill>
                  <a:srgbClr val="121212"/>
                </a:solidFill>
                <a:latin typeface="Open Sans"/>
                <a:ea typeface="Open Sans"/>
                <a:cs typeface="Open Sans"/>
                <a:sym typeface="Open Sans"/>
              </a:rPr>
              <a:t>. Retrieved from https://www.imarcgroup.com/india-smart-home-devices-market</a:t>
            </a:r>
            <a:endParaRPr/>
          </a:p>
        </p:txBody>
      </p:sp>
      <p:sp>
        <p:nvSpPr>
          <p:cNvPr id="674" name="Google Shape;674;p40"/>
          <p:cNvSpPr txBox="1"/>
          <p:nvPr/>
        </p:nvSpPr>
        <p:spPr>
          <a:xfrm>
            <a:off x="857250" y="2470546"/>
            <a:ext cx="107632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21212"/>
                </a:solidFill>
                <a:latin typeface="Open Sans"/>
                <a:ea typeface="Open Sans"/>
                <a:cs typeface="Open Sans"/>
                <a:sym typeface="Open Sans"/>
              </a:rPr>
              <a:t>Next Move Strategy Consulting. (2024). </a:t>
            </a:r>
            <a:r>
              <a:rPr b="0" i="1" lang="en-US" sz="1200" u="none" cap="none" strike="noStrike">
                <a:solidFill>
                  <a:srgbClr val="121212"/>
                </a:solidFill>
                <a:latin typeface="Open Sans"/>
                <a:ea typeface="Open Sans"/>
                <a:cs typeface="Open Sans"/>
                <a:sym typeface="Open Sans"/>
              </a:rPr>
              <a:t>Samsung Unveils Ballie AI Home Companion at CES 2024</a:t>
            </a:r>
            <a:r>
              <a:rPr b="0" i="0" lang="en-US" sz="1200" u="none" cap="none" strike="noStrike">
                <a:solidFill>
                  <a:srgbClr val="121212"/>
                </a:solidFill>
                <a:latin typeface="Open Sans"/>
                <a:ea typeface="Open Sans"/>
                <a:cs typeface="Open Sans"/>
                <a:sym typeface="Open Sans"/>
              </a:rPr>
              <a:t>. Retrieved from https://www.nextmsc.com</a:t>
            </a:r>
            <a:endParaRPr/>
          </a:p>
        </p:txBody>
      </p:sp>
      <p:sp>
        <p:nvSpPr>
          <p:cNvPr id="675" name="Google Shape;675;p40"/>
          <p:cNvSpPr txBox="1"/>
          <p:nvPr/>
        </p:nvSpPr>
        <p:spPr>
          <a:xfrm>
            <a:off x="857250" y="2857202"/>
            <a:ext cx="107632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21212"/>
                </a:solidFill>
                <a:latin typeface="Open Sans"/>
                <a:ea typeface="Open Sans"/>
                <a:cs typeface="Open Sans"/>
                <a:sym typeface="Open Sans"/>
              </a:rPr>
              <a:t>Research and Markets. (2024). </a:t>
            </a:r>
            <a:r>
              <a:rPr b="0" i="1" lang="en-US" sz="1200" u="none" cap="none" strike="noStrike">
                <a:solidFill>
                  <a:srgbClr val="121212"/>
                </a:solidFill>
                <a:latin typeface="Open Sans"/>
                <a:ea typeface="Open Sans"/>
                <a:cs typeface="Open Sans"/>
                <a:sym typeface="Open Sans"/>
              </a:rPr>
              <a:t>India Smart Home - Market Share Analysis, Industry Trends &amp; Statistics, Growth Forecasts (2024 - 2029)</a:t>
            </a:r>
            <a:r>
              <a:rPr b="0" i="0" lang="en-US" sz="1200" u="none" cap="none" strike="noStrike">
                <a:solidFill>
                  <a:srgbClr val="121212"/>
                </a:solidFill>
                <a:latin typeface="Open Sans"/>
                <a:ea typeface="Open Sans"/>
                <a:cs typeface="Open Sans"/>
                <a:sym typeface="Open Sans"/>
              </a:rPr>
              <a:t>.</a:t>
            </a:r>
            <a:endParaRPr/>
          </a:p>
        </p:txBody>
      </p:sp>
      <p:sp>
        <p:nvSpPr>
          <p:cNvPr id="676" name="Google Shape;676;p40"/>
          <p:cNvSpPr txBox="1"/>
          <p:nvPr/>
        </p:nvSpPr>
        <p:spPr>
          <a:xfrm>
            <a:off x="857250" y="3243857"/>
            <a:ext cx="107632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21212"/>
                </a:solidFill>
                <a:latin typeface="Open Sans"/>
                <a:ea typeface="Open Sans"/>
                <a:cs typeface="Open Sans"/>
                <a:sym typeface="Open Sans"/>
              </a:rPr>
              <a:t>Samsung Newsroom. (2024, January 8). </a:t>
            </a:r>
            <a:r>
              <a:rPr b="0" i="1" lang="en-US" sz="1200" u="none" cap="none" strike="noStrike">
                <a:solidFill>
                  <a:srgbClr val="121212"/>
                </a:solidFill>
                <a:latin typeface="Open Sans"/>
                <a:ea typeface="Open Sans"/>
                <a:cs typeface="Open Sans"/>
                <a:sym typeface="Open Sans"/>
              </a:rPr>
              <a:t>A Day in the Life With Ballie: An AI Companion Robot for the Home</a:t>
            </a:r>
            <a:r>
              <a:rPr b="0" i="0" lang="en-US" sz="1200" u="none" cap="none" strike="noStrike">
                <a:solidFill>
                  <a:srgbClr val="121212"/>
                </a:solidFill>
                <a:latin typeface="Open Sans"/>
                <a:ea typeface="Open Sans"/>
                <a:cs typeface="Open Sans"/>
                <a:sym typeface="Open Sans"/>
              </a:rPr>
              <a:t>. Retrieved from https://news.samsung.com/us</a:t>
            </a:r>
            <a:endParaRPr/>
          </a:p>
        </p:txBody>
      </p:sp>
      <p:sp>
        <p:nvSpPr>
          <p:cNvPr id="677" name="Google Shape;677;p40"/>
          <p:cNvSpPr txBox="1"/>
          <p:nvPr/>
        </p:nvSpPr>
        <p:spPr>
          <a:xfrm>
            <a:off x="857250" y="3630513"/>
            <a:ext cx="107632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21212"/>
                </a:solidFill>
                <a:latin typeface="Open Sans"/>
                <a:ea typeface="Open Sans"/>
                <a:cs typeface="Open Sans"/>
                <a:sym typeface="Open Sans"/>
              </a:rPr>
              <a:t>Tom's Guide. (2024, January 8). </a:t>
            </a:r>
            <a:r>
              <a:rPr b="0" i="1" lang="en-US" sz="1200" u="none" cap="none" strike="noStrike">
                <a:solidFill>
                  <a:srgbClr val="121212"/>
                </a:solidFill>
                <a:latin typeface="Open Sans"/>
                <a:ea typeface="Open Sans"/>
                <a:cs typeface="Open Sans"/>
                <a:sym typeface="Open Sans"/>
              </a:rPr>
              <a:t>The Samsung Ballie robot invades CES 2024 — here's everything it can do</a:t>
            </a:r>
            <a:r>
              <a:rPr b="0" i="0" lang="en-US" sz="1200" u="none" cap="none" strike="noStrike">
                <a:solidFill>
                  <a:srgbClr val="121212"/>
                </a:solidFill>
                <a:latin typeface="Open Sans"/>
                <a:ea typeface="Open Sans"/>
                <a:cs typeface="Open Sans"/>
                <a:sym typeface="Open Sans"/>
              </a:rPr>
              <a:t>. Retrieved from https://www.tomsguide.com</a:t>
            </a:r>
            <a:endParaRPr/>
          </a:p>
        </p:txBody>
      </p:sp>
      <p:sp>
        <p:nvSpPr>
          <p:cNvPr id="678" name="Google Shape;678;p40"/>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REFERENCES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2" name="Shape 682"/>
        <p:cNvGrpSpPr/>
        <p:nvPr/>
      </p:nvGrpSpPr>
      <p:grpSpPr>
        <a:xfrm>
          <a:off x="0" y="0"/>
          <a:ext cx="0" cy="0"/>
          <a:chOff x="0" y="0"/>
          <a:chExt cx="0" cy="0"/>
        </a:xfrm>
      </p:grpSpPr>
      <p:pic>
        <p:nvPicPr>
          <p:cNvPr descr="image.png" id="683" name="Google Shape;683;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84" name="Google Shape;684;p41"/>
          <p:cNvSpPr/>
          <p:nvPr/>
        </p:nvSpPr>
        <p:spPr>
          <a:xfrm>
            <a:off x="571500" y="1209675"/>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5" name="Google Shape;685;p41"/>
          <p:cNvSpPr/>
          <p:nvPr/>
        </p:nvSpPr>
        <p:spPr>
          <a:xfrm>
            <a:off x="571500" y="218301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6" name="Google Shape;686;p41"/>
          <p:cNvSpPr/>
          <p:nvPr/>
        </p:nvSpPr>
        <p:spPr>
          <a:xfrm>
            <a:off x="571500" y="218301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87" name="Google Shape;687;p41"/>
          <p:cNvPicPr preferRelativeResize="0"/>
          <p:nvPr/>
        </p:nvPicPr>
        <p:blipFill rotWithShape="1">
          <a:blip r:embed="rId4">
            <a:alphaModFix/>
          </a:blip>
          <a:srcRect b="0" l="0" r="0" t="0"/>
          <a:stretch/>
        </p:blipFill>
        <p:spPr>
          <a:xfrm>
            <a:off x="571500" y="1458217"/>
            <a:ext cx="857250" cy="476250"/>
          </a:xfrm>
          <a:prstGeom prst="rect">
            <a:avLst/>
          </a:prstGeom>
          <a:noFill/>
          <a:ln>
            <a:noFill/>
          </a:ln>
        </p:spPr>
      </p:pic>
      <p:sp>
        <p:nvSpPr>
          <p:cNvPr id="688" name="Google Shape;688;p41"/>
          <p:cNvSpPr txBox="1"/>
          <p:nvPr/>
        </p:nvSpPr>
        <p:spPr>
          <a:xfrm>
            <a:off x="1666875" y="1352550"/>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121212"/>
                </a:solidFill>
                <a:latin typeface="Open Sans"/>
                <a:ea typeface="Open Sans"/>
                <a:cs typeface="Open Sans"/>
                <a:sym typeface="Open Sans"/>
              </a:rPr>
              <a:t>https://static0.anpoimages.com/wordpress/wp-content/uploads/2025/04/samsung-digital-appliances-ballie-partmership-with-google-cloud_gemini-to-ballie_dl1.jpg?w=1600&amp;h=900&amp;fit=crop</a:t>
            </a:r>
            <a:endParaRPr/>
          </a:p>
        </p:txBody>
      </p:sp>
      <p:sp>
        <p:nvSpPr>
          <p:cNvPr id="689" name="Google Shape;689;p41"/>
          <p:cNvSpPr txBox="1"/>
          <p:nvPr/>
        </p:nvSpPr>
        <p:spPr>
          <a:xfrm>
            <a:off x="1666875" y="1796355"/>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21212"/>
                </a:solidFill>
                <a:latin typeface="Open Sans"/>
                <a:ea typeface="Open Sans"/>
                <a:cs typeface="Open Sans"/>
                <a:sym typeface="Open Sans"/>
              </a:rPr>
              <a:t>Source: </a:t>
            </a:r>
            <a:r>
              <a:rPr b="0" i="0" lang="en-US" sz="1200" u="none" cap="none" strike="noStrike">
                <a:solidFill>
                  <a:srgbClr val="4F46E5"/>
                </a:solidFill>
                <a:latin typeface="Open Sans"/>
                <a:ea typeface="Open Sans"/>
                <a:cs typeface="Open Sans"/>
                <a:sym typeface="Open Sans"/>
              </a:rPr>
              <a:t>www.androidpolice.com</a:t>
            </a:r>
            <a:endParaRPr/>
          </a:p>
        </p:txBody>
      </p:sp>
      <p:pic>
        <p:nvPicPr>
          <p:cNvPr descr="image.png" id="690" name="Google Shape;690;p41"/>
          <p:cNvPicPr preferRelativeResize="0"/>
          <p:nvPr/>
        </p:nvPicPr>
        <p:blipFill rotWithShape="1">
          <a:blip r:embed="rId5">
            <a:alphaModFix/>
          </a:blip>
          <a:srcRect b="0" l="0" r="0" t="0"/>
          <a:stretch/>
        </p:blipFill>
        <p:spPr>
          <a:xfrm>
            <a:off x="571500" y="2441078"/>
            <a:ext cx="857250" cy="476250"/>
          </a:xfrm>
          <a:prstGeom prst="rect">
            <a:avLst/>
          </a:prstGeom>
          <a:noFill/>
          <a:ln>
            <a:noFill/>
          </a:ln>
        </p:spPr>
      </p:pic>
      <p:sp>
        <p:nvSpPr>
          <p:cNvPr id="691" name="Google Shape;691;p41"/>
          <p:cNvSpPr txBox="1"/>
          <p:nvPr/>
        </p:nvSpPr>
        <p:spPr>
          <a:xfrm>
            <a:off x="1666875" y="2335410"/>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121212"/>
                </a:solidFill>
                <a:latin typeface="Open Sans"/>
                <a:ea typeface="Open Sans"/>
                <a:cs typeface="Open Sans"/>
                <a:sym typeface="Open Sans"/>
              </a:rPr>
              <a:t>https://cdn.gminsights.com/cdn-cgi/image/fit=scale-down,format=webp,quality=60,width=1200/image/rd/consumer-goods-and-services/smart-home-market-research-report.webp?t=1779706736799</a:t>
            </a:r>
            <a:endParaRPr/>
          </a:p>
        </p:txBody>
      </p:sp>
      <p:sp>
        <p:nvSpPr>
          <p:cNvPr id="692" name="Google Shape;692;p41"/>
          <p:cNvSpPr txBox="1"/>
          <p:nvPr/>
        </p:nvSpPr>
        <p:spPr>
          <a:xfrm>
            <a:off x="1666875" y="2779216"/>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21212"/>
                </a:solidFill>
                <a:latin typeface="Open Sans"/>
                <a:ea typeface="Open Sans"/>
                <a:cs typeface="Open Sans"/>
                <a:sym typeface="Open Sans"/>
              </a:rPr>
              <a:t>Source: </a:t>
            </a:r>
            <a:r>
              <a:rPr b="0" i="0" lang="en-US" sz="1200" u="none" cap="none" strike="noStrike">
                <a:solidFill>
                  <a:srgbClr val="4F46E5"/>
                </a:solidFill>
                <a:latin typeface="Open Sans"/>
                <a:ea typeface="Open Sans"/>
                <a:cs typeface="Open Sans"/>
                <a:sym typeface="Open Sans"/>
              </a:rPr>
              <a:t>www.gminsights.com</a:t>
            </a:r>
            <a:endParaRPr/>
          </a:p>
        </p:txBody>
      </p:sp>
      <p:sp>
        <p:nvSpPr>
          <p:cNvPr id="693" name="Google Shape;693;p41"/>
          <p:cNvSpPr txBox="1"/>
          <p:nvPr/>
        </p:nvSpPr>
        <p:spPr>
          <a:xfrm>
            <a:off x="571500" y="476250"/>
            <a:ext cx="11601450"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34EA2"/>
                </a:solidFill>
                <a:latin typeface="Montserrat SemiBold"/>
                <a:ea typeface="Montserrat SemiBold"/>
                <a:cs typeface="Montserrat SemiBold"/>
                <a:sym typeface="Montserrat SemiBold"/>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