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95B838-A5B6-4BFB-BC3F-F6802994EBA4}">
  <a:tblStyle styleId="{4695B838-A5B6-4BFB-BC3F-F6802994EB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ffdce48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ffdce48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affdce48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affdce48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affdce48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affdce48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affdce48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affdce48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affdce482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affdce48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3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Apple iPhone 16 Pro Max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Consumer Trends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Feel Over Features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Product Sophistication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Quicker Device Switch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In-Store Experience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64550" y="358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 with SEC class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Age -  25-60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Income - </a:t>
            </a:r>
            <a:r>
              <a:rPr lang="en" sz="2000">
                <a:solidFill>
                  <a:srgbClr val="000000"/>
                </a:solidFill>
              </a:rPr>
              <a:t>High-income individuals ( 2+ lakhs/month and above 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Education - postgraduate professionals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Profession - </a:t>
            </a:r>
            <a:r>
              <a:rPr lang="en" sz="2000">
                <a:solidFill>
                  <a:srgbClr val="000000"/>
                </a:solidFill>
              </a:rPr>
              <a:t>Working professionals, entrepreneurs, content creators, tech executives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Geography - </a:t>
            </a:r>
            <a:r>
              <a:rPr lang="en" sz="2000">
                <a:solidFill>
                  <a:srgbClr val="000000"/>
                </a:solidFill>
              </a:rPr>
              <a:t>Metro citie</a:t>
            </a:r>
            <a:r>
              <a:rPr lang="en" sz="2000">
                <a:solidFill>
                  <a:srgbClr val="000000"/>
                </a:solidFill>
              </a:rPr>
              <a:t>s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Psychographic trends - prefer good camera and are tech-savy and status orientated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SEC class - A</a:t>
            </a:r>
            <a:r>
              <a:rPr lang="en" sz="2000">
                <a:solidFill>
                  <a:srgbClr val="000000"/>
                </a:solidFill>
              </a:rPr>
              <a:t>1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3" name="Google Shape;73;p16"/>
          <p:cNvGraphicFramePr/>
          <p:nvPr/>
        </p:nvGraphicFramePr>
        <p:xfrm>
          <a:off x="1106500" y="131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{4695B838-A5B6-4BFB-BC3F-F6802994EBA4}</a:tableStyleId>
              </a:tblPr>
              <a:tblGrid>
                <a:gridCol w="2625925"/>
                <a:gridCol w="4335500"/>
              </a:tblGrid>
              <a:tr h="440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Particulars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Consumer Segmentation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Demographics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Urban market (&gt;75%)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Age : 25-55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18+ LPA Income earners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1D35"/>
                          </a:solidFill>
                          <a:highlight>
                            <a:srgbClr val="FFFFFF"/>
                          </a:highlight>
                        </a:rPr>
                        <a:t>Psychographics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Upper middle class and Upper class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People who are tech enthusiasts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Status pursuers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1D35"/>
                          </a:solidFill>
                          <a:highlight>
                            <a:srgbClr val="FFFFFF"/>
                          </a:highlight>
                        </a:rPr>
                        <a:t>Behavioral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Hardcore brand loyals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Ecosystems lovers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"/>
                        <a:t>Advanced feature lovers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 Positioning Statement with Key Supports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⁠⁠Class, in the palm of your hand.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KEY SUPPORTS: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Titanium finish that defines premium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Design admired by the world’s elite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Smooth performance that feels classy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Ansoff’s Matrix for Apple India </a:t>
            </a:r>
            <a:endParaRPr/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311700" y="10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{4695B838-A5B6-4BFB-BC3F-F6802994EBA4}</a:tableStyleId>
              </a:tblPr>
              <a:tblGrid>
                <a:gridCol w="4146925"/>
                <a:gridCol w="4146925"/>
              </a:tblGrid>
              <a:tr h="18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Market Penetration -Yes</a:t>
                      </a:r>
                      <a:endParaRPr sz="2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-Introduced EMI options with help of tie-ups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-Bundled offers for Apple products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P</a:t>
                      </a:r>
                      <a:r>
                        <a:rPr lang="en" sz="24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roduct Development - Yes</a:t>
                      </a:r>
                      <a:endParaRPr sz="2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 launches new models regularly with updated features like The A18 Pro chip, found in the iPhone 16 Pro models</a:t>
                      </a:r>
                      <a:endParaRPr sz="13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 Apple Operations India to focus on R&amp;D and development</a:t>
                      </a:r>
                      <a:endParaRPr sz="13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18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3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Market Development -Yes</a:t>
                      </a:r>
                      <a:endParaRPr sz="23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3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</a:t>
                      </a:r>
                      <a:r>
                        <a:rPr lang="en" sz="17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targeting education and enterprise sector by offering discounts on Macbook and ipads </a:t>
                      </a:r>
                      <a:endParaRPr sz="17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 Expanding in Tier-2 cities like Pune, Surat , Lucknow via reseller network</a:t>
                      </a:r>
                      <a:endParaRPr sz="17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Diversification - No </a:t>
                      </a:r>
                      <a:endParaRPr sz="24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</a:t>
                      </a:r>
                      <a:r>
                        <a:rPr lang="en" sz="19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Focusing just on existing electronic products </a:t>
                      </a:r>
                      <a:endParaRPr sz="19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