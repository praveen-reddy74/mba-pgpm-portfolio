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FY2026 growth</c:v>
                </c:pt>
              </c:strCache>
            </c:strRef>
          </c:tx>
          <c:spPr>
            <a:solidFill>
              <a:srgbClr val="0032A0"/>
            </a:solidFill>
            <a:effectLst/>
          </c:spPr>
          <c:invertIfNegative val="0"/>
          <c:dPt>
            <c:idx val="0"/>
            <c:invertIfNegative val="0"/>
            <c:bubble3D val="0"/>
            <c:extLst>
              <c:ext xmlns:c16="http://schemas.microsoft.com/office/drawing/2014/chart" uri="{C3380CC4-5D6E-409C-BE32-E72D297353CC}">
                <c16:uniqueId val="{00000001-43B3-472D-8437-5E4B25B8AB4F}"/>
              </c:ext>
            </c:extLst>
          </c:dPt>
          <c:dPt>
            <c:idx val="1"/>
            <c:invertIfNegative val="0"/>
            <c:bubble3D val="0"/>
            <c:spPr>
              <a:solidFill>
                <a:srgbClr val="2F6BD8"/>
              </a:solidFill>
              <a:effectLst/>
            </c:spPr>
            <c:extLst>
              <c:ext xmlns:c16="http://schemas.microsoft.com/office/drawing/2014/chart" uri="{C3380CC4-5D6E-409C-BE32-E72D297353CC}">
                <c16:uniqueId val="{00000003-43B3-472D-8437-5E4B25B8AB4F}"/>
              </c:ext>
            </c:extLst>
          </c:dPt>
          <c:dPt>
            <c:idx val="2"/>
            <c:invertIfNegative val="0"/>
            <c:bubble3D val="0"/>
            <c:spPr>
              <a:solidFill>
                <a:srgbClr val="7FA3E8"/>
              </a:solidFill>
              <a:effectLst/>
            </c:spPr>
            <c:extLst>
              <c:ext xmlns:c16="http://schemas.microsoft.com/office/drawing/2014/chart" uri="{C3380CC4-5D6E-409C-BE32-E72D297353CC}">
                <c16:uniqueId val="{00000005-43B3-472D-8437-5E4B25B8AB4F}"/>
              </c:ext>
            </c:extLst>
          </c:dPt>
          <c:dLbls>
            <c:numFmt formatCode="\+0.0&quot;%&quot;" sourceLinked="0"/>
            <c:spPr>
              <a:noFill/>
              <a:ln>
                <a:noFill/>
              </a:ln>
              <a:effectLst/>
            </c:spPr>
            <c:txPr>
              <a:bodyPr/>
              <a:lstStyle/>
              <a:p>
                <a:pPr>
                  <a:defRPr sz="1300" b="1" i="0" u="none" strike="noStrike">
                    <a:solidFill>
                      <a:srgbClr val="041E47"/>
                    </a:solidFill>
                    <a:latin typeface="Apto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ASK
capacity</c:v>
                </c:pt>
                <c:pt idx="1">
                  <c:v>RPK
traffic</c:v>
                </c:pt>
                <c:pt idx="2">
                  <c:v>Passengers</c:v>
                </c:pt>
              </c:strCache>
            </c:strRef>
          </c:cat>
          <c:val>
            <c:numRef>
              <c:f>Sheet1!$B$2:$B$4</c:f>
              <c:numCache>
                <c:formatCode>General</c:formatCode>
                <c:ptCount val="3"/>
                <c:pt idx="0">
                  <c:v>9.5</c:v>
                </c:pt>
                <c:pt idx="1">
                  <c:v>7.5</c:v>
                </c:pt>
                <c:pt idx="2">
                  <c:v>4</c:v>
                </c:pt>
              </c:numCache>
            </c:numRef>
          </c:val>
          <c:extLst>
            <c:ext xmlns:c16="http://schemas.microsoft.com/office/drawing/2014/chart" uri="{C3380CC4-5D6E-409C-BE32-E72D297353CC}">
              <c16:uniqueId val="{00000006-43B3-472D-8437-5E4B25B8AB4F}"/>
            </c:ext>
          </c:extLst>
        </c:ser>
        <c:dLbls>
          <c:showLegendKey val="0"/>
          <c:showVal val="1"/>
          <c:showCatName val="0"/>
          <c:showSerName val="0"/>
          <c:showPercent val="0"/>
          <c:showBubbleSize val="0"/>
        </c:dLbls>
        <c:gapWidth val="62"/>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9D8F2"/>
            </a:solidFill>
            <a:prstDash val="solid"/>
            <a:round/>
          </a:ln>
        </c:spPr>
        <c:txPr>
          <a:bodyPr/>
          <a:lstStyle/>
          <a:p>
            <a:pPr>
              <a:defRPr sz="1050" b="0" i="0" u="none" strike="noStrike">
                <a:solidFill>
                  <a:srgbClr val="46577A"/>
                </a:solidFill>
                <a:latin typeface="Aptos"/>
              </a:defRPr>
            </a:pPr>
            <a:endParaRPr lang="en-US"/>
          </a:p>
        </c:txPr>
        <c:crossAx val="2094734552"/>
        <c:crosses val="autoZero"/>
        <c:auto val="1"/>
        <c:lblAlgn val="ctr"/>
        <c:lblOffset val="100"/>
        <c:noMultiLvlLbl val="1"/>
      </c:catAx>
      <c:valAx>
        <c:axId val="2094734552"/>
        <c:scaling>
          <c:orientation val="minMax"/>
          <c:max val="11"/>
          <c:min val="0"/>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6123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 consulting question: How has IndiGo sustained its leadership in Indian aviation, which competitive advantages underpin that leadership, how durable are those advantages amid changing competition and unit-economic pressure, and what strategic actions should IndiGo take to sustain its leadership over the road ahead?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two numbers: 123.4 million passengers, and capacity up 9.5%. Everything that follows is about the gap between those two lines.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bottom row, not the dates. The milestones are only the visible surface; the logic underneath - standardise, simplify, utilise, scale, densify - is what actually produced the leadership position we look at next.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markets, two different strategic problems. Domestically the question is what to do with a position no one is contesting. Internationally, IndiGo leads by 1.7 points - inside the margin where a competitor's capacity decision can change the ranking.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machine that produced the market share on the previous slide. Every stage is evidenced in Packs 02 and 06 - and every stage is also a place where the machine can be over-tightened, which is the subject of slides 8 and 9.</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ground time is a cost variable. Note what is deliberately absent: a turnaround-minute number. The evidence base establishes the relationship, not the figure, so we show the relationship.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disciplines on this slide. First, the 83.4% is labelled external - it is not part of the validated CIS evidence base. Second, we do not claim a comparative OTP position, because the evidence base itself records that comparison as an open research question.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this as a scandal. Present it as a stress test. Two thousand five hundred cancellations in three days is what happens when a highly optimised system meets a binding constraint - and MoCA's intervention on 5 December is what allowed the recovery from 706 flights to 1,565 the next day.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strategic pivot of the opening. The advantage that built the company - maximum optimisation - is the same property that failed in December. The inquiry named over-optimisation first among its causes. The next advantage is not less efficiency; it is efficiency that can absorb a shock. Note the evidence base already asked this question: RQ-OPS-REL-005 asks how effectively IndiGo's network recovers from aircraft or crew disruptions.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last clause of the problem statement. We were not asked how to make IndiGo smaller. We were asked how to make the capacity pay - while it keeps growing.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chapter by naming the frame, not the article. The Ken's July 2026 thesis is that IndiGo's language has moved ahead of its cost model. Our own evidence base documents the same widening - IndiGoStretch, BluChip, the A350 programme, damp-leased long-haul, the Turkish partnership - and reaches the more careful conclusion: this is an evolution, not an abandonment. That distinction matters, because it decides whether the FY2026 unit-cost problem is a strategy failure or a transition cost. The Ken supplies framing only; every figure on this slide stands on our own evidence base.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converts the external thesis into a testable consulting question - and it is a question our own evidence base already asks, in RQ-STR-BM-005. The left column is upside; the right column is the price of that upside. The decision rule at the bottom is the discipline: every one of those levers is defensible individually, and the risk is only that the complexity they add is never priced. If challenged on the FY2015 numbers: they are the last verified split we have, shown precisely because the current one is not established.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 this slide with precision, because it is the one most likely to be probed. We are not asserting a pilot shortage of any particular size - we cannot, and we say so on the slide. What we are asserting is structural: the evidence base named labour supply as a risk in three separate registers and never once quantified it. The Ken's December 2025 thesis, gradual then sudden, describes exactly that failure mode. If asked for pilot numbers, the correct answer is that they are not established, and that establishing them is a first-order data request.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regulator's own words are stronger evidence for the resilience argument than anything we could construct analytically. DGCA states plainly that IndiGo grew scheduled departures 9.66% winter-on-winter without demonstrating the ability to operate them efficiently, and that only 339-344 of 403 approved aircraft were actually flown in October-November 2025. That is an external, official answer to our own open research question on fleet absorption (RQ-OPS-002, RQ-OPS-004). The efficiency-to-resilience synthesis at the bottom is explicitly labelled INFERENCE - it is our reading of the pattern, not a regulator finding. We do not put a number on pilot supply, crew ratios or a causal share of the December disruption anywhere on this slide, because the evidence base does not establish one.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chapter by defusing it. The Ken's January 2026 thesis is provocative but analytically correct in the short run: 63.5% share and Rs. 234.7 billion of operating cash flow buy considerable tolerance for a bad week. The consulting discipline is in the two bands at the bottom. We do not know where the tolerance ends, and we say so. And critically, nothing in this external chapter changes the diagnosis - the FY2026 problem is that RASK fell below CASK, not that passengers were unhappy. The recommendation that follows is unchanged.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take one slide, take this one. Two levers start on Monday. The third is not a decision we are asking you to make today - it is a decision we are asking you to arm.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conventions matter. Grey dashed means we could not establish it and did not estimate it. And nothing in this deck is a forecast - where you see a scenario, it is arithmetic, not a prediction.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Everything on the left is a success. Everything on the right is what that success cost. This deck is about reconciling those two columns. Fleet (434 -&gt; 441, +1.6%, CONF-005) and yield (Rs. 5.15 -&gt; Rs. 5.06, -1.7%) are treated on slides 13 and 10 respectively.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42% of the capacity growth converted into passenger growth. But note the caveat - one year. Which is precisely why the third lever in our recommendation is conditional rather than immediate.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paisa per seat kilometre sounds trivial until you multiply by 172.4 billion seat kilometres. The more useful number is coverage: last year every rupee of unit cost was covered 1.10 times; this year, 0.998. The passenger-yield break-even load factor of 98.8% is a deliberately conservative construct - it excludes ancillary and cargo revenue and is not IndiGo's true economic break-even.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temptation is to declare a 27.8% cost crisis. The discipline is to say: this much is fuel - improving; this much is FX - real but outside management control and unquantified; and this much, 3.8%, is what a cost-productivity programme can actually address. Lever B targets the last bar.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stops the room over-reacting. A Rs. 23.9 billion statutory loss alongside Rs. 234.7 billion of operating cash flow is not a solvency story - it is a productivity story. If pressed on the free-cash-flow gap: Rs. 235.9 billion of it is depreciation Rs. 108.082B, lease interest Rs. 48.059B, unrealised FX loss Rs. 93.186B and exceptional items Rs. 17.964B - all in Appendix C.</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capacity question is not symmetric. Adding capacity is fast and cheap up front; removing it is slow, because 87% of the fleet arrives with a contract attached. If asked about the balance sheet: right-of-use assets fell from Rs. 520.540B to Rs. 490.739B even as the fleet grew - carrying values track lease commencement and depreciation, not aircraft count. Cash stood at Rs. 516.5B.</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valuable thing on this slide is the empty matrix. We are not going to place routes in quadrants using data we do not have. What we will do is tell you exactly what data to build, and by when - and Noida, which opened eight weeks ago, is the cleanest natural experiment the company will get.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The ancillary line is Rs. 737 - about a tenth of revenue per passenger, so Lever A has to be a portfolio. And look at the border styles on the right: solid means deployed and measured, dashed means proposed. We have costed our recommendation on the solid one only.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ends in a KPI, and every one of those KPIs reappears on the monitoring slide. PESTLE here is not analysis for its own sake - it is the input list for the governance dashboard.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right-hand column and the recommendation writes itself: two branches say act now, one says build the evidence, two say monitor, and one is a structural constraint we design around. That is exactly the shape of the answer on slide 30.</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ALT-1, top-left: strongest evidence base of the six, and the weakest on growth preservation. And notice ALT-2 and ALT-5 greyed out - not because they are bad ideas, but because we do not have the data to execute them responsibly yet.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we do not simply take the winner. One: 1.6 points on twelve months of data is inside the noise. Two: the criterion ALT-1 fails - growth preservation, 2 out of 5 - is the one the problem statement declares non-negotiable. Three: pricing and cost levers can be reversed next quarter; capacity commitments cannot. And on robustness: ALT-1 and ALT-3 also tie at 44/60 on the earlier unweighted pass - two independent frameworks, the same dead heat.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look at the third column. It is deliberately drawn differently. We are not recommending that you slow capacity. We are recommending that you build the evidence that would tell you whether to - and that you agree today what would trigger that decision, so it is made on data rather than on the next bad quarter.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design choice here is Phase 2 - route-level data capability inside six months, ahead of any reallocation decision, because it is the single constraint that currently blocks two of the six alternatives. Required data by phase: P1 FY2026 baseline KPIs and the current ancillary/cost-productivity pipeline; P2 route-level RASK, CASK, yield, load factor and the Noida vs Delhi traffic split; P3 FY2027 ASK/RPK/passenger/load-factor data; P4 multi-year capacity-demand trend, route-level profitability, FX-attributable cost-share estimate.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these twelve are the gate. If, a year from now, capacity growth still exceeds passenger growth, load factor is still falling and the spread has not recovered, Lever C activates - and the decision has already been agreed in principle today, which is how you avoid making it in a panic.</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first row. It is the same trigger as the Lever C gate, deliberately. The risk register and the governance framework are the same instrument seen from two directions.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handing you two levers you can pull this quarter, one decision you should not make yet, and a precise list of what you would need to know to make it. That is the whole study.</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1E47"/>
        </a:solidFill>
        <a:effectLst/>
      </p:bgPr>
    </p:bg>
    <p:spTree>
      <p:nvGrpSpPr>
        <p:cNvPr id="1" name=""/>
        <p:cNvGrpSpPr/>
        <p:nvPr/>
      </p:nvGrpSpPr>
      <p:grpSpPr>
        <a:xfrm>
          <a:off x="0" y="0"/>
          <a:ext cx="0" cy="0"/>
          <a:chOff x="0" y="0"/>
          <a:chExt cx="0" cy="0"/>
        </a:xfrm>
      </p:grpSpPr>
      <p:pic>
        <p:nvPicPr>
          <p:cNvPr id="4" name="Image 0" descr="assets/hero.jpg"/>
          <p:cNvPicPr>
            <a:picLocks noChangeAspect="1"/>
          </p:cNvPicPr>
          <p:nvPr/>
        </p:nvPicPr>
        <p:blipFill>
          <a:blip r:embed="rId3"/>
          <a:srcRect/>
          <a:stretch/>
        </p:blipFill>
        <p:spPr>
          <a:xfrm>
            <a:off x="0" y="2743200"/>
            <a:ext cx="12191695" cy="3474720"/>
          </a:xfrm>
          <a:prstGeom prst="rect">
            <a:avLst/>
          </a:prstGeom>
        </p:spPr>
      </p:pic>
      <p:sp>
        <p:nvSpPr>
          <p:cNvPr id="5" name="Shape 2"/>
          <p:cNvSpPr/>
          <p:nvPr/>
        </p:nvSpPr>
        <p:spPr>
          <a:xfrm>
            <a:off x="0" y="6208776"/>
            <a:ext cx="12191695" cy="640080"/>
          </a:xfrm>
          <a:prstGeom prst="rect">
            <a:avLst/>
          </a:prstGeom>
          <a:solidFill>
            <a:srgbClr val="041E47"/>
          </a:solidFill>
          <a:ln/>
        </p:spPr>
      </p:sp>
      <p:pic>
        <p:nvPicPr>
          <p:cNvPr id="6" name="Image 1" descr="assets/logo_white.png"/>
          <p:cNvPicPr>
            <a:picLocks noChangeAspect="1"/>
          </p:cNvPicPr>
          <p:nvPr/>
        </p:nvPicPr>
        <p:blipFill>
          <a:blip r:embed="rId4"/>
          <a:stretch>
            <a:fillRect/>
          </a:stretch>
        </p:blipFill>
        <p:spPr>
          <a:xfrm>
            <a:off x="10625328" y="475488"/>
            <a:ext cx="1051560" cy="315468"/>
          </a:xfrm>
          <a:prstGeom prst="rect">
            <a:avLst/>
          </a:prstGeom>
        </p:spPr>
      </p:pic>
      <p:sp>
        <p:nvSpPr>
          <p:cNvPr id="7" name="Text 3"/>
          <p:cNvSpPr/>
          <p:nvPr/>
        </p:nvSpPr>
        <p:spPr>
          <a:xfrm>
            <a:off x="502920" y="530352"/>
            <a:ext cx="8229600" cy="201168"/>
          </a:xfrm>
          <a:prstGeom prst="rect">
            <a:avLst/>
          </a:prstGeom>
          <a:noFill/>
          <a:ln/>
        </p:spPr>
        <p:txBody>
          <a:bodyPr wrap="square" lIns="0" tIns="0" rIns="0" bIns="0" rtlCol="0" anchor="ctr"/>
          <a:lstStyle/>
          <a:p>
            <a:pPr marL="0" indent="0" algn="l">
              <a:buNone/>
            </a:pPr>
            <a:r>
              <a:rPr lang="en-US" sz="1000" b="1" kern="0" spc="180" dirty="0">
                <a:solidFill>
                  <a:srgbClr val="8FB0E8"/>
                </a:solidFill>
                <a:latin typeface="Aptos" pitchFamily="34" charset="0"/>
                <a:ea typeface="Aptos" pitchFamily="34" charset="-122"/>
                <a:cs typeface="Aptos" pitchFamily="34" charset="-120"/>
              </a:rPr>
              <a:t>MBA BUSINESS CONSULTING - CONSULTING INDUSTRY STUDY</a:t>
            </a:r>
            <a:endParaRPr lang="en-US" sz="1000" dirty="0"/>
          </a:p>
        </p:txBody>
      </p:sp>
      <p:sp>
        <p:nvSpPr>
          <p:cNvPr id="8" name="Shape 4"/>
          <p:cNvSpPr/>
          <p:nvPr/>
        </p:nvSpPr>
        <p:spPr>
          <a:xfrm>
            <a:off x="502920" y="841248"/>
            <a:ext cx="4794794" cy="45719"/>
          </a:xfrm>
          <a:prstGeom prst="rect">
            <a:avLst/>
          </a:prstGeom>
          <a:solidFill>
            <a:srgbClr val="2F6BD8"/>
          </a:solidFill>
          <a:ln/>
        </p:spPr>
      </p:sp>
      <p:sp>
        <p:nvSpPr>
          <p:cNvPr id="9" name="Text 5"/>
          <p:cNvSpPr/>
          <p:nvPr/>
        </p:nvSpPr>
        <p:spPr>
          <a:xfrm>
            <a:off x="502920" y="969264"/>
            <a:ext cx="9966960" cy="1060704"/>
          </a:xfrm>
          <a:prstGeom prst="rect">
            <a:avLst/>
          </a:prstGeom>
          <a:noFill/>
          <a:ln/>
        </p:spPr>
        <p:txBody>
          <a:bodyPr wrap="square" lIns="0" tIns="0" rIns="0" bIns="0" rtlCol="0" anchor="t"/>
          <a:lstStyle/>
          <a:p>
            <a:pPr marL="0" indent="0">
              <a:lnSpc>
                <a:spcPct val="102000"/>
              </a:lnSpc>
              <a:buNone/>
            </a:pPr>
            <a:r>
              <a:rPr lang="en-US" sz="3200" b="1" dirty="0">
                <a:solidFill>
                  <a:srgbClr val="FFFFFF"/>
                </a:solidFill>
                <a:latin typeface="Aptos Display" pitchFamily="34" charset="0"/>
                <a:ea typeface="Aptos Display" pitchFamily="34" charset="-122"/>
                <a:cs typeface="Aptos Display" pitchFamily="34" charset="-120"/>
              </a:rPr>
              <a:t>IndiGo's Sustained Market Leadership</a:t>
            </a:r>
            <a:endParaRPr lang="en-US" sz="3200" dirty="0"/>
          </a:p>
          <a:p>
            <a:pPr marL="0" indent="0">
              <a:lnSpc>
                <a:spcPct val="102000"/>
              </a:lnSpc>
              <a:buNone/>
            </a:pPr>
            <a:r>
              <a:rPr lang="en-US" sz="3200" b="1" dirty="0">
                <a:solidFill>
                  <a:srgbClr val="FFFFFF"/>
                </a:solidFill>
                <a:latin typeface="Aptos Display" pitchFamily="34" charset="0"/>
                <a:ea typeface="Aptos Display" pitchFamily="34" charset="-122"/>
                <a:cs typeface="Aptos Display" pitchFamily="34" charset="-120"/>
              </a:rPr>
              <a:t>in Indian Aviation</a:t>
            </a:r>
            <a:endParaRPr lang="en-US" sz="3200" dirty="0"/>
          </a:p>
        </p:txBody>
      </p:sp>
      <p:sp>
        <p:nvSpPr>
          <p:cNvPr id="10" name="Text 6"/>
          <p:cNvSpPr/>
          <p:nvPr/>
        </p:nvSpPr>
        <p:spPr>
          <a:xfrm>
            <a:off x="502920" y="2066544"/>
            <a:ext cx="9326880" cy="256032"/>
          </a:xfrm>
          <a:prstGeom prst="rect">
            <a:avLst/>
          </a:prstGeom>
          <a:noFill/>
          <a:ln/>
        </p:spPr>
        <p:txBody>
          <a:bodyPr wrap="square" lIns="0" tIns="0" rIns="0" bIns="0" rtlCol="0" anchor="t"/>
          <a:lstStyle/>
          <a:p>
            <a:pPr marL="0" indent="0">
              <a:buNone/>
            </a:pPr>
            <a:r>
              <a:rPr lang="en-US" sz="1400" dirty="0">
                <a:solidFill>
                  <a:srgbClr val="B9CDF0"/>
                </a:solidFill>
                <a:latin typeface="Aptos" pitchFamily="34" charset="0"/>
                <a:ea typeface="Aptos" pitchFamily="34" charset="-122"/>
                <a:cs typeface="Aptos" pitchFamily="34" charset="-120"/>
              </a:rPr>
              <a:t>A Strategic Assessment of Competitive Advantage and the Road Ahead</a:t>
            </a:r>
            <a:endParaRPr lang="en-US" sz="1400" dirty="0"/>
          </a:p>
        </p:txBody>
      </p:sp>
      <p:sp>
        <p:nvSpPr>
          <p:cNvPr id="11" name="Shape 7"/>
          <p:cNvSpPr/>
          <p:nvPr/>
        </p:nvSpPr>
        <p:spPr>
          <a:xfrm>
            <a:off x="502920" y="2414016"/>
            <a:ext cx="32004" cy="237744"/>
          </a:xfrm>
          <a:prstGeom prst="rect">
            <a:avLst/>
          </a:prstGeom>
          <a:solidFill>
            <a:srgbClr val="2F6BD8"/>
          </a:solidFill>
          <a:ln/>
        </p:spPr>
      </p:sp>
      <p:sp>
        <p:nvSpPr>
          <p:cNvPr id="12" name="Text 8"/>
          <p:cNvSpPr/>
          <p:nvPr/>
        </p:nvSpPr>
        <p:spPr>
          <a:xfrm>
            <a:off x="667512" y="2377440"/>
            <a:ext cx="9326880" cy="274320"/>
          </a:xfrm>
          <a:prstGeom prst="rect">
            <a:avLst/>
          </a:prstGeom>
          <a:noFill/>
          <a:ln/>
        </p:spPr>
        <p:txBody>
          <a:bodyPr wrap="square" lIns="0" tIns="0" rIns="0" bIns="0" rtlCol="0" anchor="ctr"/>
          <a:lstStyle/>
          <a:p>
            <a:pPr marL="0" indent="0">
              <a:buNone/>
            </a:pPr>
            <a:r>
              <a:rPr lang="en-US" sz="1050" dirty="0">
                <a:solidFill>
                  <a:srgbClr val="7FA3E8"/>
                </a:solidFill>
                <a:latin typeface="Aptos" pitchFamily="34" charset="0"/>
                <a:ea typeface="Aptos" pitchFamily="34" charset="-122"/>
                <a:cs typeface="Aptos" pitchFamily="34" charset="-120"/>
              </a:rPr>
              <a:t>Capacity, Unit Economics and Strategic Options for Sustaining Competitive Advantage</a:t>
            </a:r>
            <a:endParaRPr lang="en-US" sz="1050" dirty="0"/>
          </a:p>
        </p:txBody>
      </p:sp>
      <p:sp>
        <p:nvSpPr>
          <p:cNvPr id="13" name="Text 9"/>
          <p:cNvSpPr/>
          <p:nvPr/>
        </p:nvSpPr>
        <p:spPr>
          <a:xfrm>
            <a:off x="502920" y="6400800"/>
            <a:ext cx="2331720" cy="219456"/>
          </a:xfrm>
          <a:prstGeom prst="rect">
            <a:avLst/>
          </a:prstGeom>
          <a:noFill/>
          <a:ln/>
        </p:spPr>
        <p:txBody>
          <a:bodyPr wrap="square" lIns="0" tIns="0" rIns="0" bIns="0" rtlCol="0" anchor="ctr"/>
          <a:lstStyle/>
          <a:p>
            <a:pPr marL="0" indent="0">
              <a:buNone/>
            </a:pPr>
            <a:r>
              <a:rPr lang="en-US" sz="1000" dirty="0">
                <a:solidFill>
                  <a:srgbClr val="D7E3F8"/>
                </a:solidFill>
                <a:latin typeface="Aptos" pitchFamily="34" charset="0"/>
                <a:ea typeface="Aptos" pitchFamily="34" charset="-122"/>
                <a:cs typeface="Aptos" pitchFamily="34" charset="-120"/>
              </a:rPr>
              <a:t>Evidence period  FY2025-26</a:t>
            </a:r>
            <a:endParaRPr lang="en-US" sz="1000" dirty="0"/>
          </a:p>
        </p:txBody>
      </p:sp>
      <p:sp>
        <p:nvSpPr>
          <p:cNvPr id="14" name="Shape 10"/>
          <p:cNvSpPr/>
          <p:nvPr/>
        </p:nvSpPr>
        <p:spPr>
          <a:xfrm>
            <a:off x="2178889" y="6420222"/>
            <a:ext cx="10973" cy="146304"/>
          </a:xfrm>
          <a:prstGeom prst="rect">
            <a:avLst/>
          </a:prstGeom>
          <a:solidFill>
            <a:srgbClr val="5E86C8"/>
          </a:solidFill>
          <a:ln/>
        </p:spPr>
      </p:sp>
      <p:sp>
        <p:nvSpPr>
          <p:cNvPr id="17" name="Text 13"/>
          <p:cNvSpPr/>
          <p:nvPr/>
        </p:nvSpPr>
        <p:spPr>
          <a:xfrm>
            <a:off x="7470648" y="6400800"/>
            <a:ext cx="1371600" cy="219456"/>
          </a:xfrm>
          <a:prstGeom prst="rect">
            <a:avLst/>
          </a:prstGeom>
          <a:noFill/>
          <a:ln/>
        </p:spPr>
        <p:txBody>
          <a:bodyPr wrap="square" lIns="0" tIns="0" rIns="0" bIns="0" rtlCol="0" anchor="ctr"/>
          <a:lstStyle/>
          <a:p>
            <a:pPr marL="0" indent="0">
              <a:buNone/>
            </a:pPr>
            <a:r>
              <a:rPr lang="en-US" sz="1000" dirty="0">
                <a:solidFill>
                  <a:srgbClr val="D7E3F8"/>
                </a:solidFill>
                <a:latin typeface="Aptos" pitchFamily="34" charset="0"/>
                <a:ea typeface="Aptos" pitchFamily="34" charset="-122"/>
                <a:cs typeface="Aptos" pitchFamily="34" charset="-120"/>
              </a:rPr>
              <a:t>August 2026</a:t>
            </a:r>
            <a:endParaRPr lang="en-US" sz="1000" dirty="0"/>
          </a:p>
        </p:txBody>
      </p:sp>
      <p:sp>
        <p:nvSpPr>
          <p:cNvPr id="18" name="Text 14"/>
          <p:cNvSpPr/>
          <p:nvPr/>
        </p:nvSpPr>
        <p:spPr>
          <a:xfrm>
            <a:off x="502920" y="6547104"/>
            <a:ext cx="10972800" cy="219456"/>
          </a:xfrm>
          <a:prstGeom prst="rect">
            <a:avLst/>
          </a:prstGeom>
          <a:noFill/>
          <a:ln/>
        </p:spPr>
        <p:txBody>
          <a:bodyPr wrap="square" lIns="0" tIns="0" rIns="0" bIns="0" rtlCol="0" anchor="ctr"/>
          <a:lstStyle/>
          <a:p>
            <a:pPr marL="0" indent="0">
              <a:buNone/>
            </a:pPr>
            <a:endParaRPr lang="en-US" sz="850" dirty="0"/>
          </a:p>
        </p:txBody>
      </p:sp>
      <p:sp>
        <p:nvSpPr>
          <p:cNvPr id="20" name="Shape 10">
            <a:extLst>
              <a:ext uri="{FF2B5EF4-FFF2-40B4-BE49-F238E27FC236}">
                <a16:creationId xmlns:a16="http://schemas.microsoft.com/office/drawing/2014/main" id="{B0405441-D364-FA54-71CF-8842494EDC4E}"/>
              </a:ext>
            </a:extLst>
          </p:cNvPr>
          <p:cNvSpPr/>
          <p:nvPr/>
        </p:nvSpPr>
        <p:spPr>
          <a:xfrm>
            <a:off x="7321444" y="6437376"/>
            <a:ext cx="10973" cy="146304"/>
          </a:xfrm>
          <a:prstGeom prst="rect">
            <a:avLst/>
          </a:prstGeom>
          <a:solidFill>
            <a:srgbClr val="5E86C8"/>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01 - LEADERSHIP AND ITS FOUNDATIONS</a:t>
            </a:r>
            <a:endParaRPr lang="en-US" sz="1000" dirty="0"/>
          </a:p>
        </p:txBody>
      </p:sp>
      <p:sp>
        <p:nvSpPr>
          <p:cNvPr id="3" name="Shape 1"/>
          <p:cNvSpPr/>
          <p:nvPr/>
        </p:nvSpPr>
        <p:spPr>
          <a:xfrm>
            <a:off x="502919" y="571500"/>
            <a:ext cx="2385647" cy="45719"/>
          </a:xfrm>
          <a:prstGeom prst="rect">
            <a:avLst/>
          </a:prstGeom>
          <a:solidFill>
            <a:srgbClr val="0032A0"/>
          </a:solidFill>
          <a:ln/>
        </p:spPr>
      </p:sp>
      <p:sp>
        <p:nvSpPr>
          <p:cNvPr id="4" name="Text 2"/>
          <p:cNvSpPr/>
          <p:nvPr/>
        </p:nvSpPr>
        <p:spPr>
          <a:xfrm>
            <a:off x="502920" y="713232"/>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From a 2006 domestic start-up to 441 aircraft and 123.4 million passengers</a:t>
            </a:r>
            <a:endParaRPr lang="en-US" sz="2250" dirty="0"/>
          </a:p>
        </p:txBody>
      </p:sp>
      <p:sp>
        <p:nvSpPr>
          <p:cNvPr id="5" name="Text 3"/>
          <p:cNvSpPr/>
          <p:nvPr/>
        </p:nvSpPr>
        <p:spPr>
          <a:xfrm>
            <a:off x="502920" y="1335024"/>
            <a:ext cx="11185855" cy="219456"/>
          </a:xfrm>
          <a:prstGeom prst="rect">
            <a:avLst/>
          </a:prstGeom>
          <a:noFill/>
          <a:ln/>
        </p:spPr>
        <p:txBody>
          <a:bodyPr wrap="square" lIns="0" tIns="0" rIns="0" bIns="0" rtlCol="0" anchor="t"/>
          <a:lstStyle/>
          <a:p>
            <a:pPr marL="0" indent="0">
              <a:buNone/>
            </a:pPr>
            <a:r>
              <a:rPr lang="en-US" sz="1300" dirty="0">
                <a:solidFill>
                  <a:srgbClr val="46577A"/>
                </a:solidFill>
                <a:latin typeface="Aptos" pitchFamily="34" charset="0"/>
                <a:ea typeface="Aptos" pitchFamily="34" charset="-122"/>
                <a:cs typeface="Aptos" pitchFamily="34" charset="-120"/>
              </a:rPr>
              <a:t>Founded by Rahul Bhatia and Rakesh Gangwal; commercial operations from August 2006 as a domestic low-cost carrier</a:t>
            </a:r>
            <a:endParaRPr lang="en-US" sz="1300" dirty="0"/>
          </a:p>
        </p:txBody>
      </p:sp>
      <p:sp>
        <p:nvSpPr>
          <p:cNvPr id="6" name="Text 4"/>
          <p:cNvSpPr/>
          <p:nvPr/>
        </p:nvSpPr>
        <p:spPr>
          <a:xfrm>
            <a:off x="502920" y="1719072"/>
            <a:ext cx="1736293" cy="512064"/>
          </a:xfrm>
          <a:prstGeom prst="rect">
            <a:avLst/>
          </a:prstGeom>
          <a:noFill/>
          <a:ln/>
        </p:spPr>
        <p:txBody>
          <a:bodyPr wrap="square" lIns="0" tIns="0" rIns="0" bIns="0" rtlCol="0" anchor="ctr"/>
          <a:lstStyle/>
          <a:p>
            <a:pPr marL="0" indent="0">
              <a:buNone/>
            </a:pPr>
            <a:r>
              <a:rPr lang="en-US" sz="3200" b="1" dirty="0">
                <a:solidFill>
                  <a:srgbClr val="0032A0"/>
                </a:solidFill>
                <a:latin typeface="Aptos Display" pitchFamily="34" charset="0"/>
                <a:ea typeface="Aptos Display" pitchFamily="34" charset="-122"/>
                <a:cs typeface="Aptos Display" pitchFamily="34" charset="-120"/>
              </a:rPr>
              <a:t>441</a:t>
            </a:r>
            <a:endParaRPr lang="en-US" sz="3200" dirty="0"/>
          </a:p>
        </p:txBody>
      </p:sp>
      <p:sp>
        <p:nvSpPr>
          <p:cNvPr id="7" name="Text 5"/>
          <p:cNvSpPr/>
          <p:nvPr/>
        </p:nvSpPr>
        <p:spPr>
          <a:xfrm>
            <a:off x="502920" y="2249424"/>
            <a:ext cx="1736293" cy="219456"/>
          </a:xfrm>
          <a:prstGeom prst="rect">
            <a:avLst/>
          </a:prstGeom>
          <a:noFill/>
          <a:ln/>
        </p:spPr>
        <p:txBody>
          <a:bodyPr wrap="square" lIns="0" tIns="0" rIns="0" bIns="0" rtlCol="0" anchor="t"/>
          <a:lstStyle/>
          <a:p>
            <a:pPr marL="0" indent="0">
              <a:buNone/>
            </a:pPr>
            <a:r>
              <a:rPr lang="en-US" sz="900" b="1" dirty="0">
                <a:solidFill>
                  <a:srgbClr val="46577A"/>
                </a:solidFill>
                <a:latin typeface="Aptos" pitchFamily="34" charset="0"/>
                <a:ea typeface="Aptos" pitchFamily="34" charset="-122"/>
                <a:cs typeface="Aptos" pitchFamily="34" charset="-120"/>
              </a:rPr>
              <a:t>AIRCRAFT</a:t>
            </a:r>
            <a:endParaRPr lang="en-US" sz="900" dirty="0"/>
          </a:p>
        </p:txBody>
      </p:sp>
      <p:sp>
        <p:nvSpPr>
          <p:cNvPr id="8" name="Text 6"/>
          <p:cNvSpPr/>
          <p:nvPr/>
        </p:nvSpPr>
        <p:spPr>
          <a:xfrm>
            <a:off x="502920" y="2468880"/>
            <a:ext cx="1736293" cy="201168"/>
          </a:xfrm>
          <a:prstGeom prst="rect">
            <a:avLst/>
          </a:prstGeom>
          <a:noFill/>
          <a:ln/>
        </p:spPr>
        <p:txBody>
          <a:bodyPr wrap="square" lIns="0" tIns="0" rIns="0" bIns="0" rtlCol="0" anchor="t"/>
          <a:lstStyle/>
          <a:p>
            <a:pPr marL="0" indent="0">
              <a:buNone/>
            </a:pPr>
            <a:r>
              <a:rPr lang="en-US" sz="900" dirty="0">
                <a:solidFill>
                  <a:srgbClr val="6B7280"/>
                </a:solidFill>
                <a:latin typeface="Aptos" pitchFamily="34" charset="0"/>
                <a:ea typeface="Aptos" pitchFamily="34" charset="-122"/>
                <a:cs typeface="Aptos" pitchFamily="34" charset="-120"/>
              </a:rPr>
              <a:t>31 Mar 2026  -  +7 / +1.6%</a:t>
            </a:r>
            <a:endParaRPr lang="en-US" sz="900" dirty="0"/>
          </a:p>
        </p:txBody>
      </p:sp>
      <p:sp>
        <p:nvSpPr>
          <p:cNvPr id="9" name="Shape 7"/>
          <p:cNvSpPr/>
          <p:nvPr/>
        </p:nvSpPr>
        <p:spPr>
          <a:xfrm>
            <a:off x="2348941" y="1755648"/>
            <a:ext cx="5486" cy="1024128"/>
          </a:xfrm>
          <a:prstGeom prst="rect">
            <a:avLst/>
          </a:prstGeom>
          <a:solidFill>
            <a:srgbClr val="C9D8F2"/>
          </a:solidFill>
          <a:ln/>
        </p:spPr>
      </p:sp>
      <p:sp>
        <p:nvSpPr>
          <p:cNvPr id="10" name="Text 8"/>
          <p:cNvSpPr/>
          <p:nvPr/>
        </p:nvSpPr>
        <p:spPr>
          <a:xfrm>
            <a:off x="2367229" y="1719072"/>
            <a:ext cx="1736293" cy="512064"/>
          </a:xfrm>
          <a:prstGeom prst="rect">
            <a:avLst/>
          </a:prstGeom>
          <a:noFill/>
          <a:ln/>
        </p:spPr>
        <p:txBody>
          <a:bodyPr wrap="square" lIns="0" tIns="0" rIns="0" bIns="0" rtlCol="0" anchor="ctr"/>
          <a:lstStyle/>
          <a:p>
            <a:pPr marL="0" indent="0">
              <a:buNone/>
            </a:pPr>
            <a:r>
              <a:rPr lang="en-US" sz="3200" b="1" dirty="0">
                <a:solidFill>
                  <a:srgbClr val="0032A0"/>
                </a:solidFill>
                <a:latin typeface="Aptos Display" pitchFamily="34" charset="0"/>
                <a:ea typeface="Aptos Display" pitchFamily="34" charset="-122"/>
                <a:cs typeface="Aptos Display" pitchFamily="34" charset="-120"/>
              </a:rPr>
              <a:t>123.4M</a:t>
            </a:r>
            <a:endParaRPr lang="en-US" sz="3200" dirty="0"/>
          </a:p>
        </p:txBody>
      </p:sp>
      <p:sp>
        <p:nvSpPr>
          <p:cNvPr id="11" name="Text 9"/>
          <p:cNvSpPr/>
          <p:nvPr/>
        </p:nvSpPr>
        <p:spPr>
          <a:xfrm>
            <a:off x="2367229" y="2249424"/>
            <a:ext cx="1736293" cy="219456"/>
          </a:xfrm>
          <a:prstGeom prst="rect">
            <a:avLst/>
          </a:prstGeom>
          <a:noFill/>
          <a:ln/>
        </p:spPr>
        <p:txBody>
          <a:bodyPr wrap="square" lIns="0" tIns="0" rIns="0" bIns="0" rtlCol="0" anchor="t"/>
          <a:lstStyle/>
          <a:p>
            <a:pPr marL="0" indent="0">
              <a:buNone/>
            </a:pPr>
            <a:r>
              <a:rPr lang="en-US" sz="900" b="1" dirty="0">
                <a:solidFill>
                  <a:srgbClr val="46577A"/>
                </a:solidFill>
                <a:latin typeface="Aptos" pitchFamily="34" charset="0"/>
                <a:ea typeface="Aptos" pitchFamily="34" charset="-122"/>
                <a:cs typeface="Aptos" pitchFamily="34" charset="-120"/>
              </a:rPr>
              <a:t>PASSENGERS</a:t>
            </a:r>
            <a:endParaRPr lang="en-US" sz="900" dirty="0"/>
          </a:p>
        </p:txBody>
      </p:sp>
      <p:sp>
        <p:nvSpPr>
          <p:cNvPr id="12" name="Text 10"/>
          <p:cNvSpPr/>
          <p:nvPr/>
        </p:nvSpPr>
        <p:spPr>
          <a:xfrm>
            <a:off x="2367229" y="2468880"/>
            <a:ext cx="1736293" cy="201168"/>
          </a:xfrm>
          <a:prstGeom prst="rect">
            <a:avLst/>
          </a:prstGeom>
          <a:noFill/>
          <a:ln/>
        </p:spPr>
        <p:txBody>
          <a:bodyPr wrap="square" lIns="0" tIns="0" rIns="0" bIns="0" rtlCol="0" anchor="t"/>
          <a:lstStyle/>
          <a:p>
            <a:pPr marL="0" indent="0">
              <a:buNone/>
            </a:pPr>
            <a:r>
              <a:rPr lang="en-US" sz="900" dirty="0">
                <a:solidFill>
                  <a:srgbClr val="6B7280"/>
                </a:solidFill>
                <a:latin typeface="Aptos" pitchFamily="34" charset="0"/>
                <a:ea typeface="Aptos" pitchFamily="34" charset="-122"/>
                <a:cs typeface="Aptos" pitchFamily="34" charset="-120"/>
              </a:rPr>
              <a:t>FY2026  -  +4.0%</a:t>
            </a:r>
            <a:endParaRPr lang="en-US" sz="900" dirty="0"/>
          </a:p>
        </p:txBody>
      </p:sp>
      <p:sp>
        <p:nvSpPr>
          <p:cNvPr id="13" name="Shape 11"/>
          <p:cNvSpPr/>
          <p:nvPr/>
        </p:nvSpPr>
        <p:spPr>
          <a:xfrm>
            <a:off x="4213250" y="1755648"/>
            <a:ext cx="5486" cy="1024128"/>
          </a:xfrm>
          <a:prstGeom prst="rect">
            <a:avLst/>
          </a:prstGeom>
          <a:solidFill>
            <a:srgbClr val="C9D8F2"/>
          </a:solidFill>
          <a:ln/>
        </p:spPr>
      </p:sp>
      <p:sp>
        <p:nvSpPr>
          <p:cNvPr id="14" name="Text 12"/>
          <p:cNvSpPr/>
          <p:nvPr/>
        </p:nvSpPr>
        <p:spPr>
          <a:xfrm>
            <a:off x="4231538" y="1719072"/>
            <a:ext cx="1736293" cy="512064"/>
          </a:xfrm>
          <a:prstGeom prst="rect">
            <a:avLst/>
          </a:prstGeom>
          <a:noFill/>
          <a:ln/>
        </p:spPr>
        <p:txBody>
          <a:bodyPr wrap="square" lIns="0" tIns="0" rIns="0" bIns="0" rtlCol="0" anchor="ctr"/>
          <a:lstStyle/>
          <a:p>
            <a:pPr marL="0" indent="0">
              <a:buNone/>
            </a:pPr>
            <a:r>
              <a:rPr lang="en-US" sz="3200" b="1" dirty="0">
                <a:solidFill>
                  <a:srgbClr val="0032A0"/>
                </a:solidFill>
                <a:latin typeface="Aptos Display" pitchFamily="34" charset="0"/>
                <a:ea typeface="Aptos Display" pitchFamily="34" charset="-122"/>
                <a:cs typeface="Aptos Display" pitchFamily="34" charset="-120"/>
              </a:rPr>
              <a:t>172.4B</a:t>
            </a:r>
            <a:endParaRPr lang="en-US" sz="3200" dirty="0"/>
          </a:p>
        </p:txBody>
      </p:sp>
      <p:sp>
        <p:nvSpPr>
          <p:cNvPr id="15" name="Text 13"/>
          <p:cNvSpPr/>
          <p:nvPr/>
        </p:nvSpPr>
        <p:spPr>
          <a:xfrm>
            <a:off x="4231538" y="2249424"/>
            <a:ext cx="1736293" cy="219456"/>
          </a:xfrm>
          <a:prstGeom prst="rect">
            <a:avLst/>
          </a:prstGeom>
          <a:noFill/>
          <a:ln/>
        </p:spPr>
        <p:txBody>
          <a:bodyPr wrap="square" lIns="0" tIns="0" rIns="0" bIns="0" rtlCol="0" anchor="t"/>
          <a:lstStyle/>
          <a:p>
            <a:pPr marL="0" indent="0">
              <a:buNone/>
            </a:pPr>
            <a:r>
              <a:rPr lang="en-US" sz="900" b="1" dirty="0">
                <a:solidFill>
                  <a:srgbClr val="46577A"/>
                </a:solidFill>
                <a:latin typeface="Aptos" pitchFamily="34" charset="0"/>
                <a:ea typeface="Aptos" pitchFamily="34" charset="-122"/>
                <a:cs typeface="Aptos" pitchFamily="34" charset="-120"/>
              </a:rPr>
              <a:t>ASK CAPACITY</a:t>
            </a:r>
            <a:endParaRPr lang="en-US" sz="900" dirty="0"/>
          </a:p>
        </p:txBody>
      </p:sp>
      <p:sp>
        <p:nvSpPr>
          <p:cNvPr id="16" name="Text 14"/>
          <p:cNvSpPr/>
          <p:nvPr/>
        </p:nvSpPr>
        <p:spPr>
          <a:xfrm>
            <a:off x="4231538" y="2468880"/>
            <a:ext cx="1736293" cy="201168"/>
          </a:xfrm>
          <a:prstGeom prst="rect">
            <a:avLst/>
          </a:prstGeom>
          <a:noFill/>
          <a:ln/>
        </p:spPr>
        <p:txBody>
          <a:bodyPr wrap="square" lIns="0" tIns="0" rIns="0" bIns="0" rtlCol="0" anchor="t"/>
          <a:lstStyle/>
          <a:p>
            <a:pPr marL="0" indent="0">
              <a:buNone/>
            </a:pPr>
            <a:r>
              <a:rPr lang="en-US" sz="900" dirty="0">
                <a:solidFill>
                  <a:srgbClr val="6B7280"/>
                </a:solidFill>
                <a:latin typeface="Aptos" pitchFamily="34" charset="0"/>
                <a:ea typeface="Aptos" pitchFamily="34" charset="-122"/>
                <a:cs typeface="Aptos" pitchFamily="34" charset="-120"/>
              </a:rPr>
              <a:t>FY2026  -  +9.5%</a:t>
            </a:r>
            <a:endParaRPr lang="en-US" sz="900" dirty="0"/>
          </a:p>
        </p:txBody>
      </p:sp>
      <p:sp>
        <p:nvSpPr>
          <p:cNvPr id="17" name="Shape 15"/>
          <p:cNvSpPr/>
          <p:nvPr/>
        </p:nvSpPr>
        <p:spPr>
          <a:xfrm>
            <a:off x="6077560" y="1755648"/>
            <a:ext cx="5486" cy="1024128"/>
          </a:xfrm>
          <a:prstGeom prst="rect">
            <a:avLst/>
          </a:prstGeom>
          <a:solidFill>
            <a:srgbClr val="C9D8F2"/>
          </a:solidFill>
          <a:ln/>
        </p:spPr>
      </p:sp>
      <p:sp>
        <p:nvSpPr>
          <p:cNvPr id="18" name="Text 16"/>
          <p:cNvSpPr/>
          <p:nvPr/>
        </p:nvSpPr>
        <p:spPr>
          <a:xfrm>
            <a:off x="6095848" y="1719072"/>
            <a:ext cx="1736293" cy="512064"/>
          </a:xfrm>
          <a:prstGeom prst="rect">
            <a:avLst/>
          </a:prstGeom>
          <a:noFill/>
          <a:ln/>
        </p:spPr>
        <p:txBody>
          <a:bodyPr wrap="square" lIns="0" tIns="0" rIns="0" bIns="0" rtlCol="0" anchor="ctr"/>
          <a:lstStyle/>
          <a:p>
            <a:pPr marL="0" indent="0">
              <a:buNone/>
            </a:pPr>
            <a:r>
              <a:rPr lang="en-US" sz="3200" b="1" dirty="0">
                <a:solidFill>
                  <a:srgbClr val="0032A0"/>
                </a:solidFill>
                <a:latin typeface="Aptos Display" pitchFamily="34" charset="0"/>
                <a:ea typeface="Aptos Display" pitchFamily="34" charset="-122"/>
                <a:cs typeface="Aptos Display" pitchFamily="34" charset="-120"/>
              </a:rPr>
              <a:t>97 / 45</a:t>
            </a:r>
            <a:endParaRPr lang="en-US" sz="3200" dirty="0"/>
          </a:p>
        </p:txBody>
      </p:sp>
      <p:sp>
        <p:nvSpPr>
          <p:cNvPr id="19" name="Text 17"/>
          <p:cNvSpPr/>
          <p:nvPr/>
        </p:nvSpPr>
        <p:spPr>
          <a:xfrm>
            <a:off x="6095848" y="2249424"/>
            <a:ext cx="1736293" cy="219456"/>
          </a:xfrm>
          <a:prstGeom prst="rect">
            <a:avLst/>
          </a:prstGeom>
          <a:noFill/>
          <a:ln/>
        </p:spPr>
        <p:txBody>
          <a:bodyPr wrap="square" lIns="0" tIns="0" rIns="0" bIns="0" rtlCol="0" anchor="t"/>
          <a:lstStyle/>
          <a:p>
            <a:pPr marL="0" indent="0">
              <a:buNone/>
            </a:pPr>
            <a:r>
              <a:rPr lang="en-US" sz="900" b="1" dirty="0">
                <a:solidFill>
                  <a:srgbClr val="46577A"/>
                </a:solidFill>
                <a:latin typeface="Aptos" pitchFamily="34" charset="0"/>
                <a:ea typeface="Aptos" pitchFamily="34" charset="-122"/>
                <a:cs typeface="Aptos" pitchFamily="34" charset="-120"/>
              </a:rPr>
              <a:t>DESTINATIONS</a:t>
            </a:r>
            <a:endParaRPr lang="en-US" sz="900" dirty="0"/>
          </a:p>
        </p:txBody>
      </p:sp>
      <p:sp>
        <p:nvSpPr>
          <p:cNvPr id="20" name="Text 18"/>
          <p:cNvSpPr/>
          <p:nvPr/>
        </p:nvSpPr>
        <p:spPr>
          <a:xfrm>
            <a:off x="6095848" y="2468880"/>
            <a:ext cx="1736293" cy="201168"/>
          </a:xfrm>
          <a:prstGeom prst="rect">
            <a:avLst/>
          </a:prstGeom>
          <a:noFill/>
          <a:ln/>
        </p:spPr>
        <p:txBody>
          <a:bodyPr wrap="square" lIns="0" tIns="0" rIns="0" bIns="0" rtlCol="0" anchor="t"/>
          <a:lstStyle/>
          <a:p>
            <a:pPr marL="0" indent="0">
              <a:buNone/>
            </a:pPr>
            <a:r>
              <a:rPr lang="en-US" sz="900" dirty="0">
                <a:solidFill>
                  <a:srgbClr val="6B7280"/>
                </a:solidFill>
                <a:latin typeface="Aptos" pitchFamily="34" charset="0"/>
                <a:ea typeface="Aptos" pitchFamily="34" charset="-122"/>
                <a:cs typeface="Aptos" pitchFamily="34" charset="-120"/>
              </a:rPr>
              <a:t>domestic / international</a:t>
            </a:r>
            <a:endParaRPr lang="en-US" sz="900" dirty="0"/>
          </a:p>
        </p:txBody>
      </p:sp>
      <p:sp>
        <p:nvSpPr>
          <p:cNvPr id="21" name="Shape 19"/>
          <p:cNvSpPr/>
          <p:nvPr/>
        </p:nvSpPr>
        <p:spPr>
          <a:xfrm>
            <a:off x="7941869" y="1755648"/>
            <a:ext cx="5486" cy="1024128"/>
          </a:xfrm>
          <a:prstGeom prst="rect">
            <a:avLst/>
          </a:prstGeom>
          <a:solidFill>
            <a:srgbClr val="C9D8F2"/>
          </a:solidFill>
          <a:ln/>
        </p:spPr>
      </p:sp>
      <p:sp>
        <p:nvSpPr>
          <p:cNvPr id="22" name="Text 20"/>
          <p:cNvSpPr/>
          <p:nvPr/>
        </p:nvSpPr>
        <p:spPr>
          <a:xfrm>
            <a:off x="7960157" y="1719072"/>
            <a:ext cx="1736293" cy="512064"/>
          </a:xfrm>
          <a:prstGeom prst="rect">
            <a:avLst/>
          </a:prstGeom>
          <a:noFill/>
          <a:ln/>
        </p:spPr>
        <p:txBody>
          <a:bodyPr wrap="square" lIns="0" tIns="0" rIns="0" bIns="0" rtlCol="0" anchor="ctr"/>
          <a:lstStyle/>
          <a:p>
            <a:pPr marL="0" indent="0">
              <a:buNone/>
            </a:pPr>
            <a:r>
              <a:rPr lang="en-US" sz="3200" b="1" dirty="0">
                <a:solidFill>
                  <a:srgbClr val="0032A0"/>
                </a:solidFill>
                <a:latin typeface="Aptos Display" pitchFamily="34" charset="0"/>
                <a:ea typeface="Aptos Display" pitchFamily="34" charset="-122"/>
                <a:cs typeface="Aptos Display" pitchFamily="34" charset="-120"/>
              </a:rPr>
              <a:t>2,241</a:t>
            </a:r>
            <a:endParaRPr lang="en-US" sz="3200" dirty="0"/>
          </a:p>
        </p:txBody>
      </p:sp>
      <p:sp>
        <p:nvSpPr>
          <p:cNvPr id="23" name="Text 21"/>
          <p:cNvSpPr/>
          <p:nvPr/>
        </p:nvSpPr>
        <p:spPr>
          <a:xfrm>
            <a:off x="7960157" y="2249424"/>
            <a:ext cx="1736293" cy="219456"/>
          </a:xfrm>
          <a:prstGeom prst="rect">
            <a:avLst/>
          </a:prstGeom>
          <a:noFill/>
          <a:ln/>
        </p:spPr>
        <p:txBody>
          <a:bodyPr wrap="square" lIns="0" tIns="0" rIns="0" bIns="0" rtlCol="0" anchor="t"/>
          <a:lstStyle/>
          <a:p>
            <a:pPr marL="0" indent="0">
              <a:buNone/>
            </a:pPr>
            <a:r>
              <a:rPr lang="en-US" sz="900" b="1" dirty="0">
                <a:solidFill>
                  <a:srgbClr val="46577A"/>
                </a:solidFill>
                <a:latin typeface="Aptos" pitchFamily="34" charset="0"/>
                <a:ea typeface="Aptos" pitchFamily="34" charset="-122"/>
                <a:cs typeface="Aptos" pitchFamily="34" charset="-120"/>
              </a:rPr>
              <a:t>DAILY FLIGHTS</a:t>
            </a:r>
            <a:endParaRPr lang="en-US" sz="900" dirty="0"/>
          </a:p>
        </p:txBody>
      </p:sp>
      <p:sp>
        <p:nvSpPr>
          <p:cNvPr id="24" name="Text 22"/>
          <p:cNvSpPr/>
          <p:nvPr/>
        </p:nvSpPr>
        <p:spPr>
          <a:xfrm>
            <a:off x="7960157" y="2468880"/>
            <a:ext cx="1736293" cy="201168"/>
          </a:xfrm>
          <a:prstGeom prst="rect">
            <a:avLst/>
          </a:prstGeom>
          <a:noFill/>
          <a:ln/>
        </p:spPr>
        <p:txBody>
          <a:bodyPr wrap="square" lIns="0" tIns="0" rIns="0" bIns="0" rtlCol="0" anchor="t"/>
          <a:lstStyle/>
          <a:p>
            <a:pPr marL="0" indent="0">
              <a:buNone/>
            </a:pPr>
            <a:r>
              <a:rPr lang="en-US" sz="900" dirty="0">
                <a:solidFill>
                  <a:srgbClr val="6B7280"/>
                </a:solidFill>
                <a:latin typeface="Aptos" pitchFamily="34" charset="0"/>
                <a:ea typeface="Aptos" pitchFamily="34" charset="-122"/>
                <a:cs typeface="Aptos" pitchFamily="34" charset="-120"/>
              </a:rPr>
              <a:t>peak, Q4 FY2026</a:t>
            </a:r>
            <a:endParaRPr lang="en-US" sz="900" dirty="0"/>
          </a:p>
        </p:txBody>
      </p:sp>
      <p:sp>
        <p:nvSpPr>
          <p:cNvPr id="25" name="Shape 23"/>
          <p:cNvSpPr/>
          <p:nvPr/>
        </p:nvSpPr>
        <p:spPr>
          <a:xfrm>
            <a:off x="9806178" y="1755648"/>
            <a:ext cx="5486" cy="1024128"/>
          </a:xfrm>
          <a:prstGeom prst="rect">
            <a:avLst/>
          </a:prstGeom>
          <a:solidFill>
            <a:srgbClr val="C9D8F2"/>
          </a:solidFill>
          <a:ln/>
        </p:spPr>
      </p:sp>
      <p:sp>
        <p:nvSpPr>
          <p:cNvPr id="26" name="Text 24"/>
          <p:cNvSpPr/>
          <p:nvPr/>
        </p:nvSpPr>
        <p:spPr>
          <a:xfrm>
            <a:off x="9824466" y="1719072"/>
            <a:ext cx="1736293" cy="512064"/>
          </a:xfrm>
          <a:prstGeom prst="rect">
            <a:avLst/>
          </a:prstGeom>
          <a:noFill/>
          <a:ln/>
        </p:spPr>
        <p:txBody>
          <a:bodyPr wrap="square" lIns="0" tIns="0" rIns="0" bIns="0" rtlCol="0" anchor="ctr"/>
          <a:lstStyle/>
          <a:p>
            <a:pPr marL="0" indent="0">
              <a:buNone/>
            </a:pPr>
            <a:r>
              <a:rPr lang="en-US" sz="3200" b="1" dirty="0">
                <a:solidFill>
                  <a:srgbClr val="0032A0"/>
                </a:solidFill>
                <a:latin typeface="Aptos Display" pitchFamily="34" charset="0"/>
                <a:ea typeface="Aptos Display" pitchFamily="34" charset="-122"/>
                <a:cs typeface="Aptos Display" pitchFamily="34" charset="-120"/>
              </a:rPr>
              <a:t>99.9%</a:t>
            </a:r>
            <a:endParaRPr lang="en-US" sz="3200" dirty="0"/>
          </a:p>
        </p:txBody>
      </p:sp>
      <p:sp>
        <p:nvSpPr>
          <p:cNvPr id="27" name="Text 25"/>
          <p:cNvSpPr/>
          <p:nvPr/>
        </p:nvSpPr>
        <p:spPr>
          <a:xfrm>
            <a:off x="9824466" y="2249424"/>
            <a:ext cx="1736293" cy="219456"/>
          </a:xfrm>
          <a:prstGeom prst="rect">
            <a:avLst/>
          </a:prstGeom>
          <a:noFill/>
          <a:ln/>
        </p:spPr>
        <p:txBody>
          <a:bodyPr wrap="square" lIns="0" tIns="0" rIns="0" bIns="0" rtlCol="0" anchor="t"/>
          <a:lstStyle/>
          <a:p>
            <a:pPr marL="0" indent="0">
              <a:buNone/>
            </a:pPr>
            <a:r>
              <a:rPr lang="en-US" sz="900" b="1" dirty="0">
                <a:solidFill>
                  <a:srgbClr val="46577A"/>
                </a:solidFill>
                <a:latin typeface="Aptos" pitchFamily="34" charset="0"/>
                <a:ea typeface="Aptos" pitchFamily="34" charset="-122"/>
                <a:cs typeface="Aptos" pitchFamily="34" charset="-120"/>
              </a:rPr>
              <a:t>DISPATCH RELIABILITY</a:t>
            </a:r>
            <a:endParaRPr lang="en-US" sz="900" dirty="0"/>
          </a:p>
        </p:txBody>
      </p:sp>
      <p:sp>
        <p:nvSpPr>
          <p:cNvPr id="28" name="Text 26"/>
          <p:cNvSpPr/>
          <p:nvPr/>
        </p:nvSpPr>
        <p:spPr>
          <a:xfrm>
            <a:off x="9824466" y="2468880"/>
            <a:ext cx="1736293" cy="201168"/>
          </a:xfrm>
          <a:prstGeom prst="rect">
            <a:avLst/>
          </a:prstGeom>
          <a:noFill/>
          <a:ln/>
        </p:spPr>
        <p:txBody>
          <a:bodyPr wrap="square" lIns="0" tIns="0" rIns="0" bIns="0" rtlCol="0" anchor="t"/>
          <a:lstStyle/>
          <a:p>
            <a:pPr marL="0" indent="0">
              <a:buNone/>
            </a:pPr>
            <a:r>
              <a:rPr lang="en-US" sz="900" dirty="0">
                <a:solidFill>
                  <a:srgbClr val="6B7280"/>
                </a:solidFill>
                <a:latin typeface="Aptos" pitchFamily="34" charset="0"/>
                <a:ea typeface="Aptos" pitchFamily="34" charset="-122"/>
                <a:cs typeface="Aptos" pitchFamily="34" charset="-120"/>
              </a:rPr>
              <a:t>technical, as reported</a:t>
            </a:r>
            <a:endParaRPr lang="en-US" sz="900" dirty="0"/>
          </a:p>
        </p:txBody>
      </p:sp>
      <p:sp>
        <p:nvSpPr>
          <p:cNvPr id="29" name="Shape 27"/>
          <p:cNvSpPr/>
          <p:nvPr/>
        </p:nvSpPr>
        <p:spPr>
          <a:xfrm>
            <a:off x="502920" y="2834640"/>
            <a:ext cx="11185855" cy="5486"/>
          </a:xfrm>
          <a:prstGeom prst="rect">
            <a:avLst/>
          </a:prstGeom>
          <a:solidFill>
            <a:srgbClr val="C9D8F2"/>
          </a:solidFill>
          <a:ln/>
        </p:spPr>
      </p:sp>
      <p:sp>
        <p:nvSpPr>
          <p:cNvPr id="30" name="Text 28"/>
          <p:cNvSpPr/>
          <p:nvPr/>
        </p:nvSpPr>
        <p:spPr>
          <a:xfrm>
            <a:off x="502920" y="2980944"/>
            <a:ext cx="493776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WHAT THE COMPANY IS</a:t>
            </a:r>
            <a:endParaRPr lang="en-US" sz="1000" dirty="0"/>
          </a:p>
        </p:txBody>
      </p:sp>
      <p:sp>
        <p:nvSpPr>
          <p:cNvPr id="31" name="Text 29"/>
          <p:cNvSpPr/>
          <p:nvPr/>
        </p:nvSpPr>
        <p:spPr>
          <a:xfrm>
            <a:off x="502920" y="3236976"/>
            <a:ext cx="5029200" cy="868680"/>
          </a:xfrm>
          <a:prstGeom prst="rect">
            <a:avLst/>
          </a:prstGeom>
          <a:noFill/>
          <a:ln/>
        </p:spPr>
        <p:txBody>
          <a:bodyPr wrap="square" lIns="0" tIns="0" rIns="0" bIns="0" rtlCol="0" anchor="t"/>
          <a:lstStyle/>
          <a:p>
            <a:pPr marL="0" indent="0" algn="l">
              <a:lnSpc>
                <a:spcPct val="112000"/>
              </a:lnSpc>
              <a:buNone/>
            </a:pPr>
            <a:r>
              <a:rPr lang="en-US" sz="1150" dirty="0">
                <a:solidFill>
                  <a:srgbClr val="041E47"/>
                </a:solidFill>
                <a:latin typeface="Aptos" pitchFamily="34" charset="0"/>
                <a:ea typeface="Aptos" pitchFamily="34" charset="-122"/>
                <a:cs typeface="Aptos" pitchFamily="34" charset="-120"/>
              </a:rPr>
              <a:t>A single-fleet-family, high-utilisation low-cost carrier operating at national scale - now layering international and long-haul capability onto the same cost-discipline architecture.</a:t>
            </a:r>
            <a:endParaRPr lang="en-US" sz="1150" dirty="0"/>
          </a:p>
        </p:txBody>
      </p:sp>
      <p:sp>
        <p:nvSpPr>
          <p:cNvPr id="32" name="Shape 30"/>
          <p:cNvSpPr/>
          <p:nvPr/>
        </p:nvSpPr>
        <p:spPr>
          <a:xfrm>
            <a:off x="5806440" y="2980944"/>
            <a:ext cx="5486" cy="1188720"/>
          </a:xfrm>
          <a:prstGeom prst="rect">
            <a:avLst/>
          </a:prstGeom>
          <a:solidFill>
            <a:srgbClr val="C9D8F2"/>
          </a:solidFill>
          <a:ln/>
        </p:spPr>
      </p:sp>
      <p:sp>
        <p:nvSpPr>
          <p:cNvPr id="33" name="Text 31"/>
          <p:cNvSpPr/>
          <p:nvPr/>
        </p:nvSpPr>
        <p:spPr>
          <a:xfrm>
            <a:off x="6053328" y="2980944"/>
            <a:ext cx="512064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SCALE IN MOTION - FY2025 -&gt; FY2026</a:t>
            </a:r>
            <a:endParaRPr lang="en-US" sz="1000" dirty="0"/>
          </a:p>
        </p:txBody>
      </p:sp>
      <p:sp>
        <p:nvSpPr>
          <p:cNvPr id="34" name="Text 32"/>
          <p:cNvSpPr/>
          <p:nvPr/>
        </p:nvSpPr>
        <p:spPr>
          <a:xfrm>
            <a:off x="6053328" y="3273552"/>
            <a:ext cx="2514600" cy="256032"/>
          </a:xfrm>
          <a:prstGeom prst="rect">
            <a:avLst/>
          </a:prstGeom>
          <a:noFill/>
          <a:ln/>
        </p:spPr>
        <p:txBody>
          <a:bodyPr wrap="square" lIns="0" tIns="0" rIns="0" bIns="0" rtlCol="0" anchor="ctr"/>
          <a:lstStyle/>
          <a:p>
            <a:pPr marL="0" indent="0">
              <a:buNone/>
            </a:pPr>
            <a:r>
              <a:rPr lang="en-US" sz="1050" dirty="0">
                <a:solidFill>
                  <a:srgbClr val="041E47"/>
                </a:solidFill>
                <a:latin typeface="Aptos" pitchFamily="34" charset="0"/>
                <a:ea typeface="Aptos" pitchFamily="34" charset="-122"/>
                <a:cs typeface="Aptos" pitchFamily="34" charset="-120"/>
              </a:rPr>
              <a:t>Fleet</a:t>
            </a:r>
            <a:endParaRPr lang="en-US" sz="1050" dirty="0"/>
          </a:p>
        </p:txBody>
      </p:sp>
      <p:sp>
        <p:nvSpPr>
          <p:cNvPr id="35" name="Text 33"/>
          <p:cNvSpPr/>
          <p:nvPr/>
        </p:nvSpPr>
        <p:spPr>
          <a:xfrm>
            <a:off x="8613648" y="3273552"/>
            <a:ext cx="1691640" cy="256032"/>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434   -&gt;   441</a:t>
            </a:r>
            <a:endParaRPr lang="en-US" sz="1050" dirty="0"/>
          </a:p>
        </p:txBody>
      </p:sp>
      <p:sp>
        <p:nvSpPr>
          <p:cNvPr id="36" name="Text 34"/>
          <p:cNvSpPr/>
          <p:nvPr/>
        </p:nvSpPr>
        <p:spPr>
          <a:xfrm>
            <a:off x="10378440" y="3273552"/>
            <a:ext cx="1325880" cy="256032"/>
          </a:xfrm>
          <a:prstGeom prst="rect">
            <a:avLst/>
          </a:prstGeom>
          <a:noFill/>
          <a:ln/>
        </p:spPr>
        <p:txBody>
          <a:bodyPr wrap="square" lIns="0" tIns="0" rIns="0" bIns="0" rtlCol="0" anchor="ctr"/>
          <a:lstStyle/>
          <a:p>
            <a:pPr marL="0" indent="0" algn="r">
              <a:buNone/>
            </a:pPr>
            <a:r>
              <a:rPr lang="en-US" sz="1050" b="1" dirty="0">
                <a:solidFill>
                  <a:srgbClr val="0E8A7A"/>
                </a:solidFill>
                <a:latin typeface="Aptos" pitchFamily="34" charset="0"/>
                <a:ea typeface="Aptos" pitchFamily="34" charset="-122"/>
                <a:cs typeface="Aptos" pitchFamily="34" charset="-120"/>
              </a:rPr>
              <a:t>+1.6%</a:t>
            </a:r>
            <a:endParaRPr lang="en-US" sz="1050" dirty="0"/>
          </a:p>
        </p:txBody>
      </p:sp>
      <p:sp>
        <p:nvSpPr>
          <p:cNvPr id="37" name="Text 35"/>
          <p:cNvSpPr/>
          <p:nvPr/>
        </p:nvSpPr>
        <p:spPr>
          <a:xfrm>
            <a:off x="6053328" y="3575304"/>
            <a:ext cx="2514600" cy="256032"/>
          </a:xfrm>
          <a:prstGeom prst="rect">
            <a:avLst/>
          </a:prstGeom>
          <a:noFill/>
          <a:ln/>
        </p:spPr>
        <p:txBody>
          <a:bodyPr wrap="square" lIns="0" tIns="0" rIns="0" bIns="0" rtlCol="0" anchor="ctr"/>
          <a:lstStyle/>
          <a:p>
            <a:pPr marL="0" indent="0">
              <a:buNone/>
            </a:pPr>
            <a:r>
              <a:rPr lang="en-US" sz="1050" dirty="0">
                <a:solidFill>
                  <a:srgbClr val="041E47"/>
                </a:solidFill>
                <a:latin typeface="Aptos" pitchFamily="34" charset="0"/>
                <a:ea typeface="Aptos" pitchFamily="34" charset="-122"/>
                <a:cs typeface="Aptos" pitchFamily="34" charset="-120"/>
              </a:rPr>
              <a:t>Domestic destinations</a:t>
            </a:r>
            <a:endParaRPr lang="en-US" sz="1050" dirty="0"/>
          </a:p>
        </p:txBody>
      </p:sp>
      <p:sp>
        <p:nvSpPr>
          <p:cNvPr id="38" name="Text 36"/>
          <p:cNvSpPr/>
          <p:nvPr/>
        </p:nvSpPr>
        <p:spPr>
          <a:xfrm>
            <a:off x="8613648" y="3575304"/>
            <a:ext cx="1691640" cy="256032"/>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91   -&gt;   97</a:t>
            </a:r>
            <a:endParaRPr lang="en-US" sz="1050" dirty="0"/>
          </a:p>
        </p:txBody>
      </p:sp>
      <p:sp>
        <p:nvSpPr>
          <p:cNvPr id="39" name="Text 37"/>
          <p:cNvSpPr/>
          <p:nvPr/>
        </p:nvSpPr>
        <p:spPr>
          <a:xfrm>
            <a:off x="10378440" y="3575304"/>
            <a:ext cx="1325880" cy="256032"/>
          </a:xfrm>
          <a:prstGeom prst="rect">
            <a:avLst/>
          </a:prstGeom>
          <a:noFill/>
          <a:ln/>
        </p:spPr>
        <p:txBody>
          <a:bodyPr wrap="square" lIns="0" tIns="0" rIns="0" bIns="0" rtlCol="0" anchor="ctr"/>
          <a:lstStyle/>
          <a:p>
            <a:pPr marL="0" indent="0" algn="r">
              <a:buNone/>
            </a:pPr>
            <a:r>
              <a:rPr lang="en-US" sz="1050" b="1" dirty="0">
                <a:solidFill>
                  <a:srgbClr val="0E8A7A"/>
                </a:solidFill>
                <a:latin typeface="Aptos" pitchFamily="34" charset="0"/>
                <a:ea typeface="Aptos" pitchFamily="34" charset="-122"/>
                <a:cs typeface="Aptos" pitchFamily="34" charset="-120"/>
              </a:rPr>
              <a:t>+6</a:t>
            </a:r>
            <a:endParaRPr lang="en-US" sz="1050" dirty="0"/>
          </a:p>
        </p:txBody>
      </p:sp>
      <p:sp>
        <p:nvSpPr>
          <p:cNvPr id="40" name="Text 38"/>
          <p:cNvSpPr/>
          <p:nvPr/>
        </p:nvSpPr>
        <p:spPr>
          <a:xfrm>
            <a:off x="6053328" y="3877056"/>
            <a:ext cx="2514600" cy="256032"/>
          </a:xfrm>
          <a:prstGeom prst="rect">
            <a:avLst/>
          </a:prstGeom>
          <a:noFill/>
          <a:ln/>
        </p:spPr>
        <p:txBody>
          <a:bodyPr wrap="square" lIns="0" tIns="0" rIns="0" bIns="0" rtlCol="0" anchor="ctr"/>
          <a:lstStyle/>
          <a:p>
            <a:pPr marL="0" indent="0">
              <a:buNone/>
            </a:pPr>
            <a:r>
              <a:rPr lang="en-US" sz="1050" dirty="0">
                <a:solidFill>
                  <a:srgbClr val="041E47"/>
                </a:solidFill>
                <a:latin typeface="Aptos" pitchFamily="34" charset="0"/>
                <a:ea typeface="Aptos" pitchFamily="34" charset="-122"/>
                <a:cs typeface="Aptos" pitchFamily="34" charset="-120"/>
              </a:rPr>
              <a:t>International destinations</a:t>
            </a:r>
            <a:endParaRPr lang="en-US" sz="1050" dirty="0"/>
          </a:p>
        </p:txBody>
      </p:sp>
      <p:sp>
        <p:nvSpPr>
          <p:cNvPr id="41" name="Text 39"/>
          <p:cNvSpPr/>
          <p:nvPr/>
        </p:nvSpPr>
        <p:spPr>
          <a:xfrm>
            <a:off x="8613648" y="3877056"/>
            <a:ext cx="1691640" cy="256032"/>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40   -&gt;   45</a:t>
            </a:r>
            <a:endParaRPr lang="en-US" sz="1050" dirty="0"/>
          </a:p>
        </p:txBody>
      </p:sp>
      <p:sp>
        <p:nvSpPr>
          <p:cNvPr id="42" name="Text 40"/>
          <p:cNvSpPr/>
          <p:nvPr/>
        </p:nvSpPr>
        <p:spPr>
          <a:xfrm>
            <a:off x="10378440" y="3877056"/>
            <a:ext cx="1325880" cy="256032"/>
          </a:xfrm>
          <a:prstGeom prst="rect">
            <a:avLst/>
          </a:prstGeom>
          <a:noFill/>
          <a:ln/>
        </p:spPr>
        <p:txBody>
          <a:bodyPr wrap="square" lIns="0" tIns="0" rIns="0" bIns="0" rtlCol="0" anchor="ctr"/>
          <a:lstStyle/>
          <a:p>
            <a:pPr marL="0" indent="0" algn="r">
              <a:buNone/>
            </a:pPr>
            <a:r>
              <a:rPr lang="en-US" sz="1050" b="1" dirty="0">
                <a:solidFill>
                  <a:srgbClr val="0E8A7A"/>
                </a:solidFill>
                <a:latin typeface="Aptos" pitchFamily="34" charset="0"/>
                <a:ea typeface="Aptos" pitchFamily="34" charset="-122"/>
                <a:cs typeface="Aptos" pitchFamily="34" charset="-120"/>
              </a:rPr>
              <a:t>+5</a:t>
            </a:r>
            <a:endParaRPr lang="en-US" sz="1050" dirty="0"/>
          </a:p>
        </p:txBody>
      </p:sp>
      <p:pic>
        <p:nvPicPr>
          <p:cNvPr id="43" name="Image 0" descr="assets/a320.jpg"/>
          <p:cNvPicPr>
            <a:picLocks noChangeAspect="1"/>
          </p:cNvPicPr>
          <p:nvPr/>
        </p:nvPicPr>
        <p:blipFill>
          <a:blip r:embed="rId3"/>
          <a:srcRect/>
          <a:stretch/>
        </p:blipFill>
        <p:spPr>
          <a:xfrm>
            <a:off x="502920" y="4370832"/>
            <a:ext cx="11185855" cy="1298448"/>
          </a:xfrm>
          <a:prstGeom prst="rect">
            <a:avLst/>
          </a:prstGeom>
        </p:spPr>
      </p:pic>
      <p:sp>
        <p:nvSpPr>
          <p:cNvPr id="44" name="Shape 41"/>
          <p:cNvSpPr/>
          <p:nvPr/>
        </p:nvSpPr>
        <p:spPr>
          <a:xfrm>
            <a:off x="502920" y="5779008"/>
            <a:ext cx="11185855" cy="402336"/>
          </a:xfrm>
          <a:prstGeom prst="rect">
            <a:avLst/>
          </a:prstGeom>
          <a:solidFill>
            <a:srgbClr val="FFFFFF"/>
          </a:solidFill>
          <a:ln w="9525">
            <a:solidFill>
              <a:srgbClr val="6B7280"/>
            </a:solidFill>
            <a:prstDash val="dash"/>
          </a:ln>
        </p:spPr>
      </p:sp>
      <p:sp>
        <p:nvSpPr>
          <p:cNvPr id="45" name="Shape 42"/>
          <p:cNvSpPr/>
          <p:nvPr/>
        </p:nvSpPr>
        <p:spPr>
          <a:xfrm>
            <a:off x="594360" y="5893308"/>
            <a:ext cx="1344168" cy="173736"/>
          </a:xfrm>
          <a:prstGeom prst="rect">
            <a:avLst/>
          </a:prstGeom>
          <a:solidFill>
            <a:srgbClr val="FFFFFF"/>
          </a:solidFill>
          <a:ln w="9525">
            <a:solidFill>
              <a:srgbClr val="6B7280"/>
            </a:solidFill>
            <a:prstDash val="dash"/>
          </a:ln>
        </p:spPr>
      </p:sp>
      <p:sp>
        <p:nvSpPr>
          <p:cNvPr id="46" name="Text 43"/>
          <p:cNvSpPr/>
          <p:nvPr/>
        </p:nvSpPr>
        <p:spPr>
          <a:xfrm>
            <a:off x="594360" y="5893308"/>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47" name="Text 44"/>
          <p:cNvSpPr/>
          <p:nvPr/>
        </p:nvSpPr>
        <p:spPr>
          <a:xfrm>
            <a:off x="2048256" y="5815584"/>
            <a:ext cx="9530791" cy="329184"/>
          </a:xfrm>
          <a:prstGeom prst="rect">
            <a:avLst/>
          </a:prstGeom>
          <a:noFill/>
          <a:ln/>
        </p:spPr>
        <p:txBody>
          <a:bodyPr wrap="square" lIns="0" tIns="0" rIns="0" bIns="0" rtlCol="0" anchor="ctr"/>
          <a:lstStyle/>
          <a:p>
            <a:pPr marL="0" indent="0">
              <a:buNone/>
            </a:pPr>
            <a:r>
              <a:rPr lang="en-US" sz="950" dirty="0">
                <a:solidFill>
                  <a:srgbClr val="6B7280"/>
                </a:solidFill>
                <a:latin typeface="Aptos" pitchFamily="34" charset="0"/>
                <a:ea typeface="Aptos" pitchFamily="34" charset="-122"/>
                <a:cs typeface="Aptos" pitchFamily="34" charset="-120"/>
              </a:rPr>
              <a:t>The FY2025 fleet comparator (434 aircraft) is subject to CONF-005 and is presented as reported, not as settled.</a:t>
            </a:r>
            <a:endParaRPr lang="en-US" sz="950" dirty="0"/>
          </a:p>
        </p:txBody>
      </p:sp>
      <p:sp>
        <p:nvSpPr>
          <p:cNvPr id="48" name="Shape 45"/>
          <p:cNvSpPr/>
          <p:nvPr/>
        </p:nvSpPr>
        <p:spPr>
          <a:xfrm>
            <a:off x="502920" y="6309360"/>
            <a:ext cx="11185855" cy="5486"/>
          </a:xfrm>
          <a:prstGeom prst="rect">
            <a:avLst/>
          </a:prstGeom>
          <a:solidFill>
            <a:srgbClr val="C9D8F2"/>
          </a:solidFill>
          <a:ln/>
        </p:spPr>
      </p:sp>
      <p:sp>
        <p:nvSpPr>
          <p:cNvPr id="49" name="Text 46"/>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50" name="Text 47"/>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SRC-FY26-002 - SRC-OPS-FLEET-002/003 - EVD-FIN-UE-009 - CONF-005 (open)</a:t>
            </a:r>
            <a:endParaRPr lang="en-US" sz="800" dirty="0"/>
          </a:p>
        </p:txBody>
      </p:sp>
      <p:sp>
        <p:nvSpPr>
          <p:cNvPr id="51" name="Shape 48"/>
          <p:cNvSpPr/>
          <p:nvPr/>
        </p:nvSpPr>
        <p:spPr>
          <a:xfrm>
            <a:off x="11484864" y="6364224"/>
            <a:ext cx="201168" cy="201168"/>
          </a:xfrm>
          <a:prstGeom prst="rect">
            <a:avLst/>
          </a:prstGeom>
          <a:solidFill>
            <a:srgbClr val="0032A0"/>
          </a:solidFill>
          <a:ln/>
        </p:spPr>
      </p:sp>
      <p:sp>
        <p:nvSpPr>
          <p:cNvPr id="52" name="Text 49"/>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01 - LEADERSHIP AND ITS FOUNDATIONS</a:t>
            </a:r>
            <a:endParaRPr lang="en-US" sz="1000" dirty="0"/>
          </a:p>
        </p:txBody>
      </p:sp>
      <p:sp>
        <p:nvSpPr>
          <p:cNvPr id="3" name="Shape 1"/>
          <p:cNvSpPr/>
          <p:nvPr/>
        </p:nvSpPr>
        <p:spPr>
          <a:xfrm>
            <a:off x="502920" y="571500"/>
            <a:ext cx="2372868" cy="45719"/>
          </a:xfrm>
          <a:prstGeom prst="rect">
            <a:avLst/>
          </a:prstGeom>
          <a:solidFill>
            <a:srgbClr val="0032A0"/>
          </a:solidFill>
          <a:ln/>
        </p:spPr>
      </p:sp>
      <p:sp>
        <p:nvSpPr>
          <p:cNvPr id="4" name="Text 2"/>
          <p:cNvSpPr/>
          <p:nvPr/>
        </p:nvSpPr>
        <p:spPr>
          <a:xfrm>
            <a:off x="502920" y="684628"/>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How IndiGo built the foundations of competitive advantage</a:t>
            </a:r>
            <a:endParaRPr lang="en-US" sz="2250" dirty="0"/>
          </a:p>
        </p:txBody>
      </p:sp>
      <p:sp>
        <p:nvSpPr>
          <p:cNvPr id="5" name="Text 3"/>
          <p:cNvSpPr/>
          <p:nvPr/>
        </p:nvSpPr>
        <p:spPr>
          <a:xfrm>
            <a:off x="502920" y="1426464"/>
            <a:ext cx="73152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STRATEGIC MILESTONES - FROM FOCUSED LCC TO NETWORK LEADER</a:t>
            </a:r>
            <a:endParaRPr lang="en-US" sz="1000" dirty="0"/>
          </a:p>
        </p:txBody>
      </p:sp>
      <p:sp>
        <p:nvSpPr>
          <p:cNvPr id="6" name="Shape 4"/>
          <p:cNvSpPr/>
          <p:nvPr/>
        </p:nvSpPr>
        <p:spPr>
          <a:xfrm>
            <a:off x="502920" y="2231136"/>
            <a:ext cx="10369296" cy="18288"/>
          </a:xfrm>
          <a:prstGeom prst="rect">
            <a:avLst/>
          </a:prstGeom>
          <a:solidFill>
            <a:srgbClr val="DCE7FA"/>
          </a:solidFill>
          <a:ln/>
        </p:spPr>
      </p:sp>
      <p:sp>
        <p:nvSpPr>
          <p:cNvPr id="7" name="Shape 5"/>
          <p:cNvSpPr/>
          <p:nvPr/>
        </p:nvSpPr>
        <p:spPr>
          <a:xfrm>
            <a:off x="502920" y="2220163"/>
            <a:ext cx="41148" cy="41148"/>
          </a:xfrm>
          <a:prstGeom prst="ellipse">
            <a:avLst/>
          </a:prstGeom>
          <a:solidFill>
            <a:srgbClr val="7FA3E8"/>
          </a:solidFill>
          <a:ln/>
        </p:spPr>
      </p:sp>
      <p:sp>
        <p:nvSpPr>
          <p:cNvPr id="8" name="Shape 6"/>
          <p:cNvSpPr/>
          <p:nvPr/>
        </p:nvSpPr>
        <p:spPr>
          <a:xfrm>
            <a:off x="640080" y="2220163"/>
            <a:ext cx="41148" cy="41148"/>
          </a:xfrm>
          <a:prstGeom prst="ellipse">
            <a:avLst/>
          </a:prstGeom>
          <a:solidFill>
            <a:srgbClr val="7FA3E8"/>
          </a:solidFill>
          <a:ln/>
        </p:spPr>
      </p:sp>
      <p:sp>
        <p:nvSpPr>
          <p:cNvPr id="9" name="Shape 7"/>
          <p:cNvSpPr/>
          <p:nvPr/>
        </p:nvSpPr>
        <p:spPr>
          <a:xfrm>
            <a:off x="777240" y="2220163"/>
            <a:ext cx="41148" cy="41148"/>
          </a:xfrm>
          <a:prstGeom prst="ellipse">
            <a:avLst/>
          </a:prstGeom>
          <a:solidFill>
            <a:srgbClr val="7FA3E8"/>
          </a:solidFill>
          <a:ln/>
        </p:spPr>
      </p:sp>
      <p:sp>
        <p:nvSpPr>
          <p:cNvPr id="10" name="Shape 8"/>
          <p:cNvSpPr/>
          <p:nvPr/>
        </p:nvSpPr>
        <p:spPr>
          <a:xfrm>
            <a:off x="914400" y="2220163"/>
            <a:ext cx="41148" cy="41148"/>
          </a:xfrm>
          <a:prstGeom prst="ellipse">
            <a:avLst/>
          </a:prstGeom>
          <a:solidFill>
            <a:srgbClr val="7FA3E8"/>
          </a:solidFill>
          <a:ln/>
        </p:spPr>
      </p:sp>
      <p:sp>
        <p:nvSpPr>
          <p:cNvPr id="11" name="Shape 9"/>
          <p:cNvSpPr/>
          <p:nvPr/>
        </p:nvSpPr>
        <p:spPr>
          <a:xfrm>
            <a:off x="1051560" y="2220163"/>
            <a:ext cx="41148" cy="41148"/>
          </a:xfrm>
          <a:prstGeom prst="ellipse">
            <a:avLst/>
          </a:prstGeom>
          <a:solidFill>
            <a:srgbClr val="7FA3E8"/>
          </a:solidFill>
          <a:ln/>
        </p:spPr>
      </p:sp>
      <p:sp>
        <p:nvSpPr>
          <p:cNvPr id="12" name="Shape 10"/>
          <p:cNvSpPr/>
          <p:nvPr/>
        </p:nvSpPr>
        <p:spPr>
          <a:xfrm>
            <a:off x="1188720" y="2220163"/>
            <a:ext cx="41148" cy="41148"/>
          </a:xfrm>
          <a:prstGeom prst="ellipse">
            <a:avLst/>
          </a:prstGeom>
          <a:solidFill>
            <a:srgbClr val="7FA3E8"/>
          </a:solidFill>
          <a:ln/>
        </p:spPr>
      </p:sp>
      <p:sp>
        <p:nvSpPr>
          <p:cNvPr id="13" name="Shape 11"/>
          <p:cNvSpPr/>
          <p:nvPr/>
        </p:nvSpPr>
        <p:spPr>
          <a:xfrm>
            <a:off x="1325880" y="2220163"/>
            <a:ext cx="41148" cy="41148"/>
          </a:xfrm>
          <a:prstGeom prst="ellipse">
            <a:avLst/>
          </a:prstGeom>
          <a:solidFill>
            <a:srgbClr val="7FA3E8"/>
          </a:solidFill>
          <a:ln/>
        </p:spPr>
      </p:sp>
      <p:sp>
        <p:nvSpPr>
          <p:cNvPr id="14" name="Shape 12"/>
          <p:cNvSpPr/>
          <p:nvPr/>
        </p:nvSpPr>
        <p:spPr>
          <a:xfrm>
            <a:off x="1463040" y="2220163"/>
            <a:ext cx="41148" cy="41148"/>
          </a:xfrm>
          <a:prstGeom prst="ellipse">
            <a:avLst/>
          </a:prstGeom>
          <a:solidFill>
            <a:srgbClr val="7FA3E8"/>
          </a:solidFill>
          <a:ln/>
        </p:spPr>
      </p:sp>
      <p:sp>
        <p:nvSpPr>
          <p:cNvPr id="15" name="Shape 13"/>
          <p:cNvSpPr/>
          <p:nvPr/>
        </p:nvSpPr>
        <p:spPr>
          <a:xfrm>
            <a:off x="1600200" y="2220163"/>
            <a:ext cx="41148" cy="41148"/>
          </a:xfrm>
          <a:prstGeom prst="ellipse">
            <a:avLst/>
          </a:prstGeom>
          <a:solidFill>
            <a:srgbClr val="7FA3E8"/>
          </a:solidFill>
          <a:ln/>
        </p:spPr>
      </p:sp>
      <p:sp>
        <p:nvSpPr>
          <p:cNvPr id="16" name="Shape 14"/>
          <p:cNvSpPr/>
          <p:nvPr/>
        </p:nvSpPr>
        <p:spPr>
          <a:xfrm>
            <a:off x="1737360" y="2220163"/>
            <a:ext cx="41148" cy="41148"/>
          </a:xfrm>
          <a:prstGeom prst="ellipse">
            <a:avLst/>
          </a:prstGeom>
          <a:solidFill>
            <a:srgbClr val="7FA3E8"/>
          </a:solidFill>
          <a:ln/>
        </p:spPr>
      </p:sp>
      <p:sp>
        <p:nvSpPr>
          <p:cNvPr id="17" name="Shape 15"/>
          <p:cNvSpPr/>
          <p:nvPr/>
        </p:nvSpPr>
        <p:spPr>
          <a:xfrm>
            <a:off x="1874520" y="2220163"/>
            <a:ext cx="41148" cy="41148"/>
          </a:xfrm>
          <a:prstGeom prst="ellipse">
            <a:avLst/>
          </a:prstGeom>
          <a:solidFill>
            <a:srgbClr val="7FA3E8"/>
          </a:solidFill>
          <a:ln/>
        </p:spPr>
      </p:sp>
      <p:sp>
        <p:nvSpPr>
          <p:cNvPr id="18" name="Shape 16"/>
          <p:cNvSpPr/>
          <p:nvPr/>
        </p:nvSpPr>
        <p:spPr>
          <a:xfrm>
            <a:off x="2011680" y="2220163"/>
            <a:ext cx="41148" cy="41148"/>
          </a:xfrm>
          <a:prstGeom prst="ellipse">
            <a:avLst/>
          </a:prstGeom>
          <a:solidFill>
            <a:srgbClr val="7FA3E8"/>
          </a:solidFill>
          <a:ln/>
        </p:spPr>
      </p:sp>
      <p:sp>
        <p:nvSpPr>
          <p:cNvPr id="19" name="Shape 17"/>
          <p:cNvSpPr/>
          <p:nvPr/>
        </p:nvSpPr>
        <p:spPr>
          <a:xfrm>
            <a:off x="2148840" y="2220163"/>
            <a:ext cx="41148" cy="41148"/>
          </a:xfrm>
          <a:prstGeom prst="ellipse">
            <a:avLst/>
          </a:prstGeom>
          <a:solidFill>
            <a:srgbClr val="7FA3E8"/>
          </a:solidFill>
          <a:ln/>
        </p:spPr>
      </p:sp>
      <p:sp>
        <p:nvSpPr>
          <p:cNvPr id="20" name="Shape 18"/>
          <p:cNvSpPr/>
          <p:nvPr/>
        </p:nvSpPr>
        <p:spPr>
          <a:xfrm>
            <a:off x="2286000" y="2220163"/>
            <a:ext cx="41148" cy="41148"/>
          </a:xfrm>
          <a:prstGeom prst="ellipse">
            <a:avLst/>
          </a:prstGeom>
          <a:solidFill>
            <a:srgbClr val="7FA3E8"/>
          </a:solidFill>
          <a:ln/>
        </p:spPr>
      </p:sp>
      <p:sp>
        <p:nvSpPr>
          <p:cNvPr id="21" name="Shape 19"/>
          <p:cNvSpPr/>
          <p:nvPr/>
        </p:nvSpPr>
        <p:spPr>
          <a:xfrm>
            <a:off x="2423160" y="2220163"/>
            <a:ext cx="41148" cy="41148"/>
          </a:xfrm>
          <a:prstGeom prst="ellipse">
            <a:avLst/>
          </a:prstGeom>
          <a:solidFill>
            <a:srgbClr val="7FA3E8"/>
          </a:solidFill>
          <a:ln/>
        </p:spPr>
      </p:sp>
      <p:sp>
        <p:nvSpPr>
          <p:cNvPr id="22" name="Shape 20"/>
          <p:cNvSpPr/>
          <p:nvPr/>
        </p:nvSpPr>
        <p:spPr>
          <a:xfrm>
            <a:off x="2560320" y="2220163"/>
            <a:ext cx="41148" cy="41148"/>
          </a:xfrm>
          <a:prstGeom prst="ellipse">
            <a:avLst/>
          </a:prstGeom>
          <a:solidFill>
            <a:srgbClr val="7FA3E8"/>
          </a:solidFill>
          <a:ln/>
        </p:spPr>
      </p:sp>
      <p:sp>
        <p:nvSpPr>
          <p:cNvPr id="23" name="Shape 21"/>
          <p:cNvSpPr/>
          <p:nvPr/>
        </p:nvSpPr>
        <p:spPr>
          <a:xfrm>
            <a:off x="2697480" y="2220163"/>
            <a:ext cx="41148" cy="41148"/>
          </a:xfrm>
          <a:prstGeom prst="ellipse">
            <a:avLst/>
          </a:prstGeom>
          <a:solidFill>
            <a:srgbClr val="7FA3E8"/>
          </a:solidFill>
          <a:ln/>
        </p:spPr>
      </p:sp>
      <p:sp>
        <p:nvSpPr>
          <p:cNvPr id="24" name="Shape 22"/>
          <p:cNvSpPr/>
          <p:nvPr/>
        </p:nvSpPr>
        <p:spPr>
          <a:xfrm>
            <a:off x="2834640" y="2220163"/>
            <a:ext cx="41148" cy="41148"/>
          </a:xfrm>
          <a:prstGeom prst="ellipse">
            <a:avLst/>
          </a:prstGeom>
          <a:solidFill>
            <a:srgbClr val="7FA3E8"/>
          </a:solidFill>
          <a:ln/>
        </p:spPr>
      </p:sp>
      <p:sp>
        <p:nvSpPr>
          <p:cNvPr id="25" name="Shape 23"/>
          <p:cNvSpPr/>
          <p:nvPr/>
        </p:nvSpPr>
        <p:spPr>
          <a:xfrm>
            <a:off x="2971800" y="2220163"/>
            <a:ext cx="41148" cy="41148"/>
          </a:xfrm>
          <a:prstGeom prst="ellipse">
            <a:avLst/>
          </a:prstGeom>
          <a:solidFill>
            <a:srgbClr val="7FA3E8"/>
          </a:solidFill>
          <a:ln/>
        </p:spPr>
      </p:sp>
      <p:sp>
        <p:nvSpPr>
          <p:cNvPr id="26" name="Shape 24"/>
          <p:cNvSpPr/>
          <p:nvPr/>
        </p:nvSpPr>
        <p:spPr>
          <a:xfrm>
            <a:off x="3108960" y="2220163"/>
            <a:ext cx="41148" cy="41148"/>
          </a:xfrm>
          <a:prstGeom prst="ellipse">
            <a:avLst/>
          </a:prstGeom>
          <a:solidFill>
            <a:srgbClr val="7FA3E8"/>
          </a:solidFill>
          <a:ln/>
        </p:spPr>
      </p:sp>
      <p:sp>
        <p:nvSpPr>
          <p:cNvPr id="27" name="Shape 25"/>
          <p:cNvSpPr/>
          <p:nvPr/>
        </p:nvSpPr>
        <p:spPr>
          <a:xfrm>
            <a:off x="3246120" y="2220163"/>
            <a:ext cx="41148" cy="41148"/>
          </a:xfrm>
          <a:prstGeom prst="ellipse">
            <a:avLst/>
          </a:prstGeom>
          <a:solidFill>
            <a:srgbClr val="7FA3E8"/>
          </a:solidFill>
          <a:ln/>
        </p:spPr>
      </p:sp>
      <p:sp>
        <p:nvSpPr>
          <p:cNvPr id="28" name="Shape 26"/>
          <p:cNvSpPr/>
          <p:nvPr/>
        </p:nvSpPr>
        <p:spPr>
          <a:xfrm>
            <a:off x="3383280" y="2220163"/>
            <a:ext cx="41148" cy="41148"/>
          </a:xfrm>
          <a:prstGeom prst="ellipse">
            <a:avLst/>
          </a:prstGeom>
          <a:solidFill>
            <a:srgbClr val="7FA3E8"/>
          </a:solidFill>
          <a:ln/>
        </p:spPr>
      </p:sp>
      <p:sp>
        <p:nvSpPr>
          <p:cNvPr id="29" name="Shape 27"/>
          <p:cNvSpPr/>
          <p:nvPr/>
        </p:nvSpPr>
        <p:spPr>
          <a:xfrm>
            <a:off x="3520440" y="2220163"/>
            <a:ext cx="41148" cy="41148"/>
          </a:xfrm>
          <a:prstGeom prst="ellipse">
            <a:avLst/>
          </a:prstGeom>
          <a:solidFill>
            <a:srgbClr val="7FA3E8"/>
          </a:solidFill>
          <a:ln/>
        </p:spPr>
      </p:sp>
      <p:sp>
        <p:nvSpPr>
          <p:cNvPr id="30" name="Shape 28"/>
          <p:cNvSpPr/>
          <p:nvPr/>
        </p:nvSpPr>
        <p:spPr>
          <a:xfrm>
            <a:off x="3657600" y="2220163"/>
            <a:ext cx="41148" cy="41148"/>
          </a:xfrm>
          <a:prstGeom prst="ellipse">
            <a:avLst/>
          </a:prstGeom>
          <a:solidFill>
            <a:srgbClr val="7FA3E8"/>
          </a:solidFill>
          <a:ln/>
        </p:spPr>
      </p:sp>
      <p:sp>
        <p:nvSpPr>
          <p:cNvPr id="31" name="Shape 29"/>
          <p:cNvSpPr/>
          <p:nvPr/>
        </p:nvSpPr>
        <p:spPr>
          <a:xfrm>
            <a:off x="3794760" y="2220163"/>
            <a:ext cx="41148" cy="41148"/>
          </a:xfrm>
          <a:prstGeom prst="ellipse">
            <a:avLst/>
          </a:prstGeom>
          <a:solidFill>
            <a:srgbClr val="7FA3E8"/>
          </a:solidFill>
          <a:ln/>
        </p:spPr>
      </p:sp>
      <p:sp>
        <p:nvSpPr>
          <p:cNvPr id="32" name="Shape 30"/>
          <p:cNvSpPr/>
          <p:nvPr/>
        </p:nvSpPr>
        <p:spPr>
          <a:xfrm>
            <a:off x="3931920" y="2220163"/>
            <a:ext cx="41148" cy="41148"/>
          </a:xfrm>
          <a:prstGeom prst="ellipse">
            <a:avLst/>
          </a:prstGeom>
          <a:solidFill>
            <a:srgbClr val="7FA3E8"/>
          </a:solidFill>
          <a:ln/>
        </p:spPr>
      </p:sp>
      <p:sp>
        <p:nvSpPr>
          <p:cNvPr id="33" name="Shape 31"/>
          <p:cNvSpPr/>
          <p:nvPr/>
        </p:nvSpPr>
        <p:spPr>
          <a:xfrm>
            <a:off x="4069080" y="2220163"/>
            <a:ext cx="41148" cy="41148"/>
          </a:xfrm>
          <a:prstGeom prst="ellipse">
            <a:avLst/>
          </a:prstGeom>
          <a:solidFill>
            <a:srgbClr val="7FA3E8"/>
          </a:solidFill>
          <a:ln/>
        </p:spPr>
      </p:sp>
      <p:sp>
        <p:nvSpPr>
          <p:cNvPr id="34" name="Shape 32"/>
          <p:cNvSpPr/>
          <p:nvPr/>
        </p:nvSpPr>
        <p:spPr>
          <a:xfrm>
            <a:off x="4206240" y="2220163"/>
            <a:ext cx="41148" cy="41148"/>
          </a:xfrm>
          <a:prstGeom prst="ellipse">
            <a:avLst/>
          </a:prstGeom>
          <a:solidFill>
            <a:srgbClr val="7FA3E8"/>
          </a:solidFill>
          <a:ln/>
        </p:spPr>
      </p:sp>
      <p:sp>
        <p:nvSpPr>
          <p:cNvPr id="35" name="Shape 33"/>
          <p:cNvSpPr/>
          <p:nvPr/>
        </p:nvSpPr>
        <p:spPr>
          <a:xfrm>
            <a:off x="4343400" y="2220163"/>
            <a:ext cx="41148" cy="41148"/>
          </a:xfrm>
          <a:prstGeom prst="ellipse">
            <a:avLst/>
          </a:prstGeom>
          <a:solidFill>
            <a:srgbClr val="7FA3E8"/>
          </a:solidFill>
          <a:ln/>
        </p:spPr>
      </p:sp>
      <p:sp>
        <p:nvSpPr>
          <p:cNvPr id="36" name="Shape 34"/>
          <p:cNvSpPr/>
          <p:nvPr/>
        </p:nvSpPr>
        <p:spPr>
          <a:xfrm>
            <a:off x="4480560" y="2220163"/>
            <a:ext cx="41148" cy="41148"/>
          </a:xfrm>
          <a:prstGeom prst="ellipse">
            <a:avLst/>
          </a:prstGeom>
          <a:solidFill>
            <a:srgbClr val="7FA3E8"/>
          </a:solidFill>
          <a:ln/>
        </p:spPr>
      </p:sp>
      <p:sp>
        <p:nvSpPr>
          <p:cNvPr id="37" name="Shape 35"/>
          <p:cNvSpPr/>
          <p:nvPr/>
        </p:nvSpPr>
        <p:spPr>
          <a:xfrm>
            <a:off x="4617720" y="2220163"/>
            <a:ext cx="41148" cy="41148"/>
          </a:xfrm>
          <a:prstGeom prst="ellipse">
            <a:avLst/>
          </a:prstGeom>
          <a:solidFill>
            <a:srgbClr val="7FA3E8"/>
          </a:solidFill>
          <a:ln/>
        </p:spPr>
      </p:sp>
      <p:sp>
        <p:nvSpPr>
          <p:cNvPr id="38" name="Shape 36"/>
          <p:cNvSpPr/>
          <p:nvPr/>
        </p:nvSpPr>
        <p:spPr>
          <a:xfrm>
            <a:off x="4754880" y="2220163"/>
            <a:ext cx="41148" cy="41148"/>
          </a:xfrm>
          <a:prstGeom prst="ellipse">
            <a:avLst/>
          </a:prstGeom>
          <a:solidFill>
            <a:srgbClr val="7FA3E8"/>
          </a:solidFill>
          <a:ln/>
        </p:spPr>
      </p:sp>
      <p:sp>
        <p:nvSpPr>
          <p:cNvPr id="39" name="Shape 37"/>
          <p:cNvSpPr/>
          <p:nvPr/>
        </p:nvSpPr>
        <p:spPr>
          <a:xfrm>
            <a:off x="4892040" y="2220163"/>
            <a:ext cx="41148" cy="41148"/>
          </a:xfrm>
          <a:prstGeom prst="ellipse">
            <a:avLst/>
          </a:prstGeom>
          <a:solidFill>
            <a:srgbClr val="7FA3E8"/>
          </a:solidFill>
          <a:ln/>
        </p:spPr>
      </p:sp>
      <p:sp>
        <p:nvSpPr>
          <p:cNvPr id="40" name="Shape 38"/>
          <p:cNvSpPr/>
          <p:nvPr/>
        </p:nvSpPr>
        <p:spPr>
          <a:xfrm>
            <a:off x="5029200" y="2220163"/>
            <a:ext cx="41148" cy="41148"/>
          </a:xfrm>
          <a:prstGeom prst="ellipse">
            <a:avLst/>
          </a:prstGeom>
          <a:solidFill>
            <a:srgbClr val="7FA3E8"/>
          </a:solidFill>
          <a:ln/>
        </p:spPr>
      </p:sp>
      <p:sp>
        <p:nvSpPr>
          <p:cNvPr id="41" name="Shape 39"/>
          <p:cNvSpPr/>
          <p:nvPr/>
        </p:nvSpPr>
        <p:spPr>
          <a:xfrm>
            <a:off x="5166360" y="2220163"/>
            <a:ext cx="41148" cy="41148"/>
          </a:xfrm>
          <a:prstGeom prst="ellipse">
            <a:avLst/>
          </a:prstGeom>
          <a:solidFill>
            <a:srgbClr val="7FA3E8"/>
          </a:solidFill>
          <a:ln/>
        </p:spPr>
      </p:sp>
      <p:sp>
        <p:nvSpPr>
          <p:cNvPr id="42" name="Shape 40"/>
          <p:cNvSpPr/>
          <p:nvPr/>
        </p:nvSpPr>
        <p:spPr>
          <a:xfrm>
            <a:off x="5303520" y="2220163"/>
            <a:ext cx="41148" cy="41148"/>
          </a:xfrm>
          <a:prstGeom prst="ellipse">
            <a:avLst/>
          </a:prstGeom>
          <a:solidFill>
            <a:srgbClr val="7FA3E8"/>
          </a:solidFill>
          <a:ln/>
        </p:spPr>
      </p:sp>
      <p:sp>
        <p:nvSpPr>
          <p:cNvPr id="43" name="Shape 41"/>
          <p:cNvSpPr/>
          <p:nvPr/>
        </p:nvSpPr>
        <p:spPr>
          <a:xfrm>
            <a:off x="5440680" y="2220163"/>
            <a:ext cx="41148" cy="41148"/>
          </a:xfrm>
          <a:prstGeom prst="ellipse">
            <a:avLst/>
          </a:prstGeom>
          <a:solidFill>
            <a:srgbClr val="7FA3E8"/>
          </a:solidFill>
          <a:ln/>
        </p:spPr>
      </p:sp>
      <p:sp>
        <p:nvSpPr>
          <p:cNvPr id="44" name="Shape 42"/>
          <p:cNvSpPr/>
          <p:nvPr/>
        </p:nvSpPr>
        <p:spPr>
          <a:xfrm>
            <a:off x="5577840" y="2220163"/>
            <a:ext cx="41148" cy="41148"/>
          </a:xfrm>
          <a:prstGeom prst="ellipse">
            <a:avLst/>
          </a:prstGeom>
          <a:solidFill>
            <a:srgbClr val="7FA3E8"/>
          </a:solidFill>
          <a:ln/>
        </p:spPr>
      </p:sp>
      <p:sp>
        <p:nvSpPr>
          <p:cNvPr id="45" name="Shape 43"/>
          <p:cNvSpPr/>
          <p:nvPr/>
        </p:nvSpPr>
        <p:spPr>
          <a:xfrm>
            <a:off x="5715000" y="2220163"/>
            <a:ext cx="41148" cy="41148"/>
          </a:xfrm>
          <a:prstGeom prst="ellipse">
            <a:avLst/>
          </a:prstGeom>
          <a:solidFill>
            <a:srgbClr val="7FA3E8"/>
          </a:solidFill>
          <a:ln/>
        </p:spPr>
      </p:sp>
      <p:sp>
        <p:nvSpPr>
          <p:cNvPr id="46" name="Shape 44"/>
          <p:cNvSpPr/>
          <p:nvPr/>
        </p:nvSpPr>
        <p:spPr>
          <a:xfrm>
            <a:off x="5852160" y="2220163"/>
            <a:ext cx="41148" cy="41148"/>
          </a:xfrm>
          <a:prstGeom prst="ellipse">
            <a:avLst/>
          </a:prstGeom>
          <a:solidFill>
            <a:srgbClr val="7FA3E8"/>
          </a:solidFill>
          <a:ln/>
        </p:spPr>
      </p:sp>
      <p:sp>
        <p:nvSpPr>
          <p:cNvPr id="47" name="Shape 45"/>
          <p:cNvSpPr/>
          <p:nvPr/>
        </p:nvSpPr>
        <p:spPr>
          <a:xfrm>
            <a:off x="5989320" y="2220163"/>
            <a:ext cx="41148" cy="41148"/>
          </a:xfrm>
          <a:prstGeom prst="ellipse">
            <a:avLst/>
          </a:prstGeom>
          <a:solidFill>
            <a:srgbClr val="7FA3E8"/>
          </a:solidFill>
          <a:ln/>
        </p:spPr>
      </p:sp>
      <p:sp>
        <p:nvSpPr>
          <p:cNvPr id="48" name="Shape 46"/>
          <p:cNvSpPr/>
          <p:nvPr/>
        </p:nvSpPr>
        <p:spPr>
          <a:xfrm>
            <a:off x="6126480" y="2220163"/>
            <a:ext cx="41148" cy="41148"/>
          </a:xfrm>
          <a:prstGeom prst="ellipse">
            <a:avLst/>
          </a:prstGeom>
          <a:solidFill>
            <a:srgbClr val="7FA3E8"/>
          </a:solidFill>
          <a:ln/>
        </p:spPr>
      </p:sp>
      <p:sp>
        <p:nvSpPr>
          <p:cNvPr id="49" name="Shape 47"/>
          <p:cNvSpPr/>
          <p:nvPr/>
        </p:nvSpPr>
        <p:spPr>
          <a:xfrm>
            <a:off x="6263640" y="2220163"/>
            <a:ext cx="41148" cy="41148"/>
          </a:xfrm>
          <a:prstGeom prst="ellipse">
            <a:avLst/>
          </a:prstGeom>
          <a:solidFill>
            <a:srgbClr val="7FA3E8"/>
          </a:solidFill>
          <a:ln/>
        </p:spPr>
      </p:sp>
      <p:sp>
        <p:nvSpPr>
          <p:cNvPr id="50" name="Shape 48"/>
          <p:cNvSpPr/>
          <p:nvPr/>
        </p:nvSpPr>
        <p:spPr>
          <a:xfrm>
            <a:off x="6400800" y="2220163"/>
            <a:ext cx="41148" cy="41148"/>
          </a:xfrm>
          <a:prstGeom prst="ellipse">
            <a:avLst/>
          </a:prstGeom>
          <a:solidFill>
            <a:srgbClr val="7FA3E8"/>
          </a:solidFill>
          <a:ln/>
        </p:spPr>
      </p:sp>
      <p:sp>
        <p:nvSpPr>
          <p:cNvPr id="51" name="Shape 49"/>
          <p:cNvSpPr/>
          <p:nvPr/>
        </p:nvSpPr>
        <p:spPr>
          <a:xfrm>
            <a:off x="6537960" y="2220163"/>
            <a:ext cx="41148" cy="41148"/>
          </a:xfrm>
          <a:prstGeom prst="ellipse">
            <a:avLst/>
          </a:prstGeom>
          <a:solidFill>
            <a:srgbClr val="7FA3E8"/>
          </a:solidFill>
          <a:ln/>
        </p:spPr>
      </p:sp>
      <p:sp>
        <p:nvSpPr>
          <p:cNvPr id="52" name="Shape 50"/>
          <p:cNvSpPr/>
          <p:nvPr/>
        </p:nvSpPr>
        <p:spPr>
          <a:xfrm>
            <a:off x="6675120" y="2220163"/>
            <a:ext cx="41148" cy="41148"/>
          </a:xfrm>
          <a:prstGeom prst="ellipse">
            <a:avLst/>
          </a:prstGeom>
          <a:solidFill>
            <a:srgbClr val="7FA3E8"/>
          </a:solidFill>
          <a:ln/>
        </p:spPr>
      </p:sp>
      <p:sp>
        <p:nvSpPr>
          <p:cNvPr id="53" name="Shape 51"/>
          <p:cNvSpPr/>
          <p:nvPr/>
        </p:nvSpPr>
        <p:spPr>
          <a:xfrm>
            <a:off x="6812280" y="2220163"/>
            <a:ext cx="41148" cy="41148"/>
          </a:xfrm>
          <a:prstGeom prst="ellipse">
            <a:avLst/>
          </a:prstGeom>
          <a:solidFill>
            <a:srgbClr val="7FA3E8"/>
          </a:solidFill>
          <a:ln/>
        </p:spPr>
      </p:sp>
      <p:sp>
        <p:nvSpPr>
          <p:cNvPr id="54" name="Shape 52"/>
          <p:cNvSpPr/>
          <p:nvPr/>
        </p:nvSpPr>
        <p:spPr>
          <a:xfrm>
            <a:off x="6949440" y="2220163"/>
            <a:ext cx="41148" cy="41148"/>
          </a:xfrm>
          <a:prstGeom prst="ellipse">
            <a:avLst/>
          </a:prstGeom>
          <a:solidFill>
            <a:srgbClr val="7FA3E8"/>
          </a:solidFill>
          <a:ln/>
        </p:spPr>
      </p:sp>
      <p:sp>
        <p:nvSpPr>
          <p:cNvPr id="55" name="Shape 53"/>
          <p:cNvSpPr/>
          <p:nvPr/>
        </p:nvSpPr>
        <p:spPr>
          <a:xfrm>
            <a:off x="7086600" y="2220163"/>
            <a:ext cx="41148" cy="41148"/>
          </a:xfrm>
          <a:prstGeom prst="ellipse">
            <a:avLst/>
          </a:prstGeom>
          <a:solidFill>
            <a:srgbClr val="7FA3E8"/>
          </a:solidFill>
          <a:ln/>
        </p:spPr>
      </p:sp>
      <p:sp>
        <p:nvSpPr>
          <p:cNvPr id="56" name="Shape 54"/>
          <p:cNvSpPr/>
          <p:nvPr/>
        </p:nvSpPr>
        <p:spPr>
          <a:xfrm>
            <a:off x="7223760" y="2220163"/>
            <a:ext cx="41148" cy="41148"/>
          </a:xfrm>
          <a:prstGeom prst="ellipse">
            <a:avLst/>
          </a:prstGeom>
          <a:solidFill>
            <a:srgbClr val="7FA3E8"/>
          </a:solidFill>
          <a:ln/>
        </p:spPr>
      </p:sp>
      <p:sp>
        <p:nvSpPr>
          <p:cNvPr id="57" name="Shape 55"/>
          <p:cNvSpPr/>
          <p:nvPr/>
        </p:nvSpPr>
        <p:spPr>
          <a:xfrm>
            <a:off x="7360920" y="2220163"/>
            <a:ext cx="41148" cy="41148"/>
          </a:xfrm>
          <a:prstGeom prst="ellipse">
            <a:avLst/>
          </a:prstGeom>
          <a:solidFill>
            <a:srgbClr val="7FA3E8"/>
          </a:solidFill>
          <a:ln/>
        </p:spPr>
      </p:sp>
      <p:sp>
        <p:nvSpPr>
          <p:cNvPr id="58" name="Shape 56"/>
          <p:cNvSpPr/>
          <p:nvPr/>
        </p:nvSpPr>
        <p:spPr>
          <a:xfrm>
            <a:off x="7498080" y="2220163"/>
            <a:ext cx="41148" cy="41148"/>
          </a:xfrm>
          <a:prstGeom prst="ellipse">
            <a:avLst/>
          </a:prstGeom>
          <a:solidFill>
            <a:srgbClr val="7FA3E8"/>
          </a:solidFill>
          <a:ln/>
        </p:spPr>
      </p:sp>
      <p:sp>
        <p:nvSpPr>
          <p:cNvPr id="59" name="Shape 57"/>
          <p:cNvSpPr/>
          <p:nvPr/>
        </p:nvSpPr>
        <p:spPr>
          <a:xfrm>
            <a:off x="7635240" y="2220163"/>
            <a:ext cx="41148" cy="41148"/>
          </a:xfrm>
          <a:prstGeom prst="ellipse">
            <a:avLst/>
          </a:prstGeom>
          <a:solidFill>
            <a:srgbClr val="7FA3E8"/>
          </a:solidFill>
          <a:ln/>
        </p:spPr>
      </p:sp>
      <p:sp>
        <p:nvSpPr>
          <p:cNvPr id="60" name="Shape 58"/>
          <p:cNvSpPr/>
          <p:nvPr/>
        </p:nvSpPr>
        <p:spPr>
          <a:xfrm>
            <a:off x="7772400" y="2220163"/>
            <a:ext cx="41148" cy="41148"/>
          </a:xfrm>
          <a:prstGeom prst="ellipse">
            <a:avLst/>
          </a:prstGeom>
          <a:solidFill>
            <a:srgbClr val="7FA3E8"/>
          </a:solidFill>
          <a:ln/>
        </p:spPr>
      </p:sp>
      <p:sp>
        <p:nvSpPr>
          <p:cNvPr id="61" name="Shape 59"/>
          <p:cNvSpPr/>
          <p:nvPr/>
        </p:nvSpPr>
        <p:spPr>
          <a:xfrm>
            <a:off x="7909560" y="2220163"/>
            <a:ext cx="41148" cy="41148"/>
          </a:xfrm>
          <a:prstGeom prst="ellipse">
            <a:avLst/>
          </a:prstGeom>
          <a:solidFill>
            <a:srgbClr val="7FA3E8"/>
          </a:solidFill>
          <a:ln/>
        </p:spPr>
      </p:sp>
      <p:sp>
        <p:nvSpPr>
          <p:cNvPr id="62" name="Shape 60"/>
          <p:cNvSpPr/>
          <p:nvPr/>
        </p:nvSpPr>
        <p:spPr>
          <a:xfrm>
            <a:off x="8046720" y="2220163"/>
            <a:ext cx="41148" cy="41148"/>
          </a:xfrm>
          <a:prstGeom prst="ellipse">
            <a:avLst/>
          </a:prstGeom>
          <a:solidFill>
            <a:srgbClr val="7FA3E8"/>
          </a:solidFill>
          <a:ln/>
        </p:spPr>
      </p:sp>
      <p:sp>
        <p:nvSpPr>
          <p:cNvPr id="63" name="Shape 61"/>
          <p:cNvSpPr/>
          <p:nvPr/>
        </p:nvSpPr>
        <p:spPr>
          <a:xfrm>
            <a:off x="8183880" y="2220163"/>
            <a:ext cx="41148" cy="41148"/>
          </a:xfrm>
          <a:prstGeom prst="ellipse">
            <a:avLst/>
          </a:prstGeom>
          <a:solidFill>
            <a:srgbClr val="7FA3E8"/>
          </a:solidFill>
          <a:ln/>
        </p:spPr>
      </p:sp>
      <p:sp>
        <p:nvSpPr>
          <p:cNvPr id="64" name="Shape 62"/>
          <p:cNvSpPr/>
          <p:nvPr/>
        </p:nvSpPr>
        <p:spPr>
          <a:xfrm>
            <a:off x="8321040" y="2220163"/>
            <a:ext cx="41148" cy="41148"/>
          </a:xfrm>
          <a:prstGeom prst="ellipse">
            <a:avLst/>
          </a:prstGeom>
          <a:solidFill>
            <a:srgbClr val="7FA3E8"/>
          </a:solidFill>
          <a:ln/>
        </p:spPr>
      </p:sp>
      <p:sp>
        <p:nvSpPr>
          <p:cNvPr id="65" name="Shape 63"/>
          <p:cNvSpPr/>
          <p:nvPr/>
        </p:nvSpPr>
        <p:spPr>
          <a:xfrm>
            <a:off x="8458200" y="2220163"/>
            <a:ext cx="41148" cy="41148"/>
          </a:xfrm>
          <a:prstGeom prst="ellipse">
            <a:avLst/>
          </a:prstGeom>
          <a:solidFill>
            <a:srgbClr val="7FA3E8"/>
          </a:solidFill>
          <a:ln/>
        </p:spPr>
      </p:sp>
      <p:sp>
        <p:nvSpPr>
          <p:cNvPr id="66" name="Shape 64"/>
          <p:cNvSpPr/>
          <p:nvPr/>
        </p:nvSpPr>
        <p:spPr>
          <a:xfrm>
            <a:off x="8595360" y="2220163"/>
            <a:ext cx="41148" cy="41148"/>
          </a:xfrm>
          <a:prstGeom prst="ellipse">
            <a:avLst/>
          </a:prstGeom>
          <a:solidFill>
            <a:srgbClr val="7FA3E8"/>
          </a:solidFill>
          <a:ln/>
        </p:spPr>
      </p:sp>
      <p:sp>
        <p:nvSpPr>
          <p:cNvPr id="67" name="Shape 65"/>
          <p:cNvSpPr/>
          <p:nvPr/>
        </p:nvSpPr>
        <p:spPr>
          <a:xfrm>
            <a:off x="8732520" y="2220163"/>
            <a:ext cx="41148" cy="41148"/>
          </a:xfrm>
          <a:prstGeom prst="ellipse">
            <a:avLst/>
          </a:prstGeom>
          <a:solidFill>
            <a:srgbClr val="7FA3E8"/>
          </a:solidFill>
          <a:ln/>
        </p:spPr>
      </p:sp>
      <p:sp>
        <p:nvSpPr>
          <p:cNvPr id="68" name="Shape 66"/>
          <p:cNvSpPr/>
          <p:nvPr/>
        </p:nvSpPr>
        <p:spPr>
          <a:xfrm>
            <a:off x="8869680" y="2220163"/>
            <a:ext cx="41148" cy="41148"/>
          </a:xfrm>
          <a:prstGeom prst="ellipse">
            <a:avLst/>
          </a:prstGeom>
          <a:solidFill>
            <a:srgbClr val="7FA3E8"/>
          </a:solidFill>
          <a:ln/>
        </p:spPr>
      </p:sp>
      <p:sp>
        <p:nvSpPr>
          <p:cNvPr id="69" name="Shape 67"/>
          <p:cNvSpPr/>
          <p:nvPr/>
        </p:nvSpPr>
        <p:spPr>
          <a:xfrm>
            <a:off x="9006840" y="2220163"/>
            <a:ext cx="41148" cy="41148"/>
          </a:xfrm>
          <a:prstGeom prst="ellipse">
            <a:avLst/>
          </a:prstGeom>
          <a:solidFill>
            <a:srgbClr val="7FA3E8"/>
          </a:solidFill>
          <a:ln/>
        </p:spPr>
      </p:sp>
      <p:sp>
        <p:nvSpPr>
          <p:cNvPr id="70" name="Shape 68"/>
          <p:cNvSpPr/>
          <p:nvPr/>
        </p:nvSpPr>
        <p:spPr>
          <a:xfrm>
            <a:off x="9144000" y="2220163"/>
            <a:ext cx="41148" cy="41148"/>
          </a:xfrm>
          <a:prstGeom prst="ellipse">
            <a:avLst/>
          </a:prstGeom>
          <a:solidFill>
            <a:srgbClr val="7FA3E8"/>
          </a:solidFill>
          <a:ln/>
        </p:spPr>
      </p:sp>
      <p:sp>
        <p:nvSpPr>
          <p:cNvPr id="71" name="Shape 69"/>
          <p:cNvSpPr/>
          <p:nvPr/>
        </p:nvSpPr>
        <p:spPr>
          <a:xfrm>
            <a:off x="9281160" y="2220163"/>
            <a:ext cx="41148" cy="41148"/>
          </a:xfrm>
          <a:prstGeom prst="ellipse">
            <a:avLst/>
          </a:prstGeom>
          <a:solidFill>
            <a:srgbClr val="7FA3E8"/>
          </a:solidFill>
          <a:ln/>
        </p:spPr>
      </p:sp>
      <p:sp>
        <p:nvSpPr>
          <p:cNvPr id="72" name="Shape 70"/>
          <p:cNvSpPr/>
          <p:nvPr/>
        </p:nvSpPr>
        <p:spPr>
          <a:xfrm>
            <a:off x="9418320" y="2220163"/>
            <a:ext cx="41148" cy="41148"/>
          </a:xfrm>
          <a:prstGeom prst="ellipse">
            <a:avLst/>
          </a:prstGeom>
          <a:solidFill>
            <a:srgbClr val="7FA3E8"/>
          </a:solidFill>
          <a:ln/>
        </p:spPr>
      </p:sp>
      <p:sp>
        <p:nvSpPr>
          <p:cNvPr id="73" name="Shape 71"/>
          <p:cNvSpPr/>
          <p:nvPr/>
        </p:nvSpPr>
        <p:spPr>
          <a:xfrm>
            <a:off x="9555480" y="2220163"/>
            <a:ext cx="41148" cy="41148"/>
          </a:xfrm>
          <a:prstGeom prst="ellipse">
            <a:avLst/>
          </a:prstGeom>
          <a:solidFill>
            <a:srgbClr val="7FA3E8"/>
          </a:solidFill>
          <a:ln/>
        </p:spPr>
      </p:sp>
      <p:sp>
        <p:nvSpPr>
          <p:cNvPr id="74" name="Shape 72"/>
          <p:cNvSpPr/>
          <p:nvPr/>
        </p:nvSpPr>
        <p:spPr>
          <a:xfrm>
            <a:off x="9692640" y="2220163"/>
            <a:ext cx="41148" cy="41148"/>
          </a:xfrm>
          <a:prstGeom prst="ellipse">
            <a:avLst/>
          </a:prstGeom>
          <a:solidFill>
            <a:srgbClr val="7FA3E8"/>
          </a:solidFill>
          <a:ln/>
        </p:spPr>
      </p:sp>
      <p:sp>
        <p:nvSpPr>
          <p:cNvPr id="75" name="Shape 73"/>
          <p:cNvSpPr/>
          <p:nvPr/>
        </p:nvSpPr>
        <p:spPr>
          <a:xfrm>
            <a:off x="9829800" y="2220163"/>
            <a:ext cx="41148" cy="41148"/>
          </a:xfrm>
          <a:prstGeom prst="ellipse">
            <a:avLst/>
          </a:prstGeom>
          <a:solidFill>
            <a:srgbClr val="7FA3E8"/>
          </a:solidFill>
          <a:ln/>
        </p:spPr>
      </p:sp>
      <p:sp>
        <p:nvSpPr>
          <p:cNvPr id="76" name="Shape 74"/>
          <p:cNvSpPr/>
          <p:nvPr/>
        </p:nvSpPr>
        <p:spPr>
          <a:xfrm>
            <a:off x="9966960" y="2220163"/>
            <a:ext cx="41148" cy="41148"/>
          </a:xfrm>
          <a:prstGeom prst="ellipse">
            <a:avLst/>
          </a:prstGeom>
          <a:solidFill>
            <a:srgbClr val="7FA3E8"/>
          </a:solidFill>
          <a:ln/>
        </p:spPr>
      </p:sp>
      <p:sp>
        <p:nvSpPr>
          <p:cNvPr id="77" name="Shape 75"/>
          <p:cNvSpPr/>
          <p:nvPr/>
        </p:nvSpPr>
        <p:spPr>
          <a:xfrm>
            <a:off x="10104120" y="2220163"/>
            <a:ext cx="41148" cy="41148"/>
          </a:xfrm>
          <a:prstGeom prst="ellipse">
            <a:avLst/>
          </a:prstGeom>
          <a:solidFill>
            <a:srgbClr val="7FA3E8"/>
          </a:solidFill>
          <a:ln/>
        </p:spPr>
      </p:sp>
      <p:sp>
        <p:nvSpPr>
          <p:cNvPr id="78" name="Shape 76"/>
          <p:cNvSpPr/>
          <p:nvPr/>
        </p:nvSpPr>
        <p:spPr>
          <a:xfrm>
            <a:off x="10241280" y="2220163"/>
            <a:ext cx="41148" cy="41148"/>
          </a:xfrm>
          <a:prstGeom prst="ellipse">
            <a:avLst/>
          </a:prstGeom>
          <a:solidFill>
            <a:srgbClr val="7FA3E8"/>
          </a:solidFill>
          <a:ln/>
        </p:spPr>
      </p:sp>
      <p:sp>
        <p:nvSpPr>
          <p:cNvPr id="79" name="Shape 77"/>
          <p:cNvSpPr/>
          <p:nvPr/>
        </p:nvSpPr>
        <p:spPr>
          <a:xfrm>
            <a:off x="10378440" y="2220163"/>
            <a:ext cx="41148" cy="41148"/>
          </a:xfrm>
          <a:prstGeom prst="ellipse">
            <a:avLst/>
          </a:prstGeom>
          <a:solidFill>
            <a:srgbClr val="7FA3E8"/>
          </a:solidFill>
          <a:ln/>
        </p:spPr>
      </p:sp>
      <p:sp>
        <p:nvSpPr>
          <p:cNvPr id="80" name="Shape 78"/>
          <p:cNvSpPr/>
          <p:nvPr/>
        </p:nvSpPr>
        <p:spPr>
          <a:xfrm>
            <a:off x="10515600" y="2220163"/>
            <a:ext cx="41148" cy="41148"/>
          </a:xfrm>
          <a:prstGeom prst="ellipse">
            <a:avLst/>
          </a:prstGeom>
          <a:solidFill>
            <a:srgbClr val="7FA3E8"/>
          </a:solidFill>
          <a:ln/>
        </p:spPr>
      </p:sp>
      <p:sp>
        <p:nvSpPr>
          <p:cNvPr id="81" name="Shape 79"/>
          <p:cNvSpPr/>
          <p:nvPr/>
        </p:nvSpPr>
        <p:spPr>
          <a:xfrm>
            <a:off x="10652760" y="2220163"/>
            <a:ext cx="41148" cy="41148"/>
          </a:xfrm>
          <a:prstGeom prst="ellipse">
            <a:avLst/>
          </a:prstGeom>
          <a:solidFill>
            <a:srgbClr val="7FA3E8"/>
          </a:solidFill>
          <a:ln/>
        </p:spPr>
      </p:sp>
      <p:sp>
        <p:nvSpPr>
          <p:cNvPr id="82" name="Shape 80"/>
          <p:cNvSpPr/>
          <p:nvPr/>
        </p:nvSpPr>
        <p:spPr>
          <a:xfrm>
            <a:off x="10789920" y="2220163"/>
            <a:ext cx="41148" cy="41148"/>
          </a:xfrm>
          <a:prstGeom prst="ellipse">
            <a:avLst/>
          </a:prstGeom>
          <a:solidFill>
            <a:srgbClr val="7FA3E8"/>
          </a:solidFill>
          <a:ln/>
        </p:spPr>
      </p:sp>
      <p:sp>
        <p:nvSpPr>
          <p:cNvPr id="83" name="Shape 81"/>
          <p:cNvSpPr/>
          <p:nvPr/>
        </p:nvSpPr>
        <p:spPr>
          <a:xfrm>
            <a:off x="448056" y="2167128"/>
            <a:ext cx="146304" cy="146304"/>
          </a:xfrm>
          <a:prstGeom prst="ellipse">
            <a:avLst/>
          </a:prstGeom>
          <a:solidFill>
            <a:srgbClr val="2F6BD8"/>
          </a:solidFill>
          <a:ln w="17780">
            <a:solidFill>
              <a:srgbClr val="FFFFFF"/>
            </a:solidFill>
            <a:prstDash val="solid"/>
          </a:ln>
        </p:spPr>
      </p:sp>
      <p:sp>
        <p:nvSpPr>
          <p:cNvPr id="84" name="Text 82"/>
          <p:cNvSpPr/>
          <p:nvPr/>
        </p:nvSpPr>
        <p:spPr>
          <a:xfrm>
            <a:off x="429768" y="1883664"/>
            <a:ext cx="1335024" cy="237744"/>
          </a:xfrm>
          <a:prstGeom prst="rect">
            <a:avLst/>
          </a:prstGeom>
          <a:noFill/>
          <a:ln/>
        </p:spPr>
        <p:txBody>
          <a:bodyPr wrap="square" lIns="0" tIns="0" rIns="0" bIns="0" rtlCol="0" anchor="ctr"/>
          <a:lstStyle/>
          <a:p>
            <a:pPr marL="0" indent="0">
              <a:buNone/>
            </a:pPr>
            <a:r>
              <a:rPr lang="en-US" sz="950" b="1" dirty="0">
                <a:solidFill>
                  <a:srgbClr val="0032A0"/>
                </a:solidFill>
                <a:latin typeface="Aptos" pitchFamily="34" charset="0"/>
                <a:ea typeface="Aptos" pitchFamily="34" charset="-122"/>
                <a:cs typeface="Aptos" pitchFamily="34" charset="-120"/>
              </a:rPr>
              <a:t>2006</a:t>
            </a:r>
            <a:endParaRPr lang="en-US" sz="950" dirty="0"/>
          </a:p>
        </p:txBody>
      </p:sp>
      <p:sp>
        <p:nvSpPr>
          <p:cNvPr id="85" name="Text 83"/>
          <p:cNvSpPr/>
          <p:nvPr/>
        </p:nvSpPr>
        <p:spPr>
          <a:xfrm>
            <a:off x="429768" y="2395728"/>
            <a:ext cx="1280160" cy="566928"/>
          </a:xfrm>
          <a:prstGeom prst="rect">
            <a:avLst/>
          </a:prstGeom>
          <a:noFill/>
          <a:ln/>
        </p:spPr>
        <p:txBody>
          <a:bodyPr wrap="square" lIns="0" tIns="0" rIns="0" bIns="0" rtlCol="0" anchor="t"/>
          <a:lstStyle/>
          <a:p>
            <a:pPr marL="0" indent="0">
              <a:lnSpc>
                <a:spcPct val="106000"/>
              </a:lnSpc>
              <a:buNone/>
            </a:pPr>
            <a:r>
              <a:rPr lang="en-US" sz="800" dirty="0">
                <a:solidFill>
                  <a:srgbClr val="46577A"/>
                </a:solidFill>
                <a:latin typeface="Aptos" pitchFamily="34" charset="0"/>
                <a:ea typeface="Aptos" pitchFamily="34" charset="-122"/>
                <a:cs typeface="Aptos" pitchFamily="34" charset="-120"/>
              </a:rPr>
              <a:t>Commercial operations</a:t>
            </a:r>
            <a:endParaRPr lang="en-US" sz="800" dirty="0"/>
          </a:p>
          <a:p>
            <a:pPr marL="0" indent="0">
              <a:lnSpc>
                <a:spcPct val="106000"/>
              </a:lnSpc>
              <a:buNone/>
            </a:pPr>
            <a:r>
              <a:rPr lang="en-US" sz="800" dirty="0">
                <a:solidFill>
                  <a:srgbClr val="46577A"/>
                </a:solidFill>
                <a:latin typeface="Aptos" pitchFamily="34" charset="0"/>
                <a:ea typeface="Aptos" pitchFamily="34" charset="-122"/>
                <a:cs typeface="Aptos" pitchFamily="34" charset="-120"/>
              </a:rPr>
              <a:t>begin as a focused</a:t>
            </a:r>
            <a:endParaRPr lang="en-US" sz="800" dirty="0"/>
          </a:p>
          <a:p>
            <a:pPr marL="0" indent="0">
              <a:lnSpc>
                <a:spcPct val="106000"/>
              </a:lnSpc>
              <a:buNone/>
            </a:pPr>
            <a:r>
              <a:rPr lang="en-US" sz="800" dirty="0">
                <a:solidFill>
                  <a:srgbClr val="46577A"/>
                </a:solidFill>
                <a:latin typeface="Aptos" pitchFamily="34" charset="0"/>
                <a:ea typeface="Aptos" pitchFamily="34" charset="-122"/>
                <a:cs typeface="Aptos" pitchFamily="34" charset="-120"/>
              </a:rPr>
              <a:t>domestic LCC</a:t>
            </a:r>
            <a:endParaRPr lang="en-US" sz="800" dirty="0"/>
          </a:p>
        </p:txBody>
      </p:sp>
      <p:sp>
        <p:nvSpPr>
          <p:cNvPr id="86" name="Shape 84"/>
          <p:cNvSpPr/>
          <p:nvPr/>
        </p:nvSpPr>
        <p:spPr>
          <a:xfrm>
            <a:off x="1837944" y="2167128"/>
            <a:ext cx="146304" cy="146304"/>
          </a:xfrm>
          <a:prstGeom prst="ellipse">
            <a:avLst/>
          </a:prstGeom>
          <a:solidFill>
            <a:srgbClr val="2F6BD8"/>
          </a:solidFill>
          <a:ln w="17780">
            <a:solidFill>
              <a:srgbClr val="FFFFFF"/>
            </a:solidFill>
            <a:prstDash val="solid"/>
          </a:ln>
        </p:spPr>
      </p:sp>
      <p:sp>
        <p:nvSpPr>
          <p:cNvPr id="87" name="Text 85"/>
          <p:cNvSpPr/>
          <p:nvPr/>
        </p:nvSpPr>
        <p:spPr>
          <a:xfrm>
            <a:off x="1819656" y="1883664"/>
            <a:ext cx="1335024" cy="237744"/>
          </a:xfrm>
          <a:prstGeom prst="rect">
            <a:avLst/>
          </a:prstGeom>
          <a:noFill/>
          <a:ln/>
        </p:spPr>
        <p:txBody>
          <a:bodyPr wrap="square" lIns="0" tIns="0" rIns="0" bIns="0" rtlCol="0" anchor="ctr"/>
          <a:lstStyle/>
          <a:p>
            <a:pPr marL="0" indent="0">
              <a:buNone/>
            </a:pPr>
            <a:r>
              <a:rPr lang="en-US" sz="950" b="1" dirty="0">
                <a:solidFill>
                  <a:srgbClr val="0032A0"/>
                </a:solidFill>
                <a:latin typeface="Aptos" pitchFamily="34" charset="0"/>
                <a:ea typeface="Aptos" pitchFamily="34" charset="-122"/>
                <a:cs typeface="Aptos" pitchFamily="34" charset="-120"/>
              </a:rPr>
              <a:t>Sep 2011</a:t>
            </a:r>
            <a:endParaRPr lang="en-US" sz="950" dirty="0"/>
          </a:p>
        </p:txBody>
      </p:sp>
      <p:sp>
        <p:nvSpPr>
          <p:cNvPr id="88" name="Text 86"/>
          <p:cNvSpPr/>
          <p:nvPr/>
        </p:nvSpPr>
        <p:spPr>
          <a:xfrm>
            <a:off x="1819656" y="2395728"/>
            <a:ext cx="1280160" cy="566928"/>
          </a:xfrm>
          <a:prstGeom prst="rect">
            <a:avLst/>
          </a:prstGeom>
          <a:noFill/>
          <a:ln/>
        </p:spPr>
        <p:txBody>
          <a:bodyPr wrap="square" lIns="0" tIns="0" rIns="0" bIns="0" rtlCol="0" anchor="t"/>
          <a:lstStyle/>
          <a:p>
            <a:pPr marL="0" indent="0">
              <a:lnSpc>
                <a:spcPct val="106000"/>
              </a:lnSpc>
              <a:buNone/>
            </a:pPr>
            <a:r>
              <a:rPr lang="en-US" sz="800" dirty="0">
                <a:solidFill>
                  <a:srgbClr val="46577A"/>
                </a:solidFill>
                <a:latin typeface="Aptos" pitchFamily="34" charset="0"/>
                <a:ea typeface="Aptos" pitchFamily="34" charset="-122"/>
                <a:cs typeface="Aptos" pitchFamily="34" charset="-120"/>
              </a:rPr>
              <a:t>First international</a:t>
            </a:r>
            <a:endParaRPr lang="en-US" sz="800" dirty="0"/>
          </a:p>
          <a:p>
            <a:pPr marL="0" indent="0">
              <a:lnSpc>
                <a:spcPct val="106000"/>
              </a:lnSpc>
              <a:buNone/>
            </a:pPr>
            <a:r>
              <a:rPr lang="en-US" sz="800" dirty="0">
                <a:solidFill>
                  <a:srgbClr val="46577A"/>
                </a:solidFill>
                <a:latin typeface="Aptos" pitchFamily="34" charset="0"/>
                <a:ea typeface="Aptos" pitchFamily="34" charset="-122"/>
                <a:cs typeface="Aptos" pitchFamily="34" charset="-120"/>
              </a:rPr>
              <a:t>service - Delhi-Dubai</a:t>
            </a:r>
            <a:endParaRPr lang="en-US" sz="800" dirty="0"/>
          </a:p>
        </p:txBody>
      </p:sp>
      <p:sp>
        <p:nvSpPr>
          <p:cNvPr id="89" name="Shape 87"/>
          <p:cNvSpPr/>
          <p:nvPr/>
        </p:nvSpPr>
        <p:spPr>
          <a:xfrm>
            <a:off x="3227832" y="2167128"/>
            <a:ext cx="146304" cy="146304"/>
          </a:xfrm>
          <a:prstGeom prst="ellipse">
            <a:avLst/>
          </a:prstGeom>
          <a:solidFill>
            <a:srgbClr val="2F6BD8"/>
          </a:solidFill>
          <a:ln w="17780">
            <a:solidFill>
              <a:srgbClr val="FFFFFF"/>
            </a:solidFill>
            <a:prstDash val="solid"/>
          </a:ln>
        </p:spPr>
      </p:sp>
      <p:sp>
        <p:nvSpPr>
          <p:cNvPr id="90" name="Text 88"/>
          <p:cNvSpPr/>
          <p:nvPr/>
        </p:nvSpPr>
        <p:spPr>
          <a:xfrm>
            <a:off x="3209544" y="1883664"/>
            <a:ext cx="1335024" cy="237744"/>
          </a:xfrm>
          <a:prstGeom prst="rect">
            <a:avLst/>
          </a:prstGeom>
          <a:noFill/>
          <a:ln/>
        </p:spPr>
        <p:txBody>
          <a:bodyPr wrap="square" lIns="0" tIns="0" rIns="0" bIns="0" rtlCol="0" anchor="ctr"/>
          <a:lstStyle/>
          <a:p>
            <a:pPr marL="0" indent="0">
              <a:buNone/>
            </a:pPr>
            <a:r>
              <a:rPr lang="en-US" sz="950" b="1" dirty="0">
                <a:solidFill>
                  <a:srgbClr val="0032A0"/>
                </a:solidFill>
                <a:latin typeface="Aptos" pitchFamily="34" charset="0"/>
                <a:ea typeface="Aptos" pitchFamily="34" charset="-122"/>
                <a:cs typeface="Aptos" pitchFamily="34" charset="-120"/>
              </a:rPr>
              <a:t>2015</a:t>
            </a:r>
            <a:endParaRPr lang="en-US" sz="950" dirty="0"/>
          </a:p>
        </p:txBody>
      </p:sp>
      <p:sp>
        <p:nvSpPr>
          <p:cNvPr id="91" name="Text 89"/>
          <p:cNvSpPr/>
          <p:nvPr/>
        </p:nvSpPr>
        <p:spPr>
          <a:xfrm>
            <a:off x="3209544" y="2395728"/>
            <a:ext cx="1280160" cy="566928"/>
          </a:xfrm>
          <a:prstGeom prst="rect">
            <a:avLst/>
          </a:prstGeom>
          <a:noFill/>
          <a:ln/>
        </p:spPr>
        <p:txBody>
          <a:bodyPr wrap="square" lIns="0" tIns="0" rIns="0" bIns="0" rtlCol="0" anchor="t"/>
          <a:lstStyle/>
          <a:p>
            <a:pPr marL="0" indent="0">
              <a:lnSpc>
                <a:spcPct val="106000"/>
              </a:lnSpc>
              <a:buNone/>
            </a:pPr>
            <a:r>
              <a:rPr lang="en-US" sz="800" dirty="0">
                <a:solidFill>
                  <a:srgbClr val="46577A"/>
                </a:solidFill>
                <a:latin typeface="Aptos" pitchFamily="34" charset="0"/>
                <a:ea typeface="Aptos" pitchFamily="34" charset="-122"/>
                <a:cs typeface="Aptos" pitchFamily="34" charset="-120"/>
              </a:rPr>
              <a:t>IPO / public listing</a:t>
            </a:r>
            <a:endParaRPr lang="en-US" sz="800" dirty="0"/>
          </a:p>
        </p:txBody>
      </p:sp>
      <p:sp>
        <p:nvSpPr>
          <p:cNvPr id="92" name="Shape 90"/>
          <p:cNvSpPr/>
          <p:nvPr/>
        </p:nvSpPr>
        <p:spPr>
          <a:xfrm>
            <a:off x="4594860" y="2144268"/>
            <a:ext cx="192024" cy="192024"/>
          </a:xfrm>
          <a:prstGeom prst="ellipse">
            <a:avLst/>
          </a:prstGeom>
          <a:solidFill>
            <a:srgbClr val="0032A0"/>
          </a:solidFill>
          <a:ln w="17780">
            <a:solidFill>
              <a:srgbClr val="FFFFFF"/>
            </a:solidFill>
            <a:prstDash val="solid"/>
          </a:ln>
        </p:spPr>
      </p:sp>
      <p:sp>
        <p:nvSpPr>
          <p:cNvPr id="93" name="Text 91"/>
          <p:cNvSpPr/>
          <p:nvPr/>
        </p:nvSpPr>
        <p:spPr>
          <a:xfrm>
            <a:off x="4599432" y="1883664"/>
            <a:ext cx="1335024" cy="237744"/>
          </a:xfrm>
          <a:prstGeom prst="rect">
            <a:avLst/>
          </a:prstGeom>
          <a:noFill/>
          <a:ln/>
        </p:spPr>
        <p:txBody>
          <a:bodyPr wrap="square" lIns="0" tIns="0" rIns="0" bIns="0" rtlCol="0" anchor="ctr"/>
          <a:lstStyle/>
          <a:p>
            <a:pPr marL="0" indent="0">
              <a:buNone/>
            </a:pPr>
            <a:r>
              <a:rPr lang="en-US" sz="950" b="1" dirty="0">
                <a:solidFill>
                  <a:srgbClr val="0032A0"/>
                </a:solidFill>
                <a:latin typeface="Aptos" pitchFamily="34" charset="0"/>
                <a:ea typeface="Aptos" pitchFamily="34" charset="-122"/>
                <a:cs typeface="Aptos" pitchFamily="34" charset="-120"/>
              </a:rPr>
              <a:t>Jan 2023</a:t>
            </a:r>
            <a:endParaRPr lang="en-US" sz="950" dirty="0"/>
          </a:p>
        </p:txBody>
      </p:sp>
      <p:sp>
        <p:nvSpPr>
          <p:cNvPr id="94" name="Text 92"/>
          <p:cNvSpPr/>
          <p:nvPr/>
        </p:nvSpPr>
        <p:spPr>
          <a:xfrm>
            <a:off x="4599432" y="2395728"/>
            <a:ext cx="1280160" cy="566928"/>
          </a:xfrm>
          <a:prstGeom prst="rect">
            <a:avLst/>
          </a:prstGeom>
          <a:noFill/>
          <a:ln/>
        </p:spPr>
        <p:txBody>
          <a:bodyPr wrap="square" lIns="0" tIns="0" rIns="0" bIns="0" rtlCol="0" anchor="t"/>
          <a:lstStyle/>
          <a:p>
            <a:pPr marL="0" indent="0">
              <a:lnSpc>
                <a:spcPct val="106000"/>
              </a:lnSpc>
              <a:buNone/>
            </a:pPr>
            <a:r>
              <a:rPr lang="en-US" sz="800" dirty="0">
                <a:solidFill>
                  <a:srgbClr val="46577A"/>
                </a:solidFill>
                <a:latin typeface="Aptos" pitchFamily="34" charset="0"/>
                <a:ea typeface="Aptos" pitchFamily="34" charset="-122"/>
                <a:cs typeface="Aptos" pitchFamily="34" charset="-120"/>
              </a:rPr>
              <a:t>Fleet reaches</a:t>
            </a:r>
            <a:endParaRPr lang="en-US" sz="800" dirty="0"/>
          </a:p>
          <a:p>
            <a:pPr marL="0" indent="0">
              <a:lnSpc>
                <a:spcPct val="106000"/>
              </a:lnSpc>
              <a:buNone/>
            </a:pPr>
            <a:r>
              <a:rPr lang="en-US" sz="800" dirty="0">
                <a:solidFill>
                  <a:srgbClr val="46577A"/>
                </a:solidFill>
                <a:latin typeface="Aptos" pitchFamily="34" charset="0"/>
                <a:ea typeface="Aptos" pitchFamily="34" charset="-122"/>
                <a:cs typeface="Aptos" pitchFamily="34" charset="-120"/>
              </a:rPr>
              <a:t>300 aircraft</a:t>
            </a:r>
            <a:endParaRPr lang="en-US" sz="800" dirty="0"/>
          </a:p>
        </p:txBody>
      </p:sp>
      <p:sp>
        <p:nvSpPr>
          <p:cNvPr id="95" name="Shape 93"/>
          <p:cNvSpPr/>
          <p:nvPr/>
        </p:nvSpPr>
        <p:spPr>
          <a:xfrm>
            <a:off x="5984748" y="2144268"/>
            <a:ext cx="192024" cy="192024"/>
          </a:xfrm>
          <a:prstGeom prst="ellipse">
            <a:avLst/>
          </a:prstGeom>
          <a:solidFill>
            <a:srgbClr val="0032A0"/>
          </a:solidFill>
          <a:ln w="17780">
            <a:solidFill>
              <a:srgbClr val="FFFFFF"/>
            </a:solidFill>
            <a:prstDash val="solid"/>
          </a:ln>
        </p:spPr>
      </p:sp>
      <p:sp>
        <p:nvSpPr>
          <p:cNvPr id="96" name="Text 94"/>
          <p:cNvSpPr/>
          <p:nvPr/>
        </p:nvSpPr>
        <p:spPr>
          <a:xfrm>
            <a:off x="5989320" y="1883664"/>
            <a:ext cx="1335024" cy="237744"/>
          </a:xfrm>
          <a:prstGeom prst="rect">
            <a:avLst/>
          </a:prstGeom>
          <a:noFill/>
          <a:ln/>
        </p:spPr>
        <p:txBody>
          <a:bodyPr wrap="square" lIns="0" tIns="0" rIns="0" bIns="0" rtlCol="0" anchor="ctr"/>
          <a:lstStyle/>
          <a:p>
            <a:pPr marL="0" indent="0">
              <a:buNone/>
            </a:pPr>
            <a:r>
              <a:rPr lang="en-US" sz="950" b="1" dirty="0">
                <a:solidFill>
                  <a:srgbClr val="0032A0"/>
                </a:solidFill>
                <a:latin typeface="Aptos" pitchFamily="34" charset="0"/>
                <a:ea typeface="Aptos" pitchFamily="34" charset="-122"/>
                <a:cs typeface="Aptos" pitchFamily="34" charset="-120"/>
              </a:rPr>
              <a:t>Jun 2023</a:t>
            </a:r>
            <a:endParaRPr lang="en-US" sz="950" dirty="0"/>
          </a:p>
        </p:txBody>
      </p:sp>
      <p:sp>
        <p:nvSpPr>
          <p:cNvPr id="97" name="Text 95"/>
          <p:cNvSpPr/>
          <p:nvPr/>
        </p:nvSpPr>
        <p:spPr>
          <a:xfrm>
            <a:off x="5989320" y="2395728"/>
            <a:ext cx="1280160" cy="566928"/>
          </a:xfrm>
          <a:prstGeom prst="rect">
            <a:avLst/>
          </a:prstGeom>
          <a:noFill/>
          <a:ln/>
        </p:spPr>
        <p:txBody>
          <a:bodyPr wrap="square" lIns="0" tIns="0" rIns="0" bIns="0" rtlCol="0" anchor="t"/>
          <a:lstStyle/>
          <a:p>
            <a:pPr marL="0" indent="0">
              <a:lnSpc>
                <a:spcPct val="106000"/>
              </a:lnSpc>
              <a:buNone/>
            </a:pPr>
            <a:r>
              <a:rPr lang="en-US" sz="800" dirty="0">
                <a:solidFill>
                  <a:srgbClr val="46577A"/>
                </a:solidFill>
                <a:latin typeface="Aptos" pitchFamily="34" charset="0"/>
                <a:ea typeface="Aptos" pitchFamily="34" charset="-122"/>
                <a:cs typeface="Aptos" pitchFamily="34" charset="-120"/>
              </a:rPr>
              <a:t>500 A320-family</a:t>
            </a:r>
            <a:endParaRPr lang="en-US" sz="800" dirty="0"/>
          </a:p>
          <a:p>
            <a:pPr marL="0" indent="0">
              <a:lnSpc>
                <a:spcPct val="106000"/>
              </a:lnSpc>
              <a:buNone/>
            </a:pPr>
            <a:r>
              <a:rPr lang="en-US" sz="800" dirty="0">
                <a:solidFill>
                  <a:srgbClr val="46577A"/>
                </a:solidFill>
                <a:latin typeface="Aptos" pitchFamily="34" charset="0"/>
                <a:ea typeface="Aptos" pitchFamily="34" charset="-122"/>
                <a:cs typeface="Aptos" pitchFamily="34" charset="-120"/>
              </a:rPr>
              <a:t>aircraft ordered</a:t>
            </a:r>
            <a:endParaRPr lang="en-US" sz="800" dirty="0"/>
          </a:p>
        </p:txBody>
      </p:sp>
      <p:sp>
        <p:nvSpPr>
          <p:cNvPr id="98" name="Shape 96"/>
          <p:cNvSpPr/>
          <p:nvPr/>
        </p:nvSpPr>
        <p:spPr>
          <a:xfrm>
            <a:off x="7397496" y="2167128"/>
            <a:ext cx="146304" cy="146304"/>
          </a:xfrm>
          <a:prstGeom prst="ellipse">
            <a:avLst/>
          </a:prstGeom>
          <a:solidFill>
            <a:srgbClr val="2F6BD8"/>
          </a:solidFill>
          <a:ln w="17780">
            <a:solidFill>
              <a:srgbClr val="FFFFFF"/>
            </a:solidFill>
            <a:prstDash val="solid"/>
          </a:ln>
        </p:spPr>
      </p:sp>
      <p:sp>
        <p:nvSpPr>
          <p:cNvPr id="99" name="Text 97"/>
          <p:cNvSpPr/>
          <p:nvPr/>
        </p:nvSpPr>
        <p:spPr>
          <a:xfrm>
            <a:off x="7379208" y="1883664"/>
            <a:ext cx="1335024" cy="237744"/>
          </a:xfrm>
          <a:prstGeom prst="rect">
            <a:avLst/>
          </a:prstGeom>
          <a:noFill/>
          <a:ln/>
        </p:spPr>
        <p:txBody>
          <a:bodyPr wrap="square" lIns="0" tIns="0" rIns="0" bIns="0" rtlCol="0" anchor="ctr"/>
          <a:lstStyle/>
          <a:p>
            <a:pPr marL="0" indent="0">
              <a:buNone/>
            </a:pPr>
            <a:r>
              <a:rPr lang="en-US" sz="950" b="1" dirty="0">
                <a:solidFill>
                  <a:srgbClr val="0032A0"/>
                </a:solidFill>
                <a:latin typeface="Aptos" pitchFamily="34" charset="0"/>
                <a:ea typeface="Aptos" pitchFamily="34" charset="-122"/>
                <a:cs typeface="Aptos" pitchFamily="34" charset="-120"/>
              </a:rPr>
              <a:t>2024 -&gt; 2025</a:t>
            </a:r>
            <a:endParaRPr lang="en-US" sz="950" dirty="0"/>
          </a:p>
        </p:txBody>
      </p:sp>
      <p:sp>
        <p:nvSpPr>
          <p:cNvPr id="100" name="Text 98"/>
          <p:cNvSpPr/>
          <p:nvPr/>
        </p:nvSpPr>
        <p:spPr>
          <a:xfrm>
            <a:off x="7379208" y="2395728"/>
            <a:ext cx="1280160" cy="566928"/>
          </a:xfrm>
          <a:prstGeom prst="rect">
            <a:avLst/>
          </a:prstGeom>
          <a:noFill/>
          <a:ln/>
        </p:spPr>
        <p:txBody>
          <a:bodyPr wrap="square" lIns="0" tIns="0" rIns="0" bIns="0" rtlCol="0" anchor="t"/>
          <a:lstStyle/>
          <a:p>
            <a:pPr marL="0" indent="0">
              <a:lnSpc>
                <a:spcPct val="106000"/>
              </a:lnSpc>
              <a:buNone/>
            </a:pPr>
            <a:r>
              <a:rPr lang="en-US" sz="800" dirty="0">
                <a:solidFill>
                  <a:srgbClr val="46577A"/>
                </a:solidFill>
                <a:latin typeface="Aptos" pitchFamily="34" charset="0"/>
                <a:ea typeface="Aptos" pitchFamily="34" charset="-122"/>
                <a:cs typeface="Aptos" pitchFamily="34" charset="-120"/>
              </a:rPr>
              <a:t>A350 order placed,</a:t>
            </a:r>
            <a:endParaRPr lang="en-US" sz="800" dirty="0"/>
          </a:p>
          <a:p>
            <a:pPr marL="0" indent="0">
              <a:lnSpc>
                <a:spcPct val="106000"/>
              </a:lnSpc>
              <a:buNone/>
            </a:pPr>
            <a:r>
              <a:rPr lang="en-US" sz="800" dirty="0">
                <a:solidFill>
                  <a:srgbClr val="46577A"/>
                </a:solidFill>
                <a:latin typeface="Aptos" pitchFamily="34" charset="0"/>
                <a:ea typeface="Aptos" pitchFamily="34" charset="-122"/>
                <a:cs typeface="Aptos" pitchFamily="34" charset="-120"/>
              </a:rPr>
              <a:t>raised to 60 aircraft</a:t>
            </a:r>
            <a:endParaRPr lang="en-US" sz="800" dirty="0"/>
          </a:p>
        </p:txBody>
      </p:sp>
      <p:sp>
        <p:nvSpPr>
          <p:cNvPr id="101" name="Shape 99"/>
          <p:cNvSpPr/>
          <p:nvPr/>
        </p:nvSpPr>
        <p:spPr>
          <a:xfrm>
            <a:off x="8787384" y="2167128"/>
            <a:ext cx="146304" cy="146304"/>
          </a:xfrm>
          <a:prstGeom prst="ellipse">
            <a:avLst/>
          </a:prstGeom>
          <a:solidFill>
            <a:srgbClr val="2F6BD8"/>
          </a:solidFill>
          <a:ln w="17780">
            <a:solidFill>
              <a:srgbClr val="FFFFFF"/>
            </a:solidFill>
            <a:prstDash val="solid"/>
          </a:ln>
        </p:spPr>
      </p:sp>
      <p:sp>
        <p:nvSpPr>
          <p:cNvPr id="102" name="Text 100"/>
          <p:cNvSpPr/>
          <p:nvPr/>
        </p:nvSpPr>
        <p:spPr>
          <a:xfrm>
            <a:off x="8769096" y="1883664"/>
            <a:ext cx="1335024" cy="237744"/>
          </a:xfrm>
          <a:prstGeom prst="rect">
            <a:avLst/>
          </a:prstGeom>
          <a:noFill/>
          <a:ln/>
        </p:spPr>
        <p:txBody>
          <a:bodyPr wrap="square" lIns="0" tIns="0" rIns="0" bIns="0" rtlCol="0" anchor="ctr"/>
          <a:lstStyle/>
          <a:p>
            <a:pPr marL="0" indent="0">
              <a:buNone/>
            </a:pPr>
            <a:r>
              <a:rPr lang="en-US" sz="950" b="1" dirty="0">
                <a:solidFill>
                  <a:srgbClr val="0032A0"/>
                </a:solidFill>
                <a:latin typeface="Aptos" pitchFamily="34" charset="0"/>
                <a:ea typeface="Aptos" pitchFamily="34" charset="-122"/>
                <a:cs typeface="Aptos" pitchFamily="34" charset="-120"/>
              </a:rPr>
              <a:t>2025</a:t>
            </a:r>
            <a:endParaRPr lang="en-US" sz="950" dirty="0"/>
          </a:p>
        </p:txBody>
      </p:sp>
      <p:sp>
        <p:nvSpPr>
          <p:cNvPr id="103" name="Text 101"/>
          <p:cNvSpPr/>
          <p:nvPr/>
        </p:nvSpPr>
        <p:spPr>
          <a:xfrm>
            <a:off x="8769096" y="2395728"/>
            <a:ext cx="1280160" cy="566928"/>
          </a:xfrm>
          <a:prstGeom prst="rect">
            <a:avLst/>
          </a:prstGeom>
          <a:noFill/>
          <a:ln/>
        </p:spPr>
        <p:txBody>
          <a:bodyPr wrap="square" lIns="0" tIns="0" rIns="0" bIns="0" rtlCol="0" anchor="t"/>
          <a:lstStyle/>
          <a:p>
            <a:pPr marL="0" indent="0">
              <a:lnSpc>
                <a:spcPct val="106000"/>
              </a:lnSpc>
              <a:buNone/>
            </a:pPr>
            <a:r>
              <a:rPr lang="en-US" sz="800" dirty="0">
                <a:solidFill>
                  <a:srgbClr val="46577A"/>
                </a:solidFill>
                <a:latin typeface="Aptos" pitchFamily="34" charset="0"/>
                <a:ea typeface="Aptos" pitchFamily="34" charset="-122"/>
                <a:cs typeface="Aptos" pitchFamily="34" charset="-120"/>
              </a:rPr>
              <a:t>Manchester and</a:t>
            </a:r>
            <a:endParaRPr lang="en-US" sz="800" dirty="0"/>
          </a:p>
          <a:p>
            <a:pPr marL="0" indent="0">
              <a:lnSpc>
                <a:spcPct val="106000"/>
              </a:lnSpc>
              <a:buNone/>
            </a:pPr>
            <a:r>
              <a:rPr lang="en-US" sz="800" dirty="0">
                <a:solidFill>
                  <a:srgbClr val="46577A"/>
                </a:solidFill>
                <a:latin typeface="Aptos" pitchFamily="34" charset="0"/>
                <a:ea typeface="Aptos" pitchFamily="34" charset="-122"/>
                <a:cs typeface="Aptos" pitchFamily="34" charset="-120"/>
              </a:rPr>
              <a:t>Amsterdam long-haul</a:t>
            </a:r>
            <a:endParaRPr lang="en-US" sz="800" dirty="0"/>
          </a:p>
        </p:txBody>
      </p:sp>
      <p:sp>
        <p:nvSpPr>
          <p:cNvPr id="104" name="Shape 102"/>
          <p:cNvSpPr/>
          <p:nvPr/>
        </p:nvSpPr>
        <p:spPr>
          <a:xfrm>
            <a:off x="10154412" y="2144268"/>
            <a:ext cx="192024" cy="192024"/>
          </a:xfrm>
          <a:prstGeom prst="ellipse">
            <a:avLst/>
          </a:prstGeom>
          <a:solidFill>
            <a:srgbClr val="0032A0"/>
          </a:solidFill>
          <a:ln w="17780">
            <a:solidFill>
              <a:srgbClr val="FFFFFF"/>
            </a:solidFill>
            <a:prstDash val="solid"/>
          </a:ln>
        </p:spPr>
      </p:sp>
      <p:sp>
        <p:nvSpPr>
          <p:cNvPr id="105" name="Text 103"/>
          <p:cNvSpPr/>
          <p:nvPr/>
        </p:nvSpPr>
        <p:spPr>
          <a:xfrm>
            <a:off x="10158984" y="1883664"/>
            <a:ext cx="1335024" cy="237744"/>
          </a:xfrm>
          <a:prstGeom prst="rect">
            <a:avLst/>
          </a:prstGeom>
          <a:noFill/>
          <a:ln/>
        </p:spPr>
        <p:txBody>
          <a:bodyPr wrap="square" lIns="0" tIns="0" rIns="0" bIns="0" rtlCol="0" anchor="ctr"/>
          <a:lstStyle/>
          <a:p>
            <a:pPr marL="0" indent="0">
              <a:buNone/>
            </a:pPr>
            <a:r>
              <a:rPr lang="en-US" sz="950" b="1" dirty="0">
                <a:solidFill>
                  <a:srgbClr val="0032A0"/>
                </a:solidFill>
                <a:latin typeface="Aptos" pitchFamily="34" charset="0"/>
                <a:ea typeface="Aptos" pitchFamily="34" charset="-122"/>
                <a:cs typeface="Aptos" pitchFamily="34" charset="-120"/>
              </a:rPr>
              <a:t>2026</a:t>
            </a:r>
            <a:endParaRPr lang="en-US" sz="950" dirty="0"/>
          </a:p>
        </p:txBody>
      </p:sp>
      <p:sp>
        <p:nvSpPr>
          <p:cNvPr id="106" name="Text 104"/>
          <p:cNvSpPr/>
          <p:nvPr/>
        </p:nvSpPr>
        <p:spPr>
          <a:xfrm>
            <a:off x="10158984" y="2395728"/>
            <a:ext cx="1280160" cy="566928"/>
          </a:xfrm>
          <a:prstGeom prst="rect">
            <a:avLst/>
          </a:prstGeom>
          <a:noFill/>
          <a:ln/>
        </p:spPr>
        <p:txBody>
          <a:bodyPr wrap="square" lIns="0" tIns="0" rIns="0" bIns="0" rtlCol="0" anchor="t"/>
          <a:lstStyle/>
          <a:p>
            <a:pPr marL="0" indent="0">
              <a:lnSpc>
                <a:spcPct val="106000"/>
              </a:lnSpc>
              <a:buNone/>
            </a:pPr>
            <a:r>
              <a:rPr lang="en-US" sz="800" dirty="0">
                <a:solidFill>
                  <a:srgbClr val="46577A"/>
                </a:solidFill>
                <a:latin typeface="Aptos" pitchFamily="34" charset="0"/>
                <a:ea typeface="Aptos" pitchFamily="34" charset="-122"/>
                <a:cs typeface="Aptos" pitchFamily="34" charset="-120"/>
              </a:rPr>
              <a:t>441 aircraft</a:t>
            </a:r>
            <a:endParaRPr lang="en-US" sz="800" dirty="0"/>
          </a:p>
          <a:p>
            <a:pPr marL="0" indent="0">
              <a:lnSpc>
                <a:spcPct val="106000"/>
              </a:lnSpc>
              <a:buNone/>
            </a:pPr>
            <a:r>
              <a:rPr lang="en-US" sz="800" dirty="0">
                <a:solidFill>
                  <a:srgbClr val="46577A"/>
                </a:solidFill>
                <a:latin typeface="Aptos" pitchFamily="34" charset="0"/>
                <a:ea typeface="Aptos" pitchFamily="34" charset="-122"/>
                <a:cs typeface="Aptos" pitchFamily="34" charset="-120"/>
              </a:rPr>
              <a:t>97 domestic - 45 intl</a:t>
            </a:r>
            <a:endParaRPr lang="en-US" sz="800" dirty="0"/>
          </a:p>
        </p:txBody>
      </p:sp>
      <p:sp>
        <p:nvSpPr>
          <p:cNvPr id="107" name="Shape 105"/>
          <p:cNvSpPr/>
          <p:nvPr/>
        </p:nvSpPr>
        <p:spPr>
          <a:xfrm>
            <a:off x="502920" y="3218688"/>
            <a:ext cx="11185855" cy="5486"/>
          </a:xfrm>
          <a:prstGeom prst="rect">
            <a:avLst/>
          </a:prstGeom>
          <a:solidFill>
            <a:srgbClr val="C9D8F2"/>
          </a:solidFill>
          <a:ln/>
        </p:spPr>
      </p:sp>
      <p:sp>
        <p:nvSpPr>
          <p:cNvPr id="108" name="Text 106"/>
          <p:cNvSpPr/>
          <p:nvPr/>
        </p:nvSpPr>
        <p:spPr>
          <a:xfrm>
            <a:off x="502920" y="3383280"/>
            <a:ext cx="64008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THE LOGIC THE MILESTONES EXPRESS</a:t>
            </a:r>
            <a:endParaRPr lang="en-US" sz="1000" dirty="0"/>
          </a:p>
        </p:txBody>
      </p:sp>
      <p:sp>
        <p:nvSpPr>
          <p:cNvPr id="109" name="Shape 107"/>
          <p:cNvSpPr/>
          <p:nvPr/>
        </p:nvSpPr>
        <p:spPr>
          <a:xfrm>
            <a:off x="502920" y="3675888"/>
            <a:ext cx="1664208" cy="566928"/>
          </a:xfrm>
          <a:prstGeom prst="rect">
            <a:avLst/>
          </a:prstGeom>
          <a:solidFill>
            <a:srgbClr val="DCE7FA"/>
          </a:solidFill>
          <a:ln/>
        </p:spPr>
      </p:sp>
      <p:sp>
        <p:nvSpPr>
          <p:cNvPr id="110" name="Text 108"/>
          <p:cNvSpPr/>
          <p:nvPr/>
        </p:nvSpPr>
        <p:spPr>
          <a:xfrm>
            <a:off x="548640" y="3675888"/>
            <a:ext cx="1572768" cy="566928"/>
          </a:xfrm>
          <a:prstGeom prst="rect">
            <a:avLst/>
          </a:prstGeom>
          <a:noFill/>
          <a:ln/>
        </p:spPr>
        <p:txBody>
          <a:bodyPr wrap="square" lIns="0" tIns="0" rIns="0" bIns="0" rtlCol="0" anchor="ctr"/>
          <a:lstStyle/>
          <a:p>
            <a:pPr marL="0" indent="0" algn="ctr">
              <a:buNone/>
            </a:pPr>
            <a:r>
              <a:rPr lang="en-US" sz="950" b="1" dirty="0">
                <a:solidFill>
                  <a:srgbClr val="041E47"/>
                </a:solidFill>
                <a:latin typeface="Aptos" pitchFamily="34" charset="0"/>
                <a:ea typeface="Aptos" pitchFamily="34" charset="-122"/>
                <a:cs typeface="Aptos" pitchFamily="34" charset="-120"/>
              </a:rPr>
              <a:t>STANDARDISE</a:t>
            </a:r>
            <a:endParaRPr lang="en-US" sz="950" dirty="0"/>
          </a:p>
        </p:txBody>
      </p:sp>
      <p:sp>
        <p:nvSpPr>
          <p:cNvPr id="111" name="Shape 109"/>
          <p:cNvSpPr/>
          <p:nvPr/>
        </p:nvSpPr>
        <p:spPr>
          <a:xfrm rot="5400000">
            <a:off x="2212848" y="3895344"/>
            <a:ext cx="109728" cy="128016"/>
          </a:xfrm>
          <a:prstGeom prst="triangle">
            <a:avLst/>
          </a:prstGeom>
          <a:solidFill>
            <a:srgbClr val="2F6BD8"/>
          </a:solidFill>
          <a:ln/>
        </p:spPr>
      </p:sp>
      <p:sp>
        <p:nvSpPr>
          <p:cNvPr id="112" name="Shape 110"/>
          <p:cNvSpPr/>
          <p:nvPr/>
        </p:nvSpPr>
        <p:spPr>
          <a:xfrm>
            <a:off x="2368296" y="3675888"/>
            <a:ext cx="1664208" cy="566928"/>
          </a:xfrm>
          <a:prstGeom prst="rect">
            <a:avLst/>
          </a:prstGeom>
          <a:solidFill>
            <a:srgbClr val="DCE7FA"/>
          </a:solidFill>
          <a:ln/>
        </p:spPr>
      </p:sp>
      <p:sp>
        <p:nvSpPr>
          <p:cNvPr id="113" name="Text 111"/>
          <p:cNvSpPr/>
          <p:nvPr/>
        </p:nvSpPr>
        <p:spPr>
          <a:xfrm>
            <a:off x="2414016" y="3675888"/>
            <a:ext cx="1572768" cy="566928"/>
          </a:xfrm>
          <a:prstGeom prst="rect">
            <a:avLst/>
          </a:prstGeom>
          <a:noFill/>
          <a:ln/>
        </p:spPr>
        <p:txBody>
          <a:bodyPr wrap="square" lIns="0" tIns="0" rIns="0" bIns="0" rtlCol="0" anchor="ctr"/>
          <a:lstStyle/>
          <a:p>
            <a:pPr marL="0" indent="0" algn="ctr">
              <a:buNone/>
            </a:pPr>
            <a:r>
              <a:rPr lang="en-US" sz="950" b="1" dirty="0">
                <a:solidFill>
                  <a:srgbClr val="041E47"/>
                </a:solidFill>
                <a:latin typeface="Aptos" pitchFamily="34" charset="0"/>
                <a:ea typeface="Aptos" pitchFamily="34" charset="-122"/>
                <a:cs typeface="Aptos" pitchFamily="34" charset="-120"/>
              </a:rPr>
              <a:t>SIMPLIFY</a:t>
            </a:r>
            <a:endParaRPr lang="en-US" sz="950" dirty="0"/>
          </a:p>
        </p:txBody>
      </p:sp>
      <p:sp>
        <p:nvSpPr>
          <p:cNvPr id="114" name="Shape 112"/>
          <p:cNvSpPr/>
          <p:nvPr/>
        </p:nvSpPr>
        <p:spPr>
          <a:xfrm rot="5400000">
            <a:off x="4078224" y="3895344"/>
            <a:ext cx="109728" cy="128016"/>
          </a:xfrm>
          <a:prstGeom prst="triangle">
            <a:avLst/>
          </a:prstGeom>
          <a:solidFill>
            <a:srgbClr val="2F6BD8"/>
          </a:solidFill>
          <a:ln/>
        </p:spPr>
      </p:sp>
      <p:sp>
        <p:nvSpPr>
          <p:cNvPr id="115" name="Shape 113"/>
          <p:cNvSpPr/>
          <p:nvPr/>
        </p:nvSpPr>
        <p:spPr>
          <a:xfrm>
            <a:off x="4233672" y="3675888"/>
            <a:ext cx="1664208" cy="566928"/>
          </a:xfrm>
          <a:prstGeom prst="rect">
            <a:avLst/>
          </a:prstGeom>
          <a:solidFill>
            <a:srgbClr val="7FA3E8"/>
          </a:solidFill>
          <a:ln/>
        </p:spPr>
      </p:sp>
      <p:sp>
        <p:nvSpPr>
          <p:cNvPr id="116" name="Text 114"/>
          <p:cNvSpPr/>
          <p:nvPr/>
        </p:nvSpPr>
        <p:spPr>
          <a:xfrm>
            <a:off x="4279392" y="3675888"/>
            <a:ext cx="1572768" cy="566928"/>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UTILISE</a:t>
            </a:r>
            <a:endParaRPr lang="en-US" sz="950" dirty="0"/>
          </a:p>
        </p:txBody>
      </p:sp>
      <p:sp>
        <p:nvSpPr>
          <p:cNvPr id="117" name="Shape 115"/>
          <p:cNvSpPr/>
          <p:nvPr/>
        </p:nvSpPr>
        <p:spPr>
          <a:xfrm rot="5400000">
            <a:off x="5943600" y="3895344"/>
            <a:ext cx="109728" cy="128016"/>
          </a:xfrm>
          <a:prstGeom prst="triangle">
            <a:avLst/>
          </a:prstGeom>
          <a:solidFill>
            <a:srgbClr val="2F6BD8"/>
          </a:solidFill>
          <a:ln/>
        </p:spPr>
      </p:sp>
      <p:sp>
        <p:nvSpPr>
          <p:cNvPr id="118" name="Shape 116"/>
          <p:cNvSpPr/>
          <p:nvPr/>
        </p:nvSpPr>
        <p:spPr>
          <a:xfrm>
            <a:off x="6099048" y="3675888"/>
            <a:ext cx="1664208" cy="566928"/>
          </a:xfrm>
          <a:prstGeom prst="rect">
            <a:avLst/>
          </a:prstGeom>
          <a:solidFill>
            <a:srgbClr val="2F6BD8"/>
          </a:solidFill>
          <a:ln/>
        </p:spPr>
      </p:sp>
      <p:sp>
        <p:nvSpPr>
          <p:cNvPr id="119" name="Text 117"/>
          <p:cNvSpPr/>
          <p:nvPr/>
        </p:nvSpPr>
        <p:spPr>
          <a:xfrm>
            <a:off x="6144768" y="3675888"/>
            <a:ext cx="1572768" cy="566928"/>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SCALE</a:t>
            </a:r>
            <a:endParaRPr lang="en-US" sz="950" dirty="0"/>
          </a:p>
        </p:txBody>
      </p:sp>
      <p:sp>
        <p:nvSpPr>
          <p:cNvPr id="120" name="Shape 118"/>
          <p:cNvSpPr/>
          <p:nvPr/>
        </p:nvSpPr>
        <p:spPr>
          <a:xfrm rot="5400000">
            <a:off x="7808976" y="3895344"/>
            <a:ext cx="109728" cy="128016"/>
          </a:xfrm>
          <a:prstGeom prst="triangle">
            <a:avLst/>
          </a:prstGeom>
          <a:solidFill>
            <a:srgbClr val="2F6BD8"/>
          </a:solidFill>
          <a:ln/>
        </p:spPr>
      </p:sp>
      <p:sp>
        <p:nvSpPr>
          <p:cNvPr id="121" name="Shape 119"/>
          <p:cNvSpPr/>
          <p:nvPr/>
        </p:nvSpPr>
        <p:spPr>
          <a:xfrm>
            <a:off x="7964424" y="3675888"/>
            <a:ext cx="1664208" cy="566928"/>
          </a:xfrm>
          <a:prstGeom prst="rect">
            <a:avLst/>
          </a:prstGeom>
          <a:solidFill>
            <a:srgbClr val="2F6BD8"/>
          </a:solidFill>
          <a:ln/>
        </p:spPr>
      </p:sp>
      <p:sp>
        <p:nvSpPr>
          <p:cNvPr id="122" name="Text 120"/>
          <p:cNvSpPr/>
          <p:nvPr/>
        </p:nvSpPr>
        <p:spPr>
          <a:xfrm>
            <a:off x="8010144" y="3675888"/>
            <a:ext cx="1572768" cy="566928"/>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NETWORK DENSITY</a:t>
            </a:r>
            <a:endParaRPr lang="en-US" sz="950" dirty="0"/>
          </a:p>
        </p:txBody>
      </p:sp>
      <p:sp>
        <p:nvSpPr>
          <p:cNvPr id="123" name="Shape 121"/>
          <p:cNvSpPr/>
          <p:nvPr/>
        </p:nvSpPr>
        <p:spPr>
          <a:xfrm rot="5400000">
            <a:off x="9674352" y="3895344"/>
            <a:ext cx="109728" cy="128016"/>
          </a:xfrm>
          <a:prstGeom prst="triangle">
            <a:avLst/>
          </a:prstGeom>
          <a:solidFill>
            <a:srgbClr val="2F6BD8"/>
          </a:solidFill>
          <a:ln/>
        </p:spPr>
      </p:sp>
      <p:sp>
        <p:nvSpPr>
          <p:cNvPr id="124" name="Shape 122"/>
          <p:cNvSpPr/>
          <p:nvPr/>
        </p:nvSpPr>
        <p:spPr>
          <a:xfrm>
            <a:off x="9829800" y="3675888"/>
            <a:ext cx="1664208" cy="566928"/>
          </a:xfrm>
          <a:prstGeom prst="rect">
            <a:avLst/>
          </a:prstGeom>
          <a:solidFill>
            <a:srgbClr val="041E47"/>
          </a:solidFill>
          <a:ln/>
        </p:spPr>
      </p:sp>
      <p:sp>
        <p:nvSpPr>
          <p:cNvPr id="125" name="Text 123"/>
          <p:cNvSpPr/>
          <p:nvPr/>
        </p:nvSpPr>
        <p:spPr>
          <a:xfrm>
            <a:off x="9875520" y="3675888"/>
            <a:ext cx="1572768"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MARKET LEADERSHIP</a:t>
            </a:r>
            <a:endParaRPr lang="en-US" sz="900" dirty="0"/>
          </a:p>
        </p:txBody>
      </p:sp>
      <p:sp>
        <p:nvSpPr>
          <p:cNvPr id="126" name="Shape 124"/>
          <p:cNvSpPr/>
          <p:nvPr/>
        </p:nvSpPr>
        <p:spPr>
          <a:xfrm>
            <a:off x="502920" y="4498848"/>
            <a:ext cx="11185855" cy="731520"/>
          </a:xfrm>
          <a:prstGeom prst="rect">
            <a:avLst/>
          </a:prstGeom>
          <a:solidFill>
            <a:srgbClr val="F4F7FD"/>
          </a:solidFill>
          <a:ln/>
        </p:spPr>
      </p:sp>
      <p:sp>
        <p:nvSpPr>
          <p:cNvPr id="127" name="Text 125"/>
          <p:cNvSpPr/>
          <p:nvPr/>
        </p:nvSpPr>
        <p:spPr>
          <a:xfrm>
            <a:off x="704088" y="4498848"/>
            <a:ext cx="10789920" cy="731520"/>
          </a:xfrm>
          <a:prstGeom prst="rect">
            <a:avLst/>
          </a:prstGeom>
          <a:noFill/>
          <a:ln/>
        </p:spPr>
        <p:txBody>
          <a:bodyPr wrap="square" lIns="0" tIns="0" rIns="0" bIns="0" rtlCol="0" anchor="ctr"/>
          <a:lstStyle/>
          <a:p>
            <a:pPr algn="ctr"/>
            <a:r>
              <a:rPr lang="en-IN" sz="1200" dirty="0"/>
              <a:t>"Standardisation, utilisation and network density reinforced one another as IndiGo scaled."</a:t>
            </a:r>
            <a:endParaRPr lang="en-US" sz="1150" dirty="0"/>
          </a:p>
        </p:txBody>
      </p:sp>
      <p:sp>
        <p:nvSpPr>
          <p:cNvPr id="128" name="Shape 126"/>
          <p:cNvSpPr/>
          <p:nvPr/>
        </p:nvSpPr>
        <p:spPr>
          <a:xfrm>
            <a:off x="502920" y="5449824"/>
            <a:ext cx="894283" cy="173736"/>
          </a:xfrm>
          <a:prstGeom prst="rect">
            <a:avLst/>
          </a:prstGeom>
          <a:solidFill>
            <a:srgbClr val="FFFFFF"/>
          </a:solidFill>
          <a:ln w="9525">
            <a:solidFill>
              <a:srgbClr val="46577A"/>
            </a:solidFill>
            <a:prstDash val="solid"/>
          </a:ln>
        </p:spPr>
      </p:sp>
      <p:sp>
        <p:nvSpPr>
          <p:cNvPr id="129" name="Text 127"/>
          <p:cNvSpPr/>
          <p:nvPr/>
        </p:nvSpPr>
        <p:spPr>
          <a:xfrm>
            <a:off x="502920" y="5449824"/>
            <a:ext cx="894283" cy="173736"/>
          </a:xfrm>
          <a:prstGeom prst="rect">
            <a:avLst/>
          </a:prstGeom>
          <a:noFill/>
          <a:ln/>
        </p:spPr>
        <p:txBody>
          <a:bodyPr wrap="square" lIns="0" tIns="0" rIns="0" bIns="0" rtlCol="0" anchor="ctr"/>
          <a:lstStyle/>
          <a:p>
            <a:pPr marL="0" indent="0" algn="ctr">
              <a:buNone/>
            </a:pPr>
            <a:r>
              <a:rPr lang="en-US" sz="900" b="1" dirty="0">
                <a:solidFill>
                  <a:srgbClr val="46577A"/>
                </a:solidFill>
                <a:latin typeface="Aptos" pitchFamily="34" charset="0"/>
                <a:ea typeface="Aptos" pitchFamily="34" charset="-122"/>
                <a:cs typeface="Aptos" pitchFamily="34" charset="-120"/>
              </a:rPr>
              <a:t>INFERENCE</a:t>
            </a:r>
            <a:endParaRPr lang="en-US" sz="900" dirty="0"/>
          </a:p>
        </p:txBody>
      </p:sp>
      <p:sp>
        <p:nvSpPr>
          <p:cNvPr id="130" name="Text 128"/>
          <p:cNvSpPr/>
          <p:nvPr/>
        </p:nvSpPr>
        <p:spPr>
          <a:xfrm>
            <a:off x="1488643" y="5449824"/>
            <a:ext cx="10197389" cy="219456"/>
          </a:xfrm>
          <a:prstGeom prst="rect">
            <a:avLst/>
          </a:prstGeom>
          <a:noFill/>
          <a:ln/>
        </p:spPr>
        <p:txBody>
          <a:bodyPr wrap="square" lIns="0" tIns="0" rIns="0" bIns="0" rtlCol="0" anchor="t"/>
          <a:lstStyle/>
          <a:p>
            <a:pPr marL="0" indent="0">
              <a:buNone/>
            </a:pPr>
            <a:r>
              <a:rPr lang="en-US" sz="950" dirty="0">
                <a:solidFill>
                  <a:srgbClr val="46577A"/>
                </a:solidFill>
                <a:latin typeface="Aptos" pitchFamily="34" charset="0"/>
                <a:ea typeface="Aptos" pitchFamily="34" charset="-122"/>
                <a:cs typeface="Aptos" pitchFamily="34" charset="-120"/>
              </a:rPr>
              <a:t>The milestone sequence is company-evidenced; reading it as a single compounding logic is this study's interpretation, not a management-stated strategy.</a:t>
            </a:r>
            <a:endParaRPr lang="en-US" sz="950" dirty="0"/>
          </a:p>
        </p:txBody>
      </p:sp>
      <p:sp>
        <p:nvSpPr>
          <p:cNvPr id="134" name="Text 132"/>
          <p:cNvSpPr/>
          <p:nvPr/>
        </p:nvSpPr>
        <p:spPr>
          <a:xfrm>
            <a:off x="2048256" y="5797296"/>
            <a:ext cx="9530791" cy="329184"/>
          </a:xfrm>
          <a:prstGeom prst="rect">
            <a:avLst/>
          </a:prstGeom>
          <a:noFill/>
          <a:ln/>
        </p:spPr>
        <p:txBody>
          <a:bodyPr wrap="square" lIns="0" tIns="0" rIns="0" bIns="0" rtlCol="0" anchor="ctr"/>
          <a:lstStyle/>
          <a:p>
            <a:pPr marL="0" indent="0">
              <a:buNone/>
            </a:pPr>
            <a:endParaRPr lang="en-US" sz="950" dirty="0"/>
          </a:p>
        </p:txBody>
      </p:sp>
      <p:sp>
        <p:nvSpPr>
          <p:cNvPr id="135" name="Shape 133"/>
          <p:cNvSpPr/>
          <p:nvPr/>
        </p:nvSpPr>
        <p:spPr>
          <a:xfrm>
            <a:off x="502920" y="6309360"/>
            <a:ext cx="11185855" cy="5486"/>
          </a:xfrm>
          <a:prstGeom prst="rect">
            <a:avLst/>
          </a:prstGeom>
          <a:solidFill>
            <a:srgbClr val="C9D8F2"/>
          </a:solidFill>
          <a:ln/>
        </p:spPr>
      </p:sp>
      <p:sp>
        <p:nvSpPr>
          <p:cNvPr id="136" name="Text 134"/>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137" name="Text 135"/>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S1-S13 Strategic Milestones Register - 02 / 06 Business-Model Evidence - SRC-FY26-002</a:t>
            </a:r>
            <a:endParaRPr lang="en-US" sz="800" dirty="0"/>
          </a:p>
        </p:txBody>
      </p:sp>
      <p:sp>
        <p:nvSpPr>
          <p:cNvPr id="138" name="Shape 136"/>
          <p:cNvSpPr/>
          <p:nvPr/>
        </p:nvSpPr>
        <p:spPr>
          <a:xfrm>
            <a:off x="11484864" y="6364224"/>
            <a:ext cx="201168" cy="201168"/>
          </a:xfrm>
          <a:prstGeom prst="rect">
            <a:avLst/>
          </a:prstGeom>
          <a:solidFill>
            <a:srgbClr val="0032A0"/>
          </a:solidFill>
          <a:ln/>
        </p:spPr>
      </p:sp>
      <p:sp>
        <p:nvSpPr>
          <p:cNvPr id="139" name="Text 137"/>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01 - LEADERSHIP AND ITS FOUNDATIONS</a:t>
            </a:r>
            <a:endParaRPr lang="en-US" sz="1000" dirty="0"/>
          </a:p>
        </p:txBody>
      </p:sp>
      <p:sp>
        <p:nvSpPr>
          <p:cNvPr id="3" name="Shape 1"/>
          <p:cNvSpPr/>
          <p:nvPr/>
        </p:nvSpPr>
        <p:spPr>
          <a:xfrm>
            <a:off x="502920" y="571500"/>
            <a:ext cx="2371578" cy="45719"/>
          </a:xfrm>
          <a:prstGeom prst="rect">
            <a:avLst/>
          </a:prstGeom>
          <a:solidFill>
            <a:srgbClr val="0032A0"/>
          </a:solidFill>
          <a:ln/>
        </p:spPr>
      </p:sp>
      <p:sp>
        <p:nvSpPr>
          <p:cNvPr id="4" name="Text 2"/>
          <p:cNvSpPr/>
          <p:nvPr/>
        </p:nvSpPr>
        <p:spPr>
          <a:xfrm>
            <a:off x="502920" y="685800"/>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Scale became domestic market leadership; international leadership is strong but contested</a:t>
            </a:r>
            <a:endParaRPr lang="en-US" sz="2250" dirty="0"/>
          </a:p>
        </p:txBody>
      </p:sp>
      <p:sp>
        <p:nvSpPr>
          <p:cNvPr id="5" name="Text 3"/>
          <p:cNvSpPr/>
          <p:nvPr/>
        </p:nvSpPr>
        <p:spPr>
          <a:xfrm>
            <a:off x="502920" y="1426464"/>
            <a:ext cx="658368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PASSENGER MARKET SHARE - MARCH 2026</a:t>
            </a:r>
            <a:endParaRPr lang="en-US" sz="1000" dirty="0"/>
          </a:p>
        </p:txBody>
      </p:sp>
      <p:sp>
        <p:nvSpPr>
          <p:cNvPr id="6" name="Text 4"/>
          <p:cNvSpPr/>
          <p:nvPr/>
        </p:nvSpPr>
        <p:spPr>
          <a:xfrm>
            <a:off x="502920" y="1719072"/>
            <a:ext cx="2743200" cy="219456"/>
          </a:xfrm>
          <a:prstGeom prst="rect">
            <a:avLst/>
          </a:prstGeom>
          <a:noFill/>
          <a:ln/>
        </p:spPr>
        <p:txBody>
          <a:bodyPr wrap="square" lIns="0" tIns="0" rIns="0" bIns="0" rtlCol="0" anchor="ctr"/>
          <a:lstStyle/>
          <a:p>
            <a:pPr marL="0" indent="0">
              <a:buNone/>
            </a:pPr>
            <a:r>
              <a:rPr lang="en-US" sz="1000" b="1" dirty="0">
                <a:solidFill>
                  <a:srgbClr val="46577A"/>
                </a:solidFill>
                <a:latin typeface="Aptos" pitchFamily="34" charset="0"/>
                <a:ea typeface="Aptos" pitchFamily="34" charset="-122"/>
                <a:cs typeface="Aptos" pitchFamily="34" charset="-120"/>
              </a:rPr>
              <a:t>DOMESTIC</a:t>
            </a:r>
            <a:endParaRPr lang="en-US" sz="1000" dirty="0"/>
          </a:p>
        </p:txBody>
      </p:sp>
      <p:sp>
        <p:nvSpPr>
          <p:cNvPr id="7" name="Shape 5"/>
          <p:cNvSpPr/>
          <p:nvPr/>
        </p:nvSpPr>
        <p:spPr>
          <a:xfrm>
            <a:off x="502920" y="1975104"/>
            <a:ext cx="4674184" cy="603504"/>
          </a:xfrm>
          <a:prstGeom prst="rect">
            <a:avLst/>
          </a:prstGeom>
          <a:solidFill>
            <a:srgbClr val="0032A0"/>
          </a:solidFill>
          <a:ln w="12700">
            <a:solidFill>
              <a:srgbClr val="FFFFFF"/>
            </a:solidFill>
            <a:prstDash val="solid"/>
          </a:ln>
        </p:spPr>
      </p:sp>
      <p:sp>
        <p:nvSpPr>
          <p:cNvPr id="8" name="Text 6"/>
          <p:cNvSpPr/>
          <p:nvPr/>
        </p:nvSpPr>
        <p:spPr>
          <a:xfrm>
            <a:off x="502920" y="1975104"/>
            <a:ext cx="4674184" cy="603504"/>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IndiGo 63.5%</a:t>
            </a:r>
            <a:endParaRPr lang="en-US" sz="950" dirty="0"/>
          </a:p>
        </p:txBody>
      </p:sp>
      <p:sp>
        <p:nvSpPr>
          <p:cNvPr id="9" name="Shape 7"/>
          <p:cNvSpPr/>
          <p:nvPr/>
        </p:nvSpPr>
        <p:spPr>
          <a:xfrm>
            <a:off x="5177104" y="1975104"/>
            <a:ext cx="1935922" cy="603504"/>
          </a:xfrm>
          <a:prstGeom prst="rect">
            <a:avLst/>
          </a:prstGeom>
          <a:solidFill>
            <a:srgbClr val="2F6BD8"/>
          </a:solidFill>
          <a:ln w="12700">
            <a:solidFill>
              <a:srgbClr val="FFFFFF"/>
            </a:solidFill>
            <a:prstDash val="solid"/>
          </a:ln>
        </p:spPr>
      </p:sp>
      <p:sp>
        <p:nvSpPr>
          <p:cNvPr id="10" name="Text 8"/>
          <p:cNvSpPr/>
          <p:nvPr/>
        </p:nvSpPr>
        <p:spPr>
          <a:xfrm>
            <a:off x="5177104" y="1975104"/>
            <a:ext cx="1935922" cy="603504"/>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Air India Group 26.3%</a:t>
            </a:r>
            <a:endParaRPr lang="en-US" sz="950" dirty="0"/>
          </a:p>
        </p:txBody>
      </p:sp>
      <p:sp>
        <p:nvSpPr>
          <p:cNvPr id="11" name="Shape 9"/>
          <p:cNvSpPr/>
          <p:nvPr/>
        </p:nvSpPr>
        <p:spPr>
          <a:xfrm>
            <a:off x="7113026" y="1975104"/>
            <a:ext cx="397490" cy="603504"/>
          </a:xfrm>
          <a:prstGeom prst="rect">
            <a:avLst/>
          </a:prstGeom>
          <a:solidFill>
            <a:srgbClr val="7FA3E8"/>
          </a:solidFill>
          <a:ln w="12700">
            <a:solidFill>
              <a:srgbClr val="FFFFFF"/>
            </a:solidFill>
            <a:prstDash val="solid"/>
          </a:ln>
        </p:spPr>
      </p:sp>
      <p:sp>
        <p:nvSpPr>
          <p:cNvPr id="12" name="Shape 10"/>
          <p:cNvSpPr/>
          <p:nvPr/>
        </p:nvSpPr>
        <p:spPr>
          <a:xfrm>
            <a:off x="7510516" y="1975104"/>
            <a:ext cx="279715" cy="603504"/>
          </a:xfrm>
          <a:prstGeom prst="rect">
            <a:avLst/>
          </a:prstGeom>
          <a:solidFill>
            <a:srgbClr val="AFC4E4"/>
          </a:solidFill>
          <a:ln w="12700">
            <a:solidFill>
              <a:srgbClr val="FFFFFF"/>
            </a:solidFill>
            <a:prstDash val="solid"/>
          </a:ln>
        </p:spPr>
      </p:sp>
      <p:sp>
        <p:nvSpPr>
          <p:cNvPr id="13" name="Shape 11"/>
          <p:cNvSpPr/>
          <p:nvPr/>
        </p:nvSpPr>
        <p:spPr>
          <a:xfrm>
            <a:off x="7790231" y="1975104"/>
            <a:ext cx="80970" cy="603504"/>
          </a:xfrm>
          <a:prstGeom prst="rect">
            <a:avLst/>
          </a:prstGeom>
          <a:solidFill>
            <a:srgbClr val="DCE7FA"/>
          </a:solidFill>
          <a:ln w="12700">
            <a:solidFill>
              <a:srgbClr val="FFFFFF"/>
            </a:solidFill>
            <a:prstDash val="solid"/>
          </a:ln>
        </p:spPr>
      </p:sp>
      <p:sp>
        <p:nvSpPr>
          <p:cNvPr id="14" name="Text 12"/>
          <p:cNvSpPr/>
          <p:nvPr/>
        </p:nvSpPr>
        <p:spPr>
          <a:xfrm>
            <a:off x="8028432" y="1975104"/>
            <a:ext cx="1298448" cy="603504"/>
          </a:xfrm>
          <a:prstGeom prst="rect">
            <a:avLst/>
          </a:prstGeom>
          <a:noFill/>
          <a:ln/>
        </p:spPr>
        <p:txBody>
          <a:bodyPr wrap="square" lIns="0" tIns="0" rIns="0" bIns="0" rtlCol="0" anchor="ctr"/>
          <a:lstStyle/>
          <a:p>
            <a:pPr marL="0" indent="0">
              <a:buNone/>
            </a:pPr>
            <a:r>
              <a:rPr lang="en-US" sz="1300" b="1" dirty="0">
                <a:solidFill>
                  <a:srgbClr val="0E8A7A"/>
                </a:solidFill>
                <a:latin typeface="Aptos Display" pitchFamily="34" charset="0"/>
                <a:ea typeface="Aptos Display" pitchFamily="34" charset="-122"/>
                <a:cs typeface="Aptos Display" pitchFamily="34" charset="-120"/>
              </a:rPr>
              <a:t>37.2 pp clear</a:t>
            </a:r>
            <a:endParaRPr lang="en-US" sz="1300" dirty="0"/>
          </a:p>
        </p:txBody>
      </p:sp>
      <p:sp>
        <p:nvSpPr>
          <p:cNvPr id="15" name="Text 13"/>
          <p:cNvSpPr/>
          <p:nvPr/>
        </p:nvSpPr>
        <p:spPr>
          <a:xfrm>
            <a:off x="502920" y="2798064"/>
            <a:ext cx="2743200" cy="219456"/>
          </a:xfrm>
          <a:prstGeom prst="rect">
            <a:avLst/>
          </a:prstGeom>
          <a:noFill/>
          <a:ln/>
        </p:spPr>
        <p:txBody>
          <a:bodyPr wrap="square" lIns="0" tIns="0" rIns="0" bIns="0" rtlCol="0" anchor="ctr"/>
          <a:lstStyle/>
          <a:p>
            <a:pPr marL="0" indent="0">
              <a:buNone/>
            </a:pPr>
            <a:r>
              <a:rPr lang="en-US" sz="1000" b="1" dirty="0">
                <a:solidFill>
                  <a:srgbClr val="46577A"/>
                </a:solidFill>
                <a:latin typeface="Aptos" pitchFamily="34" charset="0"/>
                <a:ea typeface="Aptos" pitchFamily="34" charset="-122"/>
                <a:cs typeface="Aptos" pitchFamily="34" charset="-120"/>
              </a:rPr>
              <a:t>INTERNATIONAL</a:t>
            </a:r>
            <a:endParaRPr lang="en-US" sz="1000" dirty="0"/>
          </a:p>
        </p:txBody>
      </p:sp>
      <p:sp>
        <p:nvSpPr>
          <p:cNvPr id="16" name="Shape 14"/>
          <p:cNvSpPr/>
          <p:nvPr/>
        </p:nvSpPr>
        <p:spPr>
          <a:xfrm>
            <a:off x="502920" y="3054096"/>
            <a:ext cx="3231444" cy="603504"/>
          </a:xfrm>
          <a:prstGeom prst="rect">
            <a:avLst/>
          </a:prstGeom>
          <a:solidFill>
            <a:srgbClr val="0032A0"/>
          </a:solidFill>
          <a:ln w="12700">
            <a:solidFill>
              <a:srgbClr val="FFFFFF"/>
            </a:solidFill>
            <a:prstDash val="solid"/>
          </a:ln>
        </p:spPr>
      </p:sp>
      <p:sp>
        <p:nvSpPr>
          <p:cNvPr id="17" name="Text 15"/>
          <p:cNvSpPr/>
          <p:nvPr/>
        </p:nvSpPr>
        <p:spPr>
          <a:xfrm>
            <a:off x="502920" y="3054096"/>
            <a:ext cx="3231444" cy="603504"/>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IndiGo 43.9%</a:t>
            </a:r>
            <a:endParaRPr lang="en-US" sz="950" dirty="0"/>
          </a:p>
        </p:txBody>
      </p:sp>
      <p:sp>
        <p:nvSpPr>
          <p:cNvPr id="18" name="Shape 16"/>
          <p:cNvSpPr/>
          <p:nvPr/>
        </p:nvSpPr>
        <p:spPr>
          <a:xfrm>
            <a:off x="3734364" y="3054096"/>
            <a:ext cx="3106308" cy="603504"/>
          </a:xfrm>
          <a:prstGeom prst="rect">
            <a:avLst/>
          </a:prstGeom>
          <a:solidFill>
            <a:srgbClr val="2F6BD8"/>
          </a:solidFill>
          <a:ln w="12700">
            <a:solidFill>
              <a:srgbClr val="FFFFFF"/>
            </a:solidFill>
            <a:prstDash val="solid"/>
          </a:ln>
        </p:spPr>
      </p:sp>
      <p:sp>
        <p:nvSpPr>
          <p:cNvPr id="19" name="Text 17"/>
          <p:cNvSpPr/>
          <p:nvPr/>
        </p:nvSpPr>
        <p:spPr>
          <a:xfrm>
            <a:off x="3734364" y="3054096"/>
            <a:ext cx="3106308" cy="603504"/>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Air India 42.2%</a:t>
            </a:r>
            <a:endParaRPr lang="en-US" sz="950" dirty="0"/>
          </a:p>
        </p:txBody>
      </p:sp>
      <p:sp>
        <p:nvSpPr>
          <p:cNvPr id="20" name="Shape 18"/>
          <p:cNvSpPr/>
          <p:nvPr/>
        </p:nvSpPr>
        <p:spPr>
          <a:xfrm>
            <a:off x="6840672" y="3054096"/>
            <a:ext cx="669844" cy="603504"/>
          </a:xfrm>
          <a:prstGeom prst="rect">
            <a:avLst/>
          </a:prstGeom>
          <a:solidFill>
            <a:srgbClr val="7FA3E8"/>
          </a:solidFill>
          <a:ln w="12700">
            <a:solidFill>
              <a:srgbClr val="FFFFFF"/>
            </a:solidFill>
            <a:prstDash val="solid"/>
          </a:ln>
        </p:spPr>
      </p:sp>
      <p:sp>
        <p:nvSpPr>
          <p:cNvPr id="21" name="Shape 19"/>
          <p:cNvSpPr/>
          <p:nvPr/>
        </p:nvSpPr>
        <p:spPr>
          <a:xfrm>
            <a:off x="7510516" y="3054096"/>
            <a:ext cx="154579" cy="603504"/>
          </a:xfrm>
          <a:prstGeom prst="rect">
            <a:avLst/>
          </a:prstGeom>
          <a:solidFill>
            <a:srgbClr val="AFC4E4"/>
          </a:solidFill>
          <a:ln w="12700">
            <a:solidFill>
              <a:srgbClr val="FFFFFF"/>
            </a:solidFill>
            <a:prstDash val="solid"/>
          </a:ln>
        </p:spPr>
      </p:sp>
      <p:sp>
        <p:nvSpPr>
          <p:cNvPr id="22" name="Shape 20"/>
          <p:cNvSpPr/>
          <p:nvPr/>
        </p:nvSpPr>
        <p:spPr>
          <a:xfrm>
            <a:off x="7665095" y="3054096"/>
            <a:ext cx="198745" cy="603504"/>
          </a:xfrm>
          <a:prstGeom prst="rect">
            <a:avLst/>
          </a:prstGeom>
          <a:solidFill>
            <a:srgbClr val="DCE7FA"/>
          </a:solidFill>
          <a:ln w="12700">
            <a:solidFill>
              <a:srgbClr val="FFFFFF"/>
            </a:solidFill>
            <a:prstDash val="solid"/>
          </a:ln>
        </p:spPr>
      </p:sp>
      <p:sp>
        <p:nvSpPr>
          <p:cNvPr id="23" name="Text 21"/>
          <p:cNvSpPr/>
          <p:nvPr/>
        </p:nvSpPr>
        <p:spPr>
          <a:xfrm>
            <a:off x="8028432" y="3054096"/>
            <a:ext cx="1298448" cy="603504"/>
          </a:xfrm>
          <a:prstGeom prst="rect">
            <a:avLst/>
          </a:prstGeom>
          <a:noFill/>
          <a:ln/>
        </p:spPr>
        <p:txBody>
          <a:bodyPr wrap="square" lIns="0" tIns="0" rIns="0" bIns="0" rtlCol="0" anchor="ctr"/>
          <a:lstStyle/>
          <a:p>
            <a:pPr marL="0" indent="0">
              <a:buNone/>
            </a:pPr>
            <a:r>
              <a:rPr lang="en-US" sz="1300" b="1" dirty="0">
                <a:solidFill>
                  <a:srgbClr val="C43F2E"/>
                </a:solidFill>
                <a:latin typeface="Aptos Display" pitchFamily="34" charset="0"/>
                <a:ea typeface="Aptos Display" pitchFamily="34" charset="-122"/>
                <a:cs typeface="Aptos Display" pitchFamily="34" charset="-120"/>
              </a:rPr>
              <a:t>1.7 pp gap</a:t>
            </a:r>
            <a:endParaRPr lang="en-US" sz="1300" dirty="0"/>
          </a:p>
        </p:txBody>
      </p:sp>
      <p:sp>
        <p:nvSpPr>
          <p:cNvPr id="24" name="Text 22"/>
          <p:cNvSpPr/>
          <p:nvPr/>
        </p:nvSpPr>
        <p:spPr>
          <a:xfrm>
            <a:off x="502920" y="3785616"/>
            <a:ext cx="9326880" cy="219456"/>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Domestic remainder: Akasa Air 5.4% - SpiceJet 3.8% - other 1.1%          International remainder: Air India Express 9.1% - SpiceJet 2.1% - other 2.7%</a:t>
            </a:r>
            <a:endParaRPr lang="en-US" sz="850" dirty="0"/>
          </a:p>
        </p:txBody>
      </p:sp>
      <p:sp>
        <p:nvSpPr>
          <p:cNvPr id="25" name="Shape 23"/>
          <p:cNvSpPr/>
          <p:nvPr/>
        </p:nvSpPr>
        <p:spPr>
          <a:xfrm>
            <a:off x="9528048" y="1426464"/>
            <a:ext cx="5486" cy="2468880"/>
          </a:xfrm>
          <a:prstGeom prst="rect">
            <a:avLst/>
          </a:prstGeom>
          <a:solidFill>
            <a:srgbClr val="C9D8F2"/>
          </a:solidFill>
          <a:ln/>
        </p:spPr>
      </p:sp>
      <p:sp>
        <p:nvSpPr>
          <p:cNvPr id="26" name="Text 24"/>
          <p:cNvSpPr/>
          <p:nvPr/>
        </p:nvSpPr>
        <p:spPr>
          <a:xfrm>
            <a:off x="9765792" y="1426464"/>
            <a:ext cx="192024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THE READ</a:t>
            </a:r>
            <a:endParaRPr lang="en-US" sz="1000" dirty="0"/>
          </a:p>
        </p:txBody>
      </p:sp>
      <p:sp>
        <p:nvSpPr>
          <p:cNvPr id="27" name="Text 25"/>
          <p:cNvSpPr/>
          <p:nvPr/>
        </p:nvSpPr>
        <p:spPr>
          <a:xfrm>
            <a:off x="9765792" y="1737360"/>
            <a:ext cx="1920240" cy="914400"/>
          </a:xfrm>
          <a:prstGeom prst="rect">
            <a:avLst/>
          </a:prstGeom>
          <a:noFill/>
          <a:ln/>
        </p:spPr>
        <p:txBody>
          <a:bodyPr wrap="square" lIns="0" tIns="0" rIns="0" bIns="0" rtlCol="0" anchor="t"/>
          <a:lstStyle/>
          <a:p>
            <a:pPr marL="0" indent="0" algn="l">
              <a:lnSpc>
                <a:spcPct val="112000"/>
              </a:lnSpc>
              <a:buNone/>
            </a:pPr>
            <a:r>
              <a:rPr lang="en-US" sz="1000" dirty="0">
                <a:solidFill>
                  <a:srgbClr val="041E47"/>
                </a:solidFill>
                <a:latin typeface="Aptos" pitchFamily="34" charset="0"/>
                <a:ea typeface="Aptos" pitchFamily="34" charset="-122"/>
                <a:cs typeface="Aptos" pitchFamily="34" charset="-120"/>
              </a:rPr>
              <a:t>Domestic - 37.2 points clear of the nearest competitor. Near-term leadership is not contestable on this evidence.</a:t>
            </a:r>
            <a:endParaRPr lang="en-US" sz="1000" dirty="0"/>
          </a:p>
        </p:txBody>
      </p:sp>
      <p:sp>
        <p:nvSpPr>
          <p:cNvPr id="28" name="Text 26"/>
          <p:cNvSpPr/>
          <p:nvPr/>
        </p:nvSpPr>
        <p:spPr>
          <a:xfrm>
            <a:off x="9765792" y="2743200"/>
            <a:ext cx="1920240" cy="914400"/>
          </a:xfrm>
          <a:prstGeom prst="rect">
            <a:avLst/>
          </a:prstGeom>
          <a:noFill/>
          <a:ln/>
        </p:spPr>
        <p:txBody>
          <a:bodyPr wrap="square" lIns="0" tIns="0" rIns="0" bIns="0" rtlCol="0" anchor="t"/>
          <a:lstStyle/>
          <a:p>
            <a:pPr marL="0" indent="0" algn="l">
              <a:lnSpc>
                <a:spcPct val="112000"/>
              </a:lnSpc>
              <a:buNone/>
            </a:pPr>
            <a:r>
              <a:rPr lang="en-US" sz="1000" dirty="0">
                <a:solidFill>
                  <a:srgbClr val="041E47"/>
                </a:solidFill>
                <a:latin typeface="Aptos" pitchFamily="34" charset="0"/>
                <a:ea typeface="Aptos" pitchFamily="34" charset="-122"/>
                <a:cs typeface="Aptos" pitchFamily="34" charset="-120"/>
              </a:rPr>
              <a:t>International - 1.7 points ahead of the Air India Group. Leadership exists, but it is genuinely contested.</a:t>
            </a:r>
            <a:endParaRPr lang="en-US" sz="1000" dirty="0"/>
          </a:p>
        </p:txBody>
      </p:sp>
      <p:sp>
        <p:nvSpPr>
          <p:cNvPr id="29" name="Shape 27"/>
          <p:cNvSpPr/>
          <p:nvPr/>
        </p:nvSpPr>
        <p:spPr>
          <a:xfrm>
            <a:off x="502920" y="4169664"/>
            <a:ext cx="11185855" cy="749808"/>
          </a:xfrm>
          <a:prstGeom prst="rect">
            <a:avLst/>
          </a:prstGeom>
          <a:solidFill>
            <a:srgbClr val="041E47"/>
          </a:solidFill>
          <a:ln/>
        </p:spPr>
      </p:sp>
      <p:sp>
        <p:nvSpPr>
          <p:cNvPr id="30" name="Text 28"/>
          <p:cNvSpPr/>
          <p:nvPr/>
        </p:nvSpPr>
        <p:spPr>
          <a:xfrm>
            <a:off x="758952" y="4169664"/>
            <a:ext cx="10698480" cy="749808"/>
          </a:xfrm>
          <a:prstGeom prst="rect">
            <a:avLst/>
          </a:prstGeom>
          <a:noFill/>
          <a:ln/>
        </p:spPr>
        <p:txBody>
          <a:bodyPr wrap="square" lIns="0" tIns="0" rIns="0" bIns="0" rtlCol="0" anchor="ctr"/>
          <a:lstStyle/>
          <a:p>
            <a:pPr marL="0" indent="0">
              <a:buNone/>
            </a:pPr>
            <a:r>
              <a:rPr lang="en-US" sz="1500" b="1" dirty="0">
                <a:solidFill>
                  <a:srgbClr val="FFFFFF"/>
                </a:solidFill>
                <a:latin typeface="Aptos Display" pitchFamily="34" charset="0"/>
                <a:ea typeface="Aptos Display" pitchFamily="34" charset="-122"/>
                <a:cs typeface="Aptos Display" pitchFamily="34" charset="-120"/>
              </a:rPr>
              <a:t>"Domestic leadership is established; international leadership is strong but genuinely contested."</a:t>
            </a:r>
            <a:endParaRPr lang="en-US" sz="1500" dirty="0"/>
          </a:p>
        </p:txBody>
      </p:sp>
      <p:sp>
        <p:nvSpPr>
          <p:cNvPr id="31" name="Text 29"/>
          <p:cNvSpPr/>
          <p:nvPr/>
        </p:nvSpPr>
        <p:spPr>
          <a:xfrm>
            <a:off x="502920" y="5065776"/>
            <a:ext cx="11183112" cy="457200"/>
          </a:xfrm>
          <a:prstGeom prst="rect">
            <a:avLst/>
          </a:prstGeom>
          <a:noFill/>
          <a:ln/>
        </p:spPr>
        <p:txBody>
          <a:bodyPr wrap="square" lIns="0" tIns="0" rIns="0" bIns="0" rtlCol="0" anchor="t"/>
          <a:lstStyle/>
          <a:p>
            <a:pPr marL="0" indent="0" algn="l">
              <a:lnSpc>
                <a:spcPct val="112000"/>
              </a:lnSpc>
              <a:buNone/>
            </a:pPr>
            <a:r>
              <a:rPr lang="en-US" sz="1050" dirty="0">
                <a:solidFill>
                  <a:srgbClr val="46577A"/>
                </a:solidFill>
                <a:latin typeface="Aptos" pitchFamily="34" charset="0"/>
                <a:ea typeface="Aptos" pitchFamily="34" charset="-122"/>
                <a:cs typeface="Aptos" pitchFamily="34" charset="-120"/>
              </a:rPr>
              <a:t>This distinction governs the rest of the deck: a domestic position that can absorb a pricing or cost programme, and an international position where unilateral capacity moderation would be a share decision, not only an economics one.</a:t>
            </a:r>
            <a:endParaRPr lang="en-US" sz="1050" dirty="0"/>
          </a:p>
        </p:txBody>
      </p:sp>
      <p:sp>
        <p:nvSpPr>
          <p:cNvPr id="32" name="Shape 30"/>
          <p:cNvSpPr/>
          <p:nvPr/>
        </p:nvSpPr>
        <p:spPr>
          <a:xfrm>
            <a:off x="502920" y="5669280"/>
            <a:ext cx="11185855" cy="475488"/>
          </a:xfrm>
          <a:prstGeom prst="rect">
            <a:avLst/>
          </a:prstGeom>
          <a:solidFill>
            <a:srgbClr val="FFFFFF"/>
          </a:solidFill>
          <a:ln w="9525">
            <a:solidFill>
              <a:srgbClr val="6B7280"/>
            </a:solidFill>
            <a:prstDash val="dash"/>
          </a:ln>
        </p:spPr>
      </p:sp>
      <p:sp>
        <p:nvSpPr>
          <p:cNvPr id="33" name="Shape 31"/>
          <p:cNvSpPr/>
          <p:nvPr/>
        </p:nvSpPr>
        <p:spPr>
          <a:xfrm>
            <a:off x="594360" y="5820156"/>
            <a:ext cx="1344168" cy="173736"/>
          </a:xfrm>
          <a:prstGeom prst="rect">
            <a:avLst/>
          </a:prstGeom>
          <a:solidFill>
            <a:srgbClr val="FFFFFF"/>
          </a:solidFill>
          <a:ln w="9525">
            <a:solidFill>
              <a:srgbClr val="6B7280"/>
            </a:solidFill>
            <a:prstDash val="dash"/>
          </a:ln>
        </p:spPr>
      </p:sp>
      <p:sp>
        <p:nvSpPr>
          <p:cNvPr id="34" name="Text 32"/>
          <p:cNvSpPr/>
          <p:nvPr/>
        </p:nvSpPr>
        <p:spPr>
          <a:xfrm>
            <a:off x="594360" y="5820156"/>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35" name="Text 33"/>
          <p:cNvSpPr/>
          <p:nvPr/>
        </p:nvSpPr>
        <p:spPr>
          <a:xfrm>
            <a:off x="2048256" y="5705856"/>
            <a:ext cx="9530791" cy="402336"/>
          </a:xfrm>
          <a:prstGeom prst="rect">
            <a:avLst/>
          </a:prstGeom>
          <a:noFill/>
          <a:ln/>
        </p:spPr>
        <p:txBody>
          <a:bodyPr wrap="square" lIns="0" tIns="0" rIns="0" bIns="0" rtlCol="0" anchor="ctr"/>
          <a:lstStyle/>
          <a:p>
            <a:pPr marL="0" indent="0">
              <a:buNone/>
            </a:pPr>
            <a:r>
              <a:rPr lang="en-US" sz="950" dirty="0">
                <a:solidFill>
                  <a:srgbClr val="6B7280"/>
                </a:solidFill>
                <a:latin typeface="Aptos" pitchFamily="34" charset="0"/>
                <a:ea typeface="Aptos" pitchFamily="34" charset="-122"/>
                <a:cs typeface="Aptos" pitchFamily="34" charset="-120"/>
              </a:rPr>
              <a:t>CONF-001 (open): market-share definitions differ across passengers carried, RPK, ASK and seat capacity, and across monthly versus annual windows. DGCA passenger share is used here; passenger share is not combined with ASK or seat-capacity share.</a:t>
            </a:r>
            <a:endParaRPr lang="en-US" sz="950" dirty="0"/>
          </a:p>
        </p:txBody>
      </p:sp>
      <p:sp>
        <p:nvSpPr>
          <p:cNvPr id="36" name="Shape 34"/>
          <p:cNvSpPr/>
          <p:nvPr/>
        </p:nvSpPr>
        <p:spPr>
          <a:xfrm>
            <a:off x="502920" y="6309360"/>
            <a:ext cx="11185855" cy="5486"/>
          </a:xfrm>
          <a:prstGeom prst="rect">
            <a:avLst/>
          </a:prstGeom>
          <a:solidFill>
            <a:srgbClr val="C9D8F2"/>
          </a:solidFill>
          <a:ln/>
        </p:spPr>
      </p:sp>
      <p:sp>
        <p:nvSpPr>
          <p:cNvPr id="37" name="Text 35"/>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38" name="Text 36"/>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SRC-MKT-SHR-003 (domestic) - SRC-MKT-SHR-005 (international) - CONF-001 (open)</a:t>
            </a:r>
            <a:endParaRPr lang="en-US" sz="800" dirty="0"/>
          </a:p>
        </p:txBody>
      </p:sp>
      <p:sp>
        <p:nvSpPr>
          <p:cNvPr id="39" name="Shape 37"/>
          <p:cNvSpPr/>
          <p:nvPr/>
        </p:nvSpPr>
        <p:spPr>
          <a:xfrm>
            <a:off x="11484864" y="6364224"/>
            <a:ext cx="201168" cy="201168"/>
          </a:xfrm>
          <a:prstGeom prst="rect">
            <a:avLst/>
          </a:prstGeom>
          <a:solidFill>
            <a:srgbClr val="0032A0"/>
          </a:solidFill>
          <a:ln/>
        </p:spPr>
      </p:sp>
      <p:sp>
        <p:nvSpPr>
          <p:cNvPr id="40" name="Text 38"/>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02 - THE OPERATING SYSTEM</a:t>
            </a:r>
            <a:endParaRPr lang="en-US" sz="1000" dirty="0"/>
          </a:p>
        </p:txBody>
      </p:sp>
      <p:sp>
        <p:nvSpPr>
          <p:cNvPr id="3" name="Shape 1"/>
          <p:cNvSpPr/>
          <p:nvPr/>
        </p:nvSpPr>
        <p:spPr>
          <a:xfrm>
            <a:off x="502920" y="571500"/>
            <a:ext cx="1682262" cy="45719"/>
          </a:xfrm>
          <a:prstGeom prst="rect">
            <a:avLst/>
          </a:prstGeom>
          <a:solidFill>
            <a:srgbClr val="0032A0"/>
          </a:solidFill>
          <a:ln/>
        </p:spPr>
      </p:sp>
      <p:sp>
        <p:nvSpPr>
          <p:cNvPr id="4" name="Text 2"/>
          <p:cNvSpPr/>
          <p:nvPr/>
        </p:nvSpPr>
        <p:spPr>
          <a:xfrm>
            <a:off x="502920" y="666598"/>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The operating system behind IndiGo's leadership</a:t>
            </a:r>
            <a:endParaRPr lang="en-US" sz="2250" dirty="0"/>
          </a:p>
        </p:txBody>
      </p:sp>
      <p:sp>
        <p:nvSpPr>
          <p:cNvPr id="5" name="Text 3"/>
          <p:cNvSpPr/>
          <p:nvPr/>
        </p:nvSpPr>
        <p:spPr>
          <a:xfrm>
            <a:off x="502920" y="1408176"/>
            <a:ext cx="64008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STANDARDISATION -&gt; SIMPLICITY -&gt; UTILISATION -&gt; LOWER UNIT COST</a:t>
            </a:r>
            <a:endParaRPr lang="en-US" sz="1000" dirty="0"/>
          </a:p>
        </p:txBody>
      </p:sp>
      <p:sp>
        <p:nvSpPr>
          <p:cNvPr id="6" name="Shape 4"/>
          <p:cNvSpPr/>
          <p:nvPr/>
        </p:nvSpPr>
        <p:spPr>
          <a:xfrm>
            <a:off x="502920" y="1682496"/>
            <a:ext cx="5989320" cy="548640"/>
          </a:xfrm>
          <a:prstGeom prst="rect">
            <a:avLst/>
          </a:prstGeom>
          <a:solidFill>
            <a:srgbClr val="DCE7FA"/>
          </a:solidFill>
          <a:ln/>
        </p:spPr>
      </p:sp>
      <p:sp>
        <p:nvSpPr>
          <p:cNvPr id="7" name="Text 5"/>
          <p:cNvSpPr/>
          <p:nvPr/>
        </p:nvSpPr>
        <p:spPr>
          <a:xfrm>
            <a:off x="667512" y="1682496"/>
            <a:ext cx="2212848" cy="548640"/>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STANDARDISE</a:t>
            </a:r>
            <a:endParaRPr lang="en-US" sz="1000" dirty="0"/>
          </a:p>
        </p:txBody>
      </p:sp>
      <p:sp>
        <p:nvSpPr>
          <p:cNvPr id="8" name="Text 6"/>
          <p:cNvSpPr/>
          <p:nvPr/>
        </p:nvSpPr>
        <p:spPr>
          <a:xfrm>
            <a:off x="2935224" y="1682496"/>
            <a:ext cx="3392424" cy="548640"/>
          </a:xfrm>
          <a:prstGeom prst="rect">
            <a:avLst/>
          </a:prstGeom>
          <a:noFill/>
          <a:ln/>
        </p:spPr>
        <p:txBody>
          <a:bodyPr wrap="square" lIns="0" tIns="0" rIns="0" bIns="0" rtlCol="0" anchor="ctr"/>
          <a:lstStyle/>
          <a:p>
            <a:pPr marL="0" indent="0">
              <a:lnSpc>
                <a:spcPct val="104000"/>
              </a:lnSpc>
              <a:buNone/>
            </a:pPr>
            <a:r>
              <a:rPr lang="en-US" sz="900" dirty="0">
                <a:solidFill>
                  <a:srgbClr val="46577A"/>
                </a:solidFill>
                <a:latin typeface="Aptos" pitchFamily="34" charset="0"/>
                <a:ea typeface="Aptos" pitchFamily="34" charset="-122"/>
                <a:cs typeface="Aptos" pitchFamily="34" charset="-120"/>
              </a:rPr>
              <a:t>Single-family fleet - common training - maintenance commonality</a:t>
            </a:r>
            <a:endParaRPr lang="en-US" sz="900" dirty="0"/>
          </a:p>
        </p:txBody>
      </p:sp>
      <p:sp>
        <p:nvSpPr>
          <p:cNvPr id="9" name="Shape 7"/>
          <p:cNvSpPr/>
          <p:nvPr/>
        </p:nvSpPr>
        <p:spPr>
          <a:xfrm rot="10800000">
            <a:off x="1508760" y="2249424"/>
            <a:ext cx="146304" cy="73152"/>
          </a:xfrm>
          <a:prstGeom prst="triangle">
            <a:avLst/>
          </a:prstGeom>
          <a:solidFill>
            <a:srgbClr val="2F6BD8"/>
          </a:solidFill>
          <a:ln/>
        </p:spPr>
      </p:sp>
      <p:sp>
        <p:nvSpPr>
          <p:cNvPr id="10" name="Shape 8"/>
          <p:cNvSpPr/>
          <p:nvPr/>
        </p:nvSpPr>
        <p:spPr>
          <a:xfrm>
            <a:off x="502920" y="2322576"/>
            <a:ext cx="5989320" cy="548640"/>
          </a:xfrm>
          <a:prstGeom prst="rect">
            <a:avLst/>
          </a:prstGeom>
          <a:solidFill>
            <a:srgbClr val="DCE7FA"/>
          </a:solidFill>
          <a:ln/>
        </p:spPr>
      </p:sp>
      <p:sp>
        <p:nvSpPr>
          <p:cNvPr id="11" name="Text 9"/>
          <p:cNvSpPr/>
          <p:nvPr/>
        </p:nvSpPr>
        <p:spPr>
          <a:xfrm>
            <a:off x="667512" y="2322576"/>
            <a:ext cx="2212848" cy="548640"/>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SIMPLIFY</a:t>
            </a:r>
            <a:endParaRPr lang="en-US" sz="1000" dirty="0"/>
          </a:p>
        </p:txBody>
      </p:sp>
      <p:sp>
        <p:nvSpPr>
          <p:cNvPr id="12" name="Text 10"/>
          <p:cNvSpPr/>
          <p:nvPr/>
        </p:nvSpPr>
        <p:spPr>
          <a:xfrm>
            <a:off x="2935224" y="2322576"/>
            <a:ext cx="3392424" cy="548640"/>
          </a:xfrm>
          <a:prstGeom prst="rect">
            <a:avLst/>
          </a:prstGeom>
          <a:noFill/>
          <a:ln/>
        </p:spPr>
        <p:txBody>
          <a:bodyPr wrap="square" lIns="0" tIns="0" rIns="0" bIns="0" rtlCol="0" anchor="ctr"/>
          <a:lstStyle/>
          <a:p>
            <a:pPr marL="0" indent="0">
              <a:lnSpc>
                <a:spcPct val="104000"/>
              </a:lnSpc>
              <a:buNone/>
            </a:pPr>
            <a:r>
              <a:rPr lang="en-US" sz="900" dirty="0">
                <a:solidFill>
                  <a:srgbClr val="46577A"/>
                </a:solidFill>
                <a:latin typeface="Aptos" pitchFamily="34" charset="0"/>
                <a:ea typeface="Aptos" pitchFamily="34" charset="-122"/>
                <a:cs typeface="Aptos" pitchFamily="34" charset="-120"/>
              </a:rPr>
              <a:t>Low-complexity service, scheduling and ground processes</a:t>
            </a:r>
            <a:endParaRPr lang="en-US" sz="900" dirty="0"/>
          </a:p>
        </p:txBody>
      </p:sp>
      <p:sp>
        <p:nvSpPr>
          <p:cNvPr id="13" name="Shape 11"/>
          <p:cNvSpPr/>
          <p:nvPr/>
        </p:nvSpPr>
        <p:spPr>
          <a:xfrm rot="10800000">
            <a:off x="1508760" y="2889504"/>
            <a:ext cx="146304" cy="73152"/>
          </a:xfrm>
          <a:prstGeom prst="triangle">
            <a:avLst/>
          </a:prstGeom>
          <a:solidFill>
            <a:srgbClr val="2F6BD8"/>
          </a:solidFill>
          <a:ln/>
        </p:spPr>
      </p:sp>
      <p:sp>
        <p:nvSpPr>
          <p:cNvPr id="14" name="Shape 12"/>
          <p:cNvSpPr/>
          <p:nvPr/>
        </p:nvSpPr>
        <p:spPr>
          <a:xfrm>
            <a:off x="502920" y="2962656"/>
            <a:ext cx="5989320" cy="548640"/>
          </a:xfrm>
          <a:prstGeom prst="rect">
            <a:avLst/>
          </a:prstGeom>
          <a:solidFill>
            <a:srgbClr val="7FA3E8"/>
          </a:solidFill>
          <a:ln/>
        </p:spPr>
      </p:sp>
      <p:sp>
        <p:nvSpPr>
          <p:cNvPr id="15" name="Text 13"/>
          <p:cNvSpPr/>
          <p:nvPr/>
        </p:nvSpPr>
        <p:spPr>
          <a:xfrm>
            <a:off x="667512" y="2962656"/>
            <a:ext cx="2212848" cy="548640"/>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TURN FASTER</a:t>
            </a:r>
            <a:endParaRPr lang="en-US" sz="1000" dirty="0"/>
          </a:p>
        </p:txBody>
      </p:sp>
      <p:sp>
        <p:nvSpPr>
          <p:cNvPr id="16" name="Text 14"/>
          <p:cNvSpPr/>
          <p:nvPr/>
        </p:nvSpPr>
        <p:spPr>
          <a:xfrm>
            <a:off x="2935224" y="2962656"/>
            <a:ext cx="3392424" cy="548640"/>
          </a:xfrm>
          <a:prstGeom prst="rect">
            <a:avLst/>
          </a:prstGeom>
          <a:noFill/>
          <a:ln/>
        </p:spPr>
        <p:txBody>
          <a:bodyPr wrap="square" lIns="0" tIns="0" rIns="0" bIns="0" rtlCol="0" anchor="ctr"/>
          <a:lstStyle/>
          <a:p>
            <a:pPr marL="0" indent="0">
              <a:lnSpc>
                <a:spcPct val="104000"/>
              </a:lnSpc>
              <a:buNone/>
            </a:pPr>
            <a:r>
              <a:rPr lang="en-US" sz="900" dirty="0">
                <a:solidFill>
                  <a:srgbClr val="46577A"/>
                </a:solidFill>
                <a:latin typeface="Aptos" pitchFamily="34" charset="0"/>
                <a:ea typeface="Aptos" pitchFamily="34" charset="-122"/>
                <a:cs typeface="Aptos" pitchFamily="34" charset="-120"/>
              </a:rPr>
              <a:t>More sectors completed per aircraft within the operating day</a:t>
            </a:r>
            <a:endParaRPr lang="en-US" sz="900" dirty="0"/>
          </a:p>
        </p:txBody>
      </p:sp>
      <p:sp>
        <p:nvSpPr>
          <p:cNvPr id="17" name="Shape 15"/>
          <p:cNvSpPr/>
          <p:nvPr/>
        </p:nvSpPr>
        <p:spPr>
          <a:xfrm rot="10800000">
            <a:off x="1508760" y="3529584"/>
            <a:ext cx="146304" cy="73152"/>
          </a:xfrm>
          <a:prstGeom prst="triangle">
            <a:avLst/>
          </a:prstGeom>
          <a:solidFill>
            <a:srgbClr val="2F6BD8"/>
          </a:solidFill>
          <a:ln/>
        </p:spPr>
      </p:sp>
      <p:sp>
        <p:nvSpPr>
          <p:cNvPr id="18" name="Shape 16"/>
          <p:cNvSpPr/>
          <p:nvPr/>
        </p:nvSpPr>
        <p:spPr>
          <a:xfrm>
            <a:off x="502920" y="3602736"/>
            <a:ext cx="5989320" cy="548640"/>
          </a:xfrm>
          <a:prstGeom prst="rect">
            <a:avLst/>
          </a:prstGeom>
          <a:solidFill>
            <a:srgbClr val="2F6BD8"/>
          </a:solidFill>
          <a:ln/>
        </p:spPr>
      </p:sp>
      <p:sp>
        <p:nvSpPr>
          <p:cNvPr id="19" name="Text 17"/>
          <p:cNvSpPr/>
          <p:nvPr/>
        </p:nvSpPr>
        <p:spPr>
          <a:xfrm>
            <a:off x="667512" y="3602736"/>
            <a:ext cx="2212848" cy="548640"/>
          </a:xfrm>
          <a:prstGeom prst="rect">
            <a:avLst/>
          </a:prstGeom>
          <a:noFill/>
          <a:ln/>
        </p:spPr>
        <p:txBody>
          <a:bodyPr wrap="square" lIns="0" tIns="0" rIns="0" bIns="0" rtlCol="0" anchor="ctr"/>
          <a:lstStyle/>
          <a:p>
            <a:pPr marL="0" indent="0">
              <a:buNone/>
            </a:pPr>
            <a:r>
              <a:rPr lang="en-US" sz="1000" b="1" dirty="0">
                <a:solidFill>
                  <a:srgbClr val="FFFFFF"/>
                </a:solidFill>
                <a:latin typeface="Aptos" pitchFamily="34" charset="0"/>
                <a:ea typeface="Aptos" pitchFamily="34" charset="-122"/>
                <a:cs typeface="Aptos" pitchFamily="34" charset="-120"/>
              </a:rPr>
              <a:t>UTILISE HARDER</a:t>
            </a:r>
            <a:endParaRPr lang="en-US" sz="1000" dirty="0"/>
          </a:p>
        </p:txBody>
      </p:sp>
      <p:sp>
        <p:nvSpPr>
          <p:cNvPr id="20" name="Text 18"/>
          <p:cNvSpPr/>
          <p:nvPr/>
        </p:nvSpPr>
        <p:spPr>
          <a:xfrm>
            <a:off x="2935224" y="3602736"/>
            <a:ext cx="3392424" cy="548640"/>
          </a:xfrm>
          <a:prstGeom prst="rect">
            <a:avLst/>
          </a:prstGeom>
          <a:noFill/>
          <a:ln/>
        </p:spPr>
        <p:txBody>
          <a:bodyPr wrap="square" lIns="0" tIns="0" rIns="0" bIns="0" rtlCol="0" anchor="ctr"/>
          <a:lstStyle/>
          <a:p>
            <a:pPr marL="0" indent="0">
              <a:lnSpc>
                <a:spcPct val="104000"/>
              </a:lnSpc>
              <a:buNone/>
            </a:pPr>
            <a:r>
              <a:rPr lang="en-US" sz="900" dirty="0">
                <a:solidFill>
                  <a:srgbClr val="D7E3F8"/>
                </a:solidFill>
                <a:latin typeface="Aptos" pitchFamily="34" charset="0"/>
                <a:ea typeface="Aptos" pitchFamily="34" charset="-122"/>
                <a:cs typeface="Aptos" pitchFamily="34" charset="-120"/>
              </a:rPr>
              <a:t>More productive aircraft hours from the same fleet</a:t>
            </a:r>
            <a:endParaRPr lang="en-US" sz="900" dirty="0"/>
          </a:p>
        </p:txBody>
      </p:sp>
      <p:sp>
        <p:nvSpPr>
          <p:cNvPr id="21" name="Shape 19"/>
          <p:cNvSpPr/>
          <p:nvPr/>
        </p:nvSpPr>
        <p:spPr>
          <a:xfrm rot="10800000">
            <a:off x="1508760" y="4169664"/>
            <a:ext cx="146304" cy="73152"/>
          </a:xfrm>
          <a:prstGeom prst="triangle">
            <a:avLst/>
          </a:prstGeom>
          <a:solidFill>
            <a:srgbClr val="2F6BD8"/>
          </a:solidFill>
          <a:ln/>
        </p:spPr>
      </p:sp>
      <p:sp>
        <p:nvSpPr>
          <p:cNvPr id="22" name="Shape 20"/>
          <p:cNvSpPr/>
          <p:nvPr/>
        </p:nvSpPr>
        <p:spPr>
          <a:xfrm>
            <a:off x="502920" y="4242816"/>
            <a:ext cx="5989320" cy="548640"/>
          </a:xfrm>
          <a:prstGeom prst="rect">
            <a:avLst/>
          </a:prstGeom>
          <a:solidFill>
            <a:srgbClr val="2F6BD8"/>
          </a:solidFill>
          <a:ln/>
        </p:spPr>
      </p:sp>
      <p:sp>
        <p:nvSpPr>
          <p:cNvPr id="23" name="Text 21"/>
          <p:cNvSpPr/>
          <p:nvPr/>
        </p:nvSpPr>
        <p:spPr>
          <a:xfrm>
            <a:off x="667512" y="4242816"/>
            <a:ext cx="2212848" cy="548640"/>
          </a:xfrm>
          <a:prstGeom prst="rect">
            <a:avLst/>
          </a:prstGeom>
          <a:noFill/>
          <a:ln/>
        </p:spPr>
        <p:txBody>
          <a:bodyPr wrap="square" lIns="0" tIns="0" rIns="0" bIns="0" rtlCol="0" anchor="ctr"/>
          <a:lstStyle/>
          <a:p>
            <a:pPr marL="0" indent="0">
              <a:buNone/>
            </a:pPr>
            <a:r>
              <a:rPr lang="en-US" sz="1000" b="1" dirty="0">
                <a:solidFill>
                  <a:srgbClr val="FFFFFF"/>
                </a:solidFill>
                <a:latin typeface="Aptos" pitchFamily="34" charset="0"/>
                <a:ea typeface="Aptos" pitchFamily="34" charset="-122"/>
                <a:cs typeface="Aptos" pitchFamily="34" charset="-120"/>
              </a:rPr>
              <a:t>LOWER UNIT COST</a:t>
            </a:r>
            <a:endParaRPr lang="en-US" sz="1000" dirty="0"/>
          </a:p>
        </p:txBody>
      </p:sp>
      <p:sp>
        <p:nvSpPr>
          <p:cNvPr id="24" name="Text 22"/>
          <p:cNvSpPr/>
          <p:nvPr/>
        </p:nvSpPr>
        <p:spPr>
          <a:xfrm>
            <a:off x="2935224" y="4242816"/>
            <a:ext cx="3392424" cy="548640"/>
          </a:xfrm>
          <a:prstGeom prst="rect">
            <a:avLst/>
          </a:prstGeom>
          <a:noFill/>
          <a:ln/>
        </p:spPr>
        <p:txBody>
          <a:bodyPr wrap="square" lIns="0" tIns="0" rIns="0" bIns="0" rtlCol="0" anchor="ctr"/>
          <a:lstStyle/>
          <a:p>
            <a:pPr marL="0" indent="0">
              <a:lnSpc>
                <a:spcPct val="104000"/>
              </a:lnSpc>
              <a:buNone/>
            </a:pPr>
            <a:r>
              <a:rPr lang="en-US" sz="900" dirty="0">
                <a:solidFill>
                  <a:srgbClr val="D7E3F8"/>
                </a:solidFill>
                <a:latin typeface="Aptos" pitchFamily="34" charset="0"/>
                <a:ea typeface="Aptos" pitchFamily="34" charset="-122"/>
                <a:cs typeface="Aptos" pitchFamily="34" charset="-120"/>
              </a:rPr>
              <a:t>More ASK from the existing fleet -&gt; lower fixed cost per ASK</a:t>
            </a:r>
            <a:endParaRPr lang="en-US" sz="900" dirty="0"/>
          </a:p>
        </p:txBody>
      </p:sp>
      <p:sp>
        <p:nvSpPr>
          <p:cNvPr id="25" name="Shape 23"/>
          <p:cNvSpPr/>
          <p:nvPr/>
        </p:nvSpPr>
        <p:spPr>
          <a:xfrm rot="10800000">
            <a:off x="1508760" y="4809744"/>
            <a:ext cx="146304" cy="73152"/>
          </a:xfrm>
          <a:prstGeom prst="triangle">
            <a:avLst/>
          </a:prstGeom>
          <a:solidFill>
            <a:srgbClr val="2F6BD8"/>
          </a:solidFill>
          <a:ln/>
        </p:spPr>
      </p:sp>
      <p:sp>
        <p:nvSpPr>
          <p:cNvPr id="26" name="Shape 24"/>
          <p:cNvSpPr/>
          <p:nvPr/>
        </p:nvSpPr>
        <p:spPr>
          <a:xfrm>
            <a:off x="502920" y="4882896"/>
            <a:ext cx="5989320" cy="548640"/>
          </a:xfrm>
          <a:prstGeom prst="rect">
            <a:avLst/>
          </a:prstGeom>
          <a:solidFill>
            <a:srgbClr val="0A3FAE"/>
          </a:solidFill>
          <a:ln/>
        </p:spPr>
      </p:sp>
      <p:sp>
        <p:nvSpPr>
          <p:cNvPr id="27" name="Text 25"/>
          <p:cNvSpPr/>
          <p:nvPr/>
        </p:nvSpPr>
        <p:spPr>
          <a:xfrm>
            <a:off x="667512" y="4882896"/>
            <a:ext cx="2212848" cy="548640"/>
          </a:xfrm>
          <a:prstGeom prst="rect">
            <a:avLst/>
          </a:prstGeom>
          <a:noFill/>
          <a:ln/>
        </p:spPr>
        <p:txBody>
          <a:bodyPr wrap="square" lIns="0" tIns="0" rIns="0" bIns="0" rtlCol="0" anchor="ctr"/>
          <a:lstStyle/>
          <a:p>
            <a:pPr marL="0" indent="0">
              <a:buNone/>
            </a:pPr>
            <a:r>
              <a:rPr lang="en-US" sz="900" b="1" dirty="0">
                <a:solidFill>
                  <a:srgbClr val="FFFFFF"/>
                </a:solidFill>
                <a:latin typeface="Aptos" pitchFamily="34" charset="0"/>
                <a:ea typeface="Aptos" pitchFamily="34" charset="-122"/>
                <a:cs typeface="Aptos" pitchFamily="34" charset="-120"/>
              </a:rPr>
              <a:t>COMPETITIVE FARES + FREQUENCY</a:t>
            </a:r>
            <a:endParaRPr lang="en-US" sz="900" dirty="0"/>
          </a:p>
        </p:txBody>
      </p:sp>
      <p:sp>
        <p:nvSpPr>
          <p:cNvPr id="28" name="Text 26"/>
          <p:cNvSpPr/>
          <p:nvPr/>
        </p:nvSpPr>
        <p:spPr>
          <a:xfrm>
            <a:off x="2935224" y="4882896"/>
            <a:ext cx="3392424" cy="548640"/>
          </a:xfrm>
          <a:prstGeom prst="rect">
            <a:avLst/>
          </a:prstGeom>
          <a:noFill/>
          <a:ln/>
        </p:spPr>
        <p:txBody>
          <a:bodyPr wrap="square" lIns="0" tIns="0" rIns="0" bIns="0" rtlCol="0" anchor="ctr"/>
          <a:lstStyle/>
          <a:p>
            <a:pPr marL="0" indent="0">
              <a:lnSpc>
                <a:spcPct val="104000"/>
              </a:lnSpc>
              <a:buNone/>
            </a:pPr>
            <a:r>
              <a:rPr lang="en-US" sz="900" dirty="0">
                <a:solidFill>
                  <a:srgbClr val="D7E3F8"/>
                </a:solidFill>
                <a:latin typeface="Aptos" pitchFamily="34" charset="0"/>
                <a:ea typeface="Aptos" pitchFamily="34" charset="-122"/>
                <a:cs typeface="Aptos" pitchFamily="34" charset="-120"/>
              </a:rPr>
              <a:t>Cost position converted into price and schedule density</a:t>
            </a:r>
            <a:endParaRPr lang="en-US" sz="900" dirty="0"/>
          </a:p>
        </p:txBody>
      </p:sp>
      <p:sp>
        <p:nvSpPr>
          <p:cNvPr id="29" name="Shape 27"/>
          <p:cNvSpPr/>
          <p:nvPr/>
        </p:nvSpPr>
        <p:spPr>
          <a:xfrm rot="10800000">
            <a:off x="1508760" y="5449824"/>
            <a:ext cx="146304" cy="73152"/>
          </a:xfrm>
          <a:prstGeom prst="triangle">
            <a:avLst/>
          </a:prstGeom>
          <a:solidFill>
            <a:srgbClr val="2F6BD8"/>
          </a:solidFill>
          <a:ln/>
        </p:spPr>
      </p:sp>
      <p:sp>
        <p:nvSpPr>
          <p:cNvPr id="30" name="Shape 28"/>
          <p:cNvSpPr/>
          <p:nvPr/>
        </p:nvSpPr>
        <p:spPr>
          <a:xfrm>
            <a:off x="502920" y="5522976"/>
            <a:ext cx="5989320" cy="548640"/>
          </a:xfrm>
          <a:prstGeom prst="rect">
            <a:avLst/>
          </a:prstGeom>
          <a:solidFill>
            <a:srgbClr val="041E47"/>
          </a:solidFill>
          <a:ln/>
        </p:spPr>
      </p:sp>
      <p:sp>
        <p:nvSpPr>
          <p:cNvPr id="31" name="Text 29"/>
          <p:cNvSpPr/>
          <p:nvPr/>
        </p:nvSpPr>
        <p:spPr>
          <a:xfrm>
            <a:off x="667512" y="5522976"/>
            <a:ext cx="2212848" cy="548640"/>
          </a:xfrm>
          <a:prstGeom prst="rect">
            <a:avLst/>
          </a:prstGeom>
          <a:noFill/>
          <a:ln/>
        </p:spPr>
        <p:txBody>
          <a:bodyPr wrap="square" lIns="0" tIns="0" rIns="0" bIns="0" rtlCol="0" anchor="ctr"/>
          <a:lstStyle/>
          <a:p>
            <a:pPr marL="0" indent="0">
              <a:buNone/>
            </a:pPr>
            <a:r>
              <a:rPr lang="en-US" sz="1000" b="1" dirty="0">
                <a:solidFill>
                  <a:srgbClr val="FFFFFF"/>
                </a:solidFill>
                <a:latin typeface="Aptos" pitchFamily="34" charset="0"/>
                <a:ea typeface="Aptos" pitchFamily="34" charset="-122"/>
                <a:cs typeface="Aptos" pitchFamily="34" charset="-120"/>
              </a:rPr>
              <a:t>MARKET LEADERSHIP</a:t>
            </a:r>
            <a:endParaRPr lang="en-US" sz="1000" dirty="0"/>
          </a:p>
        </p:txBody>
      </p:sp>
      <p:sp>
        <p:nvSpPr>
          <p:cNvPr id="32" name="Text 30"/>
          <p:cNvSpPr/>
          <p:nvPr/>
        </p:nvSpPr>
        <p:spPr>
          <a:xfrm>
            <a:off x="2935224" y="5522976"/>
            <a:ext cx="3392424" cy="548640"/>
          </a:xfrm>
          <a:prstGeom prst="rect">
            <a:avLst/>
          </a:prstGeom>
          <a:noFill/>
          <a:ln/>
        </p:spPr>
        <p:txBody>
          <a:bodyPr wrap="square" lIns="0" tIns="0" rIns="0" bIns="0" rtlCol="0" anchor="ctr"/>
          <a:lstStyle/>
          <a:p>
            <a:pPr marL="0" indent="0">
              <a:lnSpc>
                <a:spcPct val="104000"/>
              </a:lnSpc>
              <a:buNone/>
            </a:pPr>
            <a:r>
              <a:rPr lang="en-US" sz="900" dirty="0">
                <a:solidFill>
                  <a:srgbClr val="D7E3F8"/>
                </a:solidFill>
                <a:latin typeface="Aptos" pitchFamily="34" charset="0"/>
                <a:ea typeface="Aptos" pitchFamily="34" charset="-122"/>
                <a:cs typeface="Aptos" pitchFamily="34" charset="-120"/>
              </a:rPr>
              <a:t>Demand and scale reinforce the loop</a:t>
            </a:r>
            <a:endParaRPr lang="en-US" sz="900" dirty="0"/>
          </a:p>
        </p:txBody>
      </p:sp>
      <p:sp>
        <p:nvSpPr>
          <p:cNvPr id="33" name="Shape 31"/>
          <p:cNvSpPr/>
          <p:nvPr/>
        </p:nvSpPr>
        <p:spPr>
          <a:xfrm>
            <a:off x="6675120" y="1408176"/>
            <a:ext cx="5486" cy="4443984"/>
          </a:xfrm>
          <a:prstGeom prst="rect">
            <a:avLst/>
          </a:prstGeom>
          <a:solidFill>
            <a:srgbClr val="C9D8F2"/>
          </a:solidFill>
          <a:ln/>
        </p:spPr>
      </p:sp>
      <p:sp>
        <p:nvSpPr>
          <p:cNvPr id="34" name="Text 32"/>
          <p:cNvSpPr/>
          <p:nvPr/>
        </p:nvSpPr>
        <p:spPr>
          <a:xfrm>
            <a:off x="6912864" y="1408176"/>
            <a:ext cx="475488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WHAT THE EVIDENCE ESTABLISHES</a:t>
            </a:r>
            <a:endParaRPr lang="en-US" sz="1000" dirty="0"/>
          </a:p>
        </p:txBody>
      </p:sp>
      <p:sp>
        <p:nvSpPr>
          <p:cNvPr id="35" name="Shape 33"/>
          <p:cNvSpPr/>
          <p:nvPr/>
        </p:nvSpPr>
        <p:spPr>
          <a:xfrm>
            <a:off x="6912864" y="1719072"/>
            <a:ext cx="32004" cy="1170432"/>
          </a:xfrm>
          <a:prstGeom prst="rect">
            <a:avLst/>
          </a:prstGeom>
          <a:solidFill>
            <a:srgbClr val="0032A0"/>
          </a:solidFill>
          <a:ln/>
        </p:spPr>
      </p:sp>
      <p:sp>
        <p:nvSpPr>
          <p:cNvPr id="36" name="Text 34"/>
          <p:cNvSpPr/>
          <p:nvPr/>
        </p:nvSpPr>
        <p:spPr>
          <a:xfrm>
            <a:off x="7077456" y="1719072"/>
            <a:ext cx="4608576" cy="237744"/>
          </a:xfrm>
          <a:prstGeom prst="rect">
            <a:avLst/>
          </a:prstGeom>
          <a:noFill/>
          <a:ln/>
        </p:spPr>
        <p:txBody>
          <a:bodyPr wrap="square" lIns="0" tIns="0" rIns="0" bIns="0" rtlCol="0" anchor="ctr"/>
          <a:lstStyle/>
          <a:p>
            <a:pPr marL="0" indent="0">
              <a:buNone/>
            </a:pPr>
            <a:r>
              <a:rPr lang="en-US" sz="1150" b="1" dirty="0">
                <a:solidFill>
                  <a:srgbClr val="041E47"/>
                </a:solidFill>
                <a:latin typeface="Aptos" pitchFamily="34" charset="0"/>
                <a:ea typeface="Aptos" pitchFamily="34" charset="-122"/>
                <a:cs typeface="Aptos" pitchFamily="34" charset="-120"/>
              </a:rPr>
              <a:t>Fleet standardisation</a:t>
            </a:r>
            <a:endParaRPr lang="en-US" sz="1150" dirty="0"/>
          </a:p>
        </p:txBody>
      </p:sp>
      <p:sp>
        <p:nvSpPr>
          <p:cNvPr id="37" name="Text 35"/>
          <p:cNvSpPr/>
          <p:nvPr/>
        </p:nvSpPr>
        <p:spPr>
          <a:xfrm>
            <a:off x="7077456" y="1975104"/>
            <a:ext cx="4608576" cy="566928"/>
          </a:xfrm>
          <a:prstGeom prst="rect">
            <a:avLst/>
          </a:prstGeom>
          <a:noFill/>
          <a:ln/>
        </p:spPr>
        <p:txBody>
          <a:bodyPr wrap="square" lIns="0" tIns="0" rIns="0" bIns="0" rtlCol="0" anchor="t"/>
          <a:lstStyle/>
          <a:p>
            <a:pPr marL="0" indent="0" algn="l">
              <a:lnSpc>
                <a:spcPct val="112000"/>
              </a:lnSpc>
              <a:buNone/>
            </a:pPr>
            <a:r>
              <a:rPr lang="en-US" sz="950" dirty="0">
                <a:solidFill>
                  <a:srgbClr val="46577A"/>
                </a:solidFill>
                <a:latin typeface="Aptos" pitchFamily="34" charset="0"/>
                <a:ea typeface="Aptos" pitchFamily="34" charset="-122"/>
                <a:cs typeface="Aptos" pitchFamily="34" charset="-120"/>
              </a:rPr>
              <a:t>A concentrated A320-family fleet delivers common pilot training, crew interchangeability, maintenance commonality, spare-parts efficiency and simplified scheduling.</a:t>
            </a:r>
            <a:endParaRPr lang="en-US" sz="950" dirty="0"/>
          </a:p>
        </p:txBody>
      </p:sp>
      <p:sp>
        <p:nvSpPr>
          <p:cNvPr id="38" name="Text 36"/>
          <p:cNvSpPr/>
          <p:nvPr/>
        </p:nvSpPr>
        <p:spPr>
          <a:xfrm>
            <a:off x="7077456" y="2578608"/>
            <a:ext cx="4608576" cy="274320"/>
          </a:xfrm>
          <a:prstGeom prst="rect">
            <a:avLst/>
          </a:prstGeom>
          <a:noFill/>
          <a:ln/>
        </p:spPr>
        <p:txBody>
          <a:bodyPr wrap="square" lIns="0" tIns="0" rIns="0" bIns="0" rtlCol="0" anchor="t"/>
          <a:lstStyle/>
          <a:p>
            <a:pPr marL="0" indent="0">
              <a:buNone/>
            </a:pPr>
            <a:r>
              <a:rPr lang="en-US" sz="950" b="1" dirty="0">
                <a:solidFill>
                  <a:srgbClr val="0032A0"/>
                </a:solidFill>
                <a:latin typeface="Aptos" pitchFamily="34" charset="0"/>
                <a:ea typeface="Aptos" pitchFamily="34" charset="-122"/>
                <a:cs typeface="Aptos" pitchFamily="34" charset="-120"/>
              </a:rPr>
              <a:t>381 of 441 aircraft - 86.4% - remain A320/A321 family.</a:t>
            </a:r>
            <a:endParaRPr lang="en-US" sz="950" dirty="0"/>
          </a:p>
        </p:txBody>
      </p:sp>
      <p:sp>
        <p:nvSpPr>
          <p:cNvPr id="39" name="Shape 37"/>
          <p:cNvSpPr/>
          <p:nvPr/>
        </p:nvSpPr>
        <p:spPr>
          <a:xfrm>
            <a:off x="6912864" y="3108960"/>
            <a:ext cx="32004" cy="1170432"/>
          </a:xfrm>
          <a:prstGeom prst="rect">
            <a:avLst/>
          </a:prstGeom>
          <a:solidFill>
            <a:srgbClr val="0032A0"/>
          </a:solidFill>
          <a:ln/>
        </p:spPr>
      </p:sp>
      <p:sp>
        <p:nvSpPr>
          <p:cNvPr id="40" name="Text 38"/>
          <p:cNvSpPr/>
          <p:nvPr/>
        </p:nvSpPr>
        <p:spPr>
          <a:xfrm>
            <a:off x="7077456" y="3108960"/>
            <a:ext cx="4608576" cy="237744"/>
          </a:xfrm>
          <a:prstGeom prst="rect">
            <a:avLst/>
          </a:prstGeom>
          <a:noFill/>
          <a:ln/>
        </p:spPr>
        <p:txBody>
          <a:bodyPr wrap="square" lIns="0" tIns="0" rIns="0" bIns="0" rtlCol="0" anchor="ctr"/>
          <a:lstStyle/>
          <a:p>
            <a:pPr marL="0" indent="0">
              <a:buNone/>
            </a:pPr>
            <a:r>
              <a:rPr lang="en-US" sz="1150" b="1" dirty="0">
                <a:solidFill>
                  <a:srgbClr val="041E47"/>
                </a:solidFill>
                <a:latin typeface="Aptos" pitchFamily="34" charset="0"/>
                <a:ea typeface="Aptos" pitchFamily="34" charset="-122"/>
                <a:cs typeface="Aptos" pitchFamily="34" charset="-120"/>
              </a:rPr>
              <a:t>Aircraft utilisation</a:t>
            </a:r>
            <a:endParaRPr lang="en-US" sz="1150" dirty="0"/>
          </a:p>
        </p:txBody>
      </p:sp>
      <p:sp>
        <p:nvSpPr>
          <p:cNvPr id="41" name="Text 39"/>
          <p:cNvSpPr/>
          <p:nvPr/>
        </p:nvSpPr>
        <p:spPr>
          <a:xfrm>
            <a:off x="7077456" y="3364992"/>
            <a:ext cx="4608576" cy="566928"/>
          </a:xfrm>
          <a:prstGeom prst="rect">
            <a:avLst/>
          </a:prstGeom>
          <a:noFill/>
          <a:ln/>
        </p:spPr>
        <p:txBody>
          <a:bodyPr wrap="square" lIns="0" tIns="0" rIns="0" bIns="0" rtlCol="0" anchor="t"/>
          <a:lstStyle/>
          <a:p>
            <a:pPr marL="0" indent="0" algn="l">
              <a:lnSpc>
                <a:spcPct val="112000"/>
              </a:lnSpc>
              <a:buNone/>
            </a:pPr>
            <a:r>
              <a:rPr lang="en-US" sz="950" dirty="0">
                <a:solidFill>
                  <a:srgbClr val="46577A"/>
                </a:solidFill>
                <a:latin typeface="Aptos" pitchFamily="34" charset="0"/>
                <a:ea typeface="Aptos" pitchFamily="34" charset="-122"/>
                <a:cs typeface="Aptos" pitchFamily="34" charset="-120"/>
              </a:rPr>
              <a:t>An idle aircraft generates cost without generating revenue. The stated economic relationship is: higher utilisation -&gt; more ASK from the existing fleet -&gt; lower fixed cost per ASK.</a:t>
            </a:r>
            <a:endParaRPr lang="en-US" sz="950" dirty="0"/>
          </a:p>
        </p:txBody>
      </p:sp>
      <p:sp>
        <p:nvSpPr>
          <p:cNvPr id="42" name="Text 40"/>
          <p:cNvSpPr/>
          <p:nvPr/>
        </p:nvSpPr>
        <p:spPr>
          <a:xfrm>
            <a:off x="7077456" y="3968496"/>
            <a:ext cx="4608576" cy="274320"/>
          </a:xfrm>
          <a:prstGeom prst="rect">
            <a:avLst/>
          </a:prstGeom>
          <a:noFill/>
          <a:ln/>
        </p:spPr>
        <p:txBody>
          <a:bodyPr wrap="square" lIns="0" tIns="0" rIns="0" bIns="0" rtlCol="0" anchor="t"/>
          <a:lstStyle/>
          <a:p>
            <a:pPr marL="0" indent="0">
              <a:buNone/>
            </a:pPr>
            <a:r>
              <a:rPr lang="en-US" sz="950" b="1" dirty="0">
                <a:solidFill>
                  <a:srgbClr val="0032A0"/>
                </a:solidFill>
                <a:latin typeface="Aptos" pitchFamily="34" charset="0"/>
                <a:ea typeface="Aptos" pitchFamily="34" charset="-122"/>
                <a:cs typeface="Aptos" pitchFamily="34" charset="-120"/>
              </a:rPr>
              <a:t>Historical evidence records ~11.4 block hours/day in FY2015.</a:t>
            </a:r>
            <a:endParaRPr lang="en-US" sz="950" dirty="0"/>
          </a:p>
        </p:txBody>
      </p:sp>
      <p:sp>
        <p:nvSpPr>
          <p:cNvPr id="43" name="Shape 41"/>
          <p:cNvSpPr/>
          <p:nvPr/>
        </p:nvSpPr>
        <p:spPr>
          <a:xfrm>
            <a:off x="6912864" y="4498848"/>
            <a:ext cx="32004" cy="1170432"/>
          </a:xfrm>
          <a:prstGeom prst="rect">
            <a:avLst/>
          </a:prstGeom>
          <a:solidFill>
            <a:srgbClr val="0032A0"/>
          </a:solidFill>
          <a:ln/>
        </p:spPr>
      </p:sp>
      <p:sp>
        <p:nvSpPr>
          <p:cNvPr id="44" name="Text 42"/>
          <p:cNvSpPr/>
          <p:nvPr/>
        </p:nvSpPr>
        <p:spPr>
          <a:xfrm>
            <a:off x="7077456" y="4498848"/>
            <a:ext cx="4608576" cy="237744"/>
          </a:xfrm>
          <a:prstGeom prst="rect">
            <a:avLst/>
          </a:prstGeom>
          <a:noFill/>
          <a:ln/>
        </p:spPr>
        <p:txBody>
          <a:bodyPr wrap="square" lIns="0" tIns="0" rIns="0" bIns="0" rtlCol="0" anchor="ctr"/>
          <a:lstStyle/>
          <a:p>
            <a:pPr marL="0" indent="0">
              <a:buNone/>
            </a:pPr>
            <a:r>
              <a:rPr lang="en-US" sz="1150" b="1" dirty="0">
                <a:solidFill>
                  <a:srgbClr val="041E47"/>
                </a:solidFill>
                <a:latin typeface="Aptos" pitchFamily="34" charset="0"/>
                <a:ea typeface="Aptos" pitchFamily="34" charset="-122"/>
                <a:cs typeface="Aptos" pitchFamily="34" charset="-120"/>
              </a:rPr>
              <a:t>Simplified service model</a:t>
            </a:r>
            <a:endParaRPr lang="en-US" sz="1150" dirty="0"/>
          </a:p>
        </p:txBody>
      </p:sp>
      <p:sp>
        <p:nvSpPr>
          <p:cNvPr id="45" name="Text 43"/>
          <p:cNvSpPr/>
          <p:nvPr/>
        </p:nvSpPr>
        <p:spPr>
          <a:xfrm>
            <a:off x="7077456" y="4754880"/>
            <a:ext cx="4608576" cy="566928"/>
          </a:xfrm>
          <a:prstGeom prst="rect">
            <a:avLst/>
          </a:prstGeom>
          <a:noFill/>
          <a:ln/>
        </p:spPr>
        <p:txBody>
          <a:bodyPr wrap="square" lIns="0" tIns="0" rIns="0" bIns="0" rtlCol="0" anchor="t"/>
          <a:lstStyle/>
          <a:p>
            <a:pPr marL="0" indent="0" algn="l">
              <a:lnSpc>
                <a:spcPct val="112000"/>
              </a:lnSpc>
              <a:buNone/>
            </a:pPr>
            <a:r>
              <a:rPr lang="en-US" sz="950" dirty="0">
                <a:solidFill>
                  <a:srgbClr val="46577A"/>
                </a:solidFill>
                <a:latin typeface="Aptos" pitchFamily="34" charset="0"/>
                <a:ea typeface="Aptos" pitchFamily="34" charset="-122"/>
                <a:cs typeface="Aptos" pitchFamily="34" charset="-120"/>
              </a:rPr>
              <a:t>Lower complexity reduces catering, cabin-service, ground-turnaround, training and inventory requirements - concentrating resources on safety, reliability, schedule and cost efficiency.</a:t>
            </a:r>
            <a:endParaRPr lang="en-US" sz="950" dirty="0"/>
          </a:p>
        </p:txBody>
      </p:sp>
      <p:sp>
        <p:nvSpPr>
          <p:cNvPr id="46" name="Text 44"/>
          <p:cNvSpPr/>
          <p:nvPr/>
        </p:nvSpPr>
        <p:spPr>
          <a:xfrm>
            <a:off x="7077456" y="5358384"/>
            <a:ext cx="4608576" cy="274320"/>
          </a:xfrm>
          <a:prstGeom prst="rect">
            <a:avLst/>
          </a:prstGeom>
          <a:noFill/>
          <a:ln/>
        </p:spPr>
        <p:txBody>
          <a:bodyPr wrap="square" lIns="0" tIns="0" rIns="0" bIns="0" rtlCol="0" anchor="t"/>
          <a:lstStyle/>
          <a:p>
            <a:pPr marL="0" indent="0">
              <a:buNone/>
            </a:pPr>
            <a:r>
              <a:rPr lang="en-US" sz="950" b="1" dirty="0">
                <a:solidFill>
                  <a:srgbClr val="0032A0"/>
                </a:solidFill>
                <a:latin typeface="Aptos" pitchFamily="34" charset="0"/>
                <a:ea typeface="Aptos" pitchFamily="34" charset="-122"/>
                <a:cs typeface="Aptos" pitchFamily="34" charset="-120"/>
              </a:rPr>
              <a:t>Founding propositions: affordable fares, on-time performance, courteous hassle-free travel.</a:t>
            </a:r>
            <a:endParaRPr lang="en-US" sz="950" dirty="0"/>
          </a:p>
        </p:txBody>
      </p:sp>
      <p:sp>
        <p:nvSpPr>
          <p:cNvPr id="47" name="Shape 45"/>
          <p:cNvSpPr/>
          <p:nvPr/>
        </p:nvSpPr>
        <p:spPr>
          <a:xfrm>
            <a:off x="6912864" y="5888736"/>
            <a:ext cx="519379" cy="173736"/>
          </a:xfrm>
          <a:prstGeom prst="rect">
            <a:avLst/>
          </a:prstGeom>
          <a:solidFill>
            <a:srgbClr val="041E47"/>
          </a:solidFill>
          <a:ln/>
        </p:spPr>
      </p:sp>
      <p:sp>
        <p:nvSpPr>
          <p:cNvPr id="48" name="Text 46"/>
          <p:cNvSpPr/>
          <p:nvPr/>
        </p:nvSpPr>
        <p:spPr>
          <a:xfrm>
            <a:off x="6912864" y="5888736"/>
            <a:ext cx="519379"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FACT</a:t>
            </a:r>
            <a:endParaRPr lang="en-US" sz="900" dirty="0"/>
          </a:p>
        </p:txBody>
      </p:sp>
      <p:sp>
        <p:nvSpPr>
          <p:cNvPr id="49" name="Text 47"/>
          <p:cNvSpPr/>
          <p:nvPr/>
        </p:nvSpPr>
        <p:spPr>
          <a:xfrm>
            <a:off x="7523683" y="5870448"/>
            <a:ext cx="4162349" cy="219456"/>
          </a:xfrm>
          <a:prstGeom prst="rect">
            <a:avLst/>
          </a:prstGeom>
          <a:noFill/>
          <a:ln/>
        </p:spPr>
        <p:txBody>
          <a:bodyPr wrap="square" lIns="0" tIns="0" rIns="0" bIns="0" rtlCol="0" anchor="t"/>
          <a:lstStyle/>
          <a:p>
            <a:pPr marL="0" indent="0">
              <a:buNone/>
            </a:pPr>
            <a:r>
              <a:rPr lang="en-US" sz="900" dirty="0">
                <a:solidFill>
                  <a:srgbClr val="46577A"/>
                </a:solidFill>
                <a:latin typeface="Aptos" pitchFamily="34" charset="0"/>
                <a:ea typeface="Aptos" pitchFamily="34" charset="-122"/>
                <a:cs typeface="Aptos" pitchFamily="34" charset="-120"/>
              </a:rPr>
              <a:t>The chain standardisation -&gt; simplicity -&gt; high utilisation -&gt; lower unit cost -&gt; competitive fares is stated directly in the strategy evidence pack.</a:t>
            </a:r>
            <a:endParaRPr lang="en-US" sz="900" dirty="0"/>
          </a:p>
        </p:txBody>
      </p:sp>
      <p:sp>
        <p:nvSpPr>
          <p:cNvPr id="50" name="Shape 48"/>
          <p:cNvSpPr/>
          <p:nvPr/>
        </p:nvSpPr>
        <p:spPr>
          <a:xfrm>
            <a:off x="502920" y="6309360"/>
            <a:ext cx="11185855" cy="5486"/>
          </a:xfrm>
          <a:prstGeom prst="rect">
            <a:avLst/>
          </a:prstGeom>
          <a:solidFill>
            <a:srgbClr val="C9D8F2"/>
          </a:solidFill>
          <a:ln/>
        </p:spPr>
      </p:sp>
      <p:sp>
        <p:nvSpPr>
          <p:cNvPr id="51" name="Text 49"/>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52" name="Text 50"/>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02_Company_Historical_Evidence_Business_Model - 06_Strategy_Business_Model_Evidence_Business_Model - SRC-OPS-FLEET-002/003</a:t>
            </a:r>
            <a:endParaRPr lang="en-US" sz="800" dirty="0"/>
          </a:p>
        </p:txBody>
      </p:sp>
      <p:sp>
        <p:nvSpPr>
          <p:cNvPr id="53" name="Shape 51"/>
          <p:cNvSpPr/>
          <p:nvPr/>
        </p:nvSpPr>
        <p:spPr>
          <a:xfrm>
            <a:off x="11484864" y="6364224"/>
            <a:ext cx="201168" cy="201168"/>
          </a:xfrm>
          <a:prstGeom prst="rect">
            <a:avLst/>
          </a:prstGeom>
          <a:solidFill>
            <a:srgbClr val="0032A0"/>
          </a:solidFill>
          <a:ln/>
        </p:spPr>
      </p:sp>
      <p:sp>
        <p:nvSpPr>
          <p:cNvPr id="54" name="Text 52"/>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02 - THE OPERATING SYSTEM</a:t>
            </a:r>
            <a:endParaRPr lang="en-US" sz="1000" dirty="0"/>
          </a:p>
        </p:txBody>
      </p:sp>
      <p:sp>
        <p:nvSpPr>
          <p:cNvPr id="3" name="Shape 1"/>
          <p:cNvSpPr/>
          <p:nvPr/>
        </p:nvSpPr>
        <p:spPr>
          <a:xfrm>
            <a:off x="502920" y="571500"/>
            <a:ext cx="1668194" cy="45719"/>
          </a:xfrm>
          <a:prstGeom prst="rect">
            <a:avLst/>
          </a:prstGeom>
          <a:solidFill>
            <a:srgbClr val="0032A0"/>
          </a:solidFill>
          <a:ln/>
        </p:spPr>
      </p:sp>
      <p:sp>
        <p:nvSpPr>
          <p:cNvPr id="4" name="Text 2"/>
          <p:cNvSpPr/>
          <p:nvPr/>
        </p:nvSpPr>
        <p:spPr>
          <a:xfrm>
            <a:off x="502920" y="704088"/>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Every minute on the ground protects IndiGo's low-cost economics</a:t>
            </a:r>
            <a:endParaRPr lang="en-US" sz="2250" dirty="0"/>
          </a:p>
        </p:txBody>
      </p:sp>
      <p:sp>
        <p:nvSpPr>
          <p:cNvPr id="5" name="Text 3"/>
          <p:cNvSpPr/>
          <p:nvPr/>
        </p:nvSpPr>
        <p:spPr>
          <a:xfrm>
            <a:off x="502920" y="1426464"/>
            <a:ext cx="64008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THE GROUND CYCLE - WHERE UTILISATION IS WON OR LOST</a:t>
            </a:r>
            <a:endParaRPr lang="en-US" sz="1000" dirty="0"/>
          </a:p>
        </p:txBody>
      </p:sp>
      <p:sp>
        <p:nvSpPr>
          <p:cNvPr id="6" name="Shape 4"/>
          <p:cNvSpPr/>
          <p:nvPr/>
        </p:nvSpPr>
        <p:spPr>
          <a:xfrm>
            <a:off x="502920" y="1847088"/>
            <a:ext cx="1965960" cy="731520"/>
          </a:xfrm>
          <a:prstGeom prst="rect">
            <a:avLst/>
          </a:prstGeom>
          <a:solidFill>
            <a:srgbClr val="041E47"/>
          </a:solidFill>
          <a:ln/>
        </p:spPr>
      </p:sp>
      <p:sp>
        <p:nvSpPr>
          <p:cNvPr id="7" name="Text 5"/>
          <p:cNvSpPr/>
          <p:nvPr/>
        </p:nvSpPr>
        <p:spPr>
          <a:xfrm>
            <a:off x="557784" y="1847088"/>
            <a:ext cx="1856232" cy="731520"/>
          </a:xfrm>
          <a:prstGeom prst="rect">
            <a:avLst/>
          </a:prstGeom>
          <a:noFill/>
          <a:ln/>
        </p:spPr>
        <p:txBody>
          <a:bodyPr wrap="square" lIns="0" tIns="0" rIns="0" bIns="0"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ARRIVAL</a:t>
            </a:r>
            <a:endParaRPr lang="en-US" sz="1050" dirty="0"/>
          </a:p>
        </p:txBody>
      </p:sp>
      <p:sp>
        <p:nvSpPr>
          <p:cNvPr id="8" name="Shape 6"/>
          <p:cNvSpPr/>
          <p:nvPr/>
        </p:nvSpPr>
        <p:spPr>
          <a:xfrm rot="5400000">
            <a:off x="2560320" y="2139696"/>
            <a:ext cx="146304" cy="164592"/>
          </a:xfrm>
          <a:prstGeom prst="triangle">
            <a:avLst/>
          </a:prstGeom>
          <a:solidFill>
            <a:srgbClr val="2F6BD8"/>
          </a:solidFill>
          <a:ln/>
        </p:spPr>
      </p:sp>
      <p:sp>
        <p:nvSpPr>
          <p:cNvPr id="9" name="Shape 7"/>
          <p:cNvSpPr/>
          <p:nvPr/>
        </p:nvSpPr>
        <p:spPr>
          <a:xfrm>
            <a:off x="2798064" y="1847088"/>
            <a:ext cx="1965960" cy="731520"/>
          </a:xfrm>
          <a:prstGeom prst="rect">
            <a:avLst/>
          </a:prstGeom>
          <a:solidFill>
            <a:srgbClr val="DCE7FA"/>
          </a:solidFill>
          <a:ln/>
        </p:spPr>
      </p:sp>
      <p:sp>
        <p:nvSpPr>
          <p:cNvPr id="10" name="Text 8"/>
          <p:cNvSpPr/>
          <p:nvPr/>
        </p:nvSpPr>
        <p:spPr>
          <a:xfrm>
            <a:off x="2852928" y="1847088"/>
            <a:ext cx="1856232" cy="731520"/>
          </a:xfrm>
          <a:prstGeom prst="rect">
            <a:avLst/>
          </a:prstGeom>
          <a:noFill/>
          <a:ln/>
        </p:spPr>
        <p:txBody>
          <a:bodyPr wrap="square" lIns="0" tIns="0" rIns="0" bIns="0" rtlCol="0" anchor="ctr"/>
          <a:lstStyle/>
          <a:p>
            <a:pPr marL="0" indent="0" algn="ctr">
              <a:buNone/>
            </a:pPr>
            <a:r>
              <a:rPr lang="en-US" sz="1050" b="1" dirty="0">
                <a:solidFill>
                  <a:srgbClr val="041E47"/>
                </a:solidFill>
                <a:latin typeface="Aptos" pitchFamily="34" charset="0"/>
                <a:ea typeface="Aptos" pitchFamily="34" charset="-122"/>
                <a:cs typeface="Aptos" pitchFamily="34" charset="-120"/>
              </a:rPr>
              <a:t>DISEMBARK</a:t>
            </a:r>
            <a:endParaRPr lang="en-US" sz="1050" dirty="0"/>
          </a:p>
        </p:txBody>
      </p:sp>
      <p:sp>
        <p:nvSpPr>
          <p:cNvPr id="11" name="Shape 9"/>
          <p:cNvSpPr/>
          <p:nvPr/>
        </p:nvSpPr>
        <p:spPr>
          <a:xfrm rot="5400000">
            <a:off x="4855464" y="2139696"/>
            <a:ext cx="146304" cy="164592"/>
          </a:xfrm>
          <a:prstGeom prst="triangle">
            <a:avLst/>
          </a:prstGeom>
          <a:solidFill>
            <a:srgbClr val="2F6BD8"/>
          </a:solidFill>
          <a:ln/>
        </p:spPr>
      </p:sp>
      <p:sp>
        <p:nvSpPr>
          <p:cNvPr id="12" name="Shape 10"/>
          <p:cNvSpPr/>
          <p:nvPr/>
        </p:nvSpPr>
        <p:spPr>
          <a:xfrm>
            <a:off x="5093208" y="1847088"/>
            <a:ext cx="1965960" cy="731520"/>
          </a:xfrm>
          <a:prstGeom prst="rect">
            <a:avLst/>
          </a:prstGeom>
          <a:solidFill>
            <a:srgbClr val="DCE7FA"/>
          </a:solidFill>
          <a:ln/>
        </p:spPr>
      </p:sp>
      <p:sp>
        <p:nvSpPr>
          <p:cNvPr id="13" name="Text 11"/>
          <p:cNvSpPr/>
          <p:nvPr/>
        </p:nvSpPr>
        <p:spPr>
          <a:xfrm>
            <a:off x="5148072" y="1847088"/>
            <a:ext cx="1856232" cy="731520"/>
          </a:xfrm>
          <a:prstGeom prst="rect">
            <a:avLst/>
          </a:prstGeom>
          <a:noFill/>
          <a:ln/>
        </p:spPr>
        <p:txBody>
          <a:bodyPr wrap="square" lIns="0" tIns="0" rIns="0" bIns="0" rtlCol="0" anchor="ctr"/>
          <a:lstStyle/>
          <a:p>
            <a:pPr marL="0" indent="0" algn="ctr">
              <a:buNone/>
            </a:pPr>
            <a:r>
              <a:rPr lang="en-US" sz="1050" b="1" dirty="0">
                <a:solidFill>
                  <a:srgbClr val="041E47"/>
                </a:solidFill>
                <a:latin typeface="Aptos" pitchFamily="34" charset="0"/>
                <a:ea typeface="Aptos" pitchFamily="34" charset="-122"/>
                <a:cs typeface="Aptos" pitchFamily="34" charset="-120"/>
              </a:rPr>
              <a:t>CLEAN / RESTOCK</a:t>
            </a:r>
            <a:endParaRPr lang="en-US" sz="1050" dirty="0"/>
          </a:p>
        </p:txBody>
      </p:sp>
      <p:sp>
        <p:nvSpPr>
          <p:cNvPr id="14" name="Shape 12"/>
          <p:cNvSpPr/>
          <p:nvPr/>
        </p:nvSpPr>
        <p:spPr>
          <a:xfrm rot="5400000">
            <a:off x="7150608" y="2139696"/>
            <a:ext cx="146304" cy="164592"/>
          </a:xfrm>
          <a:prstGeom prst="triangle">
            <a:avLst/>
          </a:prstGeom>
          <a:solidFill>
            <a:srgbClr val="2F6BD8"/>
          </a:solidFill>
          <a:ln/>
        </p:spPr>
      </p:sp>
      <p:sp>
        <p:nvSpPr>
          <p:cNvPr id="15" name="Shape 13"/>
          <p:cNvSpPr/>
          <p:nvPr/>
        </p:nvSpPr>
        <p:spPr>
          <a:xfrm>
            <a:off x="7388352" y="1847088"/>
            <a:ext cx="1965960" cy="731520"/>
          </a:xfrm>
          <a:prstGeom prst="rect">
            <a:avLst/>
          </a:prstGeom>
          <a:solidFill>
            <a:srgbClr val="DCE7FA"/>
          </a:solidFill>
          <a:ln/>
        </p:spPr>
      </p:sp>
      <p:sp>
        <p:nvSpPr>
          <p:cNvPr id="16" name="Text 14"/>
          <p:cNvSpPr/>
          <p:nvPr/>
        </p:nvSpPr>
        <p:spPr>
          <a:xfrm>
            <a:off x="7443216" y="1847088"/>
            <a:ext cx="1856232" cy="731520"/>
          </a:xfrm>
          <a:prstGeom prst="rect">
            <a:avLst/>
          </a:prstGeom>
          <a:noFill/>
          <a:ln/>
        </p:spPr>
        <p:txBody>
          <a:bodyPr wrap="square" lIns="0" tIns="0" rIns="0" bIns="0" rtlCol="0" anchor="ctr"/>
          <a:lstStyle/>
          <a:p>
            <a:pPr marL="0" indent="0" algn="ctr">
              <a:buNone/>
            </a:pPr>
            <a:r>
              <a:rPr lang="en-US" sz="1050" b="1" dirty="0">
                <a:solidFill>
                  <a:srgbClr val="041E47"/>
                </a:solidFill>
                <a:latin typeface="Aptos" pitchFamily="34" charset="0"/>
                <a:ea typeface="Aptos" pitchFamily="34" charset="-122"/>
                <a:cs typeface="Aptos" pitchFamily="34" charset="-120"/>
              </a:rPr>
              <a:t>BOARD</a:t>
            </a:r>
            <a:endParaRPr lang="en-US" sz="1050" dirty="0"/>
          </a:p>
        </p:txBody>
      </p:sp>
      <p:sp>
        <p:nvSpPr>
          <p:cNvPr id="17" name="Shape 15"/>
          <p:cNvSpPr/>
          <p:nvPr/>
        </p:nvSpPr>
        <p:spPr>
          <a:xfrm rot="5400000">
            <a:off x="9445752" y="2139696"/>
            <a:ext cx="146304" cy="164592"/>
          </a:xfrm>
          <a:prstGeom prst="triangle">
            <a:avLst/>
          </a:prstGeom>
          <a:solidFill>
            <a:srgbClr val="2F6BD8"/>
          </a:solidFill>
          <a:ln/>
        </p:spPr>
      </p:sp>
      <p:sp>
        <p:nvSpPr>
          <p:cNvPr id="18" name="Shape 16"/>
          <p:cNvSpPr/>
          <p:nvPr/>
        </p:nvSpPr>
        <p:spPr>
          <a:xfrm>
            <a:off x="9683496" y="1847088"/>
            <a:ext cx="1965960" cy="731520"/>
          </a:xfrm>
          <a:prstGeom prst="rect">
            <a:avLst/>
          </a:prstGeom>
          <a:solidFill>
            <a:srgbClr val="041E47"/>
          </a:solidFill>
          <a:ln/>
        </p:spPr>
      </p:sp>
      <p:sp>
        <p:nvSpPr>
          <p:cNvPr id="19" name="Text 17"/>
          <p:cNvSpPr/>
          <p:nvPr/>
        </p:nvSpPr>
        <p:spPr>
          <a:xfrm>
            <a:off x="9738360" y="1847088"/>
            <a:ext cx="1856232" cy="731520"/>
          </a:xfrm>
          <a:prstGeom prst="rect">
            <a:avLst/>
          </a:prstGeom>
          <a:noFill/>
          <a:ln/>
        </p:spPr>
        <p:txBody>
          <a:bodyPr wrap="square" lIns="0" tIns="0" rIns="0" bIns="0"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DEPART</a:t>
            </a:r>
            <a:endParaRPr lang="en-US" sz="1050" dirty="0"/>
          </a:p>
        </p:txBody>
      </p:sp>
      <p:sp>
        <p:nvSpPr>
          <p:cNvPr id="20" name="Shape 18"/>
          <p:cNvSpPr/>
          <p:nvPr/>
        </p:nvSpPr>
        <p:spPr>
          <a:xfrm>
            <a:off x="1463040" y="2798064"/>
            <a:ext cx="9281160" cy="12802"/>
          </a:xfrm>
          <a:prstGeom prst="rect">
            <a:avLst/>
          </a:prstGeom>
          <a:solidFill>
            <a:srgbClr val="7FA3E8"/>
          </a:solidFill>
          <a:ln/>
        </p:spPr>
      </p:sp>
      <p:sp>
        <p:nvSpPr>
          <p:cNvPr id="21" name="Shape 19"/>
          <p:cNvSpPr/>
          <p:nvPr/>
        </p:nvSpPr>
        <p:spPr>
          <a:xfrm>
            <a:off x="1463040" y="2578608"/>
            <a:ext cx="12802" cy="219456"/>
          </a:xfrm>
          <a:prstGeom prst="rect">
            <a:avLst/>
          </a:prstGeom>
          <a:solidFill>
            <a:srgbClr val="7FA3E8"/>
          </a:solidFill>
          <a:ln/>
        </p:spPr>
      </p:sp>
      <p:sp>
        <p:nvSpPr>
          <p:cNvPr id="22" name="Shape 20"/>
          <p:cNvSpPr/>
          <p:nvPr/>
        </p:nvSpPr>
        <p:spPr>
          <a:xfrm>
            <a:off x="10241280" y="2578608"/>
            <a:ext cx="12802" cy="219456"/>
          </a:xfrm>
          <a:prstGeom prst="rect">
            <a:avLst/>
          </a:prstGeom>
          <a:solidFill>
            <a:srgbClr val="7FA3E8"/>
          </a:solidFill>
          <a:ln/>
        </p:spPr>
      </p:sp>
      <p:sp>
        <p:nvSpPr>
          <p:cNvPr id="23" name="Shape 21"/>
          <p:cNvSpPr/>
          <p:nvPr/>
        </p:nvSpPr>
        <p:spPr>
          <a:xfrm>
            <a:off x="1399032" y="2542032"/>
            <a:ext cx="128016" cy="109728"/>
          </a:xfrm>
          <a:prstGeom prst="triangle">
            <a:avLst/>
          </a:prstGeom>
          <a:solidFill>
            <a:srgbClr val="7FA3E8"/>
          </a:solidFill>
          <a:ln/>
        </p:spPr>
      </p:sp>
      <p:sp>
        <p:nvSpPr>
          <p:cNvPr id="24" name="Text 22"/>
          <p:cNvSpPr/>
          <p:nvPr/>
        </p:nvSpPr>
        <p:spPr>
          <a:xfrm>
            <a:off x="1463040" y="2834640"/>
            <a:ext cx="9281160" cy="219456"/>
          </a:xfrm>
          <a:prstGeom prst="rect">
            <a:avLst/>
          </a:prstGeom>
          <a:noFill/>
          <a:ln/>
        </p:spPr>
        <p:txBody>
          <a:bodyPr wrap="square" lIns="0" tIns="0" rIns="0" bIns="0" rtlCol="0" anchor="ctr"/>
          <a:lstStyle/>
          <a:p>
            <a:pPr marL="0" indent="0" algn="ctr">
              <a:buNone/>
            </a:pPr>
            <a:r>
              <a:rPr lang="en-US" sz="850" dirty="0">
                <a:solidFill>
                  <a:srgbClr val="6B7280"/>
                </a:solidFill>
                <a:latin typeface="Aptos" pitchFamily="34" charset="0"/>
                <a:ea typeface="Aptos" pitchFamily="34" charset="-122"/>
                <a:cs typeface="Aptos" pitchFamily="34" charset="-120"/>
              </a:rPr>
              <a:t>the cycle repeats - every completed cycle is a sector</a:t>
            </a:r>
            <a:endParaRPr lang="en-US" sz="850" dirty="0"/>
          </a:p>
        </p:txBody>
      </p:sp>
      <p:sp>
        <p:nvSpPr>
          <p:cNvPr id="25" name="Text 23"/>
          <p:cNvSpPr/>
          <p:nvPr/>
        </p:nvSpPr>
        <p:spPr>
          <a:xfrm>
            <a:off x="502920" y="3273552"/>
            <a:ext cx="768096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WHY GROUND TIME IS AN ECONOMIC VARIABLE, NOT AN OPERATIONAL ONE</a:t>
            </a:r>
            <a:endParaRPr lang="en-US" sz="1000" dirty="0"/>
          </a:p>
        </p:txBody>
      </p:sp>
      <p:sp>
        <p:nvSpPr>
          <p:cNvPr id="26" name="Shape 24"/>
          <p:cNvSpPr/>
          <p:nvPr/>
        </p:nvSpPr>
        <p:spPr>
          <a:xfrm>
            <a:off x="502920" y="3566160"/>
            <a:ext cx="2615184" cy="603504"/>
          </a:xfrm>
          <a:prstGeom prst="rect">
            <a:avLst/>
          </a:prstGeom>
          <a:solidFill>
            <a:srgbClr val="FFFFFF"/>
          </a:solidFill>
          <a:ln w="9525">
            <a:solidFill>
              <a:srgbClr val="2F6BD8"/>
            </a:solidFill>
            <a:prstDash val="solid"/>
          </a:ln>
        </p:spPr>
      </p:sp>
      <p:sp>
        <p:nvSpPr>
          <p:cNvPr id="27" name="Text 25"/>
          <p:cNvSpPr/>
          <p:nvPr/>
        </p:nvSpPr>
        <p:spPr>
          <a:xfrm>
            <a:off x="576072" y="3566160"/>
            <a:ext cx="2468880" cy="603504"/>
          </a:xfrm>
          <a:prstGeom prst="rect">
            <a:avLst/>
          </a:prstGeom>
          <a:noFill/>
          <a:ln/>
        </p:spPr>
        <p:txBody>
          <a:bodyPr wrap="square" lIns="0" tIns="0" rIns="0" bIns="0" rtlCol="0" anchor="ctr"/>
          <a:lstStyle/>
          <a:p>
            <a:pPr marL="0" indent="0" algn="ctr">
              <a:buNone/>
            </a:pPr>
            <a:r>
              <a:rPr lang="en-US" sz="1000" b="1" dirty="0">
                <a:solidFill>
                  <a:srgbClr val="041E47"/>
                </a:solidFill>
                <a:latin typeface="Aptos" pitchFamily="34" charset="0"/>
                <a:ea typeface="Aptos" pitchFamily="34" charset="-122"/>
                <a:cs typeface="Aptos" pitchFamily="34" charset="-120"/>
              </a:rPr>
              <a:t>Faster turnaround</a:t>
            </a:r>
            <a:endParaRPr lang="en-US" sz="1000" dirty="0"/>
          </a:p>
        </p:txBody>
      </p:sp>
      <p:sp>
        <p:nvSpPr>
          <p:cNvPr id="28" name="Shape 26"/>
          <p:cNvSpPr/>
          <p:nvPr/>
        </p:nvSpPr>
        <p:spPr>
          <a:xfrm rot="5400000">
            <a:off x="3182112" y="3803904"/>
            <a:ext cx="128016" cy="146304"/>
          </a:xfrm>
          <a:prstGeom prst="triangle">
            <a:avLst/>
          </a:prstGeom>
          <a:solidFill>
            <a:srgbClr val="2F6BD8"/>
          </a:solidFill>
          <a:ln/>
        </p:spPr>
      </p:sp>
      <p:sp>
        <p:nvSpPr>
          <p:cNvPr id="29" name="Shape 27"/>
          <p:cNvSpPr/>
          <p:nvPr/>
        </p:nvSpPr>
        <p:spPr>
          <a:xfrm>
            <a:off x="3392424" y="3566160"/>
            <a:ext cx="2615184" cy="603504"/>
          </a:xfrm>
          <a:prstGeom prst="rect">
            <a:avLst/>
          </a:prstGeom>
          <a:solidFill>
            <a:srgbClr val="FFFFFF"/>
          </a:solidFill>
          <a:ln w="9525">
            <a:solidFill>
              <a:srgbClr val="2F6BD8"/>
            </a:solidFill>
            <a:prstDash val="solid"/>
          </a:ln>
        </p:spPr>
      </p:sp>
      <p:sp>
        <p:nvSpPr>
          <p:cNvPr id="30" name="Text 28"/>
          <p:cNvSpPr/>
          <p:nvPr/>
        </p:nvSpPr>
        <p:spPr>
          <a:xfrm>
            <a:off x="3465576" y="3566160"/>
            <a:ext cx="2468880" cy="603504"/>
          </a:xfrm>
          <a:prstGeom prst="rect">
            <a:avLst/>
          </a:prstGeom>
          <a:noFill/>
          <a:ln/>
        </p:spPr>
        <p:txBody>
          <a:bodyPr wrap="square" lIns="0" tIns="0" rIns="0" bIns="0" rtlCol="0" anchor="ctr"/>
          <a:lstStyle/>
          <a:p>
            <a:pPr marL="0" indent="0" algn="ctr">
              <a:buNone/>
            </a:pPr>
            <a:r>
              <a:rPr lang="en-US" sz="1000" b="1" dirty="0">
                <a:solidFill>
                  <a:srgbClr val="041E47"/>
                </a:solidFill>
                <a:latin typeface="Aptos" pitchFamily="34" charset="0"/>
                <a:ea typeface="Aptos" pitchFamily="34" charset="-122"/>
                <a:cs typeface="Aptos" pitchFamily="34" charset="-120"/>
              </a:rPr>
              <a:t>More sectors per aircraft</a:t>
            </a:r>
            <a:endParaRPr lang="en-US" sz="1000" dirty="0"/>
          </a:p>
        </p:txBody>
      </p:sp>
      <p:sp>
        <p:nvSpPr>
          <p:cNvPr id="31" name="Shape 29"/>
          <p:cNvSpPr/>
          <p:nvPr/>
        </p:nvSpPr>
        <p:spPr>
          <a:xfrm rot="5400000">
            <a:off x="6071616" y="3803904"/>
            <a:ext cx="128016" cy="146304"/>
          </a:xfrm>
          <a:prstGeom prst="triangle">
            <a:avLst/>
          </a:prstGeom>
          <a:solidFill>
            <a:srgbClr val="2F6BD8"/>
          </a:solidFill>
          <a:ln/>
        </p:spPr>
      </p:sp>
      <p:sp>
        <p:nvSpPr>
          <p:cNvPr id="32" name="Shape 30"/>
          <p:cNvSpPr/>
          <p:nvPr/>
        </p:nvSpPr>
        <p:spPr>
          <a:xfrm>
            <a:off x="6281928" y="3566160"/>
            <a:ext cx="2615184" cy="603504"/>
          </a:xfrm>
          <a:prstGeom prst="rect">
            <a:avLst/>
          </a:prstGeom>
          <a:solidFill>
            <a:srgbClr val="FFFFFF"/>
          </a:solidFill>
          <a:ln w="9525">
            <a:solidFill>
              <a:srgbClr val="2F6BD8"/>
            </a:solidFill>
            <a:prstDash val="solid"/>
          </a:ln>
        </p:spPr>
      </p:sp>
      <p:sp>
        <p:nvSpPr>
          <p:cNvPr id="33" name="Text 31"/>
          <p:cNvSpPr/>
          <p:nvPr/>
        </p:nvSpPr>
        <p:spPr>
          <a:xfrm>
            <a:off x="6355080" y="3566160"/>
            <a:ext cx="2468880" cy="603504"/>
          </a:xfrm>
          <a:prstGeom prst="rect">
            <a:avLst/>
          </a:prstGeom>
          <a:noFill/>
          <a:ln/>
        </p:spPr>
        <p:txBody>
          <a:bodyPr wrap="square" lIns="0" tIns="0" rIns="0" bIns="0" rtlCol="0" anchor="ctr"/>
          <a:lstStyle/>
          <a:p>
            <a:pPr marL="0" indent="0" algn="ctr">
              <a:buNone/>
            </a:pPr>
            <a:r>
              <a:rPr lang="en-US" sz="1000" b="1" dirty="0">
                <a:solidFill>
                  <a:srgbClr val="041E47"/>
                </a:solidFill>
                <a:latin typeface="Aptos" pitchFamily="34" charset="0"/>
                <a:ea typeface="Aptos" pitchFamily="34" charset="-122"/>
                <a:cs typeface="Aptos" pitchFamily="34" charset="-120"/>
              </a:rPr>
              <a:t>Higher productive utilisation</a:t>
            </a:r>
            <a:endParaRPr lang="en-US" sz="1000" dirty="0"/>
          </a:p>
        </p:txBody>
      </p:sp>
      <p:sp>
        <p:nvSpPr>
          <p:cNvPr id="34" name="Shape 32"/>
          <p:cNvSpPr/>
          <p:nvPr/>
        </p:nvSpPr>
        <p:spPr>
          <a:xfrm rot="5400000">
            <a:off x="8961120" y="3803904"/>
            <a:ext cx="128016" cy="146304"/>
          </a:xfrm>
          <a:prstGeom prst="triangle">
            <a:avLst/>
          </a:prstGeom>
          <a:solidFill>
            <a:srgbClr val="2F6BD8"/>
          </a:solidFill>
          <a:ln/>
        </p:spPr>
      </p:sp>
      <p:sp>
        <p:nvSpPr>
          <p:cNvPr id="35" name="Shape 33"/>
          <p:cNvSpPr/>
          <p:nvPr/>
        </p:nvSpPr>
        <p:spPr>
          <a:xfrm>
            <a:off x="9171432" y="3566160"/>
            <a:ext cx="2615184" cy="603504"/>
          </a:xfrm>
          <a:prstGeom prst="rect">
            <a:avLst/>
          </a:prstGeom>
          <a:solidFill>
            <a:srgbClr val="0032A0"/>
          </a:solidFill>
          <a:ln/>
        </p:spPr>
      </p:sp>
      <p:sp>
        <p:nvSpPr>
          <p:cNvPr id="36" name="Text 34"/>
          <p:cNvSpPr/>
          <p:nvPr/>
        </p:nvSpPr>
        <p:spPr>
          <a:xfrm>
            <a:off x="9244584" y="3566160"/>
            <a:ext cx="2468880" cy="603504"/>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Lower fixed cost per ASK</a:t>
            </a:r>
            <a:endParaRPr lang="en-US" sz="1000" dirty="0"/>
          </a:p>
        </p:txBody>
      </p:sp>
      <p:sp>
        <p:nvSpPr>
          <p:cNvPr id="37" name="Shape 35"/>
          <p:cNvSpPr/>
          <p:nvPr/>
        </p:nvSpPr>
        <p:spPr>
          <a:xfrm>
            <a:off x="502920" y="4407408"/>
            <a:ext cx="6903720" cy="1005840"/>
          </a:xfrm>
          <a:prstGeom prst="rect">
            <a:avLst/>
          </a:prstGeom>
          <a:solidFill>
            <a:srgbClr val="F4F7FD"/>
          </a:solidFill>
          <a:ln/>
        </p:spPr>
      </p:sp>
      <p:sp>
        <p:nvSpPr>
          <p:cNvPr id="38" name="Shape 36"/>
          <p:cNvSpPr/>
          <p:nvPr/>
        </p:nvSpPr>
        <p:spPr>
          <a:xfrm>
            <a:off x="685800" y="4535424"/>
            <a:ext cx="519379" cy="173736"/>
          </a:xfrm>
          <a:prstGeom prst="rect">
            <a:avLst/>
          </a:prstGeom>
          <a:solidFill>
            <a:srgbClr val="041E47"/>
          </a:solidFill>
          <a:ln/>
        </p:spPr>
      </p:sp>
      <p:sp>
        <p:nvSpPr>
          <p:cNvPr id="39" name="Text 37"/>
          <p:cNvSpPr/>
          <p:nvPr/>
        </p:nvSpPr>
        <p:spPr>
          <a:xfrm>
            <a:off x="685800" y="4535424"/>
            <a:ext cx="519379"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FACT</a:t>
            </a:r>
            <a:endParaRPr lang="en-US" sz="900" dirty="0"/>
          </a:p>
        </p:txBody>
      </p:sp>
      <p:sp>
        <p:nvSpPr>
          <p:cNvPr id="40" name="Text 38"/>
          <p:cNvSpPr/>
          <p:nvPr/>
        </p:nvSpPr>
        <p:spPr>
          <a:xfrm>
            <a:off x="685800" y="4773168"/>
            <a:ext cx="6537960" cy="566928"/>
          </a:xfrm>
          <a:prstGeom prst="rect">
            <a:avLst/>
          </a:prstGeom>
          <a:noFill/>
          <a:ln/>
        </p:spPr>
        <p:txBody>
          <a:bodyPr wrap="square" lIns="0" tIns="0" rIns="0" bIns="0" rtlCol="0" anchor="t"/>
          <a:lstStyle/>
          <a:p>
            <a:pPr marL="0" indent="0">
              <a:buNone/>
            </a:pPr>
            <a:r>
              <a:rPr lang="en-US" sz="1000" i="1" dirty="0">
                <a:solidFill>
                  <a:srgbClr val="041E47"/>
                </a:solidFill>
                <a:latin typeface="Aptos" pitchFamily="34" charset="0"/>
                <a:ea typeface="Aptos" pitchFamily="34" charset="-122"/>
                <a:cs typeface="Aptos" pitchFamily="34" charset="-120"/>
              </a:rPr>
              <a:t>"Reducing turnaround time allows an aircraft to complete more sectors within the operating day. Therefore, turnaround efficiency is not merely an operational KPI. It directly supports the economics of the low-cost model."</a:t>
            </a:r>
            <a:endParaRPr lang="en-US" sz="1000" dirty="0"/>
          </a:p>
        </p:txBody>
      </p:sp>
      <p:sp>
        <p:nvSpPr>
          <p:cNvPr id="41" name="Text 39"/>
          <p:cNvSpPr/>
          <p:nvPr/>
        </p:nvSpPr>
        <p:spPr>
          <a:xfrm>
            <a:off x="7680960" y="4443984"/>
            <a:ext cx="1920240" cy="566928"/>
          </a:xfrm>
          <a:prstGeom prst="rect">
            <a:avLst/>
          </a:prstGeom>
          <a:noFill/>
          <a:ln/>
        </p:spPr>
        <p:txBody>
          <a:bodyPr wrap="square" lIns="0" tIns="0" rIns="0" bIns="0" rtlCol="0" anchor="ctr"/>
          <a:lstStyle/>
          <a:p>
            <a:pPr marL="0" indent="0" algn="l">
              <a:buNone/>
            </a:pPr>
            <a:r>
              <a:rPr lang="en-US" sz="3000" b="1" dirty="0">
                <a:solidFill>
                  <a:srgbClr val="0032A0"/>
                </a:solidFill>
                <a:latin typeface="Aptos Display" pitchFamily="34" charset="0"/>
                <a:ea typeface="Aptos Display" pitchFamily="34" charset="-122"/>
                <a:cs typeface="Aptos Display" pitchFamily="34" charset="-120"/>
              </a:rPr>
              <a:t>~11.4</a:t>
            </a:r>
            <a:endParaRPr lang="en-US" sz="3000" dirty="0"/>
          </a:p>
        </p:txBody>
      </p:sp>
      <p:sp>
        <p:nvSpPr>
          <p:cNvPr id="42" name="Text 40"/>
          <p:cNvSpPr/>
          <p:nvPr/>
        </p:nvSpPr>
        <p:spPr>
          <a:xfrm>
            <a:off x="7680960" y="4992624"/>
            <a:ext cx="1920240" cy="402336"/>
          </a:xfrm>
          <a:prstGeom prst="rect">
            <a:avLst/>
          </a:prstGeom>
          <a:noFill/>
          <a:ln/>
        </p:spPr>
        <p:txBody>
          <a:bodyPr wrap="square" lIns="0" tIns="0" rIns="0" bIns="0" rtlCol="0" anchor="t"/>
          <a:lstStyle/>
          <a:p>
            <a:pPr marL="0" indent="0" algn="l">
              <a:buNone/>
            </a:pPr>
            <a:r>
              <a:rPr lang="en-US" sz="900" dirty="0">
                <a:solidFill>
                  <a:srgbClr val="46577A"/>
                </a:solidFill>
                <a:latin typeface="Aptos" pitchFamily="34" charset="0"/>
                <a:ea typeface="Aptos" pitchFamily="34" charset="-122"/>
                <a:cs typeface="Aptos" pitchFamily="34" charset="-120"/>
              </a:rPr>
              <a:t>BLOCK HOURS PER AIRCRAFT PER DAY</a:t>
            </a:r>
            <a:endParaRPr lang="en-US" sz="900" dirty="0"/>
          </a:p>
          <a:p>
            <a:pPr marL="0" indent="0" algn="l">
              <a:buNone/>
            </a:pPr>
            <a:r>
              <a:rPr lang="en-US" sz="900" dirty="0">
                <a:solidFill>
                  <a:srgbClr val="46577A"/>
                </a:solidFill>
                <a:latin typeface="Aptos" pitchFamily="34" charset="0"/>
                <a:ea typeface="Aptos" pitchFamily="34" charset="-122"/>
                <a:cs typeface="Aptos" pitchFamily="34" charset="-120"/>
              </a:rPr>
              <a:t>FY2015, historical evidence</a:t>
            </a:r>
            <a:endParaRPr lang="en-US" sz="900" dirty="0"/>
          </a:p>
        </p:txBody>
      </p:sp>
      <p:sp>
        <p:nvSpPr>
          <p:cNvPr id="43" name="Text 41"/>
          <p:cNvSpPr/>
          <p:nvPr/>
        </p:nvSpPr>
        <p:spPr>
          <a:xfrm>
            <a:off x="9784080" y="4443984"/>
            <a:ext cx="1901952" cy="566928"/>
          </a:xfrm>
          <a:prstGeom prst="rect">
            <a:avLst/>
          </a:prstGeom>
          <a:noFill/>
          <a:ln/>
        </p:spPr>
        <p:txBody>
          <a:bodyPr wrap="square" lIns="0" tIns="0" rIns="0" bIns="0" rtlCol="0" anchor="ctr"/>
          <a:lstStyle/>
          <a:p>
            <a:pPr marL="0" indent="0" algn="l">
              <a:buNone/>
            </a:pPr>
            <a:r>
              <a:rPr lang="en-US" sz="3000" b="1" dirty="0">
                <a:solidFill>
                  <a:srgbClr val="0032A0"/>
                </a:solidFill>
                <a:latin typeface="Aptos Display" pitchFamily="34" charset="0"/>
                <a:ea typeface="Aptos Display" pitchFamily="34" charset="-122"/>
                <a:cs typeface="Aptos Display" pitchFamily="34" charset="-120"/>
              </a:rPr>
              <a:t>99.9%</a:t>
            </a:r>
            <a:endParaRPr lang="en-US" sz="3000" dirty="0"/>
          </a:p>
        </p:txBody>
      </p:sp>
      <p:sp>
        <p:nvSpPr>
          <p:cNvPr id="44" name="Text 42"/>
          <p:cNvSpPr/>
          <p:nvPr/>
        </p:nvSpPr>
        <p:spPr>
          <a:xfrm>
            <a:off x="9784080" y="4992624"/>
            <a:ext cx="1901952" cy="402336"/>
          </a:xfrm>
          <a:prstGeom prst="rect">
            <a:avLst/>
          </a:prstGeom>
          <a:noFill/>
          <a:ln/>
        </p:spPr>
        <p:txBody>
          <a:bodyPr wrap="square" lIns="0" tIns="0" rIns="0" bIns="0" rtlCol="0" anchor="t"/>
          <a:lstStyle/>
          <a:p>
            <a:pPr marL="0" indent="0" algn="l">
              <a:buNone/>
            </a:pPr>
            <a:r>
              <a:rPr lang="en-US" sz="900" dirty="0">
                <a:solidFill>
                  <a:srgbClr val="46577A"/>
                </a:solidFill>
                <a:latin typeface="Aptos" pitchFamily="34" charset="0"/>
                <a:ea typeface="Aptos" pitchFamily="34" charset="-122"/>
                <a:cs typeface="Aptos" pitchFamily="34" charset="-120"/>
              </a:rPr>
              <a:t>TECHNICAL DISPATCH RELIABILITY</a:t>
            </a:r>
            <a:endParaRPr lang="en-US" sz="900" dirty="0"/>
          </a:p>
          <a:p>
            <a:pPr marL="0" indent="0" algn="l">
              <a:buNone/>
            </a:pPr>
            <a:r>
              <a:rPr lang="en-US" sz="900" dirty="0">
                <a:solidFill>
                  <a:srgbClr val="46577A"/>
                </a:solidFill>
                <a:latin typeface="Aptos" pitchFamily="34" charset="0"/>
                <a:ea typeface="Aptos" pitchFamily="34" charset="-122"/>
                <a:cs typeface="Aptos" pitchFamily="34" charset="-120"/>
              </a:rPr>
              <a:t>FY2026, as reported</a:t>
            </a:r>
            <a:endParaRPr lang="en-US" sz="900" dirty="0"/>
          </a:p>
        </p:txBody>
      </p:sp>
      <p:sp>
        <p:nvSpPr>
          <p:cNvPr id="45" name="Shape 43"/>
          <p:cNvSpPr/>
          <p:nvPr/>
        </p:nvSpPr>
        <p:spPr>
          <a:xfrm>
            <a:off x="502920" y="5577840"/>
            <a:ext cx="11185855" cy="566928"/>
          </a:xfrm>
          <a:prstGeom prst="rect">
            <a:avLst/>
          </a:prstGeom>
          <a:solidFill>
            <a:srgbClr val="FFFFFF"/>
          </a:solidFill>
          <a:ln w="9525">
            <a:solidFill>
              <a:srgbClr val="6B7280"/>
            </a:solidFill>
            <a:prstDash val="dash"/>
          </a:ln>
        </p:spPr>
      </p:sp>
      <p:sp>
        <p:nvSpPr>
          <p:cNvPr id="46" name="Shape 44"/>
          <p:cNvSpPr/>
          <p:nvPr/>
        </p:nvSpPr>
        <p:spPr>
          <a:xfrm>
            <a:off x="594360" y="5774436"/>
            <a:ext cx="1344168" cy="173736"/>
          </a:xfrm>
          <a:prstGeom prst="rect">
            <a:avLst/>
          </a:prstGeom>
          <a:solidFill>
            <a:srgbClr val="FFFFFF"/>
          </a:solidFill>
          <a:ln w="9525">
            <a:solidFill>
              <a:srgbClr val="6B7280"/>
            </a:solidFill>
            <a:prstDash val="dash"/>
          </a:ln>
        </p:spPr>
      </p:sp>
      <p:sp>
        <p:nvSpPr>
          <p:cNvPr id="47" name="Text 45"/>
          <p:cNvSpPr/>
          <p:nvPr/>
        </p:nvSpPr>
        <p:spPr>
          <a:xfrm>
            <a:off x="594360" y="5774436"/>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48" name="Text 46"/>
          <p:cNvSpPr/>
          <p:nvPr/>
        </p:nvSpPr>
        <p:spPr>
          <a:xfrm>
            <a:off x="2048256" y="5614416"/>
            <a:ext cx="9530791" cy="493776"/>
          </a:xfrm>
          <a:prstGeom prst="rect">
            <a:avLst/>
          </a:prstGeom>
          <a:noFill/>
          <a:ln/>
        </p:spPr>
        <p:txBody>
          <a:bodyPr wrap="square" lIns="0" tIns="0" rIns="0" bIns="0" rtlCol="0" anchor="ctr"/>
          <a:lstStyle/>
          <a:p>
            <a:r>
              <a:rPr lang="en-IN" sz="1000" b="1" dirty="0"/>
              <a:t>Evidence gap: </a:t>
            </a:r>
            <a:r>
              <a:rPr lang="en-IN" sz="1000" dirty="0"/>
              <a:t>IndiGo's specific turnaround time is not established in the available evidence.</a:t>
            </a:r>
            <a:endParaRPr lang="en-US" sz="950" dirty="0"/>
          </a:p>
        </p:txBody>
      </p:sp>
      <p:sp>
        <p:nvSpPr>
          <p:cNvPr id="49" name="Shape 47"/>
          <p:cNvSpPr/>
          <p:nvPr/>
        </p:nvSpPr>
        <p:spPr>
          <a:xfrm>
            <a:off x="502920" y="6309360"/>
            <a:ext cx="11185855" cy="5486"/>
          </a:xfrm>
          <a:prstGeom prst="rect">
            <a:avLst/>
          </a:prstGeom>
          <a:solidFill>
            <a:srgbClr val="C9D8F2"/>
          </a:solidFill>
          <a:ln/>
        </p:spPr>
      </p:sp>
      <p:sp>
        <p:nvSpPr>
          <p:cNvPr id="50" name="Text 48"/>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51" name="Text 49"/>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06_Strategy_Business_Model_Evidence - 02_Company_Historical_Evidence - EVD-FIN-UE-009 - 08_PESTLE</a:t>
            </a:r>
            <a:endParaRPr lang="en-US" sz="800" dirty="0"/>
          </a:p>
        </p:txBody>
      </p:sp>
      <p:sp>
        <p:nvSpPr>
          <p:cNvPr id="52" name="Shape 50"/>
          <p:cNvSpPr/>
          <p:nvPr/>
        </p:nvSpPr>
        <p:spPr>
          <a:xfrm>
            <a:off x="11484864" y="6364224"/>
            <a:ext cx="201168" cy="201168"/>
          </a:xfrm>
          <a:prstGeom prst="rect">
            <a:avLst/>
          </a:prstGeom>
          <a:solidFill>
            <a:srgbClr val="0032A0"/>
          </a:solidFill>
          <a:ln/>
        </p:spPr>
      </p:sp>
      <p:sp>
        <p:nvSpPr>
          <p:cNvPr id="53" name="Text 51"/>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02 - THE OPERATING SYSTEM</a:t>
            </a:r>
            <a:endParaRPr lang="en-US" sz="1000" dirty="0"/>
          </a:p>
        </p:txBody>
      </p:sp>
      <p:sp>
        <p:nvSpPr>
          <p:cNvPr id="3" name="Shape 1"/>
          <p:cNvSpPr/>
          <p:nvPr/>
        </p:nvSpPr>
        <p:spPr>
          <a:xfrm>
            <a:off x="502920" y="571500"/>
            <a:ext cx="1664208" cy="45719"/>
          </a:xfrm>
          <a:prstGeom prst="rect">
            <a:avLst/>
          </a:prstGeom>
          <a:solidFill>
            <a:srgbClr val="0032A0"/>
          </a:solidFill>
          <a:ln/>
        </p:spPr>
      </p:sp>
      <p:sp>
        <p:nvSpPr>
          <p:cNvPr id="4" name="Text 2"/>
          <p:cNvSpPr/>
          <p:nvPr/>
        </p:nvSpPr>
        <p:spPr>
          <a:xfrm>
            <a:off x="502920" y="682142"/>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Punctuality became a customer proposition, not just an operating KPI</a:t>
            </a:r>
            <a:endParaRPr lang="en-US" sz="2250" dirty="0"/>
          </a:p>
        </p:txBody>
      </p:sp>
      <p:sp>
        <p:nvSpPr>
          <p:cNvPr id="5" name="Shape 3"/>
          <p:cNvSpPr/>
          <p:nvPr/>
        </p:nvSpPr>
        <p:spPr>
          <a:xfrm>
            <a:off x="502920" y="1481328"/>
            <a:ext cx="5138928" cy="1920240"/>
          </a:xfrm>
          <a:prstGeom prst="rect">
            <a:avLst/>
          </a:prstGeom>
          <a:solidFill>
            <a:srgbClr val="F4F7FD"/>
          </a:solidFill>
          <a:ln/>
        </p:spPr>
      </p:sp>
      <p:sp>
        <p:nvSpPr>
          <p:cNvPr id="6" name="Text 4"/>
          <p:cNvSpPr/>
          <p:nvPr/>
        </p:nvSpPr>
        <p:spPr>
          <a:xfrm>
            <a:off x="795528" y="1700784"/>
            <a:ext cx="3657600" cy="201168"/>
          </a:xfrm>
          <a:prstGeom prst="rect">
            <a:avLst/>
          </a:prstGeom>
          <a:noFill/>
          <a:ln/>
        </p:spPr>
        <p:txBody>
          <a:bodyPr wrap="square" lIns="0" tIns="0" rIns="0" bIns="0" rtlCol="0" anchor="ctr"/>
          <a:lstStyle/>
          <a:p>
            <a:pPr marL="0" indent="0" algn="l">
              <a:buNone/>
            </a:pPr>
            <a:r>
              <a:rPr lang="en-US" sz="1050" b="1" kern="0" spc="110" dirty="0">
                <a:solidFill>
                  <a:srgbClr val="0032A0"/>
                </a:solidFill>
                <a:latin typeface="Aptos" pitchFamily="34" charset="0"/>
                <a:ea typeface="Aptos" pitchFamily="34" charset="-122"/>
                <a:cs typeface="Aptos" pitchFamily="34" charset="-120"/>
              </a:rPr>
              <a:t>INDIGO STANDARD TIME</a:t>
            </a:r>
            <a:endParaRPr lang="en-US" sz="1050" dirty="0"/>
          </a:p>
        </p:txBody>
      </p:sp>
      <p:sp>
        <p:nvSpPr>
          <p:cNvPr id="7" name="Text 5"/>
          <p:cNvSpPr/>
          <p:nvPr/>
        </p:nvSpPr>
        <p:spPr>
          <a:xfrm>
            <a:off x="795528" y="1920240"/>
            <a:ext cx="2834640" cy="877824"/>
          </a:xfrm>
          <a:prstGeom prst="rect">
            <a:avLst/>
          </a:prstGeom>
          <a:noFill/>
          <a:ln/>
        </p:spPr>
        <p:txBody>
          <a:bodyPr wrap="square" lIns="0" tIns="0" rIns="0" bIns="0" rtlCol="0" anchor="ctr"/>
          <a:lstStyle/>
          <a:p>
            <a:pPr marL="0" indent="0">
              <a:buNone/>
            </a:pPr>
            <a:r>
              <a:rPr lang="en-US" sz="5400" b="1" dirty="0">
                <a:solidFill>
                  <a:srgbClr val="0032A0"/>
                </a:solidFill>
                <a:latin typeface="Aptos Display" pitchFamily="34" charset="0"/>
                <a:ea typeface="Aptos Display" pitchFamily="34" charset="-122"/>
                <a:cs typeface="Aptos Display" pitchFamily="34" charset="-120"/>
              </a:rPr>
              <a:t>83.4%</a:t>
            </a:r>
            <a:endParaRPr lang="en-US" sz="5400" dirty="0"/>
          </a:p>
        </p:txBody>
      </p:sp>
      <p:sp>
        <p:nvSpPr>
          <p:cNvPr id="8" name="Text 6"/>
          <p:cNvSpPr/>
          <p:nvPr/>
        </p:nvSpPr>
        <p:spPr>
          <a:xfrm>
            <a:off x="3401568" y="2048256"/>
            <a:ext cx="2011680" cy="640080"/>
          </a:xfrm>
          <a:prstGeom prst="rect">
            <a:avLst/>
          </a:prstGeom>
          <a:noFill/>
          <a:ln/>
        </p:spPr>
        <p:txBody>
          <a:bodyPr wrap="square" lIns="0" tIns="0" rIns="0" bIns="0" rtlCol="0" anchor="ctr"/>
          <a:lstStyle/>
          <a:p>
            <a:pPr marL="0" indent="0">
              <a:buNone/>
            </a:pPr>
            <a:r>
              <a:rPr lang="en-US" sz="1050" b="1" dirty="0">
                <a:solidFill>
                  <a:srgbClr val="46577A"/>
                </a:solidFill>
                <a:latin typeface="Aptos" pitchFamily="34" charset="0"/>
                <a:ea typeface="Aptos" pitchFamily="34" charset="-122"/>
                <a:cs typeface="Aptos" pitchFamily="34" charset="-120"/>
              </a:rPr>
              <a:t>ON-TIME</a:t>
            </a:r>
            <a:endParaRPr lang="en-US" sz="1050" dirty="0"/>
          </a:p>
          <a:p>
            <a:pPr marL="0" indent="0">
              <a:buNone/>
            </a:pPr>
            <a:r>
              <a:rPr lang="en-US" sz="1050" b="1" dirty="0">
                <a:solidFill>
                  <a:srgbClr val="46577A"/>
                </a:solidFill>
                <a:latin typeface="Aptos" pitchFamily="34" charset="0"/>
                <a:ea typeface="Aptos" pitchFamily="34" charset="-122"/>
                <a:cs typeface="Aptos" pitchFamily="34" charset="-120"/>
              </a:rPr>
              <a:t>PERFORMANCE</a:t>
            </a:r>
            <a:endParaRPr lang="en-US" sz="1050" dirty="0"/>
          </a:p>
        </p:txBody>
      </p:sp>
      <p:sp>
        <p:nvSpPr>
          <p:cNvPr id="9" name="Shape 7"/>
          <p:cNvSpPr/>
          <p:nvPr/>
        </p:nvSpPr>
        <p:spPr>
          <a:xfrm>
            <a:off x="795528" y="3017520"/>
            <a:ext cx="1371600" cy="182880"/>
          </a:xfrm>
          <a:prstGeom prst="roundRect">
            <a:avLst>
              <a:gd name="adj" fmla="val 45000"/>
            </a:avLst>
          </a:prstGeom>
          <a:solidFill>
            <a:srgbClr val="FFFFFF"/>
          </a:solidFill>
          <a:ln w="9525">
            <a:solidFill>
              <a:srgbClr val="D98A00"/>
            </a:solidFill>
            <a:prstDash val="solid"/>
          </a:ln>
        </p:spPr>
      </p:sp>
      <p:sp>
        <p:nvSpPr>
          <p:cNvPr id="10" name="Text 8"/>
          <p:cNvSpPr/>
          <p:nvPr/>
        </p:nvSpPr>
        <p:spPr>
          <a:xfrm>
            <a:off x="795528" y="3017520"/>
            <a:ext cx="1371600" cy="182880"/>
          </a:xfrm>
          <a:prstGeom prst="rect">
            <a:avLst/>
          </a:prstGeom>
          <a:noFill/>
          <a:ln/>
        </p:spPr>
        <p:txBody>
          <a:bodyPr wrap="square" lIns="0" tIns="0" rIns="0" bIns="0" rtlCol="0" anchor="ctr"/>
          <a:lstStyle/>
          <a:p>
            <a:pPr marL="0" indent="0" algn="ctr">
              <a:buNone/>
            </a:pPr>
            <a:r>
              <a:rPr lang="en-US" sz="800" b="1" dirty="0">
                <a:solidFill>
                  <a:srgbClr val="D98A00"/>
                </a:solidFill>
                <a:latin typeface="Aptos" pitchFamily="34" charset="0"/>
                <a:ea typeface="Aptos" pitchFamily="34" charset="-122"/>
                <a:cs typeface="Aptos" pitchFamily="34" charset="-120"/>
              </a:rPr>
              <a:t>EXTERNAL SOURCE</a:t>
            </a:r>
            <a:endParaRPr lang="en-US" sz="800" dirty="0"/>
          </a:p>
        </p:txBody>
      </p:sp>
      <p:sp>
        <p:nvSpPr>
          <p:cNvPr id="11" name="Text 9"/>
          <p:cNvSpPr/>
          <p:nvPr/>
        </p:nvSpPr>
        <p:spPr>
          <a:xfrm>
            <a:off x="2276856" y="2999232"/>
            <a:ext cx="3291840" cy="219456"/>
          </a:xfrm>
          <a:prstGeom prst="rect">
            <a:avLst/>
          </a:prstGeom>
          <a:noFill/>
          <a:ln/>
        </p:spPr>
        <p:txBody>
          <a:bodyPr wrap="square" lIns="0" tIns="0" rIns="0" bIns="0" rtlCol="0" anchor="ctr"/>
          <a:lstStyle/>
          <a:p>
            <a:pPr marL="0" indent="0">
              <a:buNone/>
            </a:pPr>
            <a:r>
              <a:rPr lang="en-US" sz="900" dirty="0">
                <a:solidFill>
                  <a:srgbClr val="6B7280"/>
                </a:solidFill>
                <a:latin typeface="Aptos" pitchFamily="34" charset="0"/>
                <a:ea typeface="Aptos" pitchFamily="34" charset="-122"/>
                <a:cs typeface="Aptos" pitchFamily="34" charset="-120"/>
              </a:rPr>
              <a:t>ICAO-hosted IndiGo presentation</a:t>
            </a:r>
            <a:endParaRPr lang="en-US" sz="900" dirty="0"/>
          </a:p>
        </p:txBody>
      </p:sp>
      <p:sp>
        <p:nvSpPr>
          <p:cNvPr id="12" name="Text 10"/>
          <p:cNvSpPr/>
          <p:nvPr/>
        </p:nvSpPr>
        <p:spPr>
          <a:xfrm>
            <a:off x="502920" y="3675888"/>
            <a:ext cx="676656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HOW AN OPERATING METRIC BECOMES A COMMERCIAL ASSET</a:t>
            </a:r>
            <a:endParaRPr lang="en-US" sz="1000" dirty="0"/>
          </a:p>
        </p:txBody>
      </p:sp>
      <p:sp>
        <p:nvSpPr>
          <p:cNvPr id="13" name="Shape 11"/>
          <p:cNvSpPr/>
          <p:nvPr/>
        </p:nvSpPr>
        <p:spPr>
          <a:xfrm>
            <a:off x="502920" y="3968496"/>
            <a:ext cx="2615184" cy="603504"/>
          </a:xfrm>
          <a:prstGeom prst="rect">
            <a:avLst/>
          </a:prstGeom>
          <a:solidFill>
            <a:srgbClr val="FFFFFF"/>
          </a:solidFill>
          <a:ln w="9525">
            <a:solidFill>
              <a:srgbClr val="2F6BD8"/>
            </a:solidFill>
            <a:prstDash val="solid"/>
          </a:ln>
        </p:spPr>
      </p:sp>
      <p:sp>
        <p:nvSpPr>
          <p:cNvPr id="14" name="Text 12"/>
          <p:cNvSpPr/>
          <p:nvPr/>
        </p:nvSpPr>
        <p:spPr>
          <a:xfrm>
            <a:off x="576072" y="3968496"/>
            <a:ext cx="2468880" cy="603504"/>
          </a:xfrm>
          <a:prstGeom prst="rect">
            <a:avLst/>
          </a:prstGeom>
          <a:noFill/>
          <a:ln/>
        </p:spPr>
        <p:txBody>
          <a:bodyPr wrap="square" lIns="0" tIns="0" rIns="0" bIns="0" rtlCol="0" anchor="ctr"/>
          <a:lstStyle/>
          <a:p>
            <a:pPr marL="0" indent="0" algn="ctr">
              <a:buNone/>
            </a:pPr>
            <a:r>
              <a:rPr lang="en-US" sz="1000" b="1" dirty="0">
                <a:solidFill>
                  <a:srgbClr val="041E47"/>
                </a:solidFill>
                <a:latin typeface="Aptos" pitchFamily="34" charset="0"/>
                <a:ea typeface="Aptos" pitchFamily="34" charset="-122"/>
                <a:cs typeface="Aptos" pitchFamily="34" charset="-120"/>
              </a:rPr>
              <a:t>Operational reliability</a:t>
            </a:r>
            <a:endParaRPr lang="en-US" sz="1000" dirty="0"/>
          </a:p>
        </p:txBody>
      </p:sp>
      <p:sp>
        <p:nvSpPr>
          <p:cNvPr id="15" name="Shape 13"/>
          <p:cNvSpPr/>
          <p:nvPr/>
        </p:nvSpPr>
        <p:spPr>
          <a:xfrm rot="5400000">
            <a:off x="3182112" y="4206240"/>
            <a:ext cx="128016" cy="146304"/>
          </a:xfrm>
          <a:prstGeom prst="triangle">
            <a:avLst/>
          </a:prstGeom>
          <a:solidFill>
            <a:srgbClr val="2F6BD8"/>
          </a:solidFill>
          <a:ln/>
        </p:spPr>
      </p:sp>
      <p:sp>
        <p:nvSpPr>
          <p:cNvPr id="16" name="Shape 14"/>
          <p:cNvSpPr/>
          <p:nvPr/>
        </p:nvSpPr>
        <p:spPr>
          <a:xfrm>
            <a:off x="3392424" y="3968496"/>
            <a:ext cx="2615184" cy="603504"/>
          </a:xfrm>
          <a:prstGeom prst="rect">
            <a:avLst/>
          </a:prstGeom>
          <a:solidFill>
            <a:srgbClr val="FFFFFF"/>
          </a:solidFill>
          <a:ln w="9525">
            <a:solidFill>
              <a:srgbClr val="2F6BD8"/>
            </a:solidFill>
            <a:prstDash val="solid"/>
          </a:ln>
        </p:spPr>
      </p:sp>
      <p:sp>
        <p:nvSpPr>
          <p:cNvPr id="17" name="Text 15"/>
          <p:cNvSpPr/>
          <p:nvPr/>
        </p:nvSpPr>
        <p:spPr>
          <a:xfrm>
            <a:off x="3465576" y="3968496"/>
            <a:ext cx="2468880" cy="603504"/>
          </a:xfrm>
          <a:prstGeom prst="rect">
            <a:avLst/>
          </a:prstGeom>
          <a:noFill/>
          <a:ln/>
        </p:spPr>
        <p:txBody>
          <a:bodyPr wrap="square" lIns="0" tIns="0" rIns="0" bIns="0" rtlCol="0" anchor="ctr"/>
          <a:lstStyle/>
          <a:p>
            <a:pPr marL="0" indent="0" algn="ctr">
              <a:buNone/>
            </a:pPr>
            <a:r>
              <a:rPr lang="en-US" sz="1000" b="1" dirty="0">
                <a:solidFill>
                  <a:srgbClr val="041E47"/>
                </a:solidFill>
                <a:latin typeface="Aptos" pitchFamily="34" charset="0"/>
                <a:ea typeface="Aptos" pitchFamily="34" charset="-122"/>
                <a:cs typeface="Aptos" pitchFamily="34" charset="-120"/>
              </a:rPr>
              <a:t>Schedule confidence</a:t>
            </a:r>
            <a:endParaRPr lang="en-US" sz="1000" dirty="0"/>
          </a:p>
        </p:txBody>
      </p:sp>
      <p:sp>
        <p:nvSpPr>
          <p:cNvPr id="18" name="Shape 16"/>
          <p:cNvSpPr/>
          <p:nvPr/>
        </p:nvSpPr>
        <p:spPr>
          <a:xfrm rot="5400000">
            <a:off x="6071616" y="4206240"/>
            <a:ext cx="128016" cy="146304"/>
          </a:xfrm>
          <a:prstGeom prst="triangle">
            <a:avLst/>
          </a:prstGeom>
          <a:solidFill>
            <a:srgbClr val="2F6BD8"/>
          </a:solidFill>
          <a:ln/>
        </p:spPr>
      </p:sp>
      <p:sp>
        <p:nvSpPr>
          <p:cNvPr id="19" name="Shape 17"/>
          <p:cNvSpPr/>
          <p:nvPr/>
        </p:nvSpPr>
        <p:spPr>
          <a:xfrm>
            <a:off x="6281928" y="3968496"/>
            <a:ext cx="2615184" cy="603504"/>
          </a:xfrm>
          <a:prstGeom prst="rect">
            <a:avLst/>
          </a:prstGeom>
          <a:solidFill>
            <a:srgbClr val="FFFFFF"/>
          </a:solidFill>
          <a:ln w="9525">
            <a:solidFill>
              <a:srgbClr val="2F6BD8"/>
            </a:solidFill>
            <a:prstDash val="solid"/>
          </a:ln>
        </p:spPr>
      </p:sp>
      <p:sp>
        <p:nvSpPr>
          <p:cNvPr id="20" name="Text 18"/>
          <p:cNvSpPr/>
          <p:nvPr/>
        </p:nvSpPr>
        <p:spPr>
          <a:xfrm>
            <a:off x="6355080" y="3968496"/>
            <a:ext cx="2468880" cy="603504"/>
          </a:xfrm>
          <a:prstGeom prst="rect">
            <a:avLst/>
          </a:prstGeom>
          <a:noFill/>
          <a:ln/>
        </p:spPr>
        <p:txBody>
          <a:bodyPr wrap="square" lIns="0" tIns="0" rIns="0" bIns="0" rtlCol="0" anchor="ctr"/>
          <a:lstStyle/>
          <a:p>
            <a:pPr marL="0" indent="0" algn="ctr">
              <a:buNone/>
            </a:pPr>
            <a:r>
              <a:rPr lang="en-US" sz="1000" b="1" dirty="0">
                <a:solidFill>
                  <a:srgbClr val="041E47"/>
                </a:solidFill>
                <a:latin typeface="Aptos" pitchFamily="34" charset="0"/>
                <a:ea typeface="Aptos" pitchFamily="34" charset="-122"/>
                <a:cs typeface="Aptos" pitchFamily="34" charset="-120"/>
              </a:rPr>
              <a:t>Customer preference</a:t>
            </a:r>
            <a:endParaRPr lang="en-US" sz="1000" dirty="0"/>
          </a:p>
        </p:txBody>
      </p:sp>
      <p:sp>
        <p:nvSpPr>
          <p:cNvPr id="21" name="Shape 19"/>
          <p:cNvSpPr/>
          <p:nvPr/>
        </p:nvSpPr>
        <p:spPr>
          <a:xfrm rot="5400000">
            <a:off x="8961120" y="4206240"/>
            <a:ext cx="128016" cy="146304"/>
          </a:xfrm>
          <a:prstGeom prst="triangle">
            <a:avLst/>
          </a:prstGeom>
          <a:solidFill>
            <a:srgbClr val="2F6BD8"/>
          </a:solidFill>
          <a:ln/>
        </p:spPr>
      </p:sp>
      <p:sp>
        <p:nvSpPr>
          <p:cNvPr id="22" name="Shape 20"/>
          <p:cNvSpPr/>
          <p:nvPr/>
        </p:nvSpPr>
        <p:spPr>
          <a:xfrm>
            <a:off x="9171432" y="3968496"/>
            <a:ext cx="2615184" cy="603504"/>
          </a:xfrm>
          <a:prstGeom prst="rect">
            <a:avLst/>
          </a:prstGeom>
          <a:solidFill>
            <a:srgbClr val="041E47"/>
          </a:solidFill>
          <a:ln/>
        </p:spPr>
      </p:sp>
      <p:sp>
        <p:nvSpPr>
          <p:cNvPr id="23" name="Text 21"/>
          <p:cNvSpPr/>
          <p:nvPr/>
        </p:nvSpPr>
        <p:spPr>
          <a:xfrm>
            <a:off x="9244584" y="3968496"/>
            <a:ext cx="2468880" cy="603504"/>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Brand differentiation</a:t>
            </a:r>
            <a:endParaRPr lang="en-US" sz="1000" dirty="0"/>
          </a:p>
        </p:txBody>
      </p:sp>
      <p:sp>
        <p:nvSpPr>
          <p:cNvPr id="24" name="Shape 22"/>
          <p:cNvSpPr/>
          <p:nvPr/>
        </p:nvSpPr>
        <p:spPr>
          <a:xfrm>
            <a:off x="6053328" y="1481328"/>
            <a:ext cx="5486" cy="1920240"/>
          </a:xfrm>
          <a:prstGeom prst="rect">
            <a:avLst/>
          </a:prstGeom>
          <a:solidFill>
            <a:srgbClr val="C9D8F2"/>
          </a:solidFill>
          <a:ln/>
        </p:spPr>
      </p:sp>
      <p:sp>
        <p:nvSpPr>
          <p:cNvPr id="25" name="Text 23"/>
          <p:cNvSpPr/>
          <p:nvPr/>
        </p:nvSpPr>
        <p:spPr>
          <a:xfrm>
            <a:off x="6309360" y="1481328"/>
            <a:ext cx="512064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THE CUSTOMER PROPOSITION IT SITS INSIDE</a:t>
            </a:r>
            <a:endParaRPr lang="en-US" sz="1000" dirty="0"/>
          </a:p>
        </p:txBody>
      </p:sp>
      <p:sp>
        <p:nvSpPr>
          <p:cNvPr id="26" name="Shape 24"/>
          <p:cNvSpPr/>
          <p:nvPr/>
        </p:nvSpPr>
        <p:spPr>
          <a:xfrm>
            <a:off x="6309360" y="1938528"/>
            <a:ext cx="146304" cy="146304"/>
          </a:xfrm>
          <a:prstGeom prst="ellipse">
            <a:avLst/>
          </a:prstGeom>
          <a:solidFill>
            <a:srgbClr val="0032A0"/>
          </a:solidFill>
          <a:ln/>
        </p:spPr>
      </p:sp>
      <p:sp>
        <p:nvSpPr>
          <p:cNvPr id="27" name="Text 25"/>
          <p:cNvSpPr/>
          <p:nvPr/>
        </p:nvSpPr>
        <p:spPr>
          <a:xfrm>
            <a:off x="6583680" y="1810512"/>
            <a:ext cx="2423160" cy="402336"/>
          </a:xfrm>
          <a:prstGeom prst="rect">
            <a:avLst/>
          </a:prstGeom>
          <a:noFill/>
          <a:ln/>
        </p:spPr>
        <p:txBody>
          <a:bodyPr wrap="square" lIns="0" tIns="0" rIns="0" bIns="0" rtlCol="0" anchor="ctr"/>
          <a:lstStyle/>
          <a:p>
            <a:pPr marL="0" indent="0">
              <a:buNone/>
            </a:pPr>
            <a:r>
              <a:rPr lang="en-US" sz="1100" b="1" dirty="0">
                <a:solidFill>
                  <a:srgbClr val="041E47"/>
                </a:solidFill>
                <a:latin typeface="Aptos" pitchFamily="34" charset="0"/>
                <a:ea typeface="Aptos" pitchFamily="34" charset="-122"/>
                <a:cs typeface="Aptos" pitchFamily="34" charset="-120"/>
              </a:rPr>
              <a:t>Affordable fares</a:t>
            </a:r>
            <a:endParaRPr lang="en-US" sz="1100" dirty="0"/>
          </a:p>
        </p:txBody>
      </p:sp>
      <p:sp>
        <p:nvSpPr>
          <p:cNvPr id="28" name="Text 26"/>
          <p:cNvSpPr/>
          <p:nvPr/>
        </p:nvSpPr>
        <p:spPr>
          <a:xfrm>
            <a:off x="9052560" y="1810512"/>
            <a:ext cx="2633472" cy="402336"/>
          </a:xfrm>
          <a:prstGeom prst="rect">
            <a:avLst/>
          </a:prstGeom>
          <a:noFill/>
          <a:ln/>
        </p:spPr>
        <p:txBody>
          <a:bodyPr wrap="square" lIns="0" tIns="0" rIns="0" bIns="0" rtlCol="0" anchor="ctr"/>
          <a:lstStyle/>
          <a:p>
            <a:pPr marL="0" indent="0">
              <a:buNone/>
            </a:pPr>
            <a:r>
              <a:rPr lang="en-US" sz="950" dirty="0">
                <a:solidFill>
                  <a:srgbClr val="46577A"/>
                </a:solidFill>
                <a:latin typeface="Aptos" pitchFamily="34" charset="0"/>
                <a:ea typeface="Aptos" pitchFamily="34" charset="-122"/>
                <a:cs typeface="Aptos" pitchFamily="34" charset="-120"/>
              </a:rPr>
              <a:t>the cost system of slides 5 and 6</a:t>
            </a:r>
            <a:endParaRPr lang="en-US" sz="950" dirty="0"/>
          </a:p>
        </p:txBody>
      </p:sp>
      <p:sp>
        <p:nvSpPr>
          <p:cNvPr id="29" name="Shape 27"/>
          <p:cNvSpPr/>
          <p:nvPr/>
        </p:nvSpPr>
        <p:spPr>
          <a:xfrm>
            <a:off x="6309360" y="2468880"/>
            <a:ext cx="146304" cy="146304"/>
          </a:xfrm>
          <a:prstGeom prst="ellipse">
            <a:avLst/>
          </a:prstGeom>
          <a:solidFill>
            <a:srgbClr val="0032A0"/>
          </a:solidFill>
          <a:ln/>
        </p:spPr>
      </p:sp>
      <p:sp>
        <p:nvSpPr>
          <p:cNvPr id="30" name="Text 28"/>
          <p:cNvSpPr/>
          <p:nvPr/>
        </p:nvSpPr>
        <p:spPr>
          <a:xfrm>
            <a:off x="6583680" y="2340864"/>
            <a:ext cx="2423160" cy="402336"/>
          </a:xfrm>
          <a:prstGeom prst="rect">
            <a:avLst/>
          </a:prstGeom>
          <a:noFill/>
          <a:ln/>
        </p:spPr>
        <p:txBody>
          <a:bodyPr wrap="square" lIns="0" tIns="0" rIns="0" bIns="0" rtlCol="0" anchor="ctr"/>
          <a:lstStyle/>
          <a:p>
            <a:pPr marL="0" indent="0">
              <a:buNone/>
            </a:pPr>
            <a:r>
              <a:rPr lang="en-US" sz="1100" b="1" dirty="0">
                <a:solidFill>
                  <a:srgbClr val="041E47"/>
                </a:solidFill>
                <a:latin typeface="Aptos" pitchFamily="34" charset="0"/>
                <a:ea typeface="Aptos" pitchFamily="34" charset="-122"/>
                <a:cs typeface="Aptos" pitchFamily="34" charset="-120"/>
              </a:rPr>
              <a:t>On-time performance</a:t>
            </a:r>
            <a:endParaRPr lang="en-US" sz="1100" dirty="0"/>
          </a:p>
        </p:txBody>
      </p:sp>
      <p:sp>
        <p:nvSpPr>
          <p:cNvPr id="31" name="Text 29"/>
          <p:cNvSpPr/>
          <p:nvPr/>
        </p:nvSpPr>
        <p:spPr>
          <a:xfrm>
            <a:off x="9052560" y="2340864"/>
            <a:ext cx="2633472" cy="402336"/>
          </a:xfrm>
          <a:prstGeom prst="rect">
            <a:avLst/>
          </a:prstGeom>
          <a:noFill/>
          <a:ln/>
        </p:spPr>
        <p:txBody>
          <a:bodyPr wrap="square" lIns="0" tIns="0" rIns="0" bIns="0" rtlCol="0" anchor="ctr"/>
          <a:lstStyle/>
          <a:p>
            <a:pPr marL="0" indent="0">
              <a:buNone/>
            </a:pPr>
            <a:r>
              <a:rPr lang="en-US" sz="950" dirty="0">
                <a:solidFill>
                  <a:srgbClr val="46577A"/>
                </a:solidFill>
                <a:latin typeface="Aptos" pitchFamily="34" charset="0"/>
                <a:ea typeface="Aptos" pitchFamily="34" charset="-122"/>
                <a:cs typeface="Aptos" pitchFamily="34" charset="-120"/>
              </a:rPr>
              <a:t>the reliability promise on this slide</a:t>
            </a:r>
            <a:endParaRPr lang="en-US" sz="950" dirty="0"/>
          </a:p>
        </p:txBody>
      </p:sp>
      <p:sp>
        <p:nvSpPr>
          <p:cNvPr id="32" name="Shape 30"/>
          <p:cNvSpPr/>
          <p:nvPr/>
        </p:nvSpPr>
        <p:spPr>
          <a:xfrm>
            <a:off x="6309360" y="2999232"/>
            <a:ext cx="146304" cy="146304"/>
          </a:xfrm>
          <a:prstGeom prst="ellipse">
            <a:avLst/>
          </a:prstGeom>
          <a:solidFill>
            <a:srgbClr val="0032A0"/>
          </a:solidFill>
          <a:ln/>
        </p:spPr>
      </p:sp>
      <p:sp>
        <p:nvSpPr>
          <p:cNvPr id="33" name="Text 31"/>
          <p:cNvSpPr/>
          <p:nvPr/>
        </p:nvSpPr>
        <p:spPr>
          <a:xfrm>
            <a:off x="6583680" y="2871216"/>
            <a:ext cx="2423160" cy="402336"/>
          </a:xfrm>
          <a:prstGeom prst="rect">
            <a:avLst/>
          </a:prstGeom>
          <a:noFill/>
          <a:ln/>
        </p:spPr>
        <p:txBody>
          <a:bodyPr wrap="square" lIns="0" tIns="0" rIns="0" bIns="0" rtlCol="0" anchor="ctr"/>
          <a:lstStyle/>
          <a:p>
            <a:pPr marL="0" indent="0">
              <a:buNone/>
            </a:pPr>
            <a:r>
              <a:rPr lang="en-US" sz="1100" b="1" dirty="0">
                <a:solidFill>
                  <a:srgbClr val="041E47"/>
                </a:solidFill>
                <a:latin typeface="Aptos" pitchFamily="34" charset="0"/>
                <a:ea typeface="Aptos" pitchFamily="34" charset="-122"/>
                <a:cs typeface="Aptos" pitchFamily="34" charset="-120"/>
              </a:rPr>
              <a:t>Courteous, hassle-free travel</a:t>
            </a:r>
            <a:endParaRPr lang="en-US" sz="1100" dirty="0"/>
          </a:p>
        </p:txBody>
      </p:sp>
      <p:sp>
        <p:nvSpPr>
          <p:cNvPr id="34" name="Text 32"/>
          <p:cNvSpPr/>
          <p:nvPr/>
        </p:nvSpPr>
        <p:spPr>
          <a:xfrm>
            <a:off x="9052560" y="2871216"/>
            <a:ext cx="2633472" cy="402336"/>
          </a:xfrm>
          <a:prstGeom prst="rect">
            <a:avLst/>
          </a:prstGeom>
          <a:noFill/>
          <a:ln/>
        </p:spPr>
        <p:txBody>
          <a:bodyPr wrap="square" lIns="0" tIns="0" rIns="0" bIns="0" rtlCol="0" anchor="ctr"/>
          <a:lstStyle/>
          <a:p>
            <a:pPr marL="0" indent="0">
              <a:buNone/>
            </a:pPr>
            <a:r>
              <a:rPr lang="en-US" sz="950" dirty="0">
                <a:solidFill>
                  <a:srgbClr val="46577A"/>
                </a:solidFill>
                <a:latin typeface="Aptos" pitchFamily="34" charset="0"/>
                <a:ea typeface="Aptos" pitchFamily="34" charset="-122"/>
                <a:cs typeface="Aptos" pitchFamily="34" charset="-120"/>
              </a:rPr>
              <a:t>the simplified service model</a:t>
            </a:r>
            <a:endParaRPr lang="en-US" sz="950" dirty="0"/>
          </a:p>
        </p:txBody>
      </p:sp>
      <p:sp>
        <p:nvSpPr>
          <p:cNvPr id="35" name="Shape 33"/>
          <p:cNvSpPr/>
          <p:nvPr/>
        </p:nvSpPr>
        <p:spPr>
          <a:xfrm>
            <a:off x="6309360" y="3401568"/>
            <a:ext cx="519379" cy="173736"/>
          </a:xfrm>
          <a:prstGeom prst="rect">
            <a:avLst/>
          </a:prstGeom>
          <a:solidFill>
            <a:srgbClr val="041E47"/>
          </a:solidFill>
          <a:ln/>
        </p:spPr>
      </p:sp>
      <p:sp>
        <p:nvSpPr>
          <p:cNvPr id="36" name="Text 34"/>
          <p:cNvSpPr/>
          <p:nvPr/>
        </p:nvSpPr>
        <p:spPr>
          <a:xfrm>
            <a:off x="6309360" y="3401568"/>
            <a:ext cx="519379"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FACT</a:t>
            </a:r>
            <a:endParaRPr lang="en-US" sz="900" dirty="0"/>
          </a:p>
        </p:txBody>
      </p:sp>
      <p:sp>
        <p:nvSpPr>
          <p:cNvPr id="37" name="Text 35"/>
          <p:cNvSpPr/>
          <p:nvPr/>
        </p:nvSpPr>
        <p:spPr>
          <a:xfrm>
            <a:off x="6920179" y="3383280"/>
            <a:ext cx="4765853" cy="219456"/>
          </a:xfrm>
          <a:prstGeom prst="rect">
            <a:avLst/>
          </a:prstGeom>
          <a:noFill/>
          <a:ln/>
        </p:spPr>
        <p:txBody>
          <a:bodyPr wrap="square" lIns="0" tIns="0" rIns="0" bIns="0" rtlCol="0" anchor="t"/>
          <a:lstStyle/>
          <a:p>
            <a:pPr marL="0" indent="0">
              <a:buNone/>
            </a:pPr>
            <a:r>
              <a:rPr lang="en-US" sz="900" dirty="0">
                <a:solidFill>
                  <a:srgbClr val="46577A"/>
                </a:solidFill>
                <a:latin typeface="Aptos" pitchFamily="34" charset="0"/>
                <a:ea typeface="Aptos" pitchFamily="34" charset="-122"/>
                <a:cs typeface="Aptos" pitchFamily="34" charset="-120"/>
              </a:rPr>
              <a:t>The three propositions are stated in the company historical evidence as IndiGo's core customer offer.</a:t>
            </a:r>
            <a:endParaRPr lang="en-US" sz="900" dirty="0"/>
          </a:p>
        </p:txBody>
      </p:sp>
      <p:sp>
        <p:nvSpPr>
          <p:cNvPr id="38" name="Shape 36"/>
          <p:cNvSpPr/>
          <p:nvPr/>
        </p:nvSpPr>
        <p:spPr>
          <a:xfrm>
            <a:off x="502920" y="4773168"/>
            <a:ext cx="11185855" cy="603504"/>
          </a:xfrm>
          <a:prstGeom prst="rect">
            <a:avLst/>
          </a:prstGeom>
          <a:solidFill>
            <a:srgbClr val="F4F7FD"/>
          </a:solidFill>
          <a:ln/>
        </p:spPr>
      </p:sp>
      <p:sp>
        <p:nvSpPr>
          <p:cNvPr id="39" name="Text 37"/>
          <p:cNvSpPr/>
          <p:nvPr/>
        </p:nvSpPr>
        <p:spPr>
          <a:xfrm>
            <a:off x="704088" y="4773168"/>
            <a:ext cx="10789920" cy="603504"/>
          </a:xfrm>
          <a:prstGeom prst="rect">
            <a:avLst/>
          </a:prstGeom>
          <a:noFill/>
          <a:ln/>
        </p:spPr>
        <p:txBody>
          <a:bodyPr wrap="square" lIns="0" tIns="0" rIns="0" bIns="0" rtlCol="0" anchor="ctr"/>
          <a:lstStyle/>
          <a:p>
            <a:pPr marL="0" indent="0">
              <a:buNone/>
            </a:pPr>
            <a:r>
              <a:rPr lang="en-US" sz="1150" dirty="0">
                <a:solidFill>
                  <a:srgbClr val="041E47"/>
                </a:solidFill>
                <a:latin typeface="Aptos" pitchFamily="34" charset="0"/>
                <a:ea typeface="Aptos" pitchFamily="34" charset="-122"/>
                <a:cs typeface="Aptos" pitchFamily="34" charset="-120"/>
              </a:rPr>
              <a:t>Reliability is the mechanism that converts a cost advantage into a preference advantage - the reason punctuality sits on the commercial side of the business, not only the operational side.</a:t>
            </a:r>
            <a:endParaRPr lang="en-US" sz="1150" dirty="0"/>
          </a:p>
        </p:txBody>
      </p:sp>
      <p:sp>
        <p:nvSpPr>
          <p:cNvPr id="40" name="Shape 38"/>
          <p:cNvSpPr/>
          <p:nvPr/>
        </p:nvSpPr>
        <p:spPr>
          <a:xfrm>
            <a:off x="502920" y="5522976"/>
            <a:ext cx="11185855" cy="566928"/>
          </a:xfrm>
          <a:prstGeom prst="rect">
            <a:avLst/>
          </a:prstGeom>
          <a:solidFill>
            <a:srgbClr val="FFFFFF"/>
          </a:solidFill>
          <a:ln w="9525">
            <a:solidFill>
              <a:srgbClr val="6B7280"/>
            </a:solidFill>
            <a:prstDash val="dash"/>
          </a:ln>
        </p:spPr>
      </p:sp>
      <p:sp>
        <p:nvSpPr>
          <p:cNvPr id="41" name="Shape 39"/>
          <p:cNvSpPr/>
          <p:nvPr/>
        </p:nvSpPr>
        <p:spPr>
          <a:xfrm>
            <a:off x="594360" y="5719572"/>
            <a:ext cx="1344168" cy="173736"/>
          </a:xfrm>
          <a:prstGeom prst="rect">
            <a:avLst/>
          </a:prstGeom>
          <a:solidFill>
            <a:srgbClr val="FFFFFF"/>
          </a:solidFill>
          <a:ln w="9525">
            <a:solidFill>
              <a:srgbClr val="6B7280"/>
            </a:solidFill>
            <a:prstDash val="dash"/>
          </a:ln>
        </p:spPr>
      </p:sp>
      <p:sp>
        <p:nvSpPr>
          <p:cNvPr id="42" name="Text 40"/>
          <p:cNvSpPr/>
          <p:nvPr/>
        </p:nvSpPr>
        <p:spPr>
          <a:xfrm>
            <a:off x="594360" y="5719572"/>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43" name="Text 41"/>
          <p:cNvSpPr/>
          <p:nvPr/>
        </p:nvSpPr>
        <p:spPr>
          <a:xfrm>
            <a:off x="2048256" y="5559552"/>
            <a:ext cx="9530791" cy="493776"/>
          </a:xfrm>
          <a:prstGeom prst="rect">
            <a:avLst/>
          </a:prstGeom>
          <a:noFill/>
          <a:ln/>
        </p:spPr>
        <p:txBody>
          <a:bodyPr wrap="square" lIns="0" tIns="0" rIns="0" bIns="0" rtlCol="0" anchor="ctr"/>
          <a:lstStyle/>
          <a:p>
            <a:r>
              <a:rPr lang="en-IN" sz="1000" b="1" dirty="0"/>
              <a:t>Evidence boundary:</a:t>
            </a:r>
            <a:r>
              <a:rPr lang="en-IN" sz="1000" dirty="0"/>
              <a:t> 83.4% is an external, period-specific figure; comparative OTP is not established.</a:t>
            </a:r>
            <a:endParaRPr lang="en-US" sz="950" dirty="0"/>
          </a:p>
        </p:txBody>
      </p:sp>
      <p:sp>
        <p:nvSpPr>
          <p:cNvPr id="44" name="Shape 42"/>
          <p:cNvSpPr/>
          <p:nvPr/>
        </p:nvSpPr>
        <p:spPr>
          <a:xfrm>
            <a:off x="502920" y="6309360"/>
            <a:ext cx="11185855" cy="5486"/>
          </a:xfrm>
          <a:prstGeom prst="rect">
            <a:avLst/>
          </a:prstGeom>
          <a:solidFill>
            <a:srgbClr val="C9D8F2"/>
          </a:solidFill>
          <a:ln/>
        </p:spPr>
      </p:sp>
      <p:sp>
        <p:nvSpPr>
          <p:cNvPr id="45" name="Text 43"/>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46" name="Text 44"/>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External Lens: ICAO-hosted IndiGo presentation (83.4% OTP) - 02 Company Historical Evidence - RQ-OPS-REL-001 (open)</a:t>
            </a:r>
            <a:endParaRPr lang="en-US" sz="800" dirty="0"/>
          </a:p>
        </p:txBody>
      </p:sp>
      <p:sp>
        <p:nvSpPr>
          <p:cNvPr id="47" name="Shape 45"/>
          <p:cNvSpPr/>
          <p:nvPr/>
        </p:nvSpPr>
        <p:spPr>
          <a:xfrm>
            <a:off x="11484864" y="6364224"/>
            <a:ext cx="201168" cy="201168"/>
          </a:xfrm>
          <a:prstGeom prst="rect">
            <a:avLst/>
          </a:prstGeom>
          <a:solidFill>
            <a:srgbClr val="0032A0"/>
          </a:solidFill>
          <a:ln/>
        </p:spPr>
      </p:sp>
      <p:sp>
        <p:nvSpPr>
          <p:cNvPr id="48" name="Text 46"/>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03 - STRESS TEST AND THE NEXT ADVANTAGE</a:t>
            </a:r>
            <a:endParaRPr lang="en-US" sz="1000" dirty="0"/>
          </a:p>
        </p:txBody>
      </p:sp>
      <p:sp>
        <p:nvSpPr>
          <p:cNvPr id="3" name="Shape 1"/>
          <p:cNvSpPr/>
          <p:nvPr/>
        </p:nvSpPr>
        <p:spPr>
          <a:xfrm>
            <a:off x="502920" y="571500"/>
            <a:ext cx="2606040" cy="45719"/>
          </a:xfrm>
          <a:prstGeom prst="rect">
            <a:avLst/>
          </a:prstGeom>
          <a:solidFill>
            <a:srgbClr val="0032A0"/>
          </a:solidFill>
          <a:ln/>
        </p:spPr>
      </p:sp>
      <p:sp>
        <p:nvSpPr>
          <p:cNvPr id="4" name="Text 2"/>
          <p:cNvSpPr/>
          <p:nvPr/>
        </p:nvSpPr>
        <p:spPr>
          <a:xfrm>
            <a:off x="502920" y="653796"/>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Three days in December 2025 stress-tested the operating system</a:t>
            </a:r>
            <a:endParaRPr lang="en-US" sz="2250" dirty="0"/>
          </a:p>
        </p:txBody>
      </p:sp>
      <p:sp>
        <p:nvSpPr>
          <p:cNvPr id="5" name="Shape 3"/>
          <p:cNvSpPr/>
          <p:nvPr/>
        </p:nvSpPr>
        <p:spPr>
          <a:xfrm>
            <a:off x="502920" y="1408176"/>
            <a:ext cx="1371600" cy="182880"/>
          </a:xfrm>
          <a:prstGeom prst="roundRect">
            <a:avLst>
              <a:gd name="adj" fmla="val 45000"/>
            </a:avLst>
          </a:prstGeom>
          <a:solidFill>
            <a:srgbClr val="FFFFFF"/>
          </a:solidFill>
          <a:ln w="9525">
            <a:solidFill>
              <a:srgbClr val="D98A00"/>
            </a:solidFill>
            <a:prstDash val="solid"/>
          </a:ln>
        </p:spPr>
      </p:sp>
      <p:sp>
        <p:nvSpPr>
          <p:cNvPr id="6" name="Text 4"/>
          <p:cNvSpPr/>
          <p:nvPr/>
        </p:nvSpPr>
        <p:spPr>
          <a:xfrm>
            <a:off x="502920" y="1408176"/>
            <a:ext cx="1371600" cy="182880"/>
          </a:xfrm>
          <a:prstGeom prst="rect">
            <a:avLst/>
          </a:prstGeom>
          <a:noFill/>
          <a:ln/>
        </p:spPr>
        <p:txBody>
          <a:bodyPr wrap="square" lIns="0" tIns="0" rIns="0" bIns="0" rtlCol="0" anchor="ctr"/>
          <a:lstStyle/>
          <a:p>
            <a:pPr marL="0" indent="0" algn="ctr">
              <a:buNone/>
            </a:pPr>
            <a:r>
              <a:rPr lang="en-US" sz="800" b="1" dirty="0">
                <a:solidFill>
                  <a:srgbClr val="D98A00"/>
                </a:solidFill>
                <a:latin typeface="Aptos" pitchFamily="34" charset="0"/>
                <a:ea typeface="Aptos" pitchFamily="34" charset="-122"/>
                <a:cs typeface="Aptos" pitchFamily="34" charset="-120"/>
              </a:rPr>
              <a:t>EXTERNAL SOURCE</a:t>
            </a:r>
            <a:endParaRPr lang="en-US" sz="800" dirty="0"/>
          </a:p>
        </p:txBody>
      </p:sp>
      <p:sp>
        <p:nvSpPr>
          <p:cNvPr id="7" name="Text 5"/>
          <p:cNvSpPr/>
          <p:nvPr/>
        </p:nvSpPr>
        <p:spPr>
          <a:xfrm>
            <a:off x="2002536" y="1389888"/>
            <a:ext cx="8229600" cy="219456"/>
          </a:xfrm>
          <a:prstGeom prst="rect">
            <a:avLst/>
          </a:prstGeom>
          <a:noFill/>
          <a:ln/>
        </p:spPr>
        <p:txBody>
          <a:bodyPr wrap="square" lIns="0" tIns="0" rIns="0" bIns="0" rtlCol="0" anchor="ctr"/>
          <a:lstStyle/>
          <a:p>
            <a:pPr marL="0" indent="0">
              <a:buNone/>
            </a:pPr>
            <a:r>
              <a:rPr lang="en-US" sz="900" dirty="0">
                <a:solidFill>
                  <a:srgbClr val="6B7280"/>
                </a:solidFill>
                <a:latin typeface="Aptos" pitchFamily="34" charset="0"/>
                <a:ea typeface="Aptos" pitchFamily="34" charset="-122"/>
                <a:cs typeface="Aptos" pitchFamily="34" charset="-120"/>
              </a:rPr>
              <a:t>Government of India - Ministry of Civil Aviation / PIB. Reported figures; outside the CIS evidence base.</a:t>
            </a:r>
            <a:endParaRPr lang="en-US" sz="900" dirty="0"/>
          </a:p>
        </p:txBody>
      </p:sp>
      <p:sp>
        <p:nvSpPr>
          <p:cNvPr id="8" name="Text 6"/>
          <p:cNvSpPr/>
          <p:nvPr/>
        </p:nvSpPr>
        <p:spPr>
          <a:xfrm>
            <a:off x="502920" y="1719072"/>
            <a:ext cx="2926080" cy="237744"/>
          </a:xfrm>
          <a:prstGeom prst="rect">
            <a:avLst/>
          </a:prstGeom>
          <a:noFill/>
          <a:ln/>
        </p:spPr>
        <p:txBody>
          <a:bodyPr wrap="square" lIns="0" tIns="0" rIns="0" bIns="0" rtlCol="0" anchor="ctr"/>
          <a:lstStyle/>
          <a:p>
            <a:pPr marL="0" indent="0">
              <a:buNone/>
            </a:pPr>
            <a:r>
              <a:rPr lang="en-US" sz="1000" b="1" dirty="0">
                <a:solidFill>
                  <a:srgbClr val="C43F2E"/>
                </a:solidFill>
                <a:latin typeface="Aptos" pitchFamily="34" charset="0"/>
                <a:ea typeface="Aptos" pitchFamily="34" charset="-122"/>
                <a:cs typeface="Aptos" pitchFamily="34" charset="-120"/>
              </a:rPr>
              <a:t>3-5 DECEMBER 2025</a:t>
            </a:r>
            <a:endParaRPr lang="en-US" sz="1000" dirty="0"/>
          </a:p>
        </p:txBody>
      </p:sp>
      <p:sp>
        <p:nvSpPr>
          <p:cNvPr id="9" name="Text 7"/>
          <p:cNvSpPr/>
          <p:nvPr/>
        </p:nvSpPr>
        <p:spPr>
          <a:xfrm>
            <a:off x="502920" y="1975104"/>
            <a:ext cx="2231136" cy="603504"/>
          </a:xfrm>
          <a:prstGeom prst="rect">
            <a:avLst/>
          </a:prstGeom>
          <a:noFill/>
          <a:ln/>
        </p:spPr>
        <p:txBody>
          <a:bodyPr wrap="square" lIns="0" tIns="0" rIns="0" bIns="0" rtlCol="0" anchor="ctr"/>
          <a:lstStyle/>
          <a:p>
            <a:pPr marL="0" indent="0">
              <a:buNone/>
            </a:pPr>
            <a:r>
              <a:rPr lang="en-US" sz="3400" b="1" dirty="0">
                <a:solidFill>
                  <a:srgbClr val="C43F2E"/>
                </a:solidFill>
                <a:latin typeface="Aptos Display" pitchFamily="34" charset="0"/>
                <a:ea typeface="Aptos Display" pitchFamily="34" charset="-122"/>
                <a:cs typeface="Aptos Display" pitchFamily="34" charset="-120"/>
              </a:rPr>
              <a:t>2,507</a:t>
            </a:r>
            <a:endParaRPr lang="en-US" sz="3400" dirty="0"/>
          </a:p>
        </p:txBody>
      </p:sp>
      <p:sp>
        <p:nvSpPr>
          <p:cNvPr id="10" name="Text 8"/>
          <p:cNvSpPr/>
          <p:nvPr/>
        </p:nvSpPr>
        <p:spPr>
          <a:xfrm>
            <a:off x="502920" y="2578608"/>
            <a:ext cx="2231136" cy="274320"/>
          </a:xfrm>
          <a:prstGeom prst="rect">
            <a:avLst/>
          </a:prstGeom>
          <a:noFill/>
          <a:ln/>
        </p:spPr>
        <p:txBody>
          <a:bodyPr wrap="square" lIns="0" tIns="0" rIns="0" bIns="0" rtlCol="0" anchor="t"/>
          <a:lstStyle/>
          <a:p>
            <a:pPr marL="0" indent="0">
              <a:buNone/>
            </a:pPr>
            <a:r>
              <a:rPr lang="en-US" sz="900" b="1" dirty="0">
                <a:solidFill>
                  <a:srgbClr val="46577A"/>
                </a:solidFill>
                <a:latin typeface="Aptos" pitchFamily="34" charset="0"/>
                <a:ea typeface="Aptos" pitchFamily="34" charset="-122"/>
                <a:cs typeface="Aptos" pitchFamily="34" charset="-120"/>
              </a:rPr>
              <a:t>FLIGHTS CANCELLED</a:t>
            </a:r>
            <a:endParaRPr lang="en-US" sz="900" dirty="0"/>
          </a:p>
        </p:txBody>
      </p:sp>
      <p:sp>
        <p:nvSpPr>
          <p:cNvPr id="11" name="Text 9"/>
          <p:cNvSpPr/>
          <p:nvPr/>
        </p:nvSpPr>
        <p:spPr>
          <a:xfrm>
            <a:off x="2807208" y="1965960"/>
            <a:ext cx="2231136" cy="603504"/>
          </a:xfrm>
          <a:prstGeom prst="rect">
            <a:avLst/>
          </a:prstGeom>
          <a:noFill/>
          <a:ln/>
        </p:spPr>
        <p:txBody>
          <a:bodyPr wrap="square" lIns="0" tIns="0" rIns="0" bIns="0" rtlCol="0" anchor="ctr"/>
          <a:lstStyle/>
          <a:p>
            <a:pPr marL="0" indent="0">
              <a:buNone/>
            </a:pPr>
            <a:r>
              <a:rPr lang="en-US" sz="3400" b="1" dirty="0">
                <a:solidFill>
                  <a:srgbClr val="C43F2E"/>
                </a:solidFill>
                <a:latin typeface="Aptos Display" pitchFamily="34" charset="0"/>
                <a:ea typeface="Aptos Display" pitchFamily="34" charset="-122"/>
                <a:cs typeface="Aptos Display" pitchFamily="34" charset="-120"/>
              </a:rPr>
              <a:t>1,852</a:t>
            </a:r>
            <a:endParaRPr lang="en-US" sz="3400" dirty="0"/>
          </a:p>
        </p:txBody>
      </p:sp>
      <p:sp>
        <p:nvSpPr>
          <p:cNvPr id="12" name="Text 10"/>
          <p:cNvSpPr/>
          <p:nvPr/>
        </p:nvSpPr>
        <p:spPr>
          <a:xfrm>
            <a:off x="2807208" y="2578608"/>
            <a:ext cx="2231136" cy="274320"/>
          </a:xfrm>
          <a:prstGeom prst="rect">
            <a:avLst/>
          </a:prstGeom>
          <a:noFill/>
          <a:ln/>
        </p:spPr>
        <p:txBody>
          <a:bodyPr wrap="square" lIns="0" tIns="0" rIns="0" bIns="0" rtlCol="0" anchor="t"/>
          <a:lstStyle/>
          <a:p>
            <a:pPr marL="0" indent="0">
              <a:buNone/>
            </a:pPr>
            <a:r>
              <a:rPr lang="en-US" sz="900" b="1" dirty="0">
                <a:solidFill>
                  <a:srgbClr val="46577A"/>
                </a:solidFill>
                <a:latin typeface="Aptos" pitchFamily="34" charset="0"/>
                <a:ea typeface="Aptos" pitchFamily="34" charset="-122"/>
                <a:cs typeface="Aptos" pitchFamily="34" charset="-120"/>
              </a:rPr>
              <a:t>FLIGHTS DELAYED</a:t>
            </a:r>
            <a:endParaRPr lang="en-US" sz="900" dirty="0"/>
          </a:p>
        </p:txBody>
      </p:sp>
      <p:sp>
        <p:nvSpPr>
          <p:cNvPr id="13" name="Text 11"/>
          <p:cNvSpPr/>
          <p:nvPr/>
        </p:nvSpPr>
        <p:spPr>
          <a:xfrm>
            <a:off x="5111496" y="1962678"/>
            <a:ext cx="2231136" cy="603504"/>
          </a:xfrm>
          <a:prstGeom prst="rect">
            <a:avLst/>
          </a:prstGeom>
          <a:noFill/>
          <a:ln/>
        </p:spPr>
        <p:txBody>
          <a:bodyPr wrap="square" lIns="0" tIns="0" rIns="0" bIns="0" rtlCol="0" anchor="ctr"/>
          <a:lstStyle/>
          <a:p>
            <a:pPr marL="0" indent="0">
              <a:buNone/>
            </a:pPr>
            <a:r>
              <a:rPr lang="en-US" sz="2700" b="1" dirty="0">
                <a:solidFill>
                  <a:srgbClr val="C43F2E"/>
                </a:solidFill>
                <a:latin typeface="Aptos Display" pitchFamily="34" charset="0"/>
                <a:ea typeface="Aptos Display" pitchFamily="34" charset="-122"/>
                <a:cs typeface="Aptos Display" pitchFamily="34" charset="-120"/>
              </a:rPr>
              <a:t>300,000+</a:t>
            </a:r>
            <a:endParaRPr lang="en-US" sz="2700" dirty="0"/>
          </a:p>
        </p:txBody>
      </p:sp>
      <p:sp>
        <p:nvSpPr>
          <p:cNvPr id="14" name="Text 12"/>
          <p:cNvSpPr/>
          <p:nvPr/>
        </p:nvSpPr>
        <p:spPr>
          <a:xfrm>
            <a:off x="5111496" y="2578608"/>
            <a:ext cx="2231136" cy="274320"/>
          </a:xfrm>
          <a:prstGeom prst="rect">
            <a:avLst/>
          </a:prstGeom>
          <a:noFill/>
          <a:ln/>
        </p:spPr>
        <p:txBody>
          <a:bodyPr wrap="square" lIns="0" tIns="0" rIns="0" bIns="0" rtlCol="0" anchor="t"/>
          <a:lstStyle/>
          <a:p>
            <a:pPr marL="0" indent="0">
              <a:buNone/>
            </a:pPr>
            <a:r>
              <a:rPr lang="en-US" sz="900" b="1" dirty="0">
                <a:solidFill>
                  <a:srgbClr val="46577A"/>
                </a:solidFill>
                <a:latin typeface="Aptos" pitchFamily="34" charset="0"/>
                <a:ea typeface="Aptos" pitchFamily="34" charset="-122"/>
                <a:cs typeface="Aptos" pitchFamily="34" charset="-120"/>
              </a:rPr>
              <a:t>PASSENGERS AFFECTED</a:t>
            </a:r>
            <a:endParaRPr lang="en-US" sz="900" dirty="0"/>
          </a:p>
        </p:txBody>
      </p:sp>
      <p:sp>
        <p:nvSpPr>
          <p:cNvPr id="15" name="Shape 13"/>
          <p:cNvSpPr/>
          <p:nvPr/>
        </p:nvSpPr>
        <p:spPr>
          <a:xfrm>
            <a:off x="7406640" y="1719072"/>
            <a:ext cx="5486" cy="1280160"/>
          </a:xfrm>
          <a:prstGeom prst="rect">
            <a:avLst/>
          </a:prstGeom>
          <a:solidFill>
            <a:srgbClr val="C9D8F2"/>
          </a:solidFill>
          <a:ln/>
        </p:spPr>
      </p:sp>
      <p:sp>
        <p:nvSpPr>
          <p:cNvPr id="16" name="Text 14"/>
          <p:cNvSpPr/>
          <p:nvPr/>
        </p:nvSpPr>
        <p:spPr>
          <a:xfrm>
            <a:off x="7644384" y="1719072"/>
            <a:ext cx="4023360" cy="201168"/>
          </a:xfrm>
          <a:prstGeom prst="rect">
            <a:avLst/>
          </a:prstGeom>
          <a:noFill/>
          <a:ln/>
        </p:spPr>
        <p:txBody>
          <a:bodyPr wrap="square" lIns="0" tIns="0" rIns="0" bIns="0" rtlCol="0" anchor="ctr"/>
          <a:lstStyle/>
          <a:p>
            <a:pPr marL="0" indent="0" algn="l">
              <a:buNone/>
            </a:pPr>
            <a:r>
              <a:rPr lang="en-US" sz="900" b="1" kern="0" spc="110" dirty="0">
                <a:solidFill>
                  <a:srgbClr val="46577A"/>
                </a:solidFill>
                <a:latin typeface="Aptos" pitchFamily="34" charset="0"/>
                <a:ea typeface="Aptos" pitchFamily="34" charset="-122"/>
                <a:cs typeface="Aptos" pitchFamily="34" charset="-120"/>
              </a:rPr>
              <a:t>STABILISATION - DAILY FLIGHTS OPERATED</a:t>
            </a:r>
            <a:endParaRPr lang="en-US" sz="900" dirty="0"/>
          </a:p>
        </p:txBody>
      </p:sp>
      <p:sp>
        <p:nvSpPr>
          <p:cNvPr id="17" name="Text 15"/>
          <p:cNvSpPr/>
          <p:nvPr/>
        </p:nvSpPr>
        <p:spPr>
          <a:xfrm>
            <a:off x="7644384" y="2029968"/>
            <a:ext cx="603504" cy="256032"/>
          </a:xfrm>
          <a:prstGeom prst="rect">
            <a:avLst/>
          </a:prstGeom>
          <a:noFill/>
          <a:ln/>
        </p:spPr>
        <p:txBody>
          <a:bodyPr wrap="square" lIns="0" tIns="0" rIns="0" bIns="0" rtlCol="0" anchor="ctr"/>
          <a:lstStyle/>
          <a:p>
            <a:pPr marL="0" indent="0">
              <a:buNone/>
            </a:pPr>
            <a:r>
              <a:rPr lang="en-US" sz="950" dirty="0">
                <a:solidFill>
                  <a:srgbClr val="46577A"/>
                </a:solidFill>
                <a:latin typeface="Aptos" pitchFamily="34" charset="0"/>
                <a:ea typeface="Aptos" pitchFamily="34" charset="-122"/>
                <a:cs typeface="Aptos" pitchFamily="34" charset="-120"/>
              </a:rPr>
              <a:t>5 Dec</a:t>
            </a:r>
            <a:endParaRPr lang="en-US" sz="950" dirty="0"/>
          </a:p>
        </p:txBody>
      </p:sp>
      <p:sp>
        <p:nvSpPr>
          <p:cNvPr id="18" name="Shape 16"/>
          <p:cNvSpPr/>
          <p:nvPr/>
        </p:nvSpPr>
        <p:spPr>
          <a:xfrm>
            <a:off x="8284464" y="2075688"/>
            <a:ext cx="1103332" cy="173736"/>
          </a:xfrm>
          <a:prstGeom prst="rect">
            <a:avLst/>
          </a:prstGeom>
          <a:solidFill>
            <a:srgbClr val="C43F2E"/>
          </a:solidFill>
          <a:ln/>
        </p:spPr>
      </p:sp>
      <p:sp>
        <p:nvSpPr>
          <p:cNvPr id="19" name="Text 17"/>
          <p:cNvSpPr/>
          <p:nvPr/>
        </p:nvSpPr>
        <p:spPr>
          <a:xfrm>
            <a:off x="9424372" y="2029968"/>
            <a:ext cx="685800" cy="256032"/>
          </a:xfrm>
          <a:prstGeom prst="rect">
            <a:avLst/>
          </a:prstGeom>
          <a:noFill/>
          <a:ln/>
        </p:spPr>
        <p:txBody>
          <a:bodyPr wrap="square" lIns="0" tIns="0" rIns="0" bIns="0" rtlCol="0" anchor="ctr"/>
          <a:lstStyle/>
          <a:p>
            <a:pPr marL="0" indent="0">
              <a:buNone/>
            </a:pPr>
            <a:r>
              <a:rPr lang="en-US" sz="950" b="1" dirty="0">
                <a:solidFill>
                  <a:srgbClr val="041E47"/>
                </a:solidFill>
                <a:latin typeface="Aptos" pitchFamily="34" charset="0"/>
                <a:ea typeface="Aptos" pitchFamily="34" charset="-122"/>
                <a:cs typeface="Aptos" pitchFamily="34" charset="-120"/>
              </a:rPr>
              <a:t>706</a:t>
            </a:r>
            <a:endParaRPr lang="en-US" sz="950" dirty="0"/>
          </a:p>
        </p:txBody>
      </p:sp>
      <p:sp>
        <p:nvSpPr>
          <p:cNvPr id="20" name="Text 18"/>
          <p:cNvSpPr/>
          <p:nvPr/>
        </p:nvSpPr>
        <p:spPr>
          <a:xfrm>
            <a:off x="7644384" y="2340864"/>
            <a:ext cx="603504" cy="256032"/>
          </a:xfrm>
          <a:prstGeom prst="rect">
            <a:avLst/>
          </a:prstGeom>
          <a:noFill/>
          <a:ln/>
        </p:spPr>
        <p:txBody>
          <a:bodyPr wrap="square" lIns="0" tIns="0" rIns="0" bIns="0" rtlCol="0" anchor="ctr"/>
          <a:lstStyle/>
          <a:p>
            <a:pPr marL="0" indent="0">
              <a:buNone/>
            </a:pPr>
            <a:r>
              <a:rPr lang="en-US" sz="950" dirty="0">
                <a:solidFill>
                  <a:srgbClr val="46577A"/>
                </a:solidFill>
                <a:latin typeface="Aptos" pitchFamily="34" charset="0"/>
                <a:ea typeface="Aptos" pitchFamily="34" charset="-122"/>
                <a:cs typeface="Aptos" pitchFamily="34" charset="-120"/>
              </a:rPr>
              <a:t>6 Dec</a:t>
            </a:r>
            <a:endParaRPr lang="en-US" sz="950" dirty="0"/>
          </a:p>
        </p:txBody>
      </p:sp>
      <p:sp>
        <p:nvSpPr>
          <p:cNvPr id="21" name="Shape 19"/>
          <p:cNvSpPr/>
          <p:nvPr/>
        </p:nvSpPr>
        <p:spPr>
          <a:xfrm>
            <a:off x="8284464" y="2386584"/>
            <a:ext cx="2445771" cy="173736"/>
          </a:xfrm>
          <a:prstGeom prst="rect">
            <a:avLst/>
          </a:prstGeom>
          <a:solidFill>
            <a:srgbClr val="2F6BD8"/>
          </a:solidFill>
          <a:ln/>
        </p:spPr>
      </p:sp>
      <p:sp>
        <p:nvSpPr>
          <p:cNvPr id="22" name="Text 20"/>
          <p:cNvSpPr/>
          <p:nvPr/>
        </p:nvSpPr>
        <p:spPr>
          <a:xfrm>
            <a:off x="10766811" y="2340864"/>
            <a:ext cx="685800" cy="256032"/>
          </a:xfrm>
          <a:prstGeom prst="rect">
            <a:avLst/>
          </a:prstGeom>
          <a:noFill/>
          <a:ln/>
        </p:spPr>
        <p:txBody>
          <a:bodyPr wrap="square" lIns="0" tIns="0" rIns="0" bIns="0" rtlCol="0" anchor="ctr"/>
          <a:lstStyle/>
          <a:p>
            <a:pPr marL="0" indent="0">
              <a:buNone/>
            </a:pPr>
            <a:r>
              <a:rPr lang="en-US" sz="950" b="1" dirty="0">
                <a:solidFill>
                  <a:srgbClr val="041E47"/>
                </a:solidFill>
                <a:latin typeface="Aptos" pitchFamily="34" charset="0"/>
                <a:ea typeface="Aptos" pitchFamily="34" charset="-122"/>
                <a:cs typeface="Aptos" pitchFamily="34" charset="-120"/>
              </a:rPr>
              <a:t>1565</a:t>
            </a:r>
            <a:endParaRPr lang="en-US" sz="950" dirty="0"/>
          </a:p>
        </p:txBody>
      </p:sp>
      <p:sp>
        <p:nvSpPr>
          <p:cNvPr id="23" name="Text 21"/>
          <p:cNvSpPr/>
          <p:nvPr/>
        </p:nvSpPr>
        <p:spPr>
          <a:xfrm>
            <a:off x="7644384" y="2651760"/>
            <a:ext cx="603504" cy="256032"/>
          </a:xfrm>
          <a:prstGeom prst="rect">
            <a:avLst/>
          </a:prstGeom>
          <a:noFill/>
          <a:ln/>
        </p:spPr>
        <p:txBody>
          <a:bodyPr wrap="square" lIns="0" tIns="0" rIns="0" bIns="0" rtlCol="0" anchor="ctr"/>
          <a:lstStyle/>
          <a:p>
            <a:pPr marL="0" indent="0">
              <a:buNone/>
            </a:pPr>
            <a:r>
              <a:rPr lang="en-US" sz="950" dirty="0">
                <a:solidFill>
                  <a:srgbClr val="46577A"/>
                </a:solidFill>
                <a:latin typeface="Aptos" pitchFamily="34" charset="0"/>
                <a:ea typeface="Aptos" pitchFamily="34" charset="-122"/>
                <a:cs typeface="Aptos" pitchFamily="34" charset="-120"/>
              </a:rPr>
              <a:t>7 Dec</a:t>
            </a:r>
            <a:endParaRPr lang="en-US" sz="950" dirty="0"/>
          </a:p>
        </p:txBody>
      </p:sp>
      <p:sp>
        <p:nvSpPr>
          <p:cNvPr id="24" name="Shape 22"/>
          <p:cNvSpPr/>
          <p:nvPr/>
        </p:nvSpPr>
        <p:spPr>
          <a:xfrm>
            <a:off x="8284464" y="2697480"/>
            <a:ext cx="2578608" cy="173736"/>
          </a:xfrm>
          <a:prstGeom prst="rect">
            <a:avLst/>
          </a:prstGeom>
          <a:solidFill>
            <a:srgbClr val="0E8A7A"/>
          </a:solidFill>
          <a:ln/>
        </p:spPr>
      </p:sp>
      <p:sp>
        <p:nvSpPr>
          <p:cNvPr id="25" name="Text 23"/>
          <p:cNvSpPr/>
          <p:nvPr/>
        </p:nvSpPr>
        <p:spPr>
          <a:xfrm>
            <a:off x="10899648" y="2651760"/>
            <a:ext cx="685800" cy="256032"/>
          </a:xfrm>
          <a:prstGeom prst="rect">
            <a:avLst/>
          </a:prstGeom>
          <a:noFill/>
          <a:ln/>
        </p:spPr>
        <p:txBody>
          <a:bodyPr wrap="square" lIns="0" tIns="0" rIns="0" bIns="0" rtlCol="0" anchor="ctr"/>
          <a:lstStyle/>
          <a:p>
            <a:pPr marL="0" indent="0">
              <a:buNone/>
            </a:pPr>
            <a:r>
              <a:rPr lang="en-US" sz="950" b="1" dirty="0">
                <a:solidFill>
                  <a:srgbClr val="041E47"/>
                </a:solidFill>
                <a:latin typeface="Aptos" pitchFamily="34" charset="0"/>
                <a:ea typeface="Aptos" pitchFamily="34" charset="-122"/>
                <a:cs typeface="Aptos" pitchFamily="34" charset="-120"/>
              </a:rPr>
              <a:t>1650</a:t>
            </a:r>
            <a:endParaRPr lang="en-US" sz="950" dirty="0"/>
          </a:p>
        </p:txBody>
      </p:sp>
      <p:sp>
        <p:nvSpPr>
          <p:cNvPr id="26" name="Text 24"/>
          <p:cNvSpPr/>
          <p:nvPr/>
        </p:nvSpPr>
        <p:spPr>
          <a:xfrm>
            <a:off x="7644384" y="2962656"/>
            <a:ext cx="4041648" cy="201168"/>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7 Dec figure was the level expected as operations normalised.</a:t>
            </a:r>
            <a:endParaRPr lang="en-US" sz="800" dirty="0"/>
          </a:p>
        </p:txBody>
      </p:sp>
      <p:sp>
        <p:nvSpPr>
          <p:cNvPr id="27" name="Shape 25"/>
          <p:cNvSpPr/>
          <p:nvPr/>
        </p:nvSpPr>
        <p:spPr>
          <a:xfrm>
            <a:off x="502920" y="3255264"/>
            <a:ext cx="11185855" cy="5486"/>
          </a:xfrm>
          <a:prstGeom prst="rect">
            <a:avLst/>
          </a:prstGeom>
          <a:solidFill>
            <a:srgbClr val="C9D8F2"/>
          </a:solidFill>
          <a:ln/>
        </p:spPr>
      </p:sp>
      <p:sp>
        <p:nvSpPr>
          <p:cNvPr id="28" name="Text 26"/>
          <p:cNvSpPr/>
          <p:nvPr/>
        </p:nvSpPr>
        <p:spPr>
          <a:xfrm>
            <a:off x="502920" y="3401568"/>
            <a:ext cx="54864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WHAT THE EPISODE TESTED</a:t>
            </a:r>
            <a:endParaRPr lang="en-US" sz="1000" dirty="0"/>
          </a:p>
        </p:txBody>
      </p:sp>
      <p:sp>
        <p:nvSpPr>
          <p:cNvPr id="29" name="Shape 27"/>
          <p:cNvSpPr/>
          <p:nvPr/>
        </p:nvSpPr>
        <p:spPr>
          <a:xfrm>
            <a:off x="502920" y="3694176"/>
            <a:ext cx="2679192" cy="1298448"/>
          </a:xfrm>
          <a:prstGeom prst="rect">
            <a:avLst/>
          </a:prstGeom>
          <a:solidFill>
            <a:srgbClr val="C43F2E"/>
          </a:solidFill>
          <a:ln/>
        </p:spPr>
      </p:sp>
      <p:sp>
        <p:nvSpPr>
          <p:cNvPr id="30" name="Text 28"/>
          <p:cNvSpPr/>
          <p:nvPr/>
        </p:nvSpPr>
        <p:spPr>
          <a:xfrm>
            <a:off x="630936" y="3803904"/>
            <a:ext cx="2423160" cy="274320"/>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CRISIS</a:t>
            </a:r>
            <a:endParaRPr lang="en-US" sz="950" dirty="0"/>
          </a:p>
        </p:txBody>
      </p:sp>
      <p:sp>
        <p:nvSpPr>
          <p:cNvPr id="31" name="Text 29"/>
          <p:cNvSpPr/>
          <p:nvPr/>
        </p:nvSpPr>
        <p:spPr>
          <a:xfrm>
            <a:off x="630936" y="4096512"/>
            <a:ext cx="2423160" cy="804672"/>
          </a:xfrm>
          <a:prstGeom prst="rect">
            <a:avLst/>
          </a:prstGeom>
          <a:noFill/>
          <a:ln/>
        </p:spPr>
        <p:txBody>
          <a:bodyPr wrap="square" lIns="0" tIns="0" rIns="0" bIns="0" rtlCol="0" anchor="t"/>
          <a:lstStyle/>
          <a:p>
            <a:pPr marL="0" indent="0">
              <a:lnSpc>
                <a:spcPct val="106000"/>
              </a:lnSpc>
              <a:buNone/>
            </a:pPr>
            <a:r>
              <a:rPr lang="en-US" sz="950" dirty="0">
                <a:solidFill>
                  <a:srgbClr val="EAF0FB"/>
                </a:solidFill>
                <a:latin typeface="Aptos" pitchFamily="34" charset="0"/>
                <a:ea typeface="Aptos" pitchFamily="34" charset="-122"/>
                <a:cs typeface="Aptos" pitchFamily="34" charset="-120"/>
              </a:rPr>
              <a:t>FDTL and crew-planning pressure, network planning, software support and operational control converge</a:t>
            </a:r>
            <a:endParaRPr lang="en-US" sz="950" dirty="0"/>
          </a:p>
        </p:txBody>
      </p:sp>
      <p:sp>
        <p:nvSpPr>
          <p:cNvPr id="32" name="Shape 30"/>
          <p:cNvSpPr/>
          <p:nvPr/>
        </p:nvSpPr>
        <p:spPr>
          <a:xfrm rot="5400000">
            <a:off x="3209544" y="4279392"/>
            <a:ext cx="128016" cy="146304"/>
          </a:xfrm>
          <a:prstGeom prst="triangle">
            <a:avLst/>
          </a:prstGeom>
          <a:solidFill>
            <a:srgbClr val="6B7280"/>
          </a:solidFill>
          <a:ln/>
        </p:spPr>
      </p:sp>
      <p:sp>
        <p:nvSpPr>
          <p:cNvPr id="33" name="Shape 31"/>
          <p:cNvSpPr/>
          <p:nvPr/>
        </p:nvSpPr>
        <p:spPr>
          <a:xfrm>
            <a:off x="3364992" y="3694176"/>
            <a:ext cx="2679192" cy="1298448"/>
          </a:xfrm>
          <a:prstGeom prst="rect">
            <a:avLst/>
          </a:prstGeom>
          <a:solidFill>
            <a:srgbClr val="D98A00"/>
          </a:solidFill>
          <a:ln/>
        </p:spPr>
      </p:sp>
      <p:sp>
        <p:nvSpPr>
          <p:cNvPr id="34" name="Text 32"/>
          <p:cNvSpPr/>
          <p:nvPr/>
        </p:nvSpPr>
        <p:spPr>
          <a:xfrm>
            <a:off x="3493008" y="3803904"/>
            <a:ext cx="2423160" cy="274320"/>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INTERVENTION</a:t>
            </a:r>
            <a:endParaRPr lang="en-US" sz="950" dirty="0"/>
          </a:p>
        </p:txBody>
      </p:sp>
      <p:sp>
        <p:nvSpPr>
          <p:cNvPr id="35" name="Text 33"/>
          <p:cNvSpPr/>
          <p:nvPr/>
        </p:nvSpPr>
        <p:spPr>
          <a:xfrm>
            <a:off x="3493008" y="4096512"/>
            <a:ext cx="2423160" cy="804672"/>
          </a:xfrm>
          <a:prstGeom prst="rect">
            <a:avLst/>
          </a:prstGeom>
          <a:noFill/>
          <a:ln/>
        </p:spPr>
        <p:txBody>
          <a:bodyPr wrap="square" lIns="0" tIns="0" rIns="0" bIns="0" rtlCol="0" anchor="t"/>
          <a:lstStyle/>
          <a:p>
            <a:pPr marL="0" indent="0">
              <a:lnSpc>
                <a:spcPct val="106000"/>
              </a:lnSpc>
              <a:buNone/>
            </a:pPr>
            <a:r>
              <a:rPr lang="en-US" sz="950" dirty="0">
                <a:solidFill>
                  <a:srgbClr val="EAF0FB"/>
                </a:solidFill>
                <a:latin typeface="Aptos" pitchFamily="34" charset="0"/>
                <a:ea typeface="Aptos" pitchFamily="34" charset="-122"/>
                <a:cs typeface="Aptos" pitchFamily="34" charset="-120"/>
              </a:rPr>
              <a:t>MoCA placed the FDTL orders in abeyance on 5 December 2025</a:t>
            </a:r>
            <a:endParaRPr lang="en-US" sz="950" dirty="0"/>
          </a:p>
        </p:txBody>
      </p:sp>
      <p:sp>
        <p:nvSpPr>
          <p:cNvPr id="36" name="Shape 34"/>
          <p:cNvSpPr/>
          <p:nvPr/>
        </p:nvSpPr>
        <p:spPr>
          <a:xfrm rot="5400000">
            <a:off x="6071616" y="4279392"/>
            <a:ext cx="128016" cy="146304"/>
          </a:xfrm>
          <a:prstGeom prst="triangle">
            <a:avLst/>
          </a:prstGeom>
          <a:solidFill>
            <a:srgbClr val="6B7280"/>
          </a:solidFill>
          <a:ln/>
        </p:spPr>
      </p:sp>
      <p:sp>
        <p:nvSpPr>
          <p:cNvPr id="37" name="Shape 35"/>
          <p:cNvSpPr/>
          <p:nvPr/>
        </p:nvSpPr>
        <p:spPr>
          <a:xfrm>
            <a:off x="6227064" y="3694176"/>
            <a:ext cx="2679192" cy="1298448"/>
          </a:xfrm>
          <a:prstGeom prst="rect">
            <a:avLst/>
          </a:prstGeom>
          <a:solidFill>
            <a:srgbClr val="2F6BD8"/>
          </a:solidFill>
          <a:ln/>
        </p:spPr>
      </p:sp>
      <p:sp>
        <p:nvSpPr>
          <p:cNvPr id="38" name="Text 36"/>
          <p:cNvSpPr/>
          <p:nvPr/>
        </p:nvSpPr>
        <p:spPr>
          <a:xfrm>
            <a:off x="6355080" y="3803904"/>
            <a:ext cx="2423160" cy="274320"/>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STABILISATION</a:t>
            </a:r>
            <a:endParaRPr lang="en-US" sz="950" dirty="0"/>
          </a:p>
        </p:txBody>
      </p:sp>
      <p:sp>
        <p:nvSpPr>
          <p:cNvPr id="39" name="Text 37"/>
          <p:cNvSpPr/>
          <p:nvPr/>
        </p:nvSpPr>
        <p:spPr>
          <a:xfrm>
            <a:off x="6355080" y="4096512"/>
            <a:ext cx="2423160" cy="804672"/>
          </a:xfrm>
          <a:prstGeom prst="rect">
            <a:avLst/>
          </a:prstGeom>
          <a:noFill/>
          <a:ln/>
        </p:spPr>
        <p:txBody>
          <a:bodyPr wrap="square" lIns="0" tIns="0" rIns="0" bIns="0" rtlCol="0" anchor="t"/>
          <a:lstStyle/>
          <a:p>
            <a:pPr marL="0" indent="0">
              <a:lnSpc>
                <a:spcPct val="106000"/>
              </a:lnSpc>
              <a:buNone/>
            </a:pPr>
            <a:r>
              <a:rPr lang="en-US" sz="950" dirty="0">
                <a:solidFill>
                  <a:srgbClr val="EAF0FB"/>
                </a:solidFill>
                <a:latin typeface="Aptos" pitchFamily="34" charset="0"/>
                <a:ea typeface="Aptos" pitchFamily="34" charset="-122"/>
                <a:cs typeface="Aptos" pitchFamily="34" charset="-120"/>
              </a:rPr>
              <a:t>Daily operations recovered from 706 to 1,565 flights within 24 hours</a:t>
            </a:r>
            <a:endParaRPr lang="en-US" sz="950" dirty="0"/>
          </a:p>
        </p:txBody>
      </p:sp>
      <p:sp>
        <p:nvSpPr>
          <p:cNvPr id="40" name="Shape 38"/>
          <p:cNvSpPr/>
          <p:nvPr/>
        </p:nvSpPr>
        <p:spPr>
          <a:xfrm rot="5400000">
            <a:off x="8933688" y="4279392"/>
            <a:ext cx="128016" cy="146304"/>
          </a:xfrm>
          <a:prstGeom prst="triangle">
            <a:avLst/>
          </a:prstGeom>
          <a:solidFill>
            <a:srgbClr val="6B7280"/>
          </a:solidFill>
          <a:ln/>
        </p:spPr>
      </p:sp>
      <p:sp>
        <p:nvSpPr>
          <p:cNvPr id="41" name="Shape 39"/>
          <p:cNvSpPr/>
          <p:nvPr/>
        </p:nvSpPr>
        <p:spPr>
          <a:xfrm>
            <a:off x="9089136" y="3694176"/>
            <a:ext cx="2679192" cy="1298448"/>
          </a:xfrm>
          <a:prstGeom prst="rect">
            <a:avLst/>
          </a:prstGeom>
          <a:solidFill>
            <a:srgbClr val="041E47"/>
          </a:solidFill>
          <a:ln/>
        </p:spPr>
      </p:sp>
      <p:sp>
        <p:nvSpPr>
          <p:cNvPr id="42" name="Text 40"/>
          <p:cNvSpPr/>
          <p:nvPr/>
        </p:nvSpPr>
        <p:spPr>
          <a:xfrm>
            <a:off x="9217152" y="3803904"/>
            <a:ext cx="2423160" cy="274320"/>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OPERATING-MODEL LESSON</a:t>
            </a:r>
            <a:endParaRPr lang="en-US" sz="950" dirty="0"/>
          </a:p>
        </p:txBody>
      </p:sp>
      <p:sp>
        <p:nvSpPr>
          <p:cNvPr id="43" name="Text 41"/>
          <p:cNvSpPr/>
          <p:nvPr/>
        </p:nvSpPr>
        <p:spPr>
          <a:xfrm>
            <a:off x="9217152" y="4096512"/>
            <a:ext cx="2423160" cy="804672"/>
          </a:xfrm>
          <a:prstGeom prst="rect">
            <a:avLst/>
          </a:prstGeom>
          <a:noFill/>
          <a:ln/>
        </p:spPr>
        <p:txBody>
          <a:bodyPr wrap="square" lIns="0" tIns="0" rIns="0" bIns="0" rtlCol="0" anchor="t"/>
          <a:lstStyle/>
          <a:p>
            <a:pPr marL="0" indent="0">
              <a:lnSpc>
                <a:spcPct val="106000"/>
              </a:lnSpc>
              <a:buNone/>
            </a:pPr>
            <a:r>
              <a:rPr lang="en-US" sz="950" dirty="0">
                <a:solidFill>
                  <a:srgbClr val="EAF0FB"/>
                </a:solidFill>
                <a:latin typeface="Aptos" pitchFamily="34" charset="0"/>
                <a:ea typeface="Aptos" pitchFamily="34" charset="-122"/>
                <a:cs typeface="Aptos" pitchFamily="34" charset="-120"/>
              </a:rPr>
              <a:t>A system tuned for maximum efficiency has little absorptive capacity when one input fails</a:t>
            </a:r>
            <a:endParaRPr lang="en-US" sz="950" dirty="0"/>
          </a:p>
        </p:txBody>
      </p:sp>
      <p:sp>
        <p:nvSpPr>
          <p:cNvPr id="44" name="Shape 42"/>
          <p:cNvSpPr/>
          <p:nvPr/>
        </p:nvSpPr>
        <p:spPr>
          <a:xfrm>
            <a:off x="502920" y="5175504"/>
            <a:ext cx="11185855" cy="566928"/>
          </a:xfrm>
          <a:prstGeom prst="rect">
            <a:avLst/>
          </a:prstGeom>
          <a:solidFill>
            <a:srgbClr val="F4F7FD"/>
          </a:solidFill>
          <a:ln/>
        </p:spPr>
      </p:sp>
      <p:sp>
        <p:nvSpPr>
          <p:cNvPr id="45" name="Text 43"/>
          <p:cNvSpPr/>
          <p:nvPr/>
        </p:nvSpPr>
        <p:spPr>
          <a:xfrm>
            <a:off x="704088" y="5175504"/>
            <a:ext cx="10789920" cy="566928"/>
          </a:xfrm>
          <a:prstGeom prst="rect">
            <a:avLst/>
          </a:prstGeom>
          <a:noFill/>
          <a:ln/>
        </p:spPr>
        <p:txBody>
          <a:bodyPr wrap="square" lIns="0" tIns="0" rIns="0" bIns="0" rtlCol="0" anchor="ctr"/>
          <a:lstStyle/>
          <a:p>
            <a:r>
              <a:rPr lang="en-IN" sz="1200" b="1" u="sng" dirty="0"/>
              <a:t>Strategic implication: </a:t>
            </a:r>
            <a:r>
              <a:rPr lang="en-IN" sz="1200" dirty="0"/>
              <a:t>High operating efficiency can reduce absorptive capacity when a critical input fails.</a:t>
            </a:r>
            <a:endParaRPr lang="en-US" sz="1150" dirty="0"/>
          </a:p>
        </p:txBody>
      </p:sp>
      <p:sp>
        <p:nvSpPr>
          <p:cNvPr id="46" name="Shape 44"/>
          <p:cNvSpPr/>
          <p:nvPr/>
        </p:nvSpPr>
        <p:spPr>
          <a:xfrm>
            <a:off x="502920" y="5870448"/>
            <a:ext cx="11185855" cy="384048"/>
          </a:xfrm>
          <a:prstGeom prst="rect">
            <a:avLst/>
          </a:prstGeom>
          <a:solidFill>
            <a:srgbClr val="FFFFFF"/>
          </a:solidFill>
          <a:ln w="9525">
            <a:solidFill>
              <a:srgbClr val="6B7280"/>
            </a:solidFill>
            <a:prstDash val="dash"/>
          </a:ln>
        </p:spPr>
      </p:sp>
      <p:sp>
        <p:nvSpPr>
          <p:cNvPr id="47" name="Shape 45"/>
          <p:cNvSpPr/>
          <p:nvPr/>
        </p:nvSpPr>
        <p:spPr>
          <a:xfrm>
            <a:off x="594360" y="5975604"/>
            <a:ext cx="1344168" cy="173736"/>
          </a:xfrm>
          <a:prstGeom prst="rect">
            <a:avLst/>
          </a:prstGeom>
          <a:solidFill>
            <a:srgbClr val="FFFFFF"/>
          </a:solidFill>
          <a:ln w="9525">
            <a:solidFill>
              <a:srgbClr val="6B7280"/>
            </a:solidFill>
            <a:prstDash val="dash"/>
          </a:ln>
        </p:spPr>
      </p:sp>
      <p:sp>
        <p:nvSpPr>
          <p:cNvPr id="48" name="Text 46"/>
          <p:cNvSpPr/>
          <p:nvPr/>
        </p:nvSpPr>
        <p:spPr>
          <a:xfrm>
            <a:off x="594360" y="5975604"/>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49" name="Text 47"/>
          <p:cNvSpPr/>
          <p:nvPr/>
        </p:nvSpPr>
        <p:spPr>
          <a:xfrm>
            <a:off x="2048256" y="5907024"/>
            <a:ext cx="9530791" cy="310896"/>
          </a:xfrm>
          <a:prstGeom prst="rect">
            <a:avLst/>
          </a:prstGeom>
          <a:noFill/>
          <a:ln/>
        </p:spPr>
        <p:txBody>
          <a:bodyPr wrap="square" lIns="0" tIns="0" rIns="0" bIns="0" rtlCol="0" anchor="ctr"/>
          <a:lstStyle/>
          <a:p>
            <a:r>
              <a:rPr lang="en-IN" sz="1000" dirty="0"/>
              <a:t>External evidence only; not used to revise CIS findings.</a:t>
            </a:r>
            <a:endParaRPr lang="en-US" sz="950" dirty="0"/>
          </a:p>
        </p:txBody>
      </p:sp>
      <p:sp>
        <p:nvSpPr>
          <p:cNvPr id="50" name="Shape 48"/>
          <p:cNvSpPr/>
          <p:nvPr/>
        </p:nvSpPr>
        <p:spPr>
          <a:xfrm>
            <a:off x="502920" y="6309360"/>
            <a:ext cx="11185855" cy="5486"/>
          </a:xfrm>
          <a:prstGeom prst="rect">
            <a:avLst/>
          </a:prstGeom>
          <a:solidFill>
            <a:srgbClr val="C9D8F2"/>
          </a:solidFill>
          <a:ln/>
        </p:spPr>
      </p:sp>
      <p:sp>
        <p:nvSpPr>
          <p:cNvPr id="51" name="Text 49"/>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52" name="Text 50"/>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External Lens: Government of India - Ministry of Civil Aviation / PIB (December 2025)</a:t>
            </a:r>
            <a:endParaRPr lang="en-US" sz="800" dirty="0"/>
          </a:p>
        </p:txBody>
      </p:sp>
      <p:sp>
        <p:nvSpPr>
          <p:cNvPr id="53" name="Shape 51"/>
          <p:cNvSpPr/>
          <p:nvPr/>
        </p:nvSpPr>
        <p:spPr>
          <a:xfrm>
            <a:off x="11484864" y="6364224"/>
            <a:ext cx="201168" cy="201168"/>
          </a:xfrm>
          <a:prstGeom prst="rect">
            <a:avLst/>
          </a:prstGeom>
          <a:solidFill>
            <a:srgbClr val="0032A0"/>
          </a:solidFill>
          <a:ln/>
        </p:spPr>
      </p:sp>
      <p:sp>
        <p:nvSpPr>
          <p:cNvPr id="54" name="Text 52"/>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03 - STRESS TEST AND THE NEXT ADVANTAGE</a:t>
            </a:r>
            <a:endParaRPr lang="en-US" sz="1000" dirty="0"/>
          </a:p>
        </p:txBody>
      </p:sp>
      <p:sp>
        <p:nvSpPr>
          <p:cNvPr id="3" name="Shape 1"/>
          <p:cNvSpPr/>
          <p:nvPr/>
        </p:nvSpPr>
        <p:spPr>
          <a:xfrm>
            <a:off x="502919" y="571500"/>
            <a:ext cx="2610729" cy="45719"/>
          </a:xfrm>
          <a:prstGeom prst="rect">
            <a:avLst/>
          </a:prstGeom>
          <a:solidFill>
            <a:srgbClr val="0032A0"/>
          </a:solidFill>
          <a:ln/>
        </p:spPr>
      </p:sp>
      <p:sp>
        <p:nvSpPr>
          <p:cNvPr id="4" name="Text 2"/>
          <p:cNvSpPr/>
          <p:nvPr/>
        </p:nvSpPr>
        <p:spPr>
          <a:xfrm>
            <a:off x="500177" y="658368"/>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The next competitive advantage is resilient optimisation, not maximum optimisation</a:t>
            </a:r>
            <a:endParaRPr lang="en-US" sz="2250" dirty="0"/>
          </a:p>
        </p:txBody>
      </p:sp>
      <p:sp>
        <p:nvSpPr>
          <p:cNvPr id="5" name="Shape 3"/>
          <p:cNvSpPr/>
          <p:nvPr/>
        </p:nvSpPr>
        <p:spPr>
          <a:xfrm>
            <a:off x="502920" y="1426464"/>
            <a:ext cx="5138928" cy="310896"/>
          </a:xfrm>
          <a:prstGeom prst="rect">
            <a:avLst/>
          </a:prstGeom>
          <a:solidFill>
            <a:srgbClr val="041E47"/>
          </a:solidFill>
          <a:ln/>
        </p:spPr>
      </p:sp>
      <p:sp>
        <p:nvSpPr>
          <p:cNvPr id="6" name="Text 4"/>
          <p:cNvSpPr/>
          <p:nvPr/>
        </p:nvSpPr>
        <p:spPr>
          <a:xfrm>
            <a:off x="649224" y="1426464"/>
            <a:ext cx="4846320" cy="310896"/>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HISTORICAL OPERATING ADVANTAGE</a:t>
            </a:r>
            <a:endParaRPr lang="en-US" sz="950" dirty="0"/>
          </a:p>
        </p:txBody>
      </p:sp>
      <p:sp>
        <p:nvSpPr>
          <p:cNvPr id="7" name="Shape 5"/>
          <p:cNvSpPr/>
          <p:nvPr/>
        </p:nvSpPr>
        <p:spPr>
          <a:xfrm>
            <a:off x="502920" y="1847088"/>
            <a:ext cx="5138928" cy="347472"/>
          </a:xfrm>
          <a:prstGeom prst="rect">
            <a:avLst/>
          </a:prstGeom>
          <a:solidFill>
            <a:srgbClr val="F4F7FD"/>
          </a:solidFill>
          <a:ln/>
        </p:spPr>
      </p:sp>
      <p:sp>
        <p:nvSpPr>
          <p:cNvPr id="8" name="Text 6"/>
          <p:cNvSpPr/>
          <p:nvPr/>
        </p:nvSpPr>
        <p:spPr>
          <a:xfrm>
            <a:off x="685800" y="1847088"/>
            <a:ext cx="4773168" cy="347472"/>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Standardisation</a:t>
            </a:r>
            <a:endParaRPr lang="en-US" sz="1050" dirty="0"/>
          </a:p>
        </p:txBody>
      </p:sp>
      <p:sp>
        <p:nvSpPr>
          <p:cNvPr id="9" name="Shape 7"/>
          <p:cNvSpPr/>
          <p:nvPr/>
        </p:nvSpPr>
        <p:spPr>
          <a:xfrm>
            <a:off x="502920" y="2249424"/>
            <a:ext cx="5138928" cy="347472"/>
          </a:xfrm>
          <a:prstGeom prst="rect">
            <a:avLst/>
          </a:prstGeom>
          <a:solidFill>
            <a:srgbClr val="F4F7FD"/>
          </a:solidFill>
          <a:ln/>
        </p:spPr>
      </p:sp>
      <p:sp>
        <p:nvSpPr>
          <p:cNvPr id="10" name="Text 8"/>
          <p:cNvSpPr/>
          <p:nvPr/>
        </p:nvSpPr>
        <p:spPr>
          <a:xfrm>
            <a:off x="685800" y="2249424"/>
            <a:ext cx="4773168" cy="347472"/>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High utilisation</a:t>
            </a:r>
            <a:endParaRPr lang="en-US" sz="1050" dirty="0"/>
          </a:p>
        </p:txBody>
      </p:sp>
      <p:sp>
        <p:nvSpPr>
          <p:cNvPr id="11" name="Shape 9"/>
          <p:cNvSpPr/>
          <p:nvPr/>
        </p:nvSpPr>
        <p:spPr>
          <a:xfrm>
            <a:off x="502920" y="2651760"/>
            <a:ext cx="5138928" cy="347472"/>
          </a:xfrm>
          <a:prstGeom prst="rect">
            <a:avLst/>
          </a:prstGeom>
          <a:solidFill>
            <a:srgbClr val="F4F7FD"/>
          </a:solidFill>
          <a:ln/>
        </p:spPr>
      </p:sp>
      <p:sp>
        <p:nvSpPr>
          <p:cNvPr id="12" name="Text 10"/>
          <p:cNvSpPr/>
          <p:nvPr/>
        </p:nvSpPr>
        <p:spPr>
          <a:xfrm>
            <a:off x="685800" y="2651760"/>
            <a:ext cx="4773168" cy="347472"/>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Tight scheduling</a:t>
            </a:r>
            <a:endParaRPr lang="en-US" sz="1050" dirty="0"/>
          </a:p>
        </p:txBody>
      </p:sp>
      <p:sp>
        <p:nvSpPr>
          <p:cNvPr id="13" name="Shape 11"/>
          <p:cNvSpPr/>
          <p:nvPr/>
        </p:nvSpPr>
        <p:spPr>
          <a:xfrm>
            <a:off x="502920" y="3054096"/>
            <a:ext cx="5138928" cy="347472"/>
          </a:xfrm>
          <a:prstGeom prst="rect">
            <a:avLst/>
          </a:prstGeom>
          <a:solidFill>
            <a:srgbClr val="F4F7FD"/>
          </a:solidFill>
          <a:ln/>
        </p:spPr>
      </p:sp>
      <p:sp>
        <p:nvSpPr>
          <p:cNvPr id="14" name="Text 12"/>
          <p:cNvSpPr/>
          <p:nvPr/>
        </p:nvSpPr>
        <p:spPr>
          <a:xfrm>
            <a:off x="685800" y="3054096"/>
            <a:ext cx="4773168" cy="347472"/>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Low complexity</a:t>
            </a:r>
            <a:endParaRPr lang="en-US" sz="1050" dirty="0"/>
          </a:p>
        </p:txBody>
      </p:sp>
      <p:sp>
        <p:nvSpPr>
          <p:cNvPr id="15" name="Shape 13"/>
          <p:cNvSpPr/>
          <p:nvPr/>
        </p:nvSpPr>
        <p:spPr>
          <a:xfrm>
            <a:off x="502920" y="3456432"/>
            <a:ext cx="5138928" cy="347472"/>
          </a:xfrm>
          <a:prstGeom prst="rect">
            <a:avLst/>
          </a:prstGeom>
          <a:solidFill>
            <a:srgbClr val="F4F7FD"/>
          </a:solidFill>
          <a:ln/>
        </p:spPr>
      </p:sp>
      <p:sp>
        <p:nvSpPr>
          <p:cNvPr id="16" name="Text 14"/>
          <p:cNvSpPr/>
          <p:nvPr/>
        </p:nvSpPr>
        <p:spPr>
          <a:xfrm>
            <a:off x="685800" y="3456432"/>
            <a:ext cx="4773168" cy="347472"/>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Scale</a:t>
            </a:r>
            <a:endParaRPr lang="en-US" sz="1050" dirty="0"/>
          </a:p>
        </p:txBody>
      </p:sp>
      <p:sp>
        <p:nvSpPr>
          <p:cNvPr id="17" name="Shape 15"/>
          <p:cNvSpPr/>
          <p:nvPr/>
        </p:nvSpPr>
        <p:spPr>
          <a:xfrm>
            <a:off x="6547104" y="1426464"/>
            <a:ext cx="5138928" cy="310896"/>
          </a:xfrm>
          <a:prstGeom prst="rect">
            <a:avLst/>
          </a:prstGeom>
          <a:solidFill>
            <a:srgbClr val="0032A0"/>
          </a:solidFill>
          <a:ln/>
        </p:spPr>
      </p:sp>
      <p:sp>
        <p:nvSpPr>
          <p:cNvPr id="18" name="Text 16"/>
          <p:cNvSpPr/>
          <p:nvPr/>
        </p:nvSpPr>
        <p:spPr>
          <a:xfrm>
            <a:off x="6693408" y="1426464"/>
            <a:ext cx="4846320" cy="310896"/>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NEW REQUIREMENTS</a:t>
            </a:r>
            <a:endParaRPr lang="en-US" sz="950" dirty="0"/>
          </a:p>
        </p:txBody>
      </p:sp>
      <p:sp>
        <p:nvSpPr>
          <p:cNvPr id="19" name="Shape 17"/>
          <p:cNvSpPr/>
          <p:nvPr/>
        </p:nvSpPr>
        <p:spPr>
          <a:xfrm>
            <a:off x="6547104" y="1847088"/>
            <a:ext cx="5138928" cy="283464"/>
          </a:xfrm>
          <a:prstGeom prst="rect">
            <a:avLst/>
          </a:prstGeom>
          <a:solidFill>
            <a:srgbClr val="DCE7FA"/>
          </a:solidFill>
          <a:ln/>
        </p:spPr>
      </p:sp>
      <p:sp>
        <p:nvSpPr>
          <p:cNvPr id="20" name="Text 18"/>
          <p:cNvSpPr/>
          <p:nvPr/>
        </p:nvSpPr>
        <p:spPr>
          <a:xfrm>
            <a:off x="6729984" y="1847088"/>
            <a:ext cx="4773168" cy="283464"/>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Regulatory preparedness</a:t>
            </a:r>
            <a:endParaRPr lang="en-US" sz="1050" dirty="0"/>
          </a:p>
        </p:txBody>
      </p:sp>
      <p:sp>
        <p:nvSpPr>
          <p:cNvPr id="21" name="Shape 19"/>
          <p:cNvSpPr/>
          <p:nvPr/>
        </p:nvSpPr>
        <p:spPr>
          <a:xfrm>
            <a:off x="6547104" y="2185416"/>
            <a:ext cx="5138928" cy="283464"/>
          </a:xfrm>
          <a:prstGeom prst="rect">
            <a:avLst/>
          </a:prstGeom>
          <a:solidFill>
            <a:srgbClr val="DCE7FA"/>
          </a:solidFill>
          <a:ln/>
        </p:spPr>
      </p:sp>
      <p:sp>
        <p:nvSpPr>
          <p:cNvPr id="22" name="Text 20"/>
          <p:cNvSpPr/>
          <p:nvPr/>
        </p:nvSpPr>
        <p:spPr>
          <a:xfrm>
            <a:off x="6729984" y="2185416"/>
            <a:ext cx="4773168" cy="283464"/>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Crew resilience</a:t>
            </a:r>
            <a:endParaRPr lang="en-US" sz="1050" dirty="0"/>
          </a:p>
        </p:txBody>
      </p:sp>
      <p:sp>
        <p:nvSpPr>
          <p:cNvPr id="23" name="Shape 21"/>
          <p:cNvSpPr/>
          <p:nvPr/>
        </p:nvSpPr>
        <p:spPr>
          <a:xfrm>
            <a:off x="6547104" y="2523744"/>
            <a:ext cx="5138928" cy="283464"/>
          </a:xfrm>
          <a:prstGeom prst="rect">
            <a:avLst/>
          </a:prstGeom>
          <a:solidFill>
            <a:srgbClr val="DCE7FA"/>
          </a:solidFill>
          <a:ln/>
        </p:spPr>
      </p:sp>
      <p:sp>
        <p:nvSpPr>
          <p:cNvPr id="24" name="Text 22"/>
          <p:cNvSpPr/>
          <p:nvPr/>
        </p:nvSpPr>
        <p:spPr>
          <a:xfrm>
            <a:off x="6729984" y="2523744"/>
            <a:ext cx="4773168" cy="283464"/>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Software resilience</a:t>
            </a:r>
            <a:endParaRPr lang="en-US" sz="1050" dirty="0"/>
          </a:p>
        </p:txBody>
      </p:sp>
      <p:sp>
        <p:nvSpPr>
          <p:cNvPr id="25" name="Shape 23"/>
          <p:cNvSpPr/>
          <p:nvPr/>
        </p:nvSpPr>
        <p:spPr>
          <a:xfrm>
            <a:off x="6547104" y="2862072"/>
            <a:ext cx="5138928" cy="283464"/>
          </a:xfrm>
          <a:prstGeom prst="rect">
            <a:avLst/>
          </a:prstGeom>
          <a:solidFill>
            <a:srgbClr val="DCE7FA"/>
          </a:solidFill>
          <a:ln/>
        </p:spPr>
      </p:sp>
      <p:sp>
        <p:nvSpPr>
          <p:cNvPr id="26" name="Text 24"/>
          <p:cNvSpPr/>
          <p:nvPr/>
        </p:nvSpPr>
        <p:spPr>
          <a:xfrm>
            <a:off x="6729984" y="2862072"/>
            <a:ext cx="4773168" cy="283464"/>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Recovery buffers</a:t>
            </a:r>
            <a:endParaRPr lang="en-US" sz="1050" dirty="0"/>
          </a:p>
        </p:txBody>
      </p:sp>
      <p:sp>
        <p:nvSpPr>
          <p:cNvPr id="27" name="Shape 25"/>
          <p:cNvSpPr/>
          <p:nvPr/>
        </p:nvSpPr>
        <p:spPr>
          <a:xfrm>
            <a:off x="6547104" y="3200400"/>
            <a:ext cx="5138928" cy="283464"/>
          </a:xfrm>
          <a:prstGeom prst="rect">
            <a:avLst/>
          </a:prstGeom>
          <a:solidFill>
            <a:srgbClr val="DCE7FA"/>
          </a:solidFill>
          <a:ln/>
        </p:spPr>
      </p:sp>
      <p:sp>
        <p:nvSpPr>
          <p:cNvPr id="28" name="Text 26"/>
          <p:cNvSpPr/>
          <p:nvPr/>
        </p:nvSpPr>
        <p:spPr>
          <a:xfrm>
            <a:off x="6729984" y="3200400"/>
            <a:ext cx="4773168" cy="283464"/>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Operational control</a:t>
            </a:r>
            <a:endParaRPr lang="en-US" sz="1050" dirty="0"/>
          </a:p>
        </p:txBody>
      </p:sp>
      <p:sp>
        <p:nvSpPr>
          <p:cNvPr id="29" name="Shape 27"/>
          <p:cNvSpPr/>
          <p:nvPr/>
        </p:nvSpPr>
        <p:spPr>
          <a:xfrm>
            <a:off x="6547104" y="3538728"/>
            <a:ext cx="5138928" cy="283464"/>
          </a:xfrm>
          <a:prstGeom prst="rect">
            <a:avLst/>
          </a:prstGeom>
          <a:solidFill>
            <a:srgbClr val="DCE7FA"/>
          </a:solidFill>
          <a:ln/>
        </p:spPr>
      </p:sp>
      <p:sp>
        <p:nvSpPr>
          <p:cNvPr id="30" name="Text 28"/>
          <p:cNvSpPr/>
          <p:nvPr/>
        </p:nvSpPr>
        <p:spPr>
          <a:xfrm>
            <a:off x="6729984" y="3538728"/>
            <a:ext cx="4773168" cy="283464"/>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Network flexibility</a:t>
            </a:r>
            <a:endParaRPr lang="en-US" sz="1050" dirty="0"/>
          </a:p>
        </p:txBody>
      </p:sp>
      <p:sp>
        <p:nvSpPr>
          <p:cNvPr id="31" name="Shape 29"/>
          <p:cNvSpPr/>
          <p:nvPr/>
        </p:nvSpPr>
        <p:spPr>
          <a:xfrm rot="5400000">
            <a:off x="5888736" y="2761488"/>
            <a:ext cx="237744" cy="274320"/>
          </a:xfrm>
          <a:prstGeom prst="triangle">
            <a:avLst/>
          </a:prstGeom>
          <a:solidFill>
            <a:srgbClr val="2F6BD8"/>
          </a:solidFill>
          <a:ln/>
        </p:spPr>
      </p:sp>
      <p:sp>
        <p:nvSpPr>
          <p:cNvPr id="32" name="Shape 30"/>
          <p:cNvSpPr/>
          <p:nvPr/>
        </p:nvSpPr>
        <p:spPr>
          <a:xfrm>
            <a:off x="502920" y="3968496"/>
            <a:ext cx="11185855" cy="658368"/>
          </a:xfrm>
          <a:prstGeom prst="rect">
            <a:avLst/>
          </a:prstGeom>
          <a:solidFill>
            <a:srgbClr val="041E47"/>
          </a:solidFill>
          <a:ln/>
        </p:spPr>
      </p:sp>
      <p:sp>
        <p:nvSpPr>
          <p:cNvPr id="33" name="Text 31"/>
          <p:cNvSpPr/>
          <p:nvPr/>
        </p:nvSpPr>
        <p:spPr>
          <a:xfrm>
            <a:off x="822960" y="3968496"/>
            <a:ext cx="2468880" cy="658368"/>
          </a:xfrm>
          <a:prstGeom prst="rect">
            <a:avLst/>
          </a:prstGeom>
          <a:noFill/>
          <a:ln/>
        </p:spPr>
        <p:txBody>
          <a:bodyPr wrap="square" lIns="0" tIns="0" rIns="0" bIns="0" rtlCol="0" anchor="ctr"/>
          <a:lstStyle/>
          <a:p>
            <a:pPr marL="0" indent="0" algn="ctr">
              <a:buNone/>
            </a:pPr>
            <a:r>
              <a:rPr lang="en-US" sz="1500" b="1" dirty="0">
                <a:solidFill>
                  <a:srgbClr val="FFFFFF"/>
                </a:solidFill>
                <a:latin typeface="Aptos Display" pitchFamily="34" charset="0"/>
                <a:ea typeface="Aptos Display" pitchFamily="34" charset="-122"/>
                <a:cs typeface="Aptos Display" pitchFamily="34" charset="-120"/>
              </a:rPr>
              <a:t>EFFICIENCY</a:t>
            </a:r>
            <a:endParaRPr lang="en-US" sz="1500" dirty="0"/>
          </a:p>
        </p:txBody>
      </p:sp>
      <p:sp>
        <p:nvSpPr>
          <p:cNvPr id="34" name="Text 32"/>
          <p:cNvSpPr/>
          <p:nvPr/>
        </p:nvSpPr>
        <p:spPr>
          <a:xfrm>
            <a:off x="3291840" y="3968496"/>
            <a:ext cx="548640" cy="658368"/>
          </a:xfrm>
          <a:prstGeom prst="rect">
            <a:avLst/>
          </a:prstGeom>
          <a:noFill/>
          <a:ln/>
        </p:spPr>
        <p:txBody>
          <a:bodyPr wrap="square" lIns="0" tIns="0" rIns="0" bIns="0" rtlCol="0" anchor="ctr"/>
          <a:lstStyle/>
          <a:p>
            <a:pPr marL="0" indent="0" algn="ctr">
              <a:buNone/>
            </a:pPr>
            <a:r>
              <a:rPr lang="en-US" sz="1800" b="1" dirty="0">
                <a:solidFill>
                  <a:srgbClr val="7FA3E8"/>
                </a:solidFill>
                <a:latin typeface="Aptos Display" pitchFamily="34" charset="0"/>
                <a:ea typeface="Aptos Display" pitchFamily="34" charset="-122"/>
                <a:cs typeface="Aptos Display" pitchFamily="34" charset="-120"/>
              </a:rPr>
              <a:t>+</a:t>
            </a:r>
            <a:endParaRPr lang="en-US" sz="1800" dirty="0"/>
          </a:p>
        </p:txBody>
      </p:sp>
      <p:sp>
        <p:nvSpPr>
          <p:cNvPr id="35" name="Text 33"/>
          <p:cNvSpPr/>
          <p:nvPr/>
        </p:nvSpPr>
        <p:spPr>
          <a:xfrm>
            <a:off x="3840480" y="3968496"/>
            <a:ext cx="2468880" cy="658368"/>
          </a:xfrm>
          <a:prstGeom prst="rect">
            <a:avLst/>
          </a:prstGeom>
          <a:noFill/>
          <a:ln/>
        </p:spPr>
        <p:txBody>
          <a:bodyPr wrap="square" lIns="0" tIns="0" rIns="0" bIns="0" rtlCol="0" anchor="ctr"/>
          <a:lstStyle/>
          <a:p>
            <a:pPr marL="0" indent="0" algn="ctr">
              <a:buNone/>
            </a:pPr>
            <a:r>
              <a:rPr lang="en-US" sz="1500" b="1" dirty="0">
                <a:solidFill>
                  <a:srgbClr val="FFFFFF"/>
                </a:solidFill>
                <a:latin typeface="Aptos Display" pitchFamily="34" charset="0"/>
                <a:ea typeface="Aptos Display" pitchFamily="34" charset="-122"/>
                <a:cs typeface="Aptos Display" pitchFamily="34" charset="-120"/>
              </a:rPr>
              <a:t>RESILIENCE</a:t>
            </a:r>
            <a:endParaRPr lang="en-US" sz="1500" dirty="0"/>
          </a:p>
        </p:txBody>
      </p:sp>
      <p:sp>
        <p:nvSpPr>
          <p:cNvPr id="36" name="Text 34"/>
          <p:cNvSpPr/>
          <p:nvPr/>
        </p:nvSpPr>
        <p:spPr>
          <a:xfrm>
            <a:off x="6309360" y="3968496"/>
            <a:ext cx="548640" cy="658368"/>
          </a:xfrm>
          <a:prstGeom prst="rect">
            <a:avLst/>
          </a:prstGeom>
          <a:noFill/>
          <a:ln/>
        </p:spPr>
        <p:txBody>
          <a:bodyPr wrap="square" lIns="0" tIns="0" rIns="0" bIns="0" rtlCol="0" anchor="ctr"/>
          <a:lstStyle/>
          <a:p>
            <a:pPr marL="0" indent="0" algn="ctr">
              <a:buNone/>
            </a:pPr>
            <a:r>
              <a:rPr lang="en-US" sz="1800" b="1" dirty="0">
                <a:solidFill>
                  <a:srgbClr val="7FA3E8"/>
                </a:solidFill>
                <a:latin typeface="Aptos Display" pitchFamily="34" charset="0"/>
                <a:ea typeface="Aptos Display" pitchFamily="34" charset="-122"/>
                <a:cs typeface="Aptos Display" pitchFamily="34" charset="-120"/>
              </a:rPr>
              <a:t>=</a:t>
            </a:r>
            <a:endParaRPr lang="en-US" sz="1800" dirty="0"/>
          </a:p>
        </p:txBody>
      </p:sp>
      <p:sp>
        <p:nvSpPr>
          <p:cNvPr id="37" name="Text 35"/>
          <p:cNvSpPr/>
          <p:nvPr/>
        </p:nvSpPr>
        <p:spPr>
          <a:xfrm>
            <a:off x="6858000" y="3968496"/>
            <a:ext cx="4754880" cy="658368"/>
          </a:xfrm>
          <a:prstGeom prst="rect">
            <a:avLst/>
          </a:prstGeom>
          <a:noFill/>
          <a:ln/>
        </p:spPr>
        <p:txBody>
          <a:bodyPr wrap="square" lIns="0" tIns="0" rIns="0" bIns="0" rtlCol="0" anchor="ctr"/>
          <a:lstStyle/>
          <a:p>
            <a:pPr marL="0" indent="0" algn="ctr">
              <a:buNone/>
            </a:pPr>
            <a:r>
              <a:rPr lang="en-US" sz="1500" b="1" dirty="0">
                <a:solidFill>
                  <a:srgbClr val="FFFFFF"/>
                </a:solidFill>
                <a:latin typeface="Aptos Display" pitchFamily="34" charset="0"/>
                <a:ea typeface="Aptos Display" pitchFamily="34" charset="-122"/>
                <a:cs typeface="Aptos Display" pitchFamily="34" charset="-120"/>
              </a:rPr>
              <a:t>SUSTAINABLE OPERATING ADVANTAGE</a:t>
            </a:r>
            <a:endParaRPr lang="en-US" sz="1500" dirty="0"/>
          </a:p>
        </p:txBody>
      </p:sp>
      <p:sp>
        <p:nvSpPr>
          <p:cNvPr id="38" name="Text 36"/>
          <p:cNvSpPr/>
          <p:nvPr/>
        </p:nvSpPr>
        <p:spPr>
          <a:xfrm>
            <a:off x="502920" y="4773168"/>
            <a:ext cx="6949440" cy="201168"/>
          </a:xfrm>
          <a:prstGeom prst="rect">
            <a:avLst/>
          </a:prstGeom>
          <a:noFill/>
          <a:ln/>
        </p:spPr>
        <p:txBody>
          <a:bodyPr wrap="square" lIns="0" tIns="0" rIns="0" bIns="0" rtlCol="0" anchor="ctr"/>
          <a:lstStyle/>
          <a:p>
            <a:pPr marL="0" indent="0" algn="l">
              <a:buNone/>
            </a:pPr>
            <a:r>
              <a:rPr lang="en-US" sz="900" b="1" kern="0" spc="110" dirty="0">
                <a:solidFill>
                  <a:srgbClr val="46577A"/>
                </a:solidFill>
                <a:latin typeface="Aptos" pitchFamily="34" charset="0"/>
                <a:ea typeface="Aptos" pitchFamily="34" charset="-122"/>
                <a:cs typeface="Aptos" pitchFamily="34" charset="-120"/>
              </a:rPr>
              <a:t>JANUARY 2026 DGCA / MoCA INQUIRY - PRIMARY CAUSES IDENTIFIED</a:t>
            </a:r>
            <a:endParaRPr lang="en-US" sz="900" dirty="0"/>
          </a:p>
        </p:txBody>
      </p:sp>
      <p:sp>
        <p:nvSpPr>
          <p:cNvPr id="39" name="Shape 37"/>
          <p:cNvSpPr/>
          <p:nvPr/>
        </p:nvSpPr>
        <p:spPr>
          <a:xfrm>
            <a:off x="502920" y="5029200"/>
            <a:ext cx="32004" cy="512064"/>
          </a:xfrm>
          <a:prstGeom prst="rect">
            <a:avLst/>
          </a:prstGeom>
          <a:solidFill>
            <a:srgbClr val="D98A00"/>
          </a:solidFill>
          <a:ln/>
        </p:spPr>
      </p:sp>
      <p:sp>
        <p:nvSpPr>
          <p:cNvPr id="40" name="Text 38"/>
          <p:cNvSpPr/>
          <p:nvPr/>
        </p:nvSpPr>
        <p:spPr>
          <a:xfrm>
            <a:off x="649224" y="5029200"/>
            <a:ext cx="2505456" cy="512064"/>
          </a:xfrm>
          <a:prstGeom prst="rect">
            <a:avLst/>
          </a:prstGeom>
          <a:noFill/>
          <a:ln/>
        </p:spPr>
        <p:txBody>
          <a:bodyPr wrap="square" lIns="0" tIns="0" rIns="0" bIns="0" rtlCol="0" anchor="ctr"/>
          <a:lstStyle/>
          <a:p>
            <a:pPr marL="0" indent="0">
              <a:lnSpc>
                <a:spcPct val="104000"/>
              </a:lnSpc>
              <a:buNone/>
            </a:pPr>
            <a:r>
              <a:rPr lang="en-US" sz="950" dirty="0">
                <a:solidFill>
                  <a:srgbClr val="041E47"/>
                </a:solidFill>
                <a:latin typeface="Aptos" pitchFamily="34" charset="0"/>
                <a:ea typeface="Aptos" pitchFamily="34" charset="-122"/>
                <a:cs typeface="Aptos" pitchFamily="34" charset="-120"/>
              </a:rPr>
              <a:t>Over-optimisation of operations</a:t>
            </a:r>
            <a:endParaRPr lang="en-US" sz="950" dirty="0"/>
          </a:p>
        </p:txBody>
      </p:sp>
      <p:sp>
        <p:nvSpPr>
          <p:cNvPr id="41" name="Shape 39"/>
          <p:cNvSpPr/>
          <p:nvPr/>
        </p:nvSpPr>
        <p:spPr>
          <a:xfrm>
            <a:off x="3328416" y="5029200"/>
            <a:ext cx="32004" cy="512064"/>
          </a:xfrm>
          <a:prstGeom prst="rect">
            <a:avLst/>
          </a:prstGeom>
          <a:solidFill>
            <a:srgbClr val="D98A00"/>
          </a:solidFill>
          <a:ln/>
        </p:spPr>
      </p:sp>
      <p:sp>
        <p:nvSpPr>
          <p:cNvPr id="42" name="Text 40"/>
          <p:cNvSpPr/>
          <p:nvPr/>
        </p:nvSpPr>
        <p:spPr>
          <a:xfrm>
            <a:off x="3474720" y="5029200"/>
            <a:ext cx="2505456" cy="512064"/>
          </a:xfrm>
          <a:prstGeom prst="rect">
            <a:avLst/>
          </a:prstGeom>
          <a:noFill/>
          <a:ln/>
        </p:spPr>
        <p:txBody>
          <a:bodyPr wrap="square" lIns="0" tIns="0" rIns="0" bIns="0" rtlCol="0" anchor="ctr"/>
          <a:lstStyle/>
          <a:p>
            <a:pPr marL="0" indent="0">
              <a:lnSpc>
                <a:spcPct val="104000"/>
              </a:lnSpc>
              <a:buNone/>
            </a:pPr>
            <a:r>
              <a:rPr lang="en-US" sz="950" dirty="0">
                <a:solidFill>
                  <a:srgbClr val="041E47"/>
                </a:solidFill>
                <a:latin typeface="Aptos" pitchFamily="34" charset="0"/>
                <a:ea typeface="Aptos" pitchFamily="34" charset="-122"/>
                <a:cs typeface="Aptos" pitchFamily="34" charset="-120"/>
              </a:rPr>
              <a:t>Inadequate regulatory preparedness</a:t>
            </a:r>
            <a:endParaRPr lang="en-US" sz="950" dirty="0"/>
          </a:p>
        </p:txBody>
      </p:sp>
      <p:sp>
        <p:nvSpPr>
          <p:cNvPr id="43" name="Shape 41"/>
          <p:cNvSpPr/>
          <p:nvPr/>
        </p:nvSpPr>
        <p:spPr>
          <a:xfrm>
            <a:off x="6153912" y="5029200"/>
            <a:ext cx="32004" cy="512064"/>
          </a:xfrm>
          <a:prstGeom prst="rect">
            <a:avLst/>
          </a:prstGeom>
          <a:solidFill>
            <a:srgbClr val="D98A00"/>
          </a:solidFill>
          <a:ln/>
        </p:spPr>
      </p:sp>
      <p:sp>
        <p:nvSpPr>
          <p:cNvPr id="44" name="Text 42"/>
          <p:cNvSpPr/>
          <p:nvPr/>
        </p:nvSpPr>
        <p:spPr>
          <a:xfrm>
            <a:off x="6300216" y="5029200"/>
            <a:ext cx="2505456" cy="512064"/>
          </a:xfrm>
          <a:prstGeom prst="rect">
            <a:avLst/>
          </a:prstGeom>
          <a:noFill/>
          <a:ln/>
        </p:spPr>
        <p:txBody>
          <a:bodyPr wrap="square" lIns="0" tIns="0" rIns="0" bIns="0" rtlCol="0" anchor="ctr"/>
          <a:lstStyle/>
          <a:p>
            <a:pPr marL="0" indent="0">
              <a:lnSpc>
                <a:spcPct val="104000"/>
              </a:lnSpc>
              <a:buNone/>
            </a:pPr>
            <a:r>
              <a:rPr lang="en-US" sz="950" dirty="0">
                <a:solidFill>
                  <a:srgbClr val="041E47"/>
                </a:solidFill>
                <a:latin typeface="Aptos" pitchFamily="34" charset="0"/>
                <a:ea typeface="Aptos" pitchFamily="34" charset="-122"/>
                <a:cs typeface="Aptos" pitchFamily="34" charset="-120"/>
              </a:rPr>
              <a:t>Deficiencies in system software support</a:t>
            </a:r>
            <a:endParaRPr lang="en-US" sz="950" dirty="0"/>
          </a:p>
        </p:txBody>
      </p:sp>
      <p:sp>
        <p:nvSpPr>
          <p:cNvPr id="45" name="Shape 43"/>
          <p:cNvSpPr/>
          <p:nvPr/>
        </p:nvSpPr>
        <p:spPr>
          <a:xfrm>
            <a:off x="8979408" y="5029200"/>
            <a:ext cx="32004" cy="512064"/>
          </a:xfrm>
          <a:prstGeom prst="rect">
            <a:avLst/>
          </a:prstGeom>
          <a:solidFill>
            <a:srgbClr val="D98A00"/>
          </a:solidFill>
          <a:ln/>
        </p:spPr>
      </p:sp>
      <p:sp>
        <p:nvSpPr>
          <p:cNvPr id="46" name="Text 44"/>
          <p:cNvSpPr/>
          <p:nvPr/>
        </p:nvSpPr>
        <p:spPr>
          <a:xfrm>
            <a:off x="9125712" y="5029200"/>
            <a:ext cx="2505456" cy="512064"/>
          </a:xfrm>
          <a:prstGeom prst="rect">
            <a:avLst/>
          </a:prstGeom>
          <a:noFill/>
          <a:ln/>
        </p:spPr>
        <p:txBody>
          <a:bodyPr wrap="square" lIns="0" tIns="0" rIns="0" bIns="0" rtlCol="0" anchor="ctr"/>
          <a:lstStyle/>
          <a:p>
            <a:pPr marL="0" indent="0">
              <a:lnSpc>
                <a:spcPct val="104000"/>
              </a:lnSpc>
              <a:buNone/>
            </a:pPr>
            <a:r>
              <a:rPr lang="en-US" sz="950" dirty="0">
                <a:solidFill>
                  <a:srgbClr val="041E47"/>
                </a:solidFill>
                <a:latin typeface="Aptos" pitchFamily="34" charset="0"/>
                <a:ea typeface="Aptos" pitchFamily="34" charset="-122"/>
                <a:cs typeface="Aptos" pitchFamily="34" charset="-120"/>
              </a:rPr>
              <a:t>Shortcomings in management structure and operational control</a:t>
            </a:r>
            <a:endParaRPr lang="en-US" sz="950" dirty="0"/>
          </a:p>
        </p:txBody>
      </p:sp>
      <p:sp>
        <p:nvSpPr>
          <p:cNvPr id="47" name="Shape 45"/>
          <p:cNvSpPr/>
          <p:nvPr/>
        </p:nvSpPr>
        <p:spPr>
          <a:xfrm>
            <a:off x="502920" y="5687568"/>
            <a:ext cx="11185855" cy="548640"/>
          </a:xfrm>
          <a:prstGeom prst="rect">
            <a:avLst/>
          </a:prstGeom>
          <a:solidFill>
            <a:srgbClr val="FFFFFF"/>
          </a:solidFill>
          <a:ln w="9525">
            <a:solidFill>
              <a:srgbClr val="D98A00"/>
            </a:solidFill>
            <a:prstDash val="dash"/>
          </a:ln>
        </p:spPr>
      </p:sp>
      <p:sp>
        <p:nvSpPr>
          <p:cNvPr id="48" name="Shape 46"/>
          <p:cNvSpPr/>
          <p:nvPr/>
        </p:nvSpPr>
        <p:spPr>
          <a:xfrm>
            <a:off x="630936" y="5870448"/>
            <a:ext cx="1371600" cy="182880"/>
          </a:xfrm>
          <a:prstGeom prst="roundRect">
            <a:avLst>
              <a:gd name="adj" fmla="val 45000"/>
            </a:avLst>
          </a:prstGeom>
          <a:solidFill>
            <a:srgbClr val="FFFFFF"/>
          </a:solidFill>
          <a:ln w="9525">
            <a:solidFill>
              <a:srgbClr val="D98A00"/>
            </a:solidFill>
            <a:prstDash val="solid"/>
          </a:ln>
        </p:spPr>
      </p:sp>
      <p:sp>
        <p:nvSpPr>
          <p:cNvPr id="49" name="Text 47"/>
          <p:cNvSpPr/>
          <p:nvPr/>
        </p:nvSpPr>
        <p:spPr>
          <a:xfrm>
            <a:off x="630936" y="5870448"/>
            <a:ext cx="1371600" cy="182880"/>
          </a:xfrm>
          <a:prstGeom prst="rect">
            <a:avLst/>
          </a:prstGeom>
          <a:noFill/>
          <a:ln/>
        </p:spPr>
        <p:txBody>
          <a:bodyPr wrap="square" lIns="0" tIns="0" rIns="0" bIns="0" rtlCol="0" anchor="ctr"/>
          <a:lstStyle/>
          <a:p>
            <a:pPr marL="0" indent="0" algn="ctr">
              <a:buNone/>
            </a:pPr>
            <a:r>
              <a:rPr lang="en-US" sz="800" b="1" dirty="0">
                <a:solidFill>
                  <a:srgbClr val="D98A00"/>
                </a:solidFill>
                <a:latin typeface="Aptos" pitchFamily="34" charset="0"/>
                <a:ea typeface="Aptos" pitchFamily="34" charset="-122"/>
                <a:cs typeface="Aptos" pitchFamily="34" charset="-120"/>
              </a:rPr>
              <a:t>EXTERNAL SOURCE</a:t>
            </a:r>
            <a:endParaRPr lang="en-US" sz="800" dirty="0"/>
          </a:p>
        </p:txBody>
      </p:sp>
      <p:sp>
        <p:nvSpPr>
          <p:cNvPr id="50" name="Text 48"/>
          <p:cNvSpPr/>
          <p:nvPr/>
        </p:nvSpPr>
        <p:spPr>
          <a:xfrm>
            <a:off x="2130552" y="5705856"/>
            <a:ext cx="9427464" cy="512064"/>
          </a:xfrm>
          <a:prstGeom prst="rect">
            <a:avLst/>
          </a:prstGeom>
          <a:noFill/>
          <a:ln/>
        </p:spPr>
        <p:txBody>
          <a:bodyPr wrap="square" lIns="0" tIns="0" rIns="0" bIns="0" rtlCol="0" anchor="ctr"/>
          <a:lstStyle/>
          <a:p>
            <a:pPr marL="0" indent="0">
              <a:buNone/>
            </a:pPr>
            <a:r>
              <a:rPr lang="en-US" sz="900" dirty="0">
                <a:solidFill>
                  <a:srgbClr val="46577A"/>
                </a:solidFill>
                <a:latin typeface="Aptos" pitchFamily="34" charset="0"/>
                <a:ea typeface="Aptos" pitchFamily="34" charset="-122"/>
                <a:cs typeface="Aptos" pitchFamily="34" charset="-120"/>
              </a:rPr>
              <a:t>IndiGo is already moving this way: the widebody network was adjusted in February 2026 to protect reliability; six international destinations were temporarily suspended in June 2026 while 1,800+ weekly international flights were retained; Manchester is temporarily discontinued from 31 August 2026 on airspace and cost grounds.</a:t>
            </a:r>
            <a:endParaRPr lang="en-US" sz="900" dirty="0"/>
          </a:p>
        </p:txBody>
      </p:sp>
      <p:sp>
        <p:nvSpPr>
          <p:cNvPr id="51" name="Shape 49"/>
          <p:cNvSpPr/>
          <p:nvPr/>
        </p:nvSpPr>
        <p:spPr>
          <a:xfrm>
            <a:off x="502920" y="6309360"/>
            <a:ext cx="11185855" cy="5486"/>
          </a:xfrm>
          <a:prstGeom prst="rect">
            <a:avLst/>
          </a:prstGeom>
          <a:solidFill>
            <a:srgbClr val="C9D8F2"/>
          </a:solidFill>
          <a:ln/>
        </p:spPr>
      </p:sp>
      <p:sp>
        <p:nvSpPr>
          <p:cNvPr id="52" name="Text 50"/>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53" name="Text 51"/>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External Lens: DGCA / MoCA inquiry, Jan 2026 - IndiGo network disclosures 2026 - SRC-STR-INT-002</a:t>
            </a:r>
            <a:endParaRPr lang="en-US" sz="800" dirty="0"/>
          </a:p>
        </p:txBody>
      </p:sp>
      <p:sp>
        <p:nvSpPr>
          <p:cNvPr id="54" name="Shape 52"/>
          <p:cNvSpPr/>
          <p:nvPr/>
        </p:nvSpPr>
        <p:spPr>
          <a:xfrm>
            <a:off x="11484864" y="6364224"/>
            <a:ext cx="201168" cy="201168"/>
          </a:xfrm>
          <a:prstGeom prst="rect">
            <a:avLst/>
          </a:prstGeom>
          <a:solidFill>
            <a:srgbClr val="0032A0"/>
          </a:solidFill>
          <a:ln/>
        </p:spPr>
      </p:sp>
      <p:sp>
        <p:nvSpPr>
          <p:cNvPr id="55" name="Text 53"/>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04 - THE CONSULTING PROBLEM</a:t>
            </a:r>
            <a:endParaRPr lang="en-US" sz="1000" dirty="0"/>
          </a:p>
        </p:txBody>
      </p:sp>
      <p:sp>
        <p:nvSpPr>
          <p:cNvPr id="3" name="Shape 1"/>
          <p:cNvSpPr/>
          <p:nvPr/>
        </p:nvSpPr>
        <p:spPr>
          <a:xfrm>
            <a:off x="502920" y="571500"/>
            <a:ext cx="1874520" cy="45719"/>
          </a:xfrm>
          <a:prstGeom prst="rect">
            <a:avLst/>
          </a:prstGeom>
          <a:solidFill>
            <a:srgbClr val="0032A0"/>
          </a:solidFill>
          <a:ln/>
        </p:spPr>
      </p:sp>
      <p:sp>
        <p:nvSpPr>
          <p:cNvPr id="4" name="Text 2"/>
          <p:cNvSpPr/>
          <p:nvPr/>
        </p:nvSpPr>
        <p:spPr>
          <a:xfrm>
            <a:off x="502920" y="662940"/>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Scale kept compounding. In FY2026, the unit economics stopped following.</a:t>
            </a:r>
            <a:endParaRPr lang="en-US" sz="2250" dirty="0"/>
          </a:p>
        </p:txBody>
      </p:sp>
      <p:sp>
        <p:nvSpPr>
          <p:cNvPr id="5" name="Text 3"/>
          <p:cNvSpPr/>
          <p:nvPr/>
        </p:nvSpPr>
        <p:spPr>
          <a:xfrm>
            <a:off x="502920" y="1335024"/>
            <a:ext cx="11185855" cy="219456"/>
          </a:xfrm>
          <a:prstGeom prst="rect">
            <a:avLst/>
          </a:prstGeom>
          <a:noFill/>
          <a:ln/>
        </p:spPr>
        <p:txBody>
          <a:bodyPr wrap="square" lIns="0" tIns="0" rIns="0" bIns="0" rtlCol="0" anchor="ctr"/>
          <a:lstStyle/>
          <a:p>
            <a:pPr marL="0" indent="0">
              <a:buNone/>
            </a:pPr>
            <a:r>
              <a:rPr lang="en-US" sz="1150" i="1" dirty="0">
                <a:solidFill>
                  <a:srgbClr val="46577A"/>
                </a:solidFill>
                <a:latin typeface="Aptos" pitchFamily="34" charset="0"/>
                <a:ea typeface="Aptos" pitchFamily="34" charset="-122"/>
                <a:cs typeface="Aptos" pitchFamily="34" charset="-120"/>
              </a:rPr>
              <a:t>The operating system created leadership. The system was stress-tested. The remaining question is whether scale is still creating economic value.</a:t>
            </a:r>
            <a:endParaRPr lang="en-US" sz="1150" dirty="0"/>
          </a:p>
        </p:txBody>
      </p:sp>
      <p:sp>
        <p:nvSpPr>
          <p:cNvPr id="6" name="Shape 4"/>
          <p:cNvSpPr/>
          <p:nvPr/>
        </p:nvSpPr>
        <p:spPr>
          <a:xfrm>
            <a:off x="502920" y="1700784"/>
            <a:ext cx="5349240" cy="2029968"/>
          </a:xfrm>
          <a:prstGeom prst="rect">
            <a:avLst/>
          </a:prstGeom>
          <a:solidFill>
            <a:srgbClr val="DCE7FA"/>
          </a:solidFill>
          <a:ln/>
        </p:spPr>
      </p:sp>
      <p:sp>
        <p:nvSpPr>
          <p:cNvPr id="7" name="Text 5"/>
          <p:cNvSpPr/>
          <p:nvPr/>
        </p:nvSpPr>
        <p:spPr>
          <a:xfrm>
            <a:off x="777240" y="1938528"/>
            <a:ext cx="3657600" cy="201168"/>
          </a:xfrm>
          <a:prstGeom prst="rect">
            <a:avLst/>
          </a:prstGeom>
          <a:noFill/>
          <a:ln/>
        </p:spPr>
        <p:txBody>
          <a:bodyPr wrap="square" lIns="0" tIns="0" rIns="0" bIns="0" rtlCol="0" anchor="ctr"/>
          <a:lstStyle/>
          <a:p>
            <a:pPr marL="0" indent="0" algn="l">
              <a:buNone/>
            </a:pPr>
            <a:r>
              <a:rPr lang="en-US" sz="1100" b="1" kern="0" spc="110" dirty="0">
                <a:solidFill>
                  <a:srgbClr val="041E47"/>
                </a:solidFill>
                <a:latin typeface="Aptos" pitchFamily="34" charset="0"/>
                <a:ea typeface="Aptos" pitchFamily="34" charset="-122"/>
                <a:cs typeface="Aptos" pitchFamily="34" charset="-120"/>
              </a:rPr>
              <a:t>SCALE &amp; GROWTH</a:t>
            </a:r>
            <a:endParaRPr lang="en-US" sz="1100" dirty="0"/>
          </a:p>
        </p:txBody>
      </p:sp>
      <p:sp>
        <p:nvSpPr>
          <p:cNvPr id="8" name="Text 6"/>
          <p:cNvSpPr/>
          <p:nvPr/>
        </p:nvSpPr>
        <p:spPr>
          <a:xfrm>
            <a:off x="777240" y="2304288"/>
            <a:ext cx="1920240" cy="274320"/>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ASK</a:t>
            </a:r>
            <a:endParaRPr lang="en-US" sz="1100" dirty="0"/>
          </a:p>
        </p:txBody>
      </p:sp>
      <p:sp>
        <p:nvSpPr>
          <p:cNvPr id="9" name="Text 7"/>
          <p:cNvSpPr/>
          <p:nvPr/>
        </p:nvSpPr>
        <p:spPr>
          <a:xfrm>
            <a:off x="2651760" y="2304288"/>
            <a:ext cx="2834640" cy="274320"/>
          </a:xfrm>
          <a:prstGeom prst="rect">
            <a:avLst/>
          </a:prstGeom>
          <a:noFill/>
          <a:ln/>
        </p:spPr>
        <p:txBody>
          <a:bodyPr wrap="square" lIns="0" tIns="0" rIns="0" bIns="0" rtlCol="0" anchor="ctr"/>
          <a:lstStyle/>
          <a:p>
            <a:pPr marL="0" indent="0">
              <a:buNone/>
            </a:pPr>
            <a:r>
              <a:rPr lang="en-US" sz="1250" b="1" dirty="0">
                <a:solidFill>
                  <a:srgbClr val="041E47"/>
                </a:solidFill>
                <a:latin typeface="Aptos" pitchFamily="34" charset="0"/>
                <a:ea typeface="Aptos" pitchFamily="34" charset="-122"/>
                <a:cs typeface="Aptos" pitchFamily="34" charset="-120"/>
              </a:rPr>
              <a:t>+9.5%</a:t>
            </a:r>
            <a:endParaRPr lang="en-US" sz="1250" dirty="0"/>
          </a:p>
        </p:txBody>
      </p:sp>
      <p:sp>
        <p:nvSpPr>
          <p:cNvPr id="10" name="Text 8"/>
          <p:cNvSpPr/>
          <p:nvPr/>
        </p:nvSpPr>
        <p:spPr>
          <a:xfrm>
            <a:off x="777240" y="2633472"/>
            <a:ext cx="1920240" cy="274320"/>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Fleet</a:t>
            </a:r>
            <a:endParaRPr lang="en-US" sz="1100" dirty="0"/>
          </a:p>
        </p:txBody>
      </p:sp>
      <p:sp>
        <p:nvSpPr>
          <p:cNvPr id="11" name="Text 9"/>
          <p:cNvSpPr/>
          <p:nvPr/>
        </p:nvSpPr>
        <p:spPr>
          <a:xfrm>
            <a:off x="2651760" y="2633472"/>
            <a:ext cx="2834640" cy="274320"/>
          </a:xfrm>
          <a:prstGeom prst="rect">
            <a:avLst/>
          </a:prstGeom>
          <a:noFill/>
          <a:ln/>
        </p:spPr>
        <p:txBody>
          <a:bodyPr wrap="square" lIns="0" tIns="0" rIns="0" bIns="0" rtlCol="0" anchor="ctr"/>
          <a:lstStyle/>
          <a:p>
            <a:pPr marL="0" indent="0">
              <a:buNone/>
            </a:pPr>
            <a:r>
              <a:rPr lang="en-US" sz="1250" b="1" dirty="0">
                <a:solidFill>
                  <a:srgbClr val="041E47"/>
                </a:solidFill>
                <a:latin typeface="Aptos" pitchFamily="34" charset="0"/>
                <a:ea typeface="Aptos" pitchFamily="34" charset="-122"/>
                <a:cs typeface="Aptos" pitchFamily="34" charset="-120"/>
              </a:rPr>
              <a:t>441 aircraft</a:t>
            </a:r>
            <a:endParaRPr lang="en-US" sz="1250" dirty="0"/>
          </a:p>
        </p:txBody>
      </p:sp>
      <p:sp>
        <p:nvSpPr>
          <p:cNvPr id="12" name="Text 10"/>
          <p:cNvSpPr/>
          <p:nvPr/>
        </p:nvSpPr>
        <p:spPr>
          <a:xfrm>
            <a:off x="777240" y="2962656"/>
            <a:ext cx="1920240" cy="274320"/>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Network</a:t>
            </a:r>
            <a:endParaRPr lang="en-US" sz="1100" dirty="0"/>
          </a:p>
        </p:txBody>
      </p:sp>
      <p:sp>
        <p:nvSpPr>
          <p:cNvPr id="13" name="Text 11"/>
          <p:cNvSpPr/>
          <p:nvPr/>
        </p:nvSpPr>
        <p:spPr>
          <a:xfrm>
            <a:off x="2651760" y="2962656"/>
            <a:ext cx="2834640" cy="274320"/>
          </a:xfrm>
          <a:prstGeom prst="rect">
            <a:avLst/>
          </a:prstGeom>
          <a:noFill/>
          <a:ln/>
        </p:spPr>
        <p:txBody>
          <a:bodyPr wrap="square" lIns="0" tIns="0" rIns="0" bIns="0" rtlCol="0" anchor="ctr"/>
          <a:lstStyle/>
          <a:p>
            <a:pPr marL="0" indent="0">
              <a:buNone/>
            </a:pPr>
            <a:r>
              <a:rPr lang="en-US" sz="1250" b="1" dirty="0">
                <a:solidFill>
                  <a:srgbClr val="041E47"/>
                </a:solidFill>
                <a:latin typeface="Aptos" pitchFamily="34" charset="0"/>
                <a:ea typeface="Aptos" pitchFamily="34" charset="-122"/>
                <a:cs typeface="Aptos" pitchFamily="34" charset="-120"/>
              </a:rPr>
              <a:t>97 + 45 destinations</a:t>
            </a:r>
            <a:endParaRPr lang="en-US" sz="1250" dirty="0"/>
          </a:p>
        </p:txBody>
      </p:sp>
      <p:sp>
        <p:nvSpPr>
          <p:cNvPr id="14" name="Text 12"/>
          <p:cNvSpPr/>
          <p:nvPr/>
        </p:nvSpPr>
        <p:spPr>
          <a:xfrm>
            <a:off x="777240" y="3291840"/>
            <a:ext cx="1920240" cy="274320"/>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Order book</a:t>
            </a:r>
            <a:endParaRPr lang="en-US" sz="1100" dirty="0"/>
          </a:p>
        </p:txBody>
      </p:sp>
      <p:sp>
        <p:nvSpPr>
          <p:cNvPr id="15" name="Text 13"/>
          <p:cNvSpPr/>
          <p:nvPr/>
        </p:nvSpPr>
        <p:spPr>
          <a:xfrm>
            <a:off x="2651760" y="3291840"/>
            <a:ext cx="2834640" cy="274320"/>
          </a:xfrm>
          <a:prstGeom prst="rect">
            <a:avLst/>
          </a:prstGeom>
          <a:noFill/>
          <a:ln/>
        </p:spPr>
        <p:txBody>
          <a:bodyPr wrap="square" lIns="0" tIns="0" rIns="0" bIns="0" rtlCol="0" anchor="ctr"/>
          <a:lstStyle/>
          <a:p>
            <a:pPr marL="0" indent="0">
              <a:buNone/>
            </a:pPr>
            <a:r>
              <a:rPr lang="en-US" sz="1250" b="1" dirty="0">
                <a:solidFill>
                  <a:srgbClr val="041E47"/>
                </a:solidFill>
                <a:latin typeface="Aptos" pitchFamily="34" charset="0"/>
                <a:ea typeface="Aptos" pitchFamily="34" charset="-122"/>
                <a:cs typeface="Aptos" pitchFamily="34" charset="-120"/>
              </a:rPr>
              <a:t>~1,000 aircraft</a:t>
            </a:r>
            <a:endParaRPr lang="en-US" sz="1250" dirty="0"/>
          </a:p>
        </p:txBody>
      </p:sp>
      <p:sp>
        <p:nvSpPr>
          <p:cNvPr id="16" name="Shape 14"/>
          <p:cNvSpPr/>
          <p:nvPr/>
        </p:nvSpPr>
        <p:spPr>
          <a:xfrm>
            <a:off x="6053328" y="1700784"/>
            <a:ext cx="45720" cy="2029968"/>
          </a:xfrm>
          <a:prstGeom prst="rect">
            <a:avLst/>
          </a:prstGeom>
          <a:solidFill>
            <a:srgbClr val="C43F2E"/>
          </a:solidFill>
          <a:ln/>
        </p:spPr>
      </p:sp>
      <p:sp>
        <p:nvSpPr>
          <p:cNvPr id="17" name="Shape 15"/>
          <p:cNvSpPr/>
          <p:nvPr/>
        </p:nvSpPr>
        <p:spPr>
          <a:xfrm>
            <a:off x="6355080" y="1700784"/>
            <a:ext cx="5330952" cy="2029968"/>
          </a:xfrm>
          <a:prstGeom prst="rect">
            <a:avLst/>
          </a:prstGeom>
          <a:solidFill>
            <a:srgbClr val="FFFFFF"/>
          </a:solidFill>
          <a:ln w="12700">
            <a:solidFill>
              <a:srgbClr val="C43F2E"/>
            </a:solidFill>
            <a:prstDash val="solid"/>
          </a:ln>
        </p:spPr>
      </p:sp>
      <p:sp>
        <p:nvSpPr>
          <p:cNvPr id="18" name="Text 16"/>
          <p:cNvSpPr/>
          <p:nvPr/>
        </p:nvSpPr>
        <p:spPr>
          <a:xfrm>
            <a:off x="6629400" y="1938528"/>
            <a:ext cx="3657600" cy="201168"/>
          </a:xfrm>
          <a:prstGeom prst="rect">
            <a:avLst/>
          </a:prstGeom>
          <a:noFill/>
          <a:ln/>
        </p:spPr>
        <p:txBody>
          <a:bodyPr wrap="square" lIns="0" tIns="0" rIns="0" bIns="0" rtlCol="0" anchor="ctr"/>
          <a:lstStyle/>
          <a:p>
            <a:pPr marL="0" indent="0" algn="l">
              <a:buNone/>
            </a:pPr>
            <a:r>
              <a:rPr lang="en-US" sz="1100" b="1" kern="0" spc="110" dirty="0">
                <a:solidFill>
                  <a:srgbClr val="C43F2E"/>
                </a:solidFill>
                <a:latin typeface="Aptos" pitchFamily="34" charset="0"/>
                <a:ea typeface="Aptos" pitchFamily="34" charset="-122"/>
                <a:cs typeface="Aptos" pitchFamily="34" charset="-120"/>
              </a:rPr>
              <a:t>UNIT ECONOMICS</a:t>
            </a:r>
            <a:endParaRPr lang="en-US" sz="1100" dirty="0"/>
          </a:p>
        </p:txBody>
      </p:sp>
      <p:sp>
        <p:nvSpPr>
          <p:cNvPr id="19" name="Text 17"/>
          <p:cNvSpPr/>
          <p:nvPr/>
        </p:nvSpPr>
        <p:spPr>
          <a:xfrm>
            <a:off x="6629400" y="2304288"/>
            <a:ext cx="2377440" cy="274320"/>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RASK</a:t>
            </a:r>
            <a:endParaRPr lang="en-US" sz="1100" dirty="0"/>
          </a:p>
        </p:txBody>
      </p:sp>
      <p:sp>
        <p:nvSpPr>
          <p:cNvPr id="20" name="Text 18"/>
          <p:cNvSpPr/>
          <p:nvPr/>
        </p:nvSpPr>
        <p:spPr>
          <a:xfrm>
            <a:off x="9052560" y="2304288"/>
            <a:ext cx="2377440" cy="274320"/>
          </a:xfrm>
          <a:prstGeom prst="rect">
            <a:avLst/>
          </a:prstGeom>
          <a:noFill/>
          <a:ln/>
        </p:spPr>
        <p:txBody>
          <a:bodyPr wrap="square" lIns="0" tIns="0" rIns="0" bIns="0" rtlCol="0" anchor="ctr"/>
          <a:lstStyle/>
          <a:p>
            <a:pPr marL="0" indent="0">
              <a:buNone/>
            </a:pPr>
            <a:r>
              <a:rPr lang="en-US" sz="1250" b="1" dirty="0">
                <a:solidFill>
                  <a:srgbClr val="C43F2E"/>
                </a:solidFill>
                <a:latin typeface="Aptos" pitchFamily="34" charset="0"/>
                <a:ea typeface="Aptos" pitchFamily="34" charset="-122"/>
                <a:cs typeface="Aptos" pitchFamily="34" charset="-120"/>
              </a:rPr>
              <a:t>-3.0%</a:t>
            </a:r>
            <a:endParaRPr lang="en-US" sz="1250" dirty="0"/>
          </a:p>
        </p:txBody>
      </p:sp>
      <p:sp>
        <p:nvSpPr>
          <p:cNvPr id="21" name="Text 19"/>
          <p:cNvSpPr/>
          <p:nvPr/>
        </p:nvSpPr>
        <p:spPr>
          <a:xfrm>
            <a:off x="6629400" y="2633472"/>
            <a:ext cx="2377440" cy="274320"/>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CASK</a:t>
            </a:r>
            <a:endParaRPr lang="en-US" sz="1100" dirty="0"/>
          </a:p>
        </p:txBody>
      </p:sp>
      <p:sp>
        <p:nvSpPr>
          <p:cNvPr id="22" name="Text 20"/>
          <p:cNvSpPr/>
          <p:nvPr/>
        </p:nvSpPr>
        <p:spPr>
          <a:xfrm>
            <a:off x="9052560" y="2633472"/>
            <a:ext cx="2377440" cy="274320"/>
          </a:xfrm>
          <a:prstGeom prst="rect">
            <a:avLst/>
          </a:prstGeom>
          <a:noFill/>
          <a:ln/>
        </p:spPr>
        <p:txBody>
          <a:bodyPr wrap="square" lIns="0" tIns="0" rIns="0" bIns="0" rtlCol="0" anchor="ctr"/>
          <a:lstStyle/>
          <a:p>
            <a:pPr marL="0" indent="0">
              <a:buNone/>
            </a:pPr>
            <a:r>
              <a:rPr lang="en-US" sz="1250" b="1" dirty="0">
                <a:solidFill>
                  <a:srgbClr val="C43F2E"/>
                </a:solidFill>
                <a:latin typeface="Aptos" pitchFamily="34" charset="0"/>
                <a:ea typeface="Aptos" pitchFamily="34" charset="-122"/>
                <a:cs typeface="Aptos" pitchFamily="34" charset="-120"/>
              </a:rPr>
              <a:t>+7.2%</a:t>
            </a:r>
            <a:endParaRPr lang="en-US" sz="1250" dirty="0"/>
          </a:p>
        </p:txBody>
      </p:sp>
      <p:sp>
        <p:nvSpPr>
          <p:cNvPr id="23" name="Text 21"/>
          <p:cNvSpPr/>
          <p:nvPr/>
        </p:nvSpPr>
        <p:spPr>
          <a:xfrm>
            <a:off x="6629400" y="2962656"/>
            <a:ext cx="2377440" cy="274320"/>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RASK - CASK spread</a:t>
            </a:r>
            <a:endParaRPr lang="en-US" sz="1100" dirty="0"/>
          </a:p>
        </p:txBody>
      </p:sp>
      <p:sp>
        <p:nvSpPr>
          <p:cNvPr id="24" name="Text 22"/>
          <p:cNvSpPr/>
          <p:nvPr/>
        </p:nvSpPr>
        <p:spPr>
          <a:xfrm>
            <a:off x="9052560" y="2962656"/>
            <a:ext cx="2377440" cy="274320"/>
          </a:xfrm>
          <a:prstGeom prst="rect">
            <a:avLst/>
          </a:prstGeom>
          <a:noFill/>
          <a:ln/>
        </p:spPr>
        <p:txBody>
          <a:bodyPr wrap="square" lIns="0" tIns="0" rIns="0" bIns="0" rtlCol="0" anchor="ctr"/>
          <a:lstStyle/>
          <a:p>
            <a:pPr marL="0" indent="0">
              <a:buNone/>
            </a:pPr>
            <a:r>
              <a:rPr lang="en-US" sz="1250" b="1" dirty="0">
                <a:solidFill>
                  <a:srgbClr val="C43F2E"/>
                </a:solidFill>
                <a:latin typeface="Aptos" pitchFamily="34" charset="0"/>
                <a:ea typeface="Aptos" pitchFamily="34" charset="-122"/>
                <a:cs typeface="Aptos" pitchFamily="34" charset="-120"/>
              </a:rPr>
              <a:t>-Rs. 0.01/ASK</a:t>
            </a:r>
            <a:endParaRPr lang="en-US" sz="1250" dirty="0"/>
          </a:p>
        </p:txBody>
      </p:sp>
      <p:sp>
        <p:nvSpPr>
          <p:cNvPr id="25" name="Text 23"/>
          <p:cNvSpPr/>
          <p:nvPr/>
        </p:nvSpPr>
        <p:spPr>
          <a:xfrm>
            <a:off x="6629400" y="3291840"/>
            <a:ext cx="2377440" cy="274320"/>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Load factor</a:t>
            </a:r>
            <a:endParaRPr lang="en-US" sz="1100" dirty="0"/>
          </a:p>
        </p:txBody>
      </p:sp>
      <p:sp>
        <p:nvSpPr>
          <p:cNvPr id="26" name="Text 24"/>
          <p:cNvSpPr/>
          <p:nvPr/>
        </p:nvSpPr>
        <p:spPr>
          <a:xfrm>
            <a:off x="9052560" y="3291840"/>
            <a:ext cx="2377440" cy="274320"/>
          </a:xfrm>
          <a:prstGeom prst="rect">
            <a:avLst/>
          </a:prstGeom>
          <a:noFill/>
          <a:ln/>
        </p:spPr>
        <p:txBody>
          <a:bodyPr wrap="square" lIns="0" tIns="0" rIns="0" bIns="0" rtlCol="0" anchor="ctr"/>
          <a:lstStyle/>
          <a:p>
            <a:pPr marL="0" indent="0">
              <a:buNone/>
            </a:pPr>
            <a:r>
              <a:rPr lang="en-US" sz="1250" b="1" dirty="0">
                <a:solidFill>
                  <a:srgbClr val="C43F2E"/>
                </a:solidFill>
                <a:latin typeface="Aptos" pitchFamily="34" charset="0"/>
                <a:ea typeface="Aptos" pitchFamily="34" charset="-122"/>
                <a:cs typeface="Aptos" pitchFamily="34" charset="-120"/>
              </a:rPr>
              <a:t>-1.6 pp to 84.4%</a:t>
            </a:r>
            <a:endParaRPr lang="en-US" sz="1250" dirty="0"/>
          </a:p>
        </p:txBody>
      </p:sp>
      <p:sp>
        <p:nvSpPr>
          <p:cNvPr id="27" name="Shape 25"/>
          <p:cNvSpPr/>
          <p:nvPr/>
        </p:nvSpPr>
        <p:spPr>
          <a:xfrm>
            <a:off x="502920" y="3877056"/>
            <a:ext cx="11185855" cy="1188720"/>
          </a:xfrm>
          <a:prstGeom prst="rect">
            <a:avLst/>
          </a:prstGeom>
          <a:solidFill>
            <a:srgbClr val="F4F7FD"/>
          </a:solidFill>
          <a:ln/>
        </p:spPr>
      </p:sp>
      <p:sp>
        <p:nvSpPr>
          <p:cNvPr id="28" name="Shape 26"/>
          <p:cNvSpPr/>
          <p:nvPr/>
        </p:nvSpPr>
        <p:spPr>
          <a:xfrm>
            <a:off x="502920" y="3877056"/>
            <a:ext cx="32004" cy="1188720"/>
          </a:xfrm>
          <a:prstGeom prst="rect">
            <a:avLst/>
          </a:prstGeom>
          <a:solidFill>
            <a:srgbClr val="0032A0"/>
          </a:solidFill>
          <a:ln/>
        </p:spPr>
      </p:sp>
      <p:sp>
        <p:nvSpPr>
          <p:cNvPr id="29" name="Text 27"/>
          <p:cNvSpPr/>
          <p:nvPr/>
        </p:nvSpPr>
        <p:spPr>
          <a:xfrm>
            <a:off x="777240" y="4059936"/>
            <a:ext cx="4572000" cy="201168"/>
          </a:xfrm>
          <a:prstGeom prst="rect">
            <a:avLst/>
          </a:prstGeom>
          <a:noFill/>
          <a:ln/>
        </p:spPr>
        <p:txBody>
          <a:bodyPr wrap="square" lIns="0" tIns="0" rIns="0" bIns="0" rtlCol="0" anchor="ctr"/>
          <a:lstStyle/>
          <a:p>
            <a:pPr marL="0" indent="0" algn="l">
              <a:buNone/>
            </a:pPr>
            <a:r>
              <a:rPr lang="en-US" sz="1000" b="1" kern="0" spc="110" dirty="0">
                <a:solidFill>
                  <a:srgbClr val="0032A0"/>
                </a:solidFill>
                <a:latin typeface="Aptos" pitchFamily="34" charset="0"/>
                <a:ea typeface="Aptos" pitchFamily="34" charset="-122"/>
                <a:cs typeface="Aptos" pitchFamily="34" charset="-120"/>
              </a:rPr>
              <a:t>THE CONSULTING PROBLEM</a:t>
            </a:r>
            <a:endParaRPr lang="en-US" sz="1000" dirty="0"/>
          </a:p>
        </p:txBody>
      </p:sp>
      <p:sp>
        <p:nvSpPr>
          <p:cNvPr id="30" name="Text 28"/>
          <p:cNvSpPr/>
          <p:nvPr/>
        </p:nvSpPr>
        <p:spPr>
          <a:xfrm>
            <a:off x="777240" y="4315968"/>
            <a:ext cx="10515600" cy="676656"/>
          </a:xfrm>
          <a:prstGeom prst="rect">
            <a:avLst/>
          </a:prstGeom>
          <a:noFill/>
          <a:ln/>
        </p:spPr>
        <p:txBody>
          <a:bodyPr wrap="square" lIns="0" tIns="0" rIns="0" bIns="0" rtlCol="0" anchor="t"/>
          <a:lstStyle/>
          <a:p>
            <a:pPr marL="0" indent="0">
              <a:lnSpc>
                <a:spcPct val="108000"/>
              </a:lnSpc>
              <a:buNone/>
            </a:pPr>
            <a:r>
              <a:rPr lang="en-US" sz="1300" dirty="0">
                <a:solidFill>
                  <a:srgbClr val="041E47"/>
                </a:solidFill>
                <a:latin typeface="Aptos" pitchFamily="34" charset="0"/>
                <a:ea typeface="Aptos" pitchFamily="34" charset="-122"/>
                <a:cs typeface="Aptos" pitchFamily="34" charset="-120"/>
              </a:rPr>
              <a:t>"How should IndiGo calibrate the pace and composition of capacity growth across fleet deployment, network allocation, and domestic/international markets to improve unit-economic performance while continuing to pursue its long-term scale and network expansion objectives?"</a:t>
            </a:r>
            <a:endParaRPr lang="en-US" sz="1300" dirty="0"/>
          </a:p>
        </p:txBody>
      </p:sp>
      <p:sp>
        <p:nvSpPr>
          <p:cNvPr id="31" name="Text 29"/>
          <p:cNvSpPr/>
          <p:nvPr/>
        </p:nvSpPr>
        <p:spPr>
          <a:xfrm>
            <a:off x="777240" y="5230368"/>
            <a:ext cx="4572000" cy="201168"/>
          </a:xfrm>
          <a:prstGeom prst="rect">
            <a:avLst/>
          </a:prstGeom>
          <a:noFill/>
          <a:ln/>
        </p:spPr>
        <p:txBody>
          <a:bodyPr wrap="square" lIns="0" tIns="0" rIns="0" bIns="0" rtlCol="0" anchor="ctr"/>
          <a:lstStyle/>
          <a:p>
            <a:pPr marL="0" indent="0" algn="l">
              <a:buNone/>
            </a:pPr>
            <a:r>
              <a:rPr lang="en-US" sz="950" b="1" kern="0" spc="110" dirty="0">
                <a:solidFill>
                  <a:srgbClr val="46577A"/>
                </a:solidFill>
                <a:latin typeface="Aptos" pitchFamily="34" charset="0"/>
                <a:ea typeface="Aptos" pitchFamily="34" charset="-122"/>
                <a:cs typeface="Aptos" pitchFamily="34" charset="-120"/>
              </a:rPr>
              <a:t>MBA CIS RESEARCH QUESTION</a:t>
            </a:r>
            <a:endParaRPr lang="en-US" sz="950" dirty="0"/>
          </a:p>
        </p:txBody>
      </p:sp>
      <p:sp>
        <p:nvSpPr>
          <p:cNvPr id="32" name="Text 30"/>
          <p:cNvSpPr/>
          <p:nvPr/>
        </p:nvSpPr>
        <p:spPr>
          <a:xfrm>
            <a:off x="777240" y="5468112"/>
            <a:ext cx="7498080" cy="676656"/>
          </a:xfrm>
          <a:prstGeom prst="rect">
            <a:avLst/>
          </a:prstGeom>
          <a:noFill/>
          <a:ln/>
        </p:spPr>
        <p:txBody>
          <a:bodyPr wrap="square" lIns="0" tIns="0" rIns="0" bIns="0" rtlCol="0" anchor="t"/>
          <a:lstStyle/>
          <a:p>
            <a:pPr marL="0" indent="0">
              <a:buNone/>
            </a:pPr>
            <a:r>
              <a:rPr lang="en-US" sz="1050" dirty="0">
                <a:solidFill>
                  <a:srgbClr val="46577A"/>
                </a:solidFill>
                <a:latin typeface="Aptos" pitchFamily="34" charset="0"/>
                <a:ea typeface="Aptos" pitchFamily="34" charset="-122"/>
                <a:cs typeface="Aptos" pitchFamily="34" charset="-120"/>
              </a:rPr>
              <a:t>"What evidence-based capacity-allocation approach can IndiGo adopt to improve unit-economic performance while continuing its domestic and international scale ambitions, given the observed FY2025-26 divergence between capacity growth, passenger growth, and unit economics?"</a:t>
            </a:r>
            <a:endParaRPr lang="en-US" sz="1050" dirty="0"/>
          </a:p>
        </p:txBody>
      </p:sp>
      <p:sp>
        <p:nvSpPr>
          <p:cNvPr id="33" name="Shape 31"/>
          <p:cNvSpPr/>
          <p:nvPr/>
        </p:nvSpPr>
        <p:spPr>
          <a:xfrm>
            <a:off x="8321040" y="5230368"/>
            <a:ext cx="18288" cy="841248"/>
          </a:xfrm>
          <a:prstGeom prst="rect">
            <a:avLst/>
          </a:prstGeom>
          <a:solidFill>
            <a:srgbClr val="C9D8F2"/>
          </a:solidFill>
          <a:ln/>
        </p:spPr>
      </p:sp>
      <p:sp>
        <p:nvSpPr>
          <p:cNvPr id="34" name="Text 32"/>
          <p:cNvSpPr/>
          <p:nvPr/>
        </p:nvSpPr>
        <p:spPr>
          <a:xfrm>
            <a:off x="8558784" y="5394960"/>
            <a:ext cx="3108960" cy="548640"/>
          </a:xfrm>
          <a:prstGeom prst="rect">
            <a:avLst/>
          </a:prstGeom>
          <a:noFill/>
          <a:ln/>
        </p:spPr>
        <p:txBody>
          <a:bodyPr wrap="square" lIns="0" tIns="0" rIns="0" bIns="0" rtlCol="0" anchor="t"/>
          <a:lstStyle/>
          <a:p>
            <a:pPr marL="0" indent="0" algn="l">
              <a:lnSpc>
                <a:spcPct val="112000"/>
              </a:lnSpc>
              <a:buNone/>
            </a:pPr>
            <a:r>
              <a:rPr lang="en-US" sz="1100" b="1" dirty="0">
                <a:solidFill>
                  <a:srgbClr val="0032A0"/>
                </a:solidFill>
                <a:latin typeface="Aptos" pitchFamily="34" charset="0"/>
                <a:ea typeface="Aptos" pitchFamily="34" charset="-122"/>
                <a:cs typeface="Aptos" pitchFamily="34" charset="-120"/>
              </a:rPr>
              <a:t>The problem statement itself forbids a growth-sacrificing answer.</a:t>
            </a:r>
            <a:endParaRPr lang="en-US" sz="1100" dirty="0"/>
          </a:p>
        </p:txBody>
      </p:sp>
      <p:sp>
        <p:nvSpPr>
          <p:cNvPr id="35" name="Shape 33"/>
          <p:cNvSpPr/>
          <p:nvPr/>
        </p:nvSpPr>
        <p:spPr>
          <a:xfrm>
            <a:off x="502920" y="6309360"/>
            <a:ext cx="11185855" cy="5486"/>
          </a:xfrm>
          <a:prstGeom prst="rect">
            <a:avLst/>
          </a:prstGeom>
          <a:solidFill>
            <a:srgbClr val="C9D8F2"/>
          </a:solidFill>
          <a:ln/>
        </p:spPr>
      </p:sp>
      <p:sp>
        <p:nvSpPr>
          <p:cNvPr id="36" name="Text 34"/>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37" name="Text 35"/>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SRC-FY26-002 - SRC-FY26-006 - 00_Research_Control (problem and research-question definition)</a:t>
            </a:r>
            <a:endParaRPr lang="en-US" sz="800" dirty="0"/>
          </a:p>
        </p:txBody>
      </p:sp>
      <p:sp>
        <p:nvSpPr>
          <p:cNvPr id="38" name="Shape 36"/>
          <p:cNvSpPr/>
          <p:nvPr/>
        </p:nvSpPr>
        <p:spPr>
          <a:xfrm>
            <a:off x="11484864" y="6364224"/>
            <a:ext cx="201168" cy="201168"/>
          </a:xfrm>
          <a:prstGeom prst="rect">
            <a:avLst/>
          </a:prstGeom>
          <a:solidFill>
            <a:srgbClr val="0032A0"/>
          </a:solidFill>
          <a:ln/>
        </p:spPr>
      </p:sp>
      <p:sp>
        <p:nvSpPr>
          <p:cNvPr id="39" name="Text 37"/>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05 - EXTERNAL LENS</a:t>
            </a:r>
            <a:endParaRPr lang="en-US" sz="1000" dirty="0"/>
          </a:p>
        </p:txBody>
      </p:sp>
      <p:sp>
        <p:nvSpPr>
          <p:cNvPr id="3" name="Shape 1"/>
          <p:cNvSpPr/>
          <p:nvPr/>
        </p:nvSpPr>
        <p:spPr>
          <a:xfrm>
            <a:off x="502920" y="571500"/>
            <a:ext cx="1463040" cy="45720"/>
          </a:xfrm>
          <a:prstGeom prst="rect">
            <a:avLst/>
          </a:prstGeom>
          <a:solidFill>
            <a:srgbClr val="0032A0"/>
          </a:solidFill>
          <a:ln/>
        </p:spPr>
      </p:sp>
      <p:sp>
        <p:nvSpPr>
          <p:cNvPr id="4" name="Text 2"/>
          <p:cNvSpPr/>
          <p:nvPr/>
        </p:nvSpPr>
        <p:spPr>
          <a:xfrm>
            <a:off x="502920" y="692658"/>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IndiGo still walks like an LCC, but increasingly talks like a full-service carrier</a:t>
            </a:r>
            <a:endParaRPr lang="en-US" sz="2250" dirty="0"/>
          </a:p>
        </p:txBody>
      </p:sp>
      <p:sp>
        <p:nvSpPr>
          <p:cNvPr id="5" name="Shape 3"/>
          <p:cNvSpPr/>
          <p:nvPr/>
        </p:nvSpPr>
        <p:spPr>
          <a:xfrm>
            <a:off x="502920" y="1371600"/>
            <a:ext cx="1572768" cy="201168"/>
          </a:xfrm>
          <a:prstGeom prst="roundRect">
            <a:avLst>
              <a:gd name="adj" fmla="val 50000"/>
            </a:avLst>
          </a:prstGeom>
          <a:solidFill>
            <a:srgbClr val="D98A00"/>
          </a:solidFill>
          <a:ln/>
        </p:spPr>
      </p:sp>
      <p:sp>
        <p:nvSpPr>
          <p:cNvPr id="6" name="Text 4"/>
          <p:cNvSpPr/>
          <p:nvPr/>
        </p:nvSpPr>
        <p:spPr>
          <a:xfrm>
            <a:off x="502920" y="1371600"/>
            <a:ext cx="1572768"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Aptos" pitchFamily="34" charset="0"/>
                <a:ea typeface="Aptos" pitchFamily="34" charset="-122"/>
                <a:cs typeface="Aptos" pitchFamily="34" charset="-120"/>
              </a:rPr>
              <a:t>EXTERNAL LENS  |  THE KEN</a:t>
            </a:r>
            <a:endParaRPr lang="en-US" sz="750" dirty="0"/>
          </a:p>
        </p:txBody>
      </p:sp>
      <p:sp>
        <p:nvSpPr>
          <p:cNvPr id="7" name="Text 5"/>
          <p:cNvSpPr/>
          <p:nvPr/>
        </p:nvSpPr>
        <p:spPr>
          <a:xfrm>
            <a:off x="2185416" y="1376172"/>
            <a:ext cx="7680960" cy="192024"/>
          </a:xfrm>
          <a:prstGeom prst="rect">
            <a:avLst/>
          </a:prstGeom>
          <a:noFill/>
          <a:ln/>
        </p:spPr>
        <p:txBody>
          <a:bodyPr wrap="square" lIns="0" tIns="0" rIns="0" bIns="0" rtlCol="0" anchor="ctr"/>
          <a:lstStyle/>
          <a:p>
            <a:pPr marL="0" indent="0">
              <a:buNone/>
            </a:pPr>
            <a:r>
              <a:rPr lang="en-US" sz="850" i="1" dirty="0">
                <a:solidFill>
                  <a:srgbClr val="D98A00"/>
                </a:solidFill>
                <a:latin typeface="Aptos" pitchFamily="34" charset="0"/>
                <a:ea typeface="Aptos" pitchFamily="34" charset="-122"/>
                <a:cs typeface="Aptos" pitchFamily="34" charset="-120"/>
              </a:rPr>
              <a:t>"Indigo walks like a low-cost airline, talks like a full-service one" - The Ken, July 2026</a:t>
            </a:r>
            <a:endParaRPr lang="en-US" sz="850" dirty="0"/>
          </a:p>
        </p:txBody>
      </p:sp>
      <p:sp>
        <p:nvSpPr>
          <p:cNvPr id="8" name="Shape 6"/>
          <p:cNvSpPr/>
          <p:nvPr/>
        </p:nvSpPr>
        <p:spPr>
          <a:xfrm>
            <a:off x="502920" y="1975104"/>
            <a:ext cx="5413248" cy="3200400"/>
          </a:xfrm>
          <a:prstGeom prst="rect">
            <a:avLst/>
          </a:prstGeom>
          <a:solidFill>
            <a:srgbClr val="F4F7FD"/>
          </a:solidFill>
          <a:ln/>
        </p:spPr>
      </p:sp>
      <p:sp>
        <p:nvSpPr>
          <p:cNvPr id="9" name="Shape 7"/>
          <p:cNvSpPr/>
          <p:nvPr/>
        </p:nvSpPr>
        <p:spPr>
          <a:xfrm>
            <a:off x="502920" y="1975104"/>
            <a:ext cx="5413248" cy="365760"/>
          </a:xfrm>
          <a:prstGeom prst="rect">
            <a:avLst/>
          </a:prstGeom>
          <a:solidFill>
            <a:srgbClr val="041E47"/>
          </a:solidFill>
          <a:ln/>
        </p:spPr>
      </p:sp>
      <p:sp>
        <p:nvSpPr>
          <p:cNvPr id="10" name="Text 8"/>
          <p:cNvSpPr/>
          <p:nvPr/>
        </p:nvSpPr>
        <p:spPr>
          <a:xfrm>
            <a:off x="667512" y="1975104"/>
            <a:ext cx="5084064" cy="365760"/>
          </a:xfrm>
          <a:prstGeom prst="rect">
            <a:avLst/>
          </a:prstGeom>
          <a:noFill/>
          <a:ln/>
        </p:spPr>
        <p:txBody>
          <a:bodyPr wrap="square" lIns="0" tIns="0" rIns="0" bIns="0" rtlCol="0" anchor="ctr"/>
          <a:lstStyle/>
          <a:p>
            <a:pPr marL="0" indent="0">
              <a:buNone/>
            </a:pPr>
            <a:r>
              <a:rPr lang="en-US" sz="1000" b="1" dirty="0">
                <a:solidFill>
                  <a:srgbClr val="FFFFFF"/>
                </a:solidFill>
                <a:latin typeface="Aptos" pitchFamily="34" charset="0"/>
                <a:ea typeface="Aptos" pitchFamily="34" charset="-122"/>
                <a:cs typeface="Aptos" pitchFamily="34" charset="-120"/>
              </a:rPr>
              <a:t>WALKS  -  THE LCC CORE IS INTACT</a:t>
            </a:r>
            <a:endParaRPr lang="en-US" sz="1000" dirty="0"/>
          </a:p>
        </p:txBody>
      </p:sp>
      <p:sp>
        <p:nvSpPr>
          <p:cNvPr id="11" name="Shape 9"/>
          <p:cNvSpPr/>
          <p:nvPr/>
        </p:nvSpPr>
        <p:spPr>
          <a:xfrm>
            <a:off x="685800" y="2551176"/>
            <a:ext cx="64008" cy="64008"/>
          </a:xfrm>
          <a:prstGeom prst="rect">
            <a:avLst/>
          </a:prstGeom>
          <a:solidFill>
            <a:srgbClr val="0032A0"/>
          </a:solidFill>
          <a:ln/>
        </p:spPr>
      </p:sp>
      <p:sp>
        <p:nvSpPr>
          <p:cNvPr id="12" name="Text 10"/>
          <p:cNvSpPr/>
          <p:nvPr/>
        </p:nvSpPr>
        <p:spPr>
          <a:xfrm>
            <a:off x="868680" y="2487168"/>
            <a:ext cx="4846320" cy="201168"/>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A320-family standardisation</a:t>
            </a:r>
            <a:endParaRPr lang="en-US" sz="1050" dirty="0"/>
          </a:p>
        </p:txBody>
      </p:sp>
      <p:sp>
        <p:nvSpPr>
          <p:cNvPr id="13" name="Text 11"/>
          <p:cNvSpPr/>
          <p:nvPr/>
        </p:nvSpPr>
        <p:spPr>
          <a:xfrm>
            <a:off x="868680" y="2679192"/>
            <a:ext cx="4846320" cy="274320"/>
          </a:xfrm>
          <a:prstGeom prst="rect">
            <a:avLst/>
          </a:prstGeom>
          <a:noFill/>
          <a:ln/>
        </p:spPr>
        <p:txBody>
          <a:bodyPr wrap="square" lIns="0" tIns="0" rIns="0" bIns="0" rtlCol="0" anchor="t"/>
          <a:lstStyle/>
          <a:p>
            <a:pPr marL="0" indent="0">
              <a:buNone/>
            </a:pPr>
            <a:r>
              <a:rPr lang="en-US" sz="950" dirty="0">
                <a:solidFill>
                  <a:srgbClr val="46577A"/>
                </a:solidFill>
                <a:latin typeface="Aptos" pitchFamily="34" charset="0"/>
                <a:ea typeface="Aptos" pitchFamily="34" charset="-122"/>
                <a:cs typeface="Aptos" pitchFamily="34" charset="-120"/>
              </a:rPr>
              <a:t>Common type, common crew, common maintenance base</a:t>
            </a:r>
            <a:endParaRPr lang="en-US" sz="950" dirty="0"/>
          </a:p>
        </p:txBody>
      </p:sp>
      <p:sp>
        <p:nvSpPr>
          <p:cNvPr id="14" name="Shape 12"/>
          <p:cNvSpPr/>
          <p:nvPr/>
        </p:nvSpPr>
        <p:spPr>
          <a:xfrm>
            <a:off x="685800" y="3054096"/>
            <a:ext cx="64008" cy="64008"/>
          </a:xfrm>
          <a:prstGeom prst="rect">
            <a:avLst/>
          </a:prstGeom>
          <a:solidFill>
            <a:srgbClr val="0032A0"/>
          </a:solidFill>
          <a:ln/>
        </p:spPr>
      </p:sp>
      <p:sp>
        <p:nvSpPr>
          <p:cNvPr id="15" name="Text 13"/>
          <p:cNvSpPr/>
          <p:nvPr/>
        </p:nvSpPr>
        <p:spPr>
          <a:xfrm>
            <a:off x="868680" y="2990088"/>
            <a:ext cx="4846320" cy="201168"/>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Aircraft utilisation</a:t>
            </a:r>
            <a:endParaRPr lang="en-US" sz="1050" dirty="0"/>
          </a:p>
        </p:txBody>
      </p:sp>
      <p:sp>
        <p:nvSpPr>
          <p:cNvPr id="16" name="Text 14"/>
          <p:cNvSpPr/>
          <p:nvPr/>
        </p:nvSpPr>
        <p:spPr>
          <a:xfrm>
            <a:off x="868680" y="3182112"/>
            <a:ext cx="4846320" cy="274320"/>
          </a:xfrm>
          <a:prstGeom prst="rect">
            <a:avLst/>
          </a:prstGeom>
          <a:noFill/>
          <a:ln/>
        </p:spPr>
        <p:txBody>
          <a:bodyPr wrap="square" lIns="0" tIns="0" rIns="0" bIns="0" rtlCol="0" anchor="t"/>
          <a:lstStyle/>
          <a:p>
            <a:pPr marL="0" indent="0">
              <a:buNone/>
            </a:pPr>
            <a:r>
              <a:rPr lang="en-US" sz="950" dirty="0">
                <a:solidFill>
                  <a:srgbClr val="46577A"/>
                </a:solidFill>
                <a:latin typeface="Aptos" pitchFamily="34" charset="0"/>
                <a:ea typeface="Aptos" pitchFamily="34" charset="-122"/>
                <a:cs typeface="Aptos" pitchFamily="34" charset="-120"/>
              </a:rPr>
              <a:t>The primary lever spreading fixed cost across more sectors</a:t>
            </a:r>
            <a:endParaRPr lang="en-US" sz="950" dirty="0"/>
          </a:p>
        </p:txBody>
      </p:sp>
      <p:sp>
        <p:nvSpPr>
          <p:cNvPr id="17" name="Shape 15"/>
          <p:cNvSpPr/>
          <p:nvPr/>
        </p:nvSpPr>
        <p:spPr>
          <a:xfrm>
            <a:off x="685800" y="3557016"/>
            <a:ext cx="64008" cy="64008"/>
          </a:xfrm>
          <a:prstGeom prst="rect">
            <a:avLst/>
          </a:prstGeom>
          <a:solidFill>
            <a:srgbClr val="0032A0"/>
          </a:solidFill>
          <a:ln/>
        </p:spPr>
      </p:sp>
      <p:sp>
        <p:nvSpPr>
          <p:cNvPr id="18" name="Text 16"/>
          <p:cNvSpPr/>
          <p:nvPr/>
        </p:nvSpPr>
        <p:spPr>
          <a:xfrm>
            <a:off x="868680" y="3493008"/>
            <a:ext cx="4846320" cy="201168"/>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Turnaround discipline</a:t>
            </a:r>
            <a:endParaRPr lang="en-US" sz="1050" dirty="0"/>
          </a:p>
        </p:txBody>
      </p:sp>
      <p:sp>
        <p:nvSpPr>
          <p:cNvPr id="19" name="Text 17"/>
          <p:cNvSpPr/>
          <p:nvPr/>
        </p:nvSpPr>
        <p:spPr>
          <a:xfrm>
            <a:off x="868680" y="3685032"/>
            <a:ext cx="4846320" cy="274320"/>
          </a:xfrm>
          <a:prstGeom prst="rect">
            <a:avLst/>
          </a:prstGeom>
          <a:noFill/>
          <a:ln/>
        </p:spPr>
        <p:txBody>
          <a:bodyPr wrap="square" lIns="0" tIns="0" rIns="0" bIns="0" rtlCol="0" anchor="t"/>
          <a:lstStyle/>
          <a:p>
            <a:pPr marL="0" indent="0">
              <a:buNone/>
            </a:pPr>
            <a:r>
              <a:rPr lang="en-US" sz="950" dirty="0">
                <a:solidFill>
                  <a:srgbClr val="46577A"/>
                </a:solidFill>
                <a:latin typeface="Aptos" pitchFamily="34" charset="0"/>
                <a:ea typeface="Aptos" pitchFamily="34" charset="-122"/>
                <a:cs typeface="Aptos" pitchFamily="34" charset="-120"/>
              </a:rPr>
              <a:t>Ground time converts directly into sectors per aircraft day</a:t>
            </a:r>
            <a:endParaRPr lang="en-US" sz="950" dirty="0"/>
          </a:p>
        </p:txBody>
      </p:sp>
      <p:sp>
        <p:nvSpPr>
          <p:cNvPr id="20" name="Shape 18"/>
          <p:cNvSpPr/>
          <p:nvPr/>
        </p:nvSpPr>
        <p:spPr>
          <a:xfrm>
            <a:off x="685800" y="4059936"/>
            <a:ext cx="64008" cy="64008"/>
          </a:xfrm>
          <a:prstGeom prst="rect">
            <a:avLst/>
          </a:prstGeom>
          <a:solidFill>
            <a:srgbClr val="0032A0"/>
          </a:solidFill>
          <a:ln/>
        </p:spPr>
      </p:sp>
      <p:sp>
        <p:nvSpPr>
          <p:cNvPr id="21" name="Text 19"/>
          <p:cNvSpPr/>
          <p:nvPr/>
        </p:nvSpPr>
        <p:spPr>
          <a:xfrm>
            <a:off x="868680" y="3995928"/>
            <a:ext cx="4846320" cy="201168"/>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Process standardisation</a:t>
            </a:r>
            <a:endParaRPr lang="en-US" sz="1050" dirty="0"/>
          </a:p>
        </p:txBody>
      </p:sp>
      <p:sp>
        <p:nvSpPr>
          <p:cNvPr id="22" name="Text 20"/>
          <p:cNvSpPr/>
          <p:nvPr/>
        </p:nvSpPr>
        <p:spPr>
          <a:xfrm>
            <a:off x="868680" y="4187952"/>
            <a:ext cx="4846320" cy="274320"/>
          </a:xfrm>
          <a:prstGeom prst="rect">
            <a:avLst/>
          </a:prstGeom>
          <a:noFill/>
          <a:ln/>
        </p:spPr>
        <p:txBody>
          <a:bodyPr wrap="square" lIns="0" tIns="0" rIns="0" bIns="0" rtlCol="0" anchor="t"/>
          <a:lstStyle/>
          <a:p>
            <a:pPr marL="0" indent="0">
              <a:buNone/>
            </a:pPr>
            <a:r>
              <a:rPr lang="en-US" sz="950" dirty="0">
                <a:solidFill>
                  <a:srgbClr val="46577A"/>
                </a:solidFill>
                <a:latin typeface="Aptos" pitchFamily="34" charset="0"/>
                <a:ea typeface="Aptos" pitchFamily="34" charset="-122"/>
                <a:cs typeface="Aptos" pitchFamily="34" charset="-120"/>
              </a:rPr>
              <a:t>Operating simplicity as a deliberate cost architecture</a:t>
            </a:r>
            <a:endParaRPr lang="en-US" sz="950" dirty="0"/>
          </a:p>
        </p:txBody>
      </p:sp>
      <p:sp>
        <p:nvSpPr>
          <p:cNvPr id="23" name="Shape 21"/>
          <p:cNvSpPr/>
          <p:nvPr/>
        </p:nvSpPr>
        <p:spPr>
          <a:xfrm>
            <a:off x="685800" y="4562856"/>
            <a:ext cx="64008" cy="64008"/>
          </a:xfrm>
          <a:prstGeom prst="rect">
            <a:avLst/>
          </a:prstGeom>
          <a:solidFill>
            <a:srgbClr val="0032A0"/>
          </a:solidFill>
          <a:ln/>
        </p:spPr>
      </p:sp>
      <p:sp>
        <p:nvSpPr>
          <p:cNvPr id="24" name="Text 22"/>
          <p:cNvSpPr/>
          <p:nvPr/>
        </p:nvSpPr>
        <p:spPr>
          <a:xfrm>
            <a:off x="868680" y="4498848"/>
            <a:ext cx="4846320" cy="201168"/>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Stated cost philosophy</a:t>
            </a:r>
            <a:endParaRPr lang="en-US" sz="1050" dirty="0"/>
          </a:p>
        </p:txBody>
      </p:sp>
      <p:sp>
        <p:nvSpPr>
          <p:cNvPr id="25" name="Text 23"/>
          <p:cNvSpPr/>
          <p:nvPr/>
        </p:nvSpPr>
        <p:spPr>
          <a:xfrm>
            <a:off x="868680" y="4690872"/>
            <a:ext cx="4846320" cy="274320"/>
          </a:xfrm>
          <a:prstGeom prst="rect">
            <a:avLst/>
          </a:prstGeom>
          <a:noFill/>
          <a:ln/>
        </p:spPr>
        <p:txBody>
          <a:bodyPr wrap="square" lIns="0" tIns="0" rIns="0" bIns="0" rtlCol="0" anchor="t"/>
          <a:lstStyle/>
          <a:p>
            <a:pPr marL="0" indent="0">
              <a:buNone/>
            </a:pPr>
            <a:r>
              <a:rPr lang="en-US" sz="950" dirty="0">
                <a:solidFill>
                  <a:srgbClr val="46577A"/>
                </a:solidFill>
                <a:latin typeface="Aptos" pitchFamily="34" charset="0"/>
                <a:ea typeface="Aptos" pitchFamily="34" charset="-122"/>
                <a:cs typeface="Aptos" pitchFamily="34" charset="-120"/>
              </a:rPr>
              <a:t>Cost leadership explicitly retained while expanding abroad</a:t>
            </a:r>
            <a:endParaRPr lang="en-US" sz="950" dirty="0"/>
          </a:p>
        </p:txBody>
      </p:sp>
      <p:sp>
        <p:nvSpPr>
          <p:cNvPr id="26" name="Shape 24"/>
          <p:cNvSpPr/>
          <p:nvPr/>
        </p:nvSpPr>
        <p:spPr>
          <a:xfrm>
            <a:off x="6272784" y="1975104"/>
            <a:ext cx="5413248" cy="3200400"/>
          </a:xfrm>
          <a:prstGeom prst="rect">
            <a:avLst/>
          </a:prstGeom>
          <a:solidFill>
            <a:srgbClr val="FFFFFF"/>
          </a:solidFill>
          <a:ln w="9525">
            <a:solidFill>
              <a:srgbClr val="C9D8F2"/>
            </a:solidFill>
            <a:prstDash val="solid"/>
          </a:ln>
        </p:spPr>
      </p:sp>
      <p:sp>
        <p:nvSpPr>
          <p:cNvPr id="27" name="Shape 25"/>
          <p:cNvSpPr/>
          <p:nvPr/>
        </p:nvSpPr>
        <p:spPr>
          <a:xfrm>
            <a:off x="6272784" y="1975104"/>
            <a:ext cx="5413248" cy="365760"/>
          </a:xfrm>
          <a:prstGeom prst="rect">
            <a:avLst/>
          </a:prstGeom>
          <a:solidFill>
            <a:srgbClr val="0032A0"/>
          </a:solidFill>
          <a:ln/>
        </p:spPr>
      </p:sp>
      <p:sp>
        <p:nvSpPr>
          <p:cNvPr id="28" name="Text 26"/>
          <p:cNvSpPr/>
          <p:nvPr/>
        </p:nvSpPr>
        <p:spPr>
          <a:xfrm>
            <a:off x="6437376" y="1975104"/>
            <a:ext cx="5084064" cy="365760"/>
          </a:xfrm>
          <a:prstGeom prst="rect">
            <a:avLst/>
          </a:prstGeom>
          <a:noFill/>
          <a:ln/>
        </p:spPr>
        <p:txBody>
          <a:bodyPr wrap="square" lIns="0" tIns="0" rIns="0" bIns="0" rtlCol="0" anchor="ctr"/>
          <a:lstStyle/>
          <a:p>
            <a:pPr marL="0" indent="0">
              <a:buNone/>
            </a:pPr>
            <a:r>
              <a:rPr lang="en-US" sz="1000" b="1" dirty="0">
                <a:solidFill>
                  <a:srgbClr val="FFFFFF"/>
                </a:solidFill>
                <a:latin typeface="Aptos" pitchFamily="34" charset="0"/>
                <a:ea typeface="Aptos" pitchFamily="34" charset="-122"/>
                <a:cs typeface="Aptos" pitchFamily="34" charset="-120"/>
              </a:rPr>
              <a:t>TALKS  -  THE FULL-SERVICE VOCABULARY ADDED SINCE 2023</a:t>
            </a:r>
            <a:endParaRPr lang="en-US" sz="1000" dirty="0"/>
          </a:p>
        </p:txBody>
      </p:sp>
      <p:sp>
        <p:nvSpPr>
          <p:cNvPr id="29" name="Shape 27"/>
          <p:cNvSpPr/>
          <p:nvPr/>
        </p:nvSpPr>
        <p:spPr>
          <a:xfrm>
            <a:off x="6455664" y="2569464"/>
            <a:ext cx="64008" cy="64008"/>
          </a:xfrm>
          <a:prstGeom prst="rect">
            <a:avLst/>
          </a:prstGeom>
          <a:solidFill>
            <a:srgbClr val="2F6BD8"/>
          </a:solidFill>
          <a:ln/>
        </p:spPr>
      </p:sp>
      <p:sp>
        <p:nvSpPr>
          <p:cNvPr id="30" name="Text 28"/>
          <p:cNvSpPr/>
          <p:nvPr/>
        </p:nvSpPr>
        <p:spPr>
          <a:xfrm>
            <a:off x="6638544" y="2487168"/>
            <a:ext cx="2231136" cy="219456"/>
          </a:xfrm>
          <a:prstGeom prst="rect">
            <a:avLst/>
          </a:prstGeom>
          <a:noFill/>
          <a:ln/>
        </p:spPr>
        <p:txBody>
          <a:bodyPr wrap="square" lIns="0" tIns="0" rIns="0" bIns="0" rtlCol="0" anchor="ctr"/>
          <a:lstStyle/>
          <a:p>
            <a:pPr marL="0" indent="0">
              <a:buNone/>
            </a:pPr>
            <a:r>
              <a:rPr lang="en-US" sz="950" b="1" dirty="0">
                <a:solidFill>
                  <a:srgbClr val="041E47"/>
                </a:solidFill>
                <a:latin typeface="Aptos" pitchFamily="34" charset="0"/>
                <a:ea typeface="Aptos" pitchFamily="34" charset="-122"/>
                <a:cs typeface="Aptos" pitchFamily="34" charset="-120"/>
              </a:rPr>
              <a:t>IndiGoStretch</a:t>
            </a:r>
            <a:endParaRPr lang="en-US" sz="950" dirty="0"/>
          </a:p>
        </p:txBody>
      </p:sp>
      <p:sp>
        <p:nvSpPr>
          <p:cNvPr id="31" name="Text 29"/>
          <p:cNvSpPr/>
          <p:nvPr/>
        </p:nvSpPr>
        <p:spPr>
          <a:xfrm>
            <a:off x="8924544" y="2487168"/>
            <a:ext cx="2560320" cy="402336"/>
          </a:xfrm>
          <a:prstGeom prst="rect">
            <a:avLst/>
          </a:prstGeom>
          <a:noFill/>
          <a:ln/>
        </p:spPr>
        <p:txBody>
          <a:bodyPr wrap="square" lIns="0" tIns="0" rIns="0" bIns="0" rtlCol="0" anchor="t"/>
          <a:lstStyle/>
          <a:p>
            <a:pPr marL="0" indent="0">
              <a:lnSpc>
                <a:spcPct val="104000"/>
              </a:lnSpc>
              <a:buNone/>
            </a:pPr>
            <a:r>
              <a:rPr lang="en-US" sz="850" dirty="0">
                <a:solidFill>
                  <a:srgbClr val="46577A"/>
                </a:solidFill>
                <a:latin typeface="Aptos" pitchFamily="34" charset="0"/>
                <a:ea typeface="Aptos" pitchFamily="34" charset="-122"/>
                <a:cs typeface="Aptos" pitchFamily="34" charset="-120"/>
              </a:rPr>
              <a:t>A selective premium cabin on a single-class proposition</a:t>
            </a:r>
            <a:endParaRPr lang="en-US" sz="850" dirty="0"/>
          </a:p>
        </p:txBody>
      </p:sp>
      <p:sp>
        <p:nvSpPr>
          <p:cNvPr id="32" name="Shape 30"/>
          <p:cNvSpPr/>
          <p:nvPr/>
        </p:nvSpPr>
        <p:spPr>
          <a:xfrm>
            <a:off x="6455664" y="3012948"/>
            <a:ext cx="64008" cy="64008"/>
          </a:xfrm>
          <a:prstGeom prst="rect">
            <a:avLst/>
          </a:prstGeom>
          <a:solidFill>
            <a:srgbClr val="2F6BD8"/>
          </a:solidFill>
          <a:ln/>
        </p:spPr>
      </p:sp>
      <p:sp>
        <p:nvSpPr>
          <p:cNvPr id="33" name="Text 31"/>
          <p:cNvSpPr/>
          <p:nvPr/>
        </p:nvSpPr>
        <p:spPr>
          <a:xfrm>
            <a:off x="6638544" y="2930652"/>
            <a:ext cx="2231136" cy="219456"/>
          </a:xfrm>
          <a:prstGeom prst="rect">
            <a:avLst/>
          </a:prstGeom>
          <a:noFill/>
          <a:ln/>
        </p:spPr>
        <p:txBody>
          <a:bodyPr wrap="square" lIns="0" tIns="0" rIns="0" bIns="0" rtlCol="0" anchor="ctr"/>
          <a:lstStyle/>
          <a:p>
            <a:pPr marL="0" indent="0">
              <a:buNone/>
            </a:pPr>
            <a:r>
              <a:rPr lang="en-US" sz="950" b="1" dirty="0">
                <a:solidFill>
                  <a:srgbClr val="041E47"/>
                </a:solidFill>
                <a:latin typeface="Aptos" pitchFamily="34" charset="0"/>
                <a:ea typeface="Aptos" pitchFamily="34" charset="-122"/>
                <a:cs typeface="Aptos" pitchFamily="34" charset="-120"/>
              </a:rPr>
              <a:t>BluChip</a:t>
            </a:r>
            <a:endParaRPr lang="en-US" sz="950" dirty="0"/>
          </a:p>
        </p:txBody>
      </p:sp>
      <p:sp>
        <p:nvSpPr>
          <p:cNvPr id="34" name="Text 32"/>
          <p:cNvSpPr/>
          <p:nvPr/>
        </p:nvSpPr>
        <p:spPr>
          <a:xfrm>
            <a:off x="8924544" y="2930652"/>
            <a:ext cx="2560320" cy="402336"/>
          </a:xfrm>
          <a:prstGeom prst="rect">
            <a:avLst/>
          </a:prstGeom>
          <a:noFill/>
          <a:ln/>
        </p:spPr>
        <p:txBody>
          <a:bodyPr wrap="square" lIns="0" tIns="0" rIns="0" bIns="0" rtlCol="0" anchor="t"/>
          <a:lstStyle/>
          <a:p>
            <a:pPr marL="0" indent="0">
              <a:lnSpc>
                <a:spcPct val="104000"/>
              </a:lnSpc>
              <a:buNone/>
            </a:pPr>
            <a:r>
              <a:rPr lang="en-US" sz="850" dirty="0">
                <a:solidFill>
                  <a:srgbClr val="46577A"/>
                </a:solidFill>
                <a:latin typeface="Aptos" pitchFamily="34" charset="0"/>
                <a:ea typeface="Aptos" pitchFamily="34" charset="-122"/>
                <a:cs typeface="Aptos" pitchFamily="34" charset="-120"/>
              </a:rPr>
              <a:t>A loyalty layer monetising the customer beyond the ticket</a:t>
            </a:r>
            <a:endParaRPr lang="en-US" sz="850" dirty="0"/>
          </a:p>
        </p:txBody>
      </p:sp>
      <p:sp>
        <p:nvSpPr>
          <p:cNvPr id="35" name="Shape 33"/>
          <p:cNvSpPr/>
          <p:nvPr/>
        </p:nvSpPr>
        <p:spPr>
          <a:xfrm>
            <a:off x="6455664" y="3456432"/>
            <a:ext cx="64008" cy="64008"/>
          </a:xfrm>
          <a:prstGeom prst="rect">
            <a:avLst/>
          </a:prstGeom>
          <a:solidFill>
            <a:srgbClr val="2F6BD8"/>
          </a:solidFill>
          <a:ln/>
        </p:spPr>
      </p:sp>
      <p:sp>
        <p:nvSpPr>
          <p:cNvPr id="36" name="Text 34"/>
          <p:cNvSpPr/>
          <p:nvPr/>
        </p:nvSpPr>
        <p:spPr>
          <a:xfrm>
            <a:off x="6638544" y="3374136"/>
            <a:ext cx="2231136" cy="219456"/>
          </a:xfrm>
          <a:prstGeom prst="rect">
            <a:avLst/>
          </a:prstGeom>
          <a:noFill/>
          <a:ln/>
        </p:spPr>
        <p:txBody>
          <a:bodyPr wrap="square" lIns="0" tIns="0" rIns="0" bIns="0" rtlCol="0" anchor="ctr"/>
          <a:lstStyle/>
          <a:p>
            <a:pPr marL="0" indent="0">
              <a:buNone/>
            </a:pPr>
            <a:r>
              <a:rPr lang="en-US" sz="950" b="1" dirty="0">
                <a:solidFill>
                  <a:srgbClr val="041E47"/>
                </a:solidFill>
                <a:latin typeface="Aptos" pitchFamily="34" charset="0"/>
                <a:ea typeface="Aptos" pitchFamily="34" charset="-122"/>
                <a:cs typeface="Aptos" pitchFamily="34" charset="-120"/>
              </a:rPr>
              <a:t>A350 widebody programme</a:t>
            </a:r>
            <a:endParaRPr lang="en-US" sz="950" dirty="0"/>
          </a:p>
        </p:txBody>
      </p:sp>
      <p:sp>
        <p:nvSpPr>
          <p:cNvPr id="37" name="Text 35"/>
          <p:cNvSpPr/>
          <p:nvPr/>
        </p:nvSpPr>
        <p:spPr>
          <a:xfrm>
            <a:off x="8924544" y="3374136"/>
            <a:ext cx="2560320" cy="402336"/>
          </a:xfrm>
          <a:prstGeom prst="rect">
            <a:avLst/>
          </a:prstGeom>
          <a:noFill/>
          <a:ln/>
        </p:spPr>
        <p:txBody>
          <a:bodyPr wrap="square" lIns="0" tIns="0" rIns="0" bIns="0" rtlCol="0" anchor="t"/>
          <a:lstStyle/>
          <a:p>
            <a:pPr marL="0" indent="0">
              <a:lnSpc>
                <a:spcPct val="104000"/>
              </a:lnSpc>
              <a:buNone/>
            </a:pPr>
            <a:r>
              <a:rPr lang="en-US" sz="850" dirty="0">
                <a:solidFill>
                  <a:srgbClr val="46577A"/>
                </a:solidFill>
                <a:latin typeface="Aptos" pitchFamily="34" charset="0"/>
                <a:ea typeface="Aptos" pitchFamily="34" charset="-122"/>
                <a:cs typeface="Aptos" pitchFamily="34" charset="-120"/>
              </a:rPr>
              <a:t>30 firm A350-900s from April 2024; 30 purchase rights converted June 2025</a:t>
            </a:r>
            <a:endParaRPr lang="en-US" sz="850" dirty="0"/>
          </a:p>
        </p:txBody>
      </p:sp>
      <p:sp>
        <p:nvSpPr>
          <p:cNvPr id="38" name="Shape 36"/>
          <p:cNvSpPr/>
          <p:nvPr/>
        </p:nvSpPr>
        <p:spPr>
          <a:xfrm>
            <a:off x="6455664" y="3899916"/>
            <a:ext cx="64008" cy="64008"/>
          </a:xfrm>
          <a:prstGeom prst="rect">
            <a:avLst/>
          </a:prstGeom>
          <a:solidFill>
            <a:srgbClr val="2F6BD8"/>
          </a:solidFill>
          <a:ln/>
        </p:spPr>
      </p:sp>
      <p:sp>
        <p:nvSpPr>
          <p:cNvPr id="39" name="Text 37"/>
          <p:cNvSpPr/>
          <p:nvPr/>
        </p:nvSpPr>
        <p:spPr>
          <a:xfrm>
            <a:off x="6638544" y="3817620"/>
            <a:ext cx="2231136" cy="219456"/>
          </a:xfrm>
          <a:prstGeom prst="rect">
            <a:avLst/>
          </a:prstGeom>
          <a:noFill/>
          <a:ln/>
        </p:spPr>
        <p:txBody>
          <a:bodyPr wrap="square" lIns="0" tIns="0" rIns="0" bIns="0" rtlCol="0" anchor="ctr"/>
          <a:lstStyle/>
          <a:p>
            <a:pPr marL="0" indent="0">
              <a:buNone/>
            </a:pPr>
            <a:r>
              <a:rPr lang="en-US" sz="950" b="1" dirty="0">
                <a:solidFill>
                  <a:srgbClr val="041E47"/>
                </a:solidFill>
                <a:latin typeface="Aptos" pitchFamily="34" charset="0"/>
                <a:ea typeface="Aptos" pitchFamily="34" charset="-122"/>
                <a:cs typeface="Aptos" pitchFamily="34" charset="-120"/>
              </a:rPr>
              <a:t>Long-haul, ahead of the fleet</a:t>
            </a:r>
            <a:endParaRPr lang="en-US" sz="950" dirty="0"/>
          </a:p>
        </p:txBody>
      </p:sp>
      <p:sp>
        <p:nvSpPr>
          <p:cNvPr id="40" name="Text 38"/>
          <p:cNvSpPr/>
          <p:nvPr/>
        </p:nvSpPr>
        <p:spPr>
          <a:xfrm>
            <a:off x="8924544" y="3817620"/>
            <a:ext cx="2560320" cy="402336"/>
          </a:xfrm>
          <a:prstGeom prst="rect">
            <a:avLst/>
          </a:prstGeom>
          <a:noFill/>
          <a:ln/>
        </p:spPr>
        <p:txBody>
          <a:bodyPr wrap="square" lIns="0" tIns="0" rIns="0" bIns="0" rtlCol="0" anchor="t"/>
          <a:lstStyle/>
          <a:p>
            <a:pPr marL="0" indent="0">
              <a:lnSpc>
                <a:spcPct val="104000"/>
              </a:lnSpc>
              <a:buNone/>
            </a:pPr>
            <a:r>
              <a:rPr lang="en-US" sz="850" dirty="0">
                <a:solidFill>
                  <a:srgbClr val="46577A"/>
                </a:solidFill>
                <a:latin typeface="Aptos" pitchFamily="34" charset="0"/>
                <a:ea typeface="Aptos" pitchFamily="34" charset="-122"/>
                <a:cs typeface="Aptos" pitchFamily="34" charset="-120"/>
              </a:rPr>
              <a:t>Damp-leased 787-9s opened Mumbai-Manchester and Mumbai-Amsterdam, July 2025</a:t>
            </a:r>
            <a:endParaRPr lang="en-US" sz="850" dirty="0"/>
          </a:p>
        </p:txBody>
      </p:sp>
      <p:sp>
        <p:nvSpPr>
          <p:cNvPr id="41" name="Shape 39"/>
          <p:cNvSpPr/>
          <p:nvPr/>
        </p:nvSpPr>
        <p:spPr>
          <a:xfrm>
            <a:off x="6455664" y="4343400"/>
            <a:ext cx="64008" cy="64008"/>
          </a:xfrm>
          <a:prstGeom prst="rect">
            <a:avLst/>
          </a:prstGeom>
          <a:solidFill>
            <a:srgbClr val="2F6BD8"/>
          </a:solidFill>
          <a:ln/>
        </p:spPr>
      </p:sp>
      <p:sp>
        <p:nvSpPr>
          <p:cNvPr id="42" name="Text 40"/>
          <p:cNvSpPr/>
          <p:nvPr/>
        </p:nvSpPr>
        <p:spPr>
          <a:xfrm>
            <a:off x="6638544" y="4261104"/>
            <a:ext cx="2231136" cy="219456"/>
          </a:xfrm>
          <a:prstGeom prst="rect">
            <a:avLst/>
          </a:prstGeom>
          <a:noFill/>
          <a:ln/>
        </p:spPr>
        <p:txBody>
          <a:bodyPr wrap="square" lIns="0" tIns="0" rIns="0" bIns="0" rtlCol="0" anchor="ctr"/>
          <a:lstStyle/>
          <a:p>
            <a:pPr marL="0" indent="0">
              <a:buNone/>
            </a:pPr>
            <a:r>
              <a:rPr lang="en-US" sz="950" b="1" dirty="0">
                <a:solidFill>
                  <a:srgbClr val="041E47"/>
                </a:solidFill>
                <a:latin typeface="Aptos" pitchFamily="34" charset="0"/>
                <a:ea typeface="Aptos" pitchFamily="34" charset="-122"/>
                <a:cs typeface="Aptos" pitchFamily="34" charset="-120"/>
              </a:rPr>
              <a:t>Partner network</a:t>
            </a:r>
            <a:endParaRPr lang="en-US" sz="950" dirty="0"/>
          </a:p>
        </p:txBody>
      </p:sp>
      <p:sp>
        <p:nvSpPr>
          <p:cNvPr id="43" name="Text 41"/>
          <p:cNvSpPr/>
          <p:nvPr/>
        </p:nvSpPr>
        <p:spPr>
          <a:xfrm>
            <a:off x="8924544" y="4261104"/>
            <a:ext cx="2560320" cy="402336"/>
          </a:xfrm>
          <a:prstGeom prst="rect">
            <a:avLst/>
          </a:prstGeom>
          <a:noFill/>
          <a:ln/>
        </p:spPr>
        <p:txBody>
          <a:bodyPr wrap="square" lIns="0" tIns="0" rIns="0" bIns="0" rtlCol="0" anchor="t"/>
          <a:lstStyle/>
          <a:p>
            <a:pPr marL="0" indent="0">
              <a:lnSpc>
                <a:spcPct val="104000"/>
              </a:lnSpc>
              <a:buNone/>
            </a:pPr>
            <a:r>
              <a:rPr lang="en-US" sz="850" dirty="0">
                <a:solidFill>
                  <a:srgbClr val="46577A"/>
                </a:solidFill>
                <a:latin typeface="Aptos" pitchFamily="34" charset="0"/>
                <a:ea typeface="Aptos" pitchFamily="34" charset="-122"/>
                <a:cs typeface="Aptos" pitchFamily="34" charset="-120"/>
              </a:rPr>
              <a:t>Delhi-Istanbul with Turkish Airlines opens 50+ onward destinations</a:t>
            </a:r>
            <a:endParaRPr lang="en-US" sz="850" dirty="0"/>
          </a:p>
        </p:txBody>
      </p:sp>
      <p:sp>
        <p:nvSpPr>
          <p:cNvPr id="44" name="Shape 42"/>
          <p:cNvSpPr/>
          <p:nvPr/>
        </p:nvSpPr>
        <p:spPr>
          <a:xfrm>
            <a:off x="6455664" y="4786884"/>
            <a:ext cx="64008" cy="64008"/>
          </a:xfrm>
          <a:prstGeom prst="rect">
            <a:avLst/>
          </a:prstGeom>
          <a:solidFill>
            <a:srgbClr val="2F6BD8"/>
          </a:solidFill>
          <a:ln/>
        </p:spPr>
      </p:sp>
      <p:sp>
        <p:nvSpPr>
          <p:cNvPr id="45" name="Text 43"/>
          <p:cNvSpPr/>
          <p:nvPr/>
        </p:nvSpPr>
        <p:spPr>
          <a:xfrm>
            <a:off x="6638544" y="4704588"/>
            <a:ext cx="2231136" cy="219456"/>
          </a:xfrm>
          <a:prstGeom prst="rect">
            <a:avLst/>
          </a:prstGeom>
          <a:noFill/>
          <a:ln/>
        </p:spPr>
        <p:txBody>
          <a:bodyPr wrap="square" lIns="0" tIns="0" rIns="0" bIns="0" rtlCol="0" anchor="ctr"/>
          <a:lstStyle/>
          <a:p>
            <a:pPr marL="0" indent="0">
              <a:buNone/>
            </a:pPr>
            <a:r>
              <a:rPr lang="en-US" sz="950" b="1" dirty="0">
                <a:solidFill>
                  <a:srgbClr val="041E47"/>
                </a:solidFill>
                <a:latin typeface="Aptos" pitchFamily="34" charset="0"/>
                <a:ea typeface="Aptos" pitchFamily="34" charset="-122"/>
                <a:cs typeface="Aptos" pitchFamily="34" charset="-120"/>
              </a:rPr>
              <a:t>Cargo and connecting revenue</a:t>
            </a:r>
            <a:endParaRPr lang="en-US" sz="950" dirty="0"/>
          </a:p>
        </p:txBody>
      </p:sp>
      <p:sp>
        <p:nvSpPr>
          <p:cNvPr id="46" name="Text 44"/>
          <p:cNvSpPr/>
          <p:nvPr/>
        </p:nvSpPr>
        <p:spPr>
          <a:xfrm>
            <a:off x="8924544" y="4704588"/>
            <a:ext cx="2560320" cy="402336"/>
          </a:xfrm>
          <a:prstGeom prst="rect">
            <a:avLst/>
          </a:prstGeom>
          <a:noFill/>
          <a:ln/>
        </p:spPr>
        <p:txBody>
          <a:bodyPr wrap="square" lIns="0" tIns="0" rIns="0" bIns="0" rtlCol="0" anchor="t"/>
          <a:lstStyle/>
          <a:p>
            <a:pPr marL="0" indent="0">
              <a:lnSpc>
                <a:spcPct val="104000"/>
              </a:lnSpc>
              <a:buNone/>
            </a:pPr>
            <a:r>
              <a:rPr lang="en-US" sz="850" dirty="0">
                <a:solidFill>
                  <a:srgbClr val="46577A"/>
                </a:solidFill>
                <a:latin typeface="Aptos" pitchFamily="34" charset="0"/>
                <a:ea typeface="Aptos" pitchFamily="34" charset="-122"/>
                <a:cs typeface="Aptos" pitchFamily="34" charset="-120"/>
              </a:rPr>
              <a:t>Value captured from capacity and network, not only the fare</a:t>
            </a:r>
            <a:endParaRPr lang="en-US" sz="850" dirty="0"/>
          </a:p>
        </p:txBody>
      </p:sp>
      <p:sp>
        <p:nvSpPr>
          <p:cNvPr id="47" name="Shape 45"/>
          <p:cNvSpPr/>
          <p:nvPr/>
        </p:nvSpPr>
        <p:spPr>
          <a:xfrm>
            <a:off x="502920" y="5303520"/>
            <a:ext cx="11185855" cy="566928"/>
          </a:xfrm>
          <a:prstGeom prst="rect">
            <a:avLst/>
          </a:prstGeom>
          <a:solidFill>
            <a:srgbClr val="FFFFFF"/>
          </a:solidFill>
          <a:ln w="9525">
            <a:solidFill>
              <a:srgbClr val="0032A0"/>
            </a:solidFill>
            <a:prstDash val="solid"/>
          </a:ln>
        </p:spPr>
      </p:sp>
      <p:sp>
        <p:nvSpPr>
          <p:cNvPr id="48" name="Shape 46"/>
          <p:cNvSpPr/>
          <p:nvPr/>
        </p:nvSpPr>
        <p:spPr>
          <a:xfrm>
            <a:off x="502920" y="5303520"/>
            <a:ext cx="45720" cy="566928"/>
          </a:xfrm>
          <a:prstGeom prst="rect">
            <a:avLst/>
          </a:prstGeom>
          <a:solidFill>
            <a:srgbClr val="0032A0"/>
          </a:solidFill>
          <a:ln/>
        </p:spPr>
      </p:sp>
      <p:sp>
        <p:nvSpPr>
          <p:cNvPr id="49" name="Shape 47"/>
          <p:cNvSpPr/>
          <p:nvPr/>
        </p:nvSpPr>
        <p:spPr>
          <a:xfrm>
            <a:off x="704088" y="5404104"/>
            <a:ext cx="894283" cy="173736"/>
          </a:xfrm>
          <a:prstGeom prst="rect">
            <a:avLst/>
          </a:prstGeom>
          <a:solidFill>
            <a:srgbClr val="FFFFFF"/>
          </a:solidFill>
          <a:ln w="9525">
            <a:solidFill>
              <a:srgbClr val="46577A"/>
            </a:solidFill>
            <a:prstDash val="solid"/>
          </a:ln>
        </p:spPr>
      </p:sp>
      <p:sp>
        <p:nvSpPr>
          <p:cNvPr id="50" name="Text 48"/>
          <p:cNvSpPr/>
          <p:nvPr/>
        </p:nvSpPr>
        <p:spPr>
          <a:xfrm>
            <a:off x="704088" y="5404104"/>
            <a:ext cx="894283" cy="173736"/>
          </a:xfrm>
          <a:prstGeom prst="rect">
            <a:avLst/>
          </a:prstGeom>
          <a:noFill/>
          <a:ln/>
        </p:spPr>
        <p:txBody>
          <a:bodyPr wrap="square" lIns="0" tIns="0" rIns="0" bIns="0" rtlCol="0" anchor="ctr"/>
          <a:lstStyle/>
          <a:p>
            <a:pPr marL="0" indent="0" algn="ctr">
              <a:buNone/>
            </a:pPr>
            <a:r>
              <a:rPr lang="en-US" sz="900" b="1" dirty="0">
                <a:solidFill>
                  <a:srgbClr val="46577A"/>
                </a:solidFill>
                <a:latin typeface="Aptos" pitchFamily="34" charset="0"/>
                <a:ea typeface="Aptos" pitchFamily="34" charset="-122"/>
                <a:cs typeface="Aptos" pitchFamily="34" charset="-120"/>
              </a:rPr>
              <a:t>INFERENCE</a:t>
            </a:r>
            <a:endParaRPr lang="en-US" sz="900" dirty="0"/>
          </a:p>
        </p:txBody>
      </p:sp>
      <p:sp>
        <p:nvSpPr>
          <p:cNvPr id="51" name="Text 49"/>
          <p:cNvSpPr/>
          <p:nvPr/>
        </p:nvSpPr>
        <p:spPr>
          <a:xfrm>
            <a:off x="1671523" y="5321808"/>
            <a:ext cx="9779508" cy="530352"/>
          </a:xfrm>
          <a:prstGeom prst="rect">
            <a:avLst/>
          </a:prstGeom>
          <a:noFill/>
          <a:ln/>
        </p:spPr>
        <p:txBody>
          <a:bodyPr wrap="square" lIns="0" tIns="0" rIns="0" bIns="0" rtlCol="0" anchor="ctr"/>
          <a:lstStyle/>
          <a:p>
            <a:pPr marL="0" indent="0">
              <a:lnSpc>
                <a:spcPct val="106000"/>
              </a:lnSpc>
              <a:buNone/>
            </a:pPr>
            <a:r>
              <a:rPr lang="en-US" sz="1050" dirty="0">
                <a:solidFill>
                  <a:srgbClr val="041E47"/>
                </a:solidFill>
                <a:latin typeface="Aptos" pitchFamily="34" charset="0"/>
                <a:ea typeface="Aptos" pitchFamily="34" charset="-122"/>
                <a:cs typeface="Aptos" pitchFamily="34" charset="-120"/>
              </a:rPr>
              <a:t>The CIS evidence base reaches the same tension independently, and frames it as an evolution of the model rather than its abandonment: the founding architecture is still visible in every cost line, while the customer proposition, revenue ecosystem and fleet have all widened.</a:t>
            </a:r>
            <a:endParaRPr lang="en-US" sz="1050" dirty="0"/>
          </a:p>
        </p:txBody>
      </p:sp>
      <p:sp>
        <p:nvSpPr>
          <p:cNvPr id="52" name="Shape 50"/>
          <p:cNvSpPr/>
          <p:nvPr/>
        </p:nvSpPr>
        <p:spPr>
          <a:xfrm>
            <a:off x="502920" y="5961888"/>
            <a:ext cx="11185855" cy="274320"/>
          </a:xfrm>
          <a:prstGeom prst="rect">
            <a:avLst/>
          </a:prstGeom>
          <a:solidFill>
            <a:srgbClr val="FFFFFF"/>
          </a:solidFill>
          <a:ln w="9525">
            <a:solidFill>
              <a:srgbClr val="6B7280"/>
            </a:solidFill>
            <a:prstDash val="dash"/>
          </a:ln>
        </p:spPr>
      </p:sp>
      <p:sp>
        <p:nvSpPr>
          <p:cNvPr id="53" name="Text 51"/>
          <p:cNvSpPr/>
          <p:nvPr/>
        </p:nvSpPr>
        <p:spPr>
          <a:xfrm>
            <a:off x="612648" y="5961888"/>
            <a:ext cx="10966399" cy="274320"/>
          </a:xfrm>
          <a:prstGeom prst="rect">
            <a:avLst/>
          </a:prstGeom>
          <a:noFill/>
          <a:ln/>
        </p:spPr>
        <p:txBody>
          <a:bodyPr wrap="square" lIns="0" tIns="0" rIns="0" bIns="0" rtlCol="0" anchor="ctr"/>
          <a:lstStyle/>
          <a:p>
            <a:pPr marL="0" indent="0">
              <a:buNone/>
            </a:pPr>
            <a:r>
              <a:rPr lang="en-US" sz="850" b="1" dirty="0">
                <a:solidFill>
                  <a:srgbClr val="6B7280"/>
                </a:solidFill>
                <a:latin typeface="Aptos" pitchFamily="34" charset="0"/>
                <a:ea typeface="Aptos" pitchFamily="34" charset="-122"/>
                <a:cs typeface="Aptos" pitchFamily="34" charset="-120"/>
              </a:rPr>
              <a:t>Secondary perspective:</a:t>
            </a:r>
            <a:r>
              <a:rPr lang="en-US" sz="850" dirty="0">
                <a:solidFill>
                  <a:srgbClr val="6B7280"/>
                </a:solidFill>
                <a:latin typeface="Aptos" pitchFamily="34" charset="0"/>
                <a:ea typeface="Aptos" pitchFamily="34" charset="-122"/>
                <a:cs typeface="Aptos" pitchFamily="34" charset="-120"/>
              </a:rPr>
              <a:t> The Ken, July 2026</a:t>
            </a:r>
            <a:endParaRPr lang="en-US" sz="850" dirty="0"/>
          </a:p>
        </p:txBody>
      </p:sp>
      <p:sp>
        <p:nvSpPr>
          <p:cNvPr id="54" name="Shape 52"/>
          <p:cNvSpPr/>
          <p:nvPr/>
        </p:nvSpPr>
        <p:spPr>
          <a:xfrm>
            <a:off x="502920" y="6309360"/>
            <a:ext cx="11185855" cy="5486"/>
          </a:xfrm>
          <a:prstGeom prst="rect">
            <a:avLst/>
          </a:prstGeom>
          <a:solidFill>
            <a:srgbClr val="C9D8F2"/>
          </a:solidFill>
          <a:ln/>
        </p:spPr>
      </p:sp>
      <p:sp>
        <p:nvSpPr>
          <p:cNvPr id="55" name="Text 53"/>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56" name="Text 54"/>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SRC-STR-BM-002 - SRC-STR-BM-004 - 02_Company_Historical_Evidence - External Lens: The Ken, July 2026</a:t>
            </a:r>
            <a:endParaRPr lang="en-US" sz="800" dirty="0"/>
          </a:p>
        </p:txBody>
      </p:sp>
      <p:sp>
        <p:nvSpPr>
          <p:cNvPr id="57" name="Shape 55"/>
          <p:cNvSpPr/>
          <p:nvPr/>
        </p:nvSpPr>
        <p:spPr>
          <a:xfrm>
            <a:off x="11484864" y="6364224"/>
            <a:ext cx="201168" cy="201168"/>
          </a:xfrm>
          <a:prstGeom prst="rect">
            <a:avLst/>
          </a:prstGeom>
          <a:solidFill>
            <a:srgbClr val="0032A0"/>
          </a:solidFill>
          <a:ln/>
        </p:spPr>
      </p:sp>
      <p:sp>
        <p:nvSpPr>
          <p:cNvPr id="58" name="Text 56"/>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05 - EXTERNAL LENS</a:t>
            </a:r>
            <a:endParaRPr lang="en-US" sz="1000" dirty="0"/>
          </a:p>
        </p:txBody>
      </p:sp>
      <p:sp>
        <p:nvSpPr>
          <p:cNvPr id="3" name="Shape 1"/>
          <p:cNvSpPr/>
          <p:nvPr/>
        </p:nvSpPr>
        <p:spPr>
          <a:xfrm>
            <a:off x="502920" y="571500"/>
            <a:ext cx="1463040" cy="45720"/>
          </a:xfrm>
          <a:prstGeom prst="rect">
            <a:avLst/>
          </a:prstGeom>
          <a:solidFill>
            <a:srgbClr val="0032A0"/>
          </a:solidFill>
          <a:ln/>
        </p:spPr>
      </p:sp>
      <p:sp>
        <p:nvSpPr>
          <p:cNvPr id="4" name="Text 2"/>
          <p:cNvSpPr/>
          <p:nvPr/>
        </p:nvSpPr>
        <p:spPr>
          <a:xfrm>
            <a:off x="502920" y="692714"/>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Can IndiGo add revenue sophistication without losing its low-cost DNA?</a:t>
            </a:r>
            <a:endParaRPr lang="en-US" sz="2250" dirty="0"/>
          </a:p>
        </p:txBody>
      </p:sp>
      <p:sp>
        <p:nvSpPr>
          <p:cNvPr id="5" name="Shape 3"/>
          <p:cNvSpPr/>
          <p:nvPr/>
        </p:nvSpPr>
        <p:spPr>
          <a:xfrm>
            <a:off x="502920" y="1371600"/>
            <a:ext cx="1572768" cy="201168"/>
          </a:xfrm>
          <a:prstGeom prst="roundRect">
            <a:avLst>
              <a:gd name="adj" fmla="val 50000"/>
            </a:avLst>
          </a:prstGeom>
          <a:solidFill>
            <a:srgbClr val="D98A00"/>
          </a:solidFill>
          <a:ln/>
        </p:spPr>
      </p:sp>
      <p:sp>
        <p:nvSpPr>
          <p:cNvPr id="6" name="Text 4"/>
          <p:cNvSpPr/>
          <p:nvPr/>
        </p:nvSpPr>
        <p:spPr>
          <a:xfrm>
            <a:off x="502920" y="1371600"/>
            <a:ext cx="1572768"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Aptos" pitchFamily="34" charset="0"/>
                <a:ea typeface="Aptos" pitchFamily="34" charset="-122"/>
                <a:cs typeface="Aptos" pitchFamily="34" charset="-120"/>
              </a:rPr>
              <a:t>EXTERNAL LENS  |  THE KEN</a:t>
            </a:r>
            <a:endParaRPr lang="en-US" sz="750" dirty="0"/>
          </a:p>
        </p:txBody>
      </p:sp>
      <p:sp>
        <p:nvSpPr>
          <p:cNvPr id="7" name="Text 5"/>
          <p:cNvSpPr/>
          <p:nvPr/>
        </p:nvSpPr>
        <p:spPr>
          <a:xfrm>
            <a:off x="2185416" y="1376172"/>
            <a:ext cx="7680960" cy="192024"/>
          </a:xfrm>
          <a:prstGeom prst="rect">
            <a:avLst/>
          </a:prstGeom>
          <a:noFill/>
          <a:ln/>
        </p:spPr>
        <p:txBody>
          <a:bodyPr wrap="square" lIns="0" tIns="0" rIns="0" bIns="0" rtlCol="0" anchor="ctr"/>
          <a:lstStyle/>
          <a:p>
            <a:pPr marL="0" indent="0">
              <a:buNone/>
            </a:pPr>
            <a:r>
              <a:rPr lang="en-US" sz="850" i="1" dirty="0">
                <a:solidFill>
                  <a:srgbClr val="D98A00"/>
                </a:solidFill>
                <a:latin typeface="Aptos" pitchFamily="34" charset="0"/>
                <a:ea typeface="Aptos" pitchFamily="34" charset="-122"/>
                <a:cs typeface="Aptos" pitchFamily="34" charset="-120"/>
              </a:rPr>
              <a:t>"Indigo walks like a low-cost airline, talks like a full-service one" - The Ken, July 2026</a:t>
            </a:r>
            <a:endParaRPr lang="en-US" sz="850" dirty="0"/>
          </a:p>
        </p:txBody>
      </p:sp>
      <p:sp>
        <p:nvSpPr>
          <p:cNvPr id="8" name="Text 6"/>
          <p:cNvSpPr/>
          <p:nvPr/>
        </p:nvSpPr>
        <p:spPr>
          <a:xfrm>
            <a:off x="502920" y="1883664"/>
            <a:ext cx="5394960" cy="201168"/>
          </a:xfrm>
          <a:prstGeom prst="rect">
            <a:avLst/>
          </a:prstGeom>
          <a:noFill/>
          <a:ln/>
        </p:spPr>
        <p:txBody>
          <a:bodyPr wrap="square" lIns="0" tIns="0" rIns="0" bIns="0" rtlCol="0" anchor="ctr"/>
          <a:lstStyle/>
          <a:p>
            <a:pPr marL="0" indent="0" algn="l">
              <a:buNone/>
            </a:pPr>
            <a:r>
              <a:rPr lang="en-US" sz="900" b="1" kern="0" spc="110" dirty="0">
                <a:solidFill>
                  <a:srgbClr val="46577A"/>
                </a:solidFill>
                <a:latin typeface="Aptos" pitchFamily="34" charset="0"/>
                <a:ea typeface="Aptos" pitchFamily="34" charset="-122"/>
                <a:cs typeface="Aptos" pitchFamily="34" charset="-120"/>
              </a:rPr>
              <a:t>WHAT EACH REVENUE LEVER IS ACTUALLY MONETISING</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2139696"/>
          <a:ext cx="5413248" cy="1856232"/>
        </p:xfrm>
        <a:graphic>
          <a:graphicData uri="http://schemas.openxmlformats.org/drawingml/2006/table">
            <a:tbl>
              <a:tblPr/>
              <a:tblGrid>
                <a:gridCol w="1920240">
                  <a:extLst>
                    <a:ext uri="{9D8B030D-6E8A-4147-A177-3AD203B41FA5}">
                      <a16:colId xmlns:a16="http://schemas.microsoft.com/office/drawing/2014/main" val="20000"/>
                    </a:ext>
                  </a:extLst>
                </a:gridCol>
                <a:gridCol w="3493008">
                  <a:extLst>
                    <a:ext uri="{9D8B030D-6E8A-4147-A177-3AD203B41FA5}">
                      <a16:colId xmlns:a16="http://schemas.microsoft.com/office/drawing/2014/main" val="20001"/>
                    </a:ext>
                  </a:extLst>
                </a:gridCol>
              </a:tblGrid>
              <a:tr h="265176">
                <a:tc>
                  <a:txBody>
                    <a:bodyPr/>
                    <a:lstStyle/>
                    <a:p>
                      <a:pPr marL="0" indent="0" algn="l">
                        <a:buNone/>
                      </a:pPr>
                      <a:r>
                        <a:rPr lang="en-US" sz="1000" b="1" dirty="0">
                          <a:solidFill>
                            <a:srgbClr val="FFFFFF"/>
                          </a:solidFill>
                          <a:latin typeface="Aptos" pitchFamily="34" charset="0"/>
                          <a:ea typeface="Aptos" pitchFamily="34" charset="-122"/>
                          <a:cs typeface="Aptos" pitchFamily="34" charset="-120"/>
                        </a:rPr>
                        <a:t>Revenue lever</a:t>
                      </a:r>
                      <a:endParaRPr lang="en-US" sz="1000" dirty="0">
                        <a:latin typeface="Aptos" charset="0"/>
                        <a:ea typeface="Aptos" charset="0"/>
                        <a:cs typeface="Aptos" charset="0"/>
                      </a:endParaRPr>
                    </a:p>
                  </a:txBody>
                  <a:tcPr marL="63500" marR="63500" marT="38100" marB="38100" anchor="ctr">
                    <a:lnL w="6350" cap="flat" cmpd="sng" algn="ctr">
                      <a:solidFill>
                        <a:srgbClr val="C9D8F2"/>
                      </a:solidFill>
                      <a:prstDash val="solid"/>
                      <a:round/>
                      <a:headEnd type="none" w="med" len="med"/>
                      <a:tailEnd type="none" w="med" len="med"/>
                    </a:lnL>
                    <a:lnR w="6350" cap="flat" cmpd="sng" algn="ctr">
                      <a:solidFill>
                        <a:srgbClr val="C9D8F2"/>
                      </a:solidFill>
                      <a:prstDash val="solid"/>
                      <a:round/>
                      <a:headEnd type="none" w="med" len="med"/>
                      <a:tailEnd type="none" w="med" len="med"/>
                    </a:lnR>
                    <a:lnT w="6350" cap="flat" cmpd="sng" algn="ctr">
                      <a:solidFill>
                        <a:srgbClr val="C9D8F2"/>
                      </a:solidFill>
                      <a:prstDash val="solid"/>
                      <a:round/>
                      <a:headEnd type="none" w="med" len="med"/>
                      <a:tailEnd type="none" w="med" len="med"/>
                    </a:lnT>
                    <a:lnB w="6350" cap="flat" cmpd="sng" algn="ctr">
                      <a:solidFill>
                        <a:srgbClr val="C9D8F2"/>
                      </a:solidFill>
                      <a:prstDash val="solid"/>
                      <a:round/>
                      <a:headEnd type="none" w="med" len="med"/>
                      <a:tailEnd type="none" w="med" len="med"/>
                    </a:lnB>
                    <a:solidFill>
                      <a:srgbClr val="041E47"/>
                    </a:solidFill>
                  </a:tcPr>
                </a:tc>
                <a:tc>
                  <a:txBody>
                    <a:bodyPr/>
                    <a:lstStyle/>
                    <a:p>
                      <a:pPr marL="0" indent="0" algn="l">
                        <a:buNone/>
                      </a:pPr>
                      <a:r>
                        <a:rPr lang="en-US" sz="1000" b="1" dirty="0">
                          <a:solidFill>
                            <a:srgbClr val="FFFFFF"/>
                          </a:solidFill>
                          <a:latin typeface="Aptos" pitchFamily="34" charset="0"/>
                          <a:ea typeface="Aptos" pitchFamily="34" charset="-122"/>
                          <a:cs typeface="Aptos" pitchFamily="34" charset="-120"/>
                        </a:rPr>
                        <a:t>Primary value-creation mechanism</a:t>
                      </a:r>
                      <a:endParaRPr lang="en-US" sz="1000" dirty="0">
                        <a:latin typeface="Aptos" charset="0"/>
                        <a:ea typeface="Aptos" charset="0"/>
                        <a:cs typeface="Aptos" charset="0"/>
                      </a:endParaRPr>
                    </a:p>
                  </a:txBody>
                  <a:tcPr marL="63500" marR="63500" marT="38100" marB="38100" anchor="ctr">
                    <a:lnL w="6350" cap="flat" cmpd="sng" algn="ctr">
                      <a:solidFill>
                        <a:srgbClr val="C9D8F2"/>
                      </a:solidFill>
                      <a:prstDash val="solid"/>
                      <a:round/>
                      <a:headEnd type="none" w="med" len="med"/>
                      <a:tailEnd type="none" w="med" len="med"/>
                    </a:lnL>
                    <a:lnR w="6350" cap="flat" cmpd="sng" algn="ctr">
                      <a:solidFill>
                        <a:srgbClr val="C9D8F2"/>
                      </a:solidFill>
                      <a:prstDash val="solid"/>
                      <a:round/>
                      <a:headEnd type="none" w="med" len="med"/>
                      <a:tailEnd type="none" w="med" len="med"/>
                    </a:lnR>
                    <a:lnT w="6350" cap="flat" cmpd="sng" algn="ctr">
                      <a:solidFill>
                        <a:srgbClr val="C9D8F2"/>
                      </a:solidFill>
                      <a:prstDash val="solid"/>
                      <a:round/>
                      <a:headEnd type="none" w="med" len="med"/>
                      <a:tailEnd type="none" w="med" len="med"/>
                    </a:lnT>
                    <a:lnB w="6350" cap="flat" cmpd="sng" algn="ctr">
                      <a:solidFill>
                        <a:srgbClr val="C9D8F2"/>
                      </a:solidFill>
                      <a:prstDash val="solid"/>
                      <a:round/>
                      <a:headEnd type="none" w="med" len="med"/>
                      <a:tailEnd type="none" w="med" len="med"/>
                    </a:lnB>
                    <a:solidFill>
                      <a:srgbClr val="041E47"/>
                    </a:solidFill>
                  </a:tcPr>
                </a:tc>
                <a:extLst>
                  <a:ext uri="{0D108BD9-81ED-4DB2-BD59-A6C34878D82A}">
                    <a16:rowId xmlns:a16="http://schemas.microsoft.com/office/drawing/2014/main" val="10000"/>
                  </a:ext>
                </a:extLst>
              </a:tr>
              <a:tr h="265176">
                <a:tc>
                  <a:txBody>
                    <a:bodyPr/>
                    <a:lstStyle/>
                    <a:p>
                      <a:pPr marL="0" indent="0" algn="l">
                        <a:buNone/>
                      </a:pPr>
                      <a:r>
                        <a:rPr lang="en-US" sz="1050" dirty="0">
                          <a:solidFill>
                            <a:srgbClr val="041E47"/>
                          </a:solidFill>
                          <a:latin typeface="Aptos" pitchFamily="34" charset="0"/>
                          <a:ea typeface="Aptos" pitchFamily="34" charset="-122"/>
                          <a:cs typeface="Aptos" pitchFamily="34" charset="-120"/>
                        </a:rPr>
                        <a:t>Base fare</a:t>
                      </a:r>
                      <a:endParaRPr lang="en-US" sz="1050" dirty="0">
                        <a:latin typeface="Aptos" charset="0"/>
                        <a:ea typeface="Aptos" charset="0"/>
                        <a:cs typeface="Aptos" charset="0"/>
                      </a:endParaRPr>
                    </a:p>
                  </a:txBody>
                  <a:tcPr marL="63500" marR="63500" marT="38100" marB="38100" anchor="ctr">
                    <a:lnL w="6350" cap="flat" cmpd="sng" algn="ctr">
                      <a:solidFill>
                        <a:srgbClr val="C9D8F2"/>
                      </a:solidFill>
                      <a:prstDash val="solid"/>
                      <a:round/>
                      <a:headEnd type="none" w="med" len="med"/>
                      <a:tailEnd type="none" w="med" len="med"/>
                    </a:lnL>
                    <a:lnR w="6350" cap="flat" cmpd="sng" algn="ctr">
                      <a:solidFill>
                        <a:srgbClr val="C9D8F2"/>
                      </a:solidFill>
                      <a:prstDash val="solid"/>
                      <a:round/>
                      <a:headEnd type="none" w="med" len="med"/>
                      <a:tailEnd type="none" w="med" len="med"/>
                    </a:lnR>
                    <a:lnT w="6350" cap="flat" cmpd="sng" algn="ctr">
                      <a:solidFill>
                        <a:srgbClr val="C9D8F2"/>
                      </a:solidFill>
                      <a:prstDash val="solid"/>
                      <a:round/>
                      <a:headEnd type="none" w="med" len="med"/>
                      <a:tailEnd type="none" w="med" len="med"/>
                    </a:lnT>
                    <a:lnB w="6350" cap="flat" cmpd="sng" algn="ctr">
                      <a:solidFill>
                        <a:srgbClr val="C9D8F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41E47"/>
                          </a:solidFill>
                          <a:latin typeface="Aptos" pitchFamily="34" charset="0"/>
                          <a:ea typeface="Aptos" pitchFamily="34" charset="-122"/>
                          <a:cs typeface="Aptos" pitchFamily="34" charset="-120"/>
                        </a:rPr>
                        <a:t>Passenger demand</a:t>
                      </a:r>
                      <a:endParaRPr lang="en-US" sz="1050" dirty="0">
                        <a:latin typeface="Aptos" charset="0"/>
                        <a:ea typeface="Aptos" charset="0"/>
                        <a:cs typeface="Aptos" charset="0"/>
                      </a:endParaRPr>
                    </a:p>
                  </a:txBody>
                  <a:tcPr marL="63500" marR="63500" marT="38100" marB="38100" anchor="ctr">
                    <a:lnL w="6350" cap="flat" cmpd="sng" algn="ctr">
                      <a:solidFill>
                        <a:srgbClr val="C9D8F2"/>
                      </a:solidFill>
                      <a:prstDash val="solid"/>
                      <a:round/>
                      <a:headEnd type="none" w="med" len="med"/>
                      <a:tailEnd type="none" w="med" len="med"/>
                    </a:lnL>
                    <a:lnR w="6350" cap="flat" cmpd="sng" algn="ctr">
                      <a:solidFill>
                        <a:srgbClr val="C9D8F2"/>
                      </a:solidFill>
                      <a:prstDash val="solid"/>
                      <a:round/>
                      <a:headEnd type="none" w="med" len="med"/>
                      <a:tailEnd type="none" w="med" len="med"/>
                    </a:lnR>
                    <a:lnT w="6350" cap="flat" cmpd="sng" algn="ctr">
                      <a:solidFill>
                        <a:srgbClr val="C9D8F2"/>
                      </a:solidFill>
                      <a:prstDash val="solid"/>
                      <a:round/>
                      <a:headEnd type="none" w="med" len="med"/>
                      <a:tailEnd type="none" w="med" len="med"/>
                    </a:lnT>
                    <a:lnB w="6350" cap="flat" cmpd="sng" algn="ctr">
                      <a:solidFill>
                        <a:srgbClr val="C9D8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5176">
                <a:tc>
                  <a:txBody>
                    <a:bodyPr/>
                    <a:lstStyle/>
                    <a:p>
                      <a:pPr marL="0" indent="0" algn="l">
                        <a:buNone/>
                      </a:pPr>
                      <a:r>
                        <a:rPr lang="en-US" sz="1050" dirty="0">
                          <a:solidFill>
                            <a:srgbClr val="041E47"/>
                          </a:solidFill>
                          <a:latin typeface="Aptos" pitchFamily="34" charset="0"/>
                          <a:ea typeface="Aptos" pitchFamily="34" charset="-122"/>
                          <a:cs typeface="Aptos" pitchFamily="34" charset="-120"/>
                        </a:rPr>
                        <a:t>Ancillary</a:t>
                      </a:r>
                      <a:endParaRPr lang="en-US" sz="1050" dirty="0">
                        <a:latin typeface="Aptos" charset="0"/>
                        <a:ea typeface="Aptos" charset="0"/>
                        <a:cs typeface="Aptos" charset="0"/>
                      </a:endParaRPr>
                    </a:p>
                  </a:txBody>
                  <a:tcPr marL="63500" marR="63500" marT="38100" marB="38100" anchor="ctr">
                    <a:lnL w="6350" cap="flat" cmpd="sng" algn="ctr">
                      <a:solidFill>
                        <a:srgbClr val="C9D8F2"/>
                      </a:solidFill>
                      <a:prstDash val="solid"/>
                      <a:round/>
                      <a:headEnd type="none" w="med" len="med"/>
                      <a:tailEnd type="none" w="med" len="med"/>
                    </a:lnL>
                    <a:lnR w="6350" cap="flat" cmpd="sng" algn="ctr">
                      <a:solidFill>
                        <a:srgbClr val="C9D8F2"/>
                      </a:solidFill>
                      <a:prstDash val="solid"/>
                      <a:round/>
                      <a:headEnd type="none" w="med" len="med"/>
                      <a:tailEnd type="none" w="med" len="med"/>
                    </a:lnR>
                    <a:lnT w="6350" cap="flat" cmpd="sng" algn="ctr">
                      <a:solidFill>
                        <a:srgbClr val="C9D8F2"/>
                      </a:solidFill>
                      <a:prstDash val="solid"/>
                      <a:round/>
                      <a:headEnd type="none" w="med" len="med"/>
                      <a:tailEnd type="none" w="med" len="med"/>
                    </a:lnT>
                    <a:lnB w="6350" cap="flat" cmpd="sng" algn="ctr">
                      <a:solidFill>
                        <a:srgbClr val="C9D8F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41E47"/>
                          </a:solidFill>
                          <a:latin typeface="Aptos" pitchFamily="34" charset="0"/>
                          <a:ea typeface="Aptos" pitchFamily="34" charset="-122"/>
                          <a:cs typeface="Aptos" pitchFamily="34" charset="-120"/>
                        </a:rPr>
                        <a:t>Higher revenue per passenger</a:t>
                      </a:r>
                      <a:endParaRPr lang="en-US" sz="1050" dirty="0">
                        <a:latin typeface="Aptos" charset="0"/>
                        <a:ea typeface="Aptos" charset="0"/>
                        <a:cs typeface="Aptos" charset="0"/>
                      </a:endParaRPr>
                    </a:p>
                  </a:txBody>
                  <a:tcPr marL="63500" marR="63500" marT="38100" marB="38100" anchor="ctr">
                    <a:lnL w="6350" cap="flat" cmpd="sng" algn="ctr">
                      <a:solidFill>
                        <a:srgbClr val="C9D8F2"/>
                      </a:solidFill>
                      <a:prstDash val="solid"/>
                      <a:round/>
                      <a:headEnd type="none" w="med" len="med"/>
                      <a:tailEnd type="none" w="med" len="med"/>
                    </a:lnL>
                    <a:lnR w="6350" cap="flat" cmpd="sng" algn="ctr">
                      <a:solidFill>
                        <a:srgbClr val="C9D8F2"/>
                      </a:solidFill>
                      <a:prstDash val="solid"/>
                      <a:round/>
                      <a:headEnd type="none" w="med" len="med"/>
                      <a:tailEnd type="none" w="med" len="med"/>
                    </a:lnR>
                    <a:lnT w="6350" cap="flat" cmpd="sng" algn="ctr">
                      <a:solidFill>
                        <a:srgbClr val="C9D8F2"/>
                      </a:solidFill>
                      <a:prstDash val="solid"/>
                      <a:round/>
                      <a:headEnd type="none" w="med" len="med"/>
                      <a:tailEnd type="none" w="med" len="med"/>
                    </a:lnT>
                    <a:lnB w="6350" cap="flat" cmpd="sng" algn="ctr">
                      <a:solidFill>
                        <a:srgbClr val="C9D8F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5176">
                <a:tc>
                  <a:txBody>
                    <a:bodyPr/>
                    <a:lstStyle/>
                    <a:p>
                      <a:pPr marL="0" indent="0" algn="l">
                        <a:buNone/>
                      </a:pPr>
                      <a:r>
                        <a:rPr lang="en-US" sz="1050" dirty="0">
                          <a:solidFill>
                            <a:srgbClr val="041E47"/>
                          </a:solidFill>
                          <a:latin typeface="Aptos" pitchFamily="34" charset="0"/>
                          <a:ea typeface="Aptos" pitchFamily="34" charset="-122"/>
                          <a:cs typeface="Aptos" pitchFamily="34" charset="-120"/>
                        </a:rPr>
                        <a:t>Cargo</a:t>
                      </a:r>
                      <a:endParaRPr lang="en-US" sz="1050" dirty="0">
                        <a:latin typeface="Aptos" charset="0"/>
                        <a:ea typeface="Aptos" charset="0"/>
                        <a:cs typeface="Aptos" charset="0"/>
                      </a:endParaRPr>
                    </a:p>
                  </a:txBody>
                  <a:tcPr marL="63500" marR="63500" marT="38100" marB="38100" anchor="ctr">
                    <a:lnL w="6350" cap="flat" cmpd="sng" algn="ctr">
                      <a:solidFill>
                        <a:srgbClr val="C9D8F2"/>
                      </a:solidFill>
                      <a:prstDash val="solid"/>
                      <a:round/>
                      <a:headEnd type="none" w="med" len="med"/>
                      <a:tailEnd type="none" w="med" len="med"/>
                    </a:lnL>
                    <a:lnR w="6350" cap="flat" cmpd="sng" algn="ctr">
                      <a:solidFill>
                        <a:srgbClr val="C9D8F2"/>
                      </a:solidFill>
                      <a:prstDash val="solid"/>
                      <a:round/>
                      <a:headEnd type="none" w="med" len="med"/>
                      <a:tailEnd type="none" w="med" len="med"/>
                    </a:lnR>
                    <a:lnT w="6350" cap="flat" cmpd="sng" algn="ctr">
                      <a:solidFill>
                        <a:srgbClr val="C9D8F2"/>
                      </a:solidFill>
                      <a:prstDash val="solid"/>
                      <a:round/>
                      <a:headEnd type="none" w="med" len="med"/>
                      <a:tailEnd type="none" w="med" len="med"/>
                    </a:lnT>
                    <a:lnB w="6350" cap="flat" cmpd="sng" algn="ctr">
                      <a:solidFill>
                        <a:srgbClr val="C9D8F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41E47"/>
                          </a:solidFill>
                          <a:latin typeface="Aptos" pitchFamily="34" charset="0"/>
                          <a:ea typeface="Aptos" pitchFamily="34" charset="-122"/>
                          <a:cs typeface="Aptos" pitchFamily="34" charset="-120"/>
                        </a:rPr>
                        <a:t>Monetisation of otherwise idle capacity</a:t>
                      </a:r>
                      <a:endParaRPr lang="en-US" sz="1050" dirty="0">
                        <a:latin typeface="Aptos" charset="0"/>
                        <a:ea typeface="Aptos" charset="0"/>
                        <a:cs typeface="Aptos" charset="0"/>
                      </a:endParaRPr>
                    </a:p>
                  </a:txBody>
                  <a:tcPr marL="63500" marR="63500" marT="38100" marB="38100" anchor="ctr">
                    <a:lnL w="6350" cap="flat" cmpd="sng" algn="ctr">
                      <a:solidFill>
                        <a:srgbClr val="C9D8F2"/>
                      </a:solidFill>
                      <a:prstDash val="solid"/>
                      <a:round/>
                      <a:headEnd type="none" w="med" len="med"/>
                      <a:tailEnd type="none" w="med" len="med"/>
                    </a:lnL>
                    <a:lnR w="6350" cap="flat" cmpd="sng" algn="ctr">
                      <a:solidFill>
                        <a:srgbClr val="C9D8F2"/>
                      </a:solidFill>
                      <a:prstDash val="solid"/>
                      <a:round/>
                      <a:headEnd type="none" w="med" len="med"/>
                      <a:tailEnd type="none" w="med" len="med"/>
                    </a:lnR>
                    <a:lnT w="6350" cap="flat" cmpd="sng" algn="ctr">
                      <a:solidFill>
                        <a:srgbClr val="C9D8F2"/>
                      </a:solidFill>
                      <a:prstDash val="solid"/>
                      <a:round/>
                      <a:headEnd type="none" w="med" len="med"/>
                      <a:tailEnd type="none" w="med" len="med"/>
                    </a:lnT>
                    <a:lnB w="6350" cap="flat" cmpd="sng" algn="ctr">
                      <a:solidFill>
                        <a:srgbClr val="C9D8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5176">
                <a:tc>
                  <a:txBody>
                    <a:bodyPr/>
                    <a:lstStyle/>
                    <a:p>
                      <a:pPr marL="0" indent="0" algn="l">
                        <a:buNone/>
                      </a:pPr>
                      <a:r>
                        <a:rPr lang="en-US" sz="1050" dirty="0">
                          <a:solidFill>
                            <a:srgbClr val="041E47"/>
                          </a:solidFill>
                          <a:latin typeface="Aptos" pitchFamily="34" charset="0"/>
                          <a:ea typeface="Aptos" pitchFamily="34" charset="-122"/>
                          <a:cs typeface="Aptos" pitchFamily="34" charset="-120"/>
                        </a:rPr>
                        <a:t>Connecting traffic</a:t>
                      </a:r>
                      <a:endParaRPr lang="en-US" sz="1050" dirty="0">
                        <a:latin typeface="Aptos" charset="0"/>
                        <a:ea typeface="Aptos" charset="0"/>
                        <a:cs typeface="Aptos" charset="0"/>
                      </a:endParaRPr>
                    </a:p>
                  </a:txBody>
                  <a:tcPr marL="63500" marR="63500" marT="38100" marB="38100" anchor="ctr">
                    <a:lnL w="6350" cap="flat" cmpd="sng" algn="ctr">
                      <a:solidFill>
                        <a:srgbClr val="C9D8F2"/>
                      </a:solidFill>
                      <a:prstDash val="solid"/>
                      <a:round/>
                      <a:headEnd type="none" w="med" len="med"/>
                      <a:tailEnd type="none" w="med" len="med"/>
                    </a:lnL>
                    <a:lnR w="6350" cap="flat" cmpd="sng" algn="ctr">
                      <a:solidFill>
                        <a:srgbClr val="C9D8F2"/>
                      </a:solidFill>
                      <a:prstDash val="solid"/>
                      <a:round/>
                      <a:headEnd type="none" w="med" len="med"/>
                      <a:tailEnd type="none" w="med" len="med"/>
                    </a:lnR>
                    <a:lnT w="6350" cap="flat" cmpd="sng" algn="ctr">
                      <a:solidFill>
                        <a:srgbClr val="C9D8F2"/>
                      </a:solidFill>
                      <a:prstDash val="solid"/>
                      <a:round/>
                      <a:headEnd type="none" w="med" len="med"/>
                      <a:tailEnd type="none" w="med" len="med"/>
                    </a:lnT>
                    <a:lnB w="6350" cap="flat" cmpd="sng" algn="ctr">
                      <a:solidFill>
                        <a:srgbClr val="C9D8F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41E47"/>
                          </a:solidFill>
                          <a:latin typeface="Aptos" pitchFamily="34" charset="0"/>
                          <a:ea typeface="Aptos" pitchFamily="34" charset="-122"/>
                          <a:cs typeface="Aptos" pitchFamily="34" charset="-120"/>
                        </a:rPr>
                        <a:t>Additional network revenue</a:t>
                      </a:r>
                      <a:endParaRPr lang="en-US" sz="1050" dirty="0">
                        <a:latin typeface="Aptos" charset="0"/>
                        <a:ea typeface="Aptos" charset="0"/>
                        <a:cs typeface="Aptos" charset="0"/>
                      </a:endParaRPr>
                    </a:p>
                  </a:txBody>
                  <a:tcPr marL="63500" marR="63500" marT="38100" marB="38100" anchor="ctr">
                    <a:lnL w="6350" cap="flat" cmpd="sng" algn="ctr">
                      <a:solidFill>
                        <a:srgbClr val="C9D8F2"/>
                      </a:solidFill>
                      <a:prstDash val="solid"/>
                      <a:round/>
                      <a:headEnd type="none" w="med" len="med"/>
                      <a:tailEnd type="none" w="med" len="med"/>
                    </a:lnL>
                    <a:lnR w="6350" cap="flat" cmpd="sng" algn="ctr">
                      <a:solidFill>
                        <a:srgbClr val="C9D8F2"/>
                      </a:solidFill>
                      <a:prstDash val="solid"/>
                      <a:round/>
                      <a:headEnd type="none" w="med" len="med"/>
                      <a:tailEnd type="none" w="med" len="med"/>
                    </a:lnR>
                    <a:lnT w="6350" cap="flat" cmpd="sng" algn="ctr">
                      <a:solidFill>
                        <a:srgbClr val="C9D8F2"/>
                      </a:solidFill>
                      <a:prstDash val="solid"/>
                      <a:round/>
                      <a:headEnd type="none" w="med" len="med"/>
                      <a:tailEnd type="none" w="med" len="med"/>
                    </a:lnT>
                    <a:lnB w="6350" cap="flat" cmpd="sng" algn="ctr">
                      <a:solidFill>
                        <a:srgbClr val="C9D8F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5176">
                <a:tc>
                  <a:txBody>
                    <a:bodyPr/>
                    <a:lstStyle/>
                    <a:p>
                      <a:pPr marL="0" indent="0" algn="l">
                        <a:buNone/>
                      </a:pPr>
                      <a:r>
                        <a:rPr lang="en-US" sz="1050" dirty="0">
                          <a:solidFill>
                            <a:srgbClr val="041E47"/>
                          </a:solidFill>
                          <a:latin typeface="Aptos" pitchFamily="34" charset="0"/>
                          <a:ea typeface="Aptos" pitchFamily="34" charset="-122"/>
                          <a:cs typeface="Aptos" pitchFamily="34" charset="-120"/>
                        </a:rPr>
                        <a:t>Partnerships</a:t>
                      </a:r>
                      <a:endParaRPr lang="en-US" sz="1050" dirty="0">
                        <a:latin typeface="Aptos" charset="0"/>
                        <a:ea typeface="Aptos" charset="0"/>
                        <a:cs typeface="Aptos" charset="0"/>
                      </a:endParaRPr>
                    </a:p>
                  </a:txBody>
                  <a:tcPr marL="63500" marR="63500" marT="38100" marB="38100" anchor="ctr">
                    <a:lnL w="6350" cap="flat" cmpd="sng" algn="ctr">
                      <a:solidFill>
                        <a:srgbClr val="C9D8F2"/>
                      </a:solidFill>
                      <a:prstDash val="solid"/>
                      <a:round/>
                      <a:headEnd type="none" w="med" len="med"/>
                      <a:tailEnd type="none" w="med" len="med"/>
                    </a:lnL>
                    <a:lnR w="6350" cap="flat" cmpd="sng" algn="ctr">
                      <a:solidFill>
                        <a:srgbClr val="C9D8F2"/>
                      </a:solidFill>
                      <a:prstDash val="solid"/>
                      <a:round/>
                      <a:headEnd type="none" w="med" len="med"/>
                      <a:tailEnd type="none" w="med" len="med"/>
                    </a:lnR>
                    <a:lnT w="6350" cap="flat" cmpd="sng" algn="ctr">
                      <a:solidFill>
                        <a:srgbClr val="C9D8F2"/>
                      </a:solidFill>
                      <a:prstDash val="solid"/>
                      <a:round/>
                      <a:headEnd type="none" w="med" len="med"/>
                      <a:tailEnd type="none" w="med" len="med"/>
                    </a:lnT>
                    <a:lnB w="6350" cap="flat" cmpd="sng" algn="ctr">
                      <a:solidFill>
                        <a:srgbClr val="C9D8F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41E47"/>
                          </a:solidFill>
                          <a:latin typeface="Aptos" pitchFamily="34" charset="0"/>
                          <a:ea typeface="Aptos" pitchFamily="34" charset="-122"/>
                          <a:cs typeface="Aptos" pitchFamily="34" charset="-120"/>
                        </a:rPr>
                        <a:t>Expanded market access</a:t>
                      </a:r>
                      <a:endParaRPr lang="en-US" sz="1050" dirty="0">
                        <a:latin typeface="Aptos" charset="0"/>
                        <a:ea typeface="Aptos" charset="0"/>
                        <a:cs typeface="Aptos" charset="0"/>
                      </a:endParaRPr>
                    </a:p>
                  </a:txBody>
                  <a:tcPr marL="63500" marR="63500" marT="38100" marB="38100" anchor="ctr">
                    <a:lnL w="6350" cap="flat" cmpd="sng" algn="ctr">
                      <a:solidFill>
                        <a:srgbClr val="C9D8F2"/>
                      </a:solidFill>
                      <a:prstDash val="solid"/>
                      <a:round/>
                      <a:headEnd type="none" w="med" len="med"/>
                      <a:tailEnd type="none" w="med" len="med"/>
                    </a:lnL>
                    <a:lnR w="6350" cap="flat" cmpd="sng" algn="ctr">
                      <a:solidFill>
                        <a:srgbClr val="C9D8F2"/>
                      </a:solidFill>
                      <a:prstDash val="solid"/>
                      <a:round/>
                      <a:headEnd type="none" w="med" len="med"/>
                      <a:tailEnd type="none" w="med" len="med"/>
                    </a:lnR>
                    <a:lnT w="6350" cap="flat" cmpd="sng" algn="ctr">
                      <a:solidFill>
                        <a:srgbClr val="C9D8F2"/>
                      </a:solidFill>
                      <a:prstDash val="solid"/>
                      <a:round/>
                      <a:headEnd type="none" w="med" len="med"/>
                      <a:tailEnd type="none" w="med" len="med"/>
                    </a:lnT>
                    <a:lnB w="6350" cap="flat" cmpd="sng" algn="ctr">
                      <a:solidFill>
                        <a:srgbClr val="C9D8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65176">
                <a:tc>
                  <a:txBody>
                    <a:bodyPr/>
                    <a:lstStyle/>
                    <a:p>
                      <a:pPr marL="0" indent="0" algn="l">
                        <a:buNone/>
                      </a:pPr>
                      <a:r>
                        <a:rPr lang="en-US" sz="1050" dirty="0">
                          <a:solidFill>
                            <a:srgbClr val="041E47"/>
                          </a:solidFill>
                          <a:latin typeface="Aptos" pitchFamily="34" charset="0"/>
                          <a:ea typeface="Aptos" pitchFamily="34" charset="-122"/>
                          <a:cs typeface="Aptos" pitchFamily="34" charset="-120"/>
                        </a:rPr>
                        <a:t>Loyalty</a:t>
                      </a:r>
                      <a:endParaRPr lang="en-US" sz="1050" dirty="0">
                        <a:latin typeface="Aptos" charset="0"/>
                        <a:ea typeface="Aptos" charset="0"/>
                        <a:cs typeface="Aptos" charset="0"/>
                      </a:endParaRPr>
                    </a:p>
                  </a:txBody>
                  <a:tcPr marL="63500" marR="63500" marT="38100" marB="38100" anchor="ctr">
                    <a:lnL w="6350" cap="flat" cmpd="sng" algn="ctr">
                      <a:solidFill>
                        <a:srgbClr val="C9D8F2"/>
                      </a:solidFill>
                      <a:prstDash val="solid"/>
                      <a:round/>
                      <a:headEnd type="none" w="med" len="med"/>
                      <a:tailEnd type="none" w="med" len="med"/>
                    </a:lnL>
                    <a:lnR w="6350" cap="flat" cmpd="sng" algn="ctr">
                      <a:solidFill>
                        <a:srgbClr val="C9D8F2"/>
                      </a:solidFill>
                      <a:prstDash val="solid"/>
                      <a:round/>
                      <a:headEnd type="none" w="med" len="med"/>
                      <a:tailEnd type="none" w="med" len="med"/>
                    </a:lnR>
                    <a:lnT w="6350" cap="flat" cmpd="sng" algn="ctr">
                      <a:solidFill>
                        <a:srgbClr val="C9D8F2"/>
                      </a:solidFill>
                      <a:prstDash val="solid"/>
                      <a:round/>
                      <a:headEnd type="none" w="med" len="med"/>
                      <a:tailEnd type="none" w="med" len="med"/>
                    </a:lnT>
                    <a:lnB w="6350" cap="flat" cmpd="sng" algn="ctr">
                      <a:solidFill>
                        <a:srgbClr val="C9D8F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41E47"/>
                          </a:solidFill>
                          <a:latin typeface="Aptos" pitchFamily="34" charset="0"/>
                          <a:ea typeface="Aptos" pitchFamily="34" charset="-122"/>
                          <a:cs typeface="Aptos" pitchFamily="34" charset="-120"/>
                        </a:rPr>
                        <a:t>Retention and repeat monetisation</a:t>
                      </a:r>
                      <a:endParaRPr lang="en-US" sz="1050" dirty="0">
                        <a:latin typeface="Aptos" charset="0"/>
                        <a:ea typeface="Aptos" charset="0"/>
                        <a:cs typeface="Aptos" charset="0"/>
                      </a:endParaRPr>
                    </a:p>
                  </a:txBody>
                  <a:tcPr marL="63500" marR="63500" marT="38100" marB="38100" anchor="ctr">
                    <a:lnL w="6350" cap="flat" cmpd="sng" algn="ctr">
                      <a:solidFill>
                        <a:srgbClr val="C9D8F2"/>
                      </a:solidFill>
                      <a:prstDash val="solid"/>
                      <a:round/>
                      <a:headEnd type="none" w="med" len="med"/>
                      <a:tailEnd type="none" w="med" len="med"/>
                    </a:lnL>
                    <a:lnR w="6350" cap="flat" cmpd="sng" algn="ctr">
                      <a:solidFill>
                        <a:srgbClr val="C9D8F2"/>
                      </a:solidFill>
                      <a:prstDash val="solid"/>
                      <a:round/>
                      <a:headEnd type="none" w="med" len="med"/>
                      <a:tailEnd type="none" w="med" len="med"/>
                    </a:lnR>
                    <a:lnT w="6350" cap="flat" cmpd="sng" algn="ctr">
                      <a:solidFill>
                        <a:srgbClr val="C9D8F2"/>
                      </a:solidFill>
                      <a:prstDash val="solid"/>
                      <a:round/>
                      <a:headEnd type="none" w="med" len="med"/>
                      <a:tailEnd type="none" w="med" len="med"/>
                    </a:lnT>
                    <a:lnB w="6350" cap="flat" cmpd="sng" algn="ctr">
                      <a:solidFill>
                        <a:srgbClr val="C9D8F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0" name="Shape 7"/>
          <p:cNvSpPr/>
          <p:nvPr/>
        </p:nvSpPr>
        <p:spPr>
          <a:xfrm>
            <a:off x="502920" y="4224528"/>
            <a:ext cx="5413248" cy="786384"/>
          </a:xfrm>
          <a:prstGeom prst="rect">
            <a:avLst/>
          </a:prstGeom>
          <a:solidFill>
            <a:srgbClr val="F4F7FD"/>
          </a:solidFill>
          <a:ln/>
        </p:spPr>
      </p:sp>
      <p:sp>
        <p:nvSpPr>
          <p:cNvPr id="11" name="Text 8"/>
          <p:cNvSpPr/>
          <p:nvPr/>
        </p:nvSpPr>
        <p:spPr>
          <a:xfrm>
            <a:off x="685800" y="4315968"/>
            <a:ext cx="1207008" cy="384048"/>
          </a:xfrm>
          <a:prstGeom prst="rect">
            <a:avLst/>
          </a:prstGeom>
          <a:noFill/>
          <a:ln/>
        </p:spPr>
        <p:txBody>
          <a:bodyPr wrap="square" lIns="0" tIns="0" rIns="0" bIns="0" rtlCol="0" anchor="ctr"/>
          <a:lstStyle/>
          <a:p>
            <a:pPr marL="0" indent="0">
              <a:buNone/>
            </a:pPr>
            <a:r>
              <a:rPr lang="en-US" sz="2200" b="1" dirty="0">
                <a:solidFill>
                  <a:srgbClr val="0032A0"/>
                </a:solidFill>
                <a:latin typeface="Aptos Display" pitchFamily="34" charset="0"/>
                <a:ea typeface="Aptos Display" pitchFamily="34" charset="-122"/>
                <a:cs typeface="Aptos Display" pitchFamily="34" charset="-120"/>
              </a:rPr>
              <a:t>88.3%</a:t>
            </a:r>
            <a:endParaRPr lang="en-US" sz="2200" dirty="0"/>
          </a:p>
        </p:txBody>
      </p:sp>
      <p:sp>
        <p:nvSpPr>
          <p:cNvPr id="12" name="Text 9"/>
          <p:cNvSpPr/>
          <p:nvPr/>
        </p:nvSpPr>
        <p:spPr>
          <a:xfrm>
            <a:off x="1984248" y="4315968"/>
            <a:ext cx="1207008" cy="384048"/>
          </a:xfrm>
          <a:prstGeom prst="rect">
            <a:avLst/>
          </a:prstGeom>
          <a:noFill/>
          <a:ln/>
        </p:spPr>
        <p:txBody>
          <a:bodyPr wrap="square" lIns="0" tIns="0" rIns="0" bIns="0" rtlCol="0" anchor="ctr"/>
          <a:lstStyle/>
          <a:p>
            <a:pPr marL="0" indent="0">
              <a:buNone/>
            </a:pPr>
            <a:r>
              <a:rPr lang="en-US" sz="2200" b="1" dirty="0">
                <a:solidFill>
                  <a:srgbClr val="2F6BD8"/>
                </a:solidFill>
                <a:latin typeface="Aptos Display" pitchFamily="34" charset="0"/>
                <a:ea typeface="Aptos Display" pitchFamily="34" charset="-122"/>
                <a:cs typeface="Aptos Display" pitchFamily="34" charset="-120"/>
              </a:rPr>
              <a:t>11.3%</a:t>
            </a:r>
            <a:endParaRPr lang="en-US" sz="2200" dirty="0"/>
          </a:p>
        </p:txBody>
      </p:sp>
      <p:sp>
        <p:nvSpPr>
          <p:cNvPr id="9" name="Text 10"/>
          <p:cNvSpPr/>
          <p:nvPr/>
        </p:nvSpPr>
        <p:spPr>
          <a:xfrm>
            <a:off x="685800" y="4681728"/>
            <a:ext cx="1280160" cy="219456"/>
          </a:xfrm>
          <a:prstGeom prst="rect">
            <a:avLst/>
          </a:prstGeom>
          <a:noFill/>
          <a:ln/>
        </p:spPr>
        <p:txBody>
          <a:bodyPr wrap="square" lIns="0" tIns="0" rIns="0" bIns="0" rtlCol="0" anchor="t"/>
          <a:lstStyle/>
          <a:p>
            <a:pPr marL="0" indent="0">
              <a:buNone/>
            </a:pPr>
            <a:r>
              <a:rPr lang="en-US" sz="800" b="1" dirty="0">
                <a:solidFill>
                  <a:srgbClr val="46577A"/>
                </a:solidFill>
                <a:latin typeface="Aptos" pitchFamily="34" charset="0"/>
                <a:ea typeface="Aptos" pitchFamily="34" charset="-122"/>
                <a:cs typeface="Aptos" pitchFamily="34" charset="-120"/>
              </a:rPr>
              <a:t>PASSENGER TICKET</a:t>
            </a:r>
            <a:endParaRPr lang="en-US" sz="800" dirty="0"/>
          </a:p>
        </p:txBody>
      </p:sp>
      <p:sp>
        <p:nvSpPr>
          <p:cNvPr id="14" name="Text 11"/>
          <p:cNvSpPr/>
          <p:nvPr/>
        </p:nvSpPr>
        <p:spPr>
          <a:xfrm>
            <a:off x="1984248" y="4681728"/>
            <a:ext cx="1280160" cy="219456"/>
          </a:xfrm>
          <a:prstGeom prst="rect">
            <a:avLst/>
          </a:prstGeom>
          <a:noFill/>
          <a:ln/>
        </p:spPr>
        <p:txBody>
          <a:bodyPr wrap="square" lIns="0" tIns="0" rIns="0" bIns="0" rtlCol="0" anchor="t"/>
          <a:lstStyle/>
          <a:p>
            <a:pPr marL="0" indent="0">
              <a:buNone/>
            </a:pPr>
            <a:r>
              <a:rPr lang="en-US" sz="800" b="1" dirty="0">
                <a:solidFill>
                  <a:srgbClr val="46577A"/>
                </a:solidFill>
                <a:latin typeface="Aptos" pitchFamily="34" charset="0"/>
                <a:ea typeface="Aptos" pitchFamily="34" charset="-122"/>
                <a:cs typeface="Aptos" pitchFamily="34" charset="-120"/>
              </a:rPr>
              <a:t>ANCILLARY</a:t>
            </a:r>
            <a:endParaRPr lang="en-US" sz="800" dirty="0"/>
          </a:p>
        </p:txBody>
      </p:sp>
      <p:sp>
        <p:nvSpPr>
          <p:cNvPr id="15" name="Text 12"/>
          <p:cNvSpPr/>
          <p:nvPr/>
        </p:nvSpPr>
        <p:spPr>
          <a:xfrm>
            <a:off x="3337560" y="4279392"/>
            <a:ext cx="2432304" cy="676656"/>
          </a:xfrm>
          <a:prstGeom prst="rect">
            <a:avLst/>
          </a:prstGeom>
          <a:noFill/>
          <a:ln/>
        </p:spPr>
        <p:txBody>
          <a:bodyPr wrap="square" lIns="0" tIns="0" rIns="0" bIns="0" rtlCol="0" anchor="ctr"/>
          <a:lstStyle/>
          <a:p>
            <a:pPr marL="0" indent="0">
              <a:lnSpc>
                <a:spcPct val="104000"/>
              </a:lnSpc>
              <a:buNone/>
            </a:pPr>
            <a:r>
              <a:rPr lang="en-US" sz="850" dirty="0">
                <a:solidFill>
                  <a:srgbClr val="46577A"/>
                </a:solidFill>
                <a:latin typeface="Aptos" pitchFamily="34" charset="0"/>
                <a:ea typeface="Aptos" pitchFamily="34" charset="-122"/>
                <a:cs typeface="Aptos" pitchFamily="34" charset="-120"/>
              </a:rPr>
              <a:t>FY2015 revenue architecture - the last split the evidence base establishes. The FY2026 equivalent is an open research question, so the size of the premium and loyalty layers cannot be asserted.</a:t>
            </a:r>
            <a:endParaRPr lang="en-US" sz="850" dirty="0"/>
          </a:p>
        </p:txBody>
      </p:sp>
      <p:sp>
        <p:nvSpPr>
          <p:cNvPr id="16" name="Text 13"/>
          <p:cNvSpPr/>
          <p:nvPr/>
        </p:nvSpPr>
        <p:spPr>
          <a:xfrm>
            <a:off x="6272784" y="1883664"/>
            <a:ext cx="5394960" cy="201168"/>
          </a:xfrm>
          <a:prstGeom prst="rect">
            <a:avLst/>
          </a:prstGeom>
          <a:noFill/>
          <a:ln/>
        </p:spPr>
        <p:txBody>
          <a:bodyPr wrap="square" lIns="0" tIns="0" rIns="0" bIns="0" rtlCol="0" anchor="ctr"/>
          <a:lstStyle/>
          <a:p>
            <a:pPr marL="0" indent="0" algn="l">
              <a:buNone/>
            </a:pPr>
            <a:r>
              <a:rPr lang="en-US" sz="900" b="1" kern="0" spc="110" dirty="0">
                <a:solidFill>
                  <a:srgbClr val="46577A"/>
                </a:solidFill>
                <a:latin typeface="Aptos" pitchFamily="34" charset="0"/>
                <a:ea typeface="Aptos" pitchFamily="34" charset="-122"/>
                <a:cs typeface="Aptos" pitchFamily="34" charset="-120"/>
              </a:rPr>
              <a:t>AND WHAT EACH LEVER COSTS IN OPERATING COMPLEXITY</a:t>
            </a:r>
            <a:endParaRPr lang="en-US" sz="900" dirty="0"/>
          </a:p>
        </p:txBody>
      </p:sp>
      <p:sp>
        <p:nvSpPr>
          <p:cNvPr id="17" name="Text 14"/>
          <p:cNvSpPr/>
          <p:nvPr/>
        </p:nvSpPr>
        <p:spPr>
          <a:xfrm>
            <a:off x="6272784" y="2139696"/>
            <a:ext cx="2304288" cy="201168"/>
          </a:xfrm>
          <a:prstGeom prst="rect">
            <a:avLst/>
          </a:prstGeom>
          <a:noFill/>
          <a:ln/>
        </p:spPr>
        <p:txBody>
          <a:bodyPr wrap="square" lIns="0" tIns="0" rIns="0" bIns="0" rtlCol="0" anchor="ctr"/>
          <a:lstStyle/>
          <a:p>
            <a:pPr marL="0" indent="0">
              <a:buNone/>
            </a:pPr>
            <a:r>
              <a:rPr lang="en-US" sz="800" b="1" dirty="0">
                <a:solidFill>
                  <a:srgbClr val="0032A0"/>
                </a:solidFill>
                <a:latin typeface="Aptos" pitchFamily="34" charset="0"/>
                <a:ea typeface="Aptos" pitchFamily="34" charset="-122"/>
                <a:cs typeface="Aptos" pitchFamily="34" charset="-120"/>
              </a:rPr>
              <a:t>HISTORICAL PRINCIPLE</a:t>
            </a:r>
            <a:endParaRPr lang="en-US" sz="800" dirty="0"/>
          </a:p>
        </p:txBody>
      </p:sp>
      <p:sp>
        <p:nvSpPr>
          <p:cNvPr id="18" name="Text 15"/>
          <p:cNvSpPr/>
          <p:nvPr/>
        </p:nvSpPr>
        <p:spPr>
          <a:xfrm>
            <a:off x="9015984" y="2139696"/>
            <a:ext cx="2670048" cy="201168"/>
          </a:xfrm>
          <a:prstGeom prst="rect">
            <a:avLst/>
          </a:prstGeom>
          <a:noFill/>
          <a:ln/>
        </p:spPr>
        <p:txBody>
          <a:bodyPr wrap="square" lIns="0" tIns="0" rIns="0" bIns="0" rtlCol="0" anchor="ctr"/>
          <a:lstStyle/>
          <a:p>
            <a:pPr marL="0" indent="0">
              <a:buNone/>
            </a:pPr>
            <a:r>
              <a:rPr lang="en-US" sz="800" b="1" dirty="0">
                <a:solidFill>
                  <a:srgbClr val="C43F2E"/>
                </a:solidFill>
                <a:latin typeface="Aptos" pitchFamily="34" charset="0"/>
                <a:ea typeface="Aptos" pitchFamily="34" charset="-122"/>
                <a:cs typeface="Aptos" pitchFamily="34" charset="-120"/>
              </a:rPr>
              <a:t>EMERGING COMPLEXITY</a:t>
            </a:r>
            <a:endParaRPr lang="en-US" sz="800" dirty="0"/>
          </a:p>
        </p:txBody>
      </p:sp>
      <p:sp>
        <p:nvSpPr>
          <p:cNvPr id="19" name="Shape 16"/>
          <p:cNvSpPr/>
          <p:nvPr/>
        </p:nvSpPr>
        <p:spPr>
          <a:xfrm>
            <a:off x="6272784" y="2395728"/>
            <a:ext cx="2304288" cy="365760"/>
          </a:xfrm>
          <a:prstGeom prst="rect">
            <a:avLst/>
          </a:prstGeom>
          <a:solidFill>
            <a:srgbClr val="DCE7FA"/>
          </a:solidFill>
          <a:ln/>
        </p:spPr>
      </p:sp>
      <p:sp>
        <p:nvSpPr>
          <p:cNvPr id="20" name="Text 17"/>
          <p:cNvSpPr/>
          <p:nvPr/>
        </p:nvSpPr>
        <p:spPr>
          <a:xfrm>
            <a:off x="6400800" y="2395728"/>
            <a:ext cx="2048256" cy="365760"/>
          </a:xfrm>
          <a:prstGeom prst="rect">
            <a:avLst/>
          </a:prstGeom>
          <a:noFill/>
          <a:ln/>
        </p:spPr>
        <p:txBody>
          <a:bodyPr wrap="square" lIns="0" tIns="0" rIns="0" bIns="0" rtlCol="0" anchor="ctr"/>
          <a:lstStyle/>
          <a:p>
            <a:pPr marL="0" indent="0">
              <a:buNone/>
            </a:pPr>
            <a:r>
              <a:rPr lang="en-US" sz="900" dirty="0">
                <a:solidFill>
                  <a:srgbClr val="041E47"/>
                </a:solidFill>
                <a:latin typeface="Aptos" pitchFamily="34" charset="0"/>
                <a:ea typeface="Aptos" pitchFamily="34" charset="-122"/>
                <a:cs typeface="Aptos" pitchFamily="34" charset="-120"/>
              </a:rPr>
              <a:t>Fleet standardisation</a:t>
            </a:r>
            <a:endParaRPr lang="en-US" sz="900" dirty="0"/>
          </a:p>
        </p:txBody>
      </p:sp>
      <p:sp>
        <p:nvSpPr>
          <p:cNvPr id="21" name="Shape 18"/>
          <p:cNvSpPr/>
          <p:nvPr/>
        </p:nvSpPr>
        <p:spPr>
          <a:xfrm rot="5400000">
            <a:off x="8668512" y="2514600"/>
            <a:ext cx="128016" cy="137160"/>
          </a:xfrm>
          <a:prstGeom prst="triangle">
            <a:avLst/>
          </a:prstGeom>
          <a:solidFill>
            <a:srgbClr val="6B7280"/>
          </a:solidFill>
          <a:ln/>
        </p:spPr>
      </p:sp>
      <p:sp>
        <p:nvSpPr>
          <p:cNvPr id="22" name="Shape 19"/>
          <p:cNvSpPr/>
          <p:nvPr/>
        </p:nvSpPr>
        <p:spPr>
          <a:xfrm>
            <a:off x="9015984" y="2395728"/>
            <a:ext cx="2670048" cy="365760"/>
          </a:xfrm>
          <a:prstGeom prst="rect">
            <a:avLst/>
          </a:prstGeom>
          <a:solidFill>
            <a:srgbClr val="FFFFFF"/>
          </a:solidFill>
          <a:ln w="6350">
            <a:solidFill>
              <a:srgbClr val="C9D8F2"/>
            </a:solidFill>
            <a:prstDash val="solid"/>
          </a:ln>
        </p:spPr>
      </p:sp>
      <p:sp>
        <p:nvSpPr>
          <p:cNvPr id="23" name="Text 20"/>
          <p:cNvSpPr/>
          <p:nvPr/>
        </p:nvSpPr>
        <p:spPr>
          <a:xfrm>
            <a:off x="9144000" y="2395728"/>
            <a:ext cx="2414016" cy="365760"/>
          </a:xfrm>
          <a:prstGeom prst="rect">
            <a:avLst/>
          </a:prstGeom>
          <a:noFill/>
          <a:ln/>
        </p:spPr>
        <p:txBody>
          <a:bodyPr wrap="square" lIns="0" tIns="0" rIns="0" bIns="0" rtlCol="0" anchor="ctr"/>
          <a:lstStyle/>
          <a:p>
            <a:pPr marL="0" indent="0">
              <a:buNone/>
            </a:pPr>
            <a:r>
              <a:rPr lang="en-US" sz="900" dirty="0">
                <a:solidFill>
                  <a:srgbClr val="46577A"/>
                </a:solidFill>
                <a:latin typeface="Aptos" pitchFamily="34" charset="0"/>
                <a:ea typeface="Aptos" pitchFamily="34" charset="-122"/>
                <a:cs typeface="Aptos" pitchFamily="34" charset="-120"/>
              </a:rPr>
              <a:t>Multiple aircraft configurations</a:t>
            </a:r>
            <a:endParaRPr lang="en-US" sz="900" dirty="0"/>
          </a:p>
        </p:txBody>
      </p:sp>
      <p:sp>
        <p:nvSpPr>
          <p:cNvPr id="24" name="Shape 21"/>
          <p:cNvSpPr/>
          <p:nvPr/>
        </p:nvSpPr>
        <p:spPr>
          <a:xfrm>
            <a:off x="6272784" y="2830068"/>
            <a:ext cx="2304288" cy="365760"/>
          </a:xfrm>
          <a:prstGeom prst="rect">
            <a:avLst/>
          </a:prstGeom>
          <a:solidFill>
            <a:srgbClr val="DCE7FA"/>
          </a:solidFill>
          <a:ln/>
        </p:spPr>
      </p:sp>
      <p:sp>
        <p:nvSpPr>
          <p:cNvPr id="25" name="Text 22"/>
          <p:cNvSpPr/>
          <p:nvPr/>
        </p:nvSpPr>
        <p:spPr>
          <a:xfrm>
            <a:off x="6400800" y="2830068"/>
            <a:ext cx="2048256" cy="365760"/>
          </a:xfrm>
          <a:prstGeom prst="rect">
            <a:avLst/>
          </a:prstGeom>
          <a:noFill/>
          <a:ln/>
        </p:spPr>
        <p:txBody>
          <a:bodyPr wrap="square" lIns="0" tIns="0" rIns="0" bIns="0" rtlCol="0" anchor="ctr"/>
          <a:lstStyle/>
          <a:p>
            <a:pPr marL="0" indent="0">
              <a:buNone/>
            </a:pPr>
            <a:r>
              <a:rPr lang="en-US" sz="900" dirty="0">
                <a:solidFill>
                  <a:srgbClr val="041E47"/>
                </a:solidFill>
                <a:latin typeface="Aptos" pitchFamily="34" charset="0"/>
                <a:ea typeface="Aptos" pitchFamily="34" charset="-122"/>
                <a:cs typeface="Aptos" pitchFamily="34" charset="-120"/>
              </a:rPr>
              <a:t>Predominantly domestic</a:t>
            </a:r>
            <a:endParaRPr lang="en-US" sz="900" dirty="0"/>
          </a:p>
        </p:txBody>
      </p:sp>
      <p:sp>
        <p:nvSpPr>
          <p:cNvPr id="26" name="Shape 23"/>
          <p:cNvSpPr/>
          <p:nvPr/>
        </p:nvSpPr>
        <p:spPr>
          <a:xfrm rot="5400000">
            <a:off x="8668512" y="2948940"/>
            <a:ext cx="128016" cy="137160"/>
          </a:xfrm>
          <a:prstGeom prst="triangle">
            <a:avLst/>
          </a:prstGeom>
          <a:solidFill>
            <a:srgbClr val="6B7280"/>
          </a:solidFill>
          <a:ln/>
        </p:spPr>
      </p:sp>
      <p:sp>
        <p:nvSpPr>
          <p:cNvPr id="27" name="Shape 24"/>
          <p:cNvSpPr/>
          <p:nvPr/>
        </p:nvSpPr>
        <p:spPr>
          <a:xfrm>
            <a:off x="9015984" y="2830068"/>
            <a:ext cx="2670048" cy="365760"/>
          </a:xfrm>
          <a:prstGeom prst="rect">
            <a:avLst/>
          </a:prstGeom>
          <a:solidFill>
            <a:srgbClr val="FFFFFF"/>
          </a:solidFill>
          <a:ln w="6350">
            <a:solidFill>
              <a:srgbClr val="C9D8F2"/>
            </a:solidFill>
            <a:prstDash val="solid"/>
          </a:ln>
        </p:spPr>
      </p:sp>
      <p:sp>
        <p:nvSpPr>
          <p:cNvPr id="28" name="Text 25"/>
          <p:cNvSpPr/>
          <p:nvPr/>
        </p:nvSpPr>
        <p:spPr>
          <a:xfrm>
            <a:off x="9144000" y="2830068"/>
            <a:ext cx="2414016" cy="365760"/>
          </a:xfrm>
          <a:prstGeom prst="rect">
            <a:avLst/>
          </a:prstGeom>
          <a:noFill/>
          <a:ln/>
        </p:spPr>
        <p:txBody>
          <a:bodyPr wrap="square" lIns="0" tIns="0" rIns="0" bIns="0" rtlCol="0" anchor="ctr"/>
          <a:lstStyle/>
          <a:p>
            <a:pPr marL="0" indent="0">
              <a:buNone/>
            </a:pPr>
            <a:r>
              <a:rPr lang="en-US" sz="900" dirty="0">
                <a:solidFill>
                  <a:srgbClr val="46577A"/>
                </a:solidFill>
                <a:latin typeface="Aptos" pitchFamily="34" charset="0"/>
                <a:ea typeface="Aptos" pitchFamily="34" charset="-122"/>
                <a:cs typeface="Aptos" pitchFamily="34" charset="-120"/>
              </a:rPr>
              <a:t>A materially larger international network</a:t>
            </a:r>
            <a:endParaRPr lang="en-US" sz="900" dirty="0"/>
          </a:p>
        </p:txBody>
      </p:sp>
      <p:sp>
        <p:nvSpPr>
          <p:cNvPr id="29" name="Shape 26"/>
          <p:cNvSpPr/>
          <p:nvPr/>
        </p:nvSpPr>
        <p:spPr>
          <a:xfrm>
            <a:off x="6272784" y="3264408"/>
            <a:ext cx="2304288" cy="365760"/>
          </a:xfrm>
          <a:prstGeom prst="rect">
            <a:avLst/>
          </a:prstGeom>
          <a:solidFill>
            <a:srgbClr val="DCE7FA"/>
          </a:solidFill>
          <a:ln/>
        </p:spPr>
      </p:sp>
      <p:sp>
        <p:nvSpPr>
          <p:cNvPr id="30" name="Text 27"/>
          <p:cNvSpPr/>
          <p:nvPr/>
        </p:nvSpPr>
        <p:spPr>
          <a:xfrm>
            <a:off x="6400800" y="3264408"/>
            <a:ext cx="2048256" cy="365760"/>
          </a:xfrm>
          <a:prstGeom prst="rect">
            <a:avLst/>
          </a:prstGeom>
          <a:noFill/>
          <a:ln/>
        </p:spPr>
        <p:txBody>
          <a:bodyPr wrap="square" lIns="0" tIns="0" rIns="0" bIns="0" rtlCol="0" anchor="ctr"/>
          <a:lstStyle/>
          <a:p>
            <a:pPr marL="0" indent="0">
              <a:buNone/>
            </a:pPr>
            <a:r>
              <a:rPr lang="en-US" sz="900" dirty="0">
                <a:solidFill>
                  <a:srgbClr val="041E47"/>
                </a:solidFill>
                <a:latin typeface="Aptos" pitchFamily="34" charset="0"/>
                <a:ea typeface="Aptos" pitchFamily="34" charset="-122"/>
                <a:cs typeface="Aptos" pitchFamily="34" charset="-120"/>
              </a:rPr>
              <a:t>A simple operating model</a:t>
            </a:r>
            <a:endParaRPr lang="en-US" sz="900" dirty="0"/>
          </a:p>
        </p:txBody>
      </p:sp>
      <p:sp>
        <p:nvSpPr>
          <p:cNvPr id="31" name="Shape 28"/>
          <p:cNvSpPr/>
          <p:nvPr/>
        </p:nvSpPr>
        <p:spPr>
          <a:xfrm rot="5400000">
            <a:off x="8668512" y="3383280"/>
            <a:ext cx="128016" cy="137160"/>
          </a:xfrm>
          <a:prstGeom prst="triangle">
            <a:avLst/>
          </a:prstGeom>
          <a:solidFill>
            <a:srgbClr val="6B7280"/>
          </a:solidFill>
          <a:ln/>
        </p:spPr>
      </p:sp>
      <p:sp>
        <p:nvSpPr>
          <p:cNvPr id="32" name="Shape 29"/>
          <p:cNvSpPr/>
          <p:nvPr/>
        </p:nvSpPr>
        <p:spPr>
          <a:xfrm>
            <a:off x="9015984" y="3264408"/>
            <a:ext cx="2670048" cy="365760"/>
          </a:xfrm>
          <a:prstGeom prst="rect">
            <a:avLst/>
          </a:prstGeom>
          <a:solidFill>
            <a:srgbClr val="FFFFFF"/>
          </a:solidFill>
          <a:ln w="6350">
            <a:solidFill>
              <a:srgbClr val="C9D8F2"/>
            </a:solidFill>
            <a:prstDash val="solid"/>
          </a:ln>
        </p:spPr>
      </p:sp>
      <p:sp>
        <p:nvSpPr>
          <p:cNvPr id="33" name="Text 30"/>
          <p:cNvSpPr/>
          <p:nvPr/>
        </p:nvSpPr>
        <p:spPr>
          <a:xfrm>
            <a:off x="9144000" y="3264408"/>
            <a:ext cx="2414016" cy="365760"/>
          </a:xfrm>
          <a:prstGeom prst="rect">
            <a:avLst/>
          </a:prstGeom>
          <a:noFill/>
          <a:ln/>
        </p:spPr>
        <p:txBody>
          <a:bodyPr wrap="square" lIns="0" tIns="0" rIns="0" bIns="0" rtlCol="0" anchor="ctr"/>
          <a:lstStyle/>
          <a:p>
            <a:pPr marL="0" indent="0">
              <a:buNone/>
            </a:pPr>
            <a:r>
              <a:rPr lang="en-US" sz="900" dirty="0">
                <a:solidFill>
                  <a:srgbClr val="46577A"/>
                </a:solidFill>
                <a:latin typeface="Aptos" pitchFamily="34" charset="0"/>
                <a:ea typeface="Aptos" pitchFamily="34" charset="-122"/>
                <a:cs typeface="Aptos" pitchFamily="34" charset="-120"/>
              </a:rPr>
              <a:t>International regulatory requirements</a:t>
            </a:r>
            <a:endParaRPr lang="en-US" sz="900" dirty="0"/>
          </a:p>
        </p:txBody>
      </p:sp>
      <p:sp>
        <p:nvSpPr>
          <p:cNvPr id="34" name="Shape 31"/>
          <p:cNvSpPr/>
          <p:nvPr/>
        </p:nvSpPr>
        <p:spPr>
          <a:xfrm>
            <a:off x="6272784" y="3698748"/>
            <a:ext cx="2304288" cy="365760"/>
          </a:xfrm>
          <a:prstGeom prst="rect">
            <a:avLst/>
          </a:prstGeom>
          <a:solidFill>
            <a:srgbClr val="DCE7FA"/>
          </a:solidFill>
          <a:ln/>
        </p:spPr>
      </p:sp>
      <p:sp>
        <p:nvSpPr>
          <p:cNvPr id="35" name="Text 32"/>
          <p:cNvSpPr/>
          <p:nvPr/>
        </p:nvSpPr>
        <p:spPr>
          <a:xfrm>
            <a:off x="6400800" y="3698748"/>
            <a:ext cx="2048256" cy="365760"/>
          </a:xfrm>
          <a:prstGeom prst="rect">
            <a:avLst/>
          </a:prstGeom>
          <a:noFill/>
          <a:ln/>
        </p:spPr>
        <p:txBody>
          <a:bodyPr wrap="square" lIns="0" tIns="0" rIns="0" bIns="0" rtlCol="0" anchor="ctr"/>
          <a:lstStyle/>
          <a:p>
            <a:pPr marL="0" indent="0">
              <a:buNone/>
            </a:pPr>
            <a:r>
              <a:rPr lang="en-US" sz="900" dirty="0">
                <a:solidFill>
                  <a:srgbClr val="041E47"/>
                </a:solidFill>
                <a:latin typeface="Aptos" pitchFamily="34" charset="0"/>
                <a:ea typeface="Aptos" pitchFamily="34" charset="-122"/>
                <a:cs typeface="Aptos" pitchFamily="34" charset="-120"/>
              </a:rPr>
              <a:t>High utilisation</a:t>
            </a:r>
            <a:endParaRPr lang="en-US" sz="900" dirty="0"/>
          </a:p>
        </p:txBody>
      </p:sp>
      <p:sp>
        <p:nvSpPr>
          <p:cNvPr id="36" name="Shape 33"/>
          <p:cNvSpPr/>
          <p:nvPr/>
        </p:nvSpPr>
        <p:spPr>
          <a:xfrm rot="5400000">
            <a:off x="8668512" y="3817620"/>
            <a:ext cx="128016" cy="137160"/>
          </a:xfrm>
          <a:prstGeom prst="triangle">
            <a:avLst/>
          </a:prstGeom>
          <a:solidFill>
            <a:srgbClr val="6B7280"/>
          </a:solidFill>
          <a:ln/>
        </p:spPr>
      </p:sp>
      <p:sp>
        <p:nvSpPr>
          <p:cNvPr id="37" name="Shape 34"/>
          <p:cNvSpPr/>
          <p:nvPr/>
        </p:nvSpPr>
        <p:spPr>
          <a:xfrm>
            <a:off x="9015984" y="3698748"/>
            <a:ext cx="2670048" cy="365760"/>
          </a:xfrm>
          <a:prstGeom prst="rect">
            <a:avLst/>
          </a:prstGeom>
          <a:solidFill>
            <a:srgbClr val="FFFFFF"/>
          </a:solidFill>
          <a:ln w="6350">
            <a:solidFill>
              <a:srgbClr val="C9D8F2"/>
            </a:solidFill>
            <a:prstDash val="solid"/>
          </a:ln>
        </p:spPr>
      </p:sp>
      <p:sp>
        <p:nvSpPr>
          <p:cNvPr id="38" name="Text 35"/>
          <p:cNvSpPr/>
          <p:nvPr/>
        </p:nvSpPr>
        <p:spPr>
          <a:xfrm>
            <a:off x="9144000" y="3698748"/>
            <a:ext cx="2414016" cy="365760"/>
          </a:xfrm>
          <a:prstGeom prst="rect">
            <a:avLst/>
          </a:prstGeom>
          <a:noFill/>
          <a:ln/>
        </p:spPr>
        <p:txBody>
          <a:bodyPr wrap="square" lIns="0" tIns="0" rIns="0" bIns="0" rtlCol="0" anchor="ctr"/>
          <a:lstStyle/>
          <a:p>
            <a:pPr marL="0" indent="0">
              <a:buNone/>
            </a:pPr>
            <a:r>
              <a:rPr lang="en-US" sz="900" dirty="0">
                <a:solidFill>
                  <a:srgbClr val="46577A"/>
                </a:solidFill>
                <a:latin typeface="Aptos" pitchFamily="34" charset="0"/>
                <a:ea typeface="Aptos" pitchFamily="34" charset="-122"/>
                <a:cs typeface="Aptos" pitchFamily="34" charset="-120"/>
              </a:rPr>
              <a:t>Longer-haul deployment</a:t>
            </a:r>
            <a:endParaRPr lang="en-US" sz="900" dirty="0"/>
          </a:p>
        </p:txBody>
      </p:sp>
      <p:sp>
        <p:nvSpPr>
          <p:cNvPr id="39" name="Shape 36"/>
          <p:cNvSpPr/>
          <p:nvPr/>
        </p:nvSpPr>
        <p:spPr>
          <a:xfrm>
            <a:off x="6272784" y="4133088"/>
            <a:ext cx="2304288" cy="365760"/>
          </a:xfrm>
          <a:prstGeom prst="rect">
            <a:avLst/>
          </a:prstGeom>
          <a:solidFill>
            <a:srgbClr val="DCE7FA"/>
          </a:solidFill>
          <a:ln/>
        </p:spPr>
      </p:sp>
      <p:sp>
        <p:nvSpPr>
          <p:cNvPr id="40" name="Text 37"/>
          <p:cNvSpPr/>
          <p:nvPr/>
        </p:nvSpPr>
        <p:spPr>
          <a:xfrm>
            <a:off x="6400800" y="4133088"/>
            <a:ext cx="2048256" cy="365760"/>
          </a:xfrm>
          <a:prstGeom prst="rect">
            <a:avLst/>
          </a:prstGeom>
          <a:noFill/>
          <a:ln/>
        </p:spPr>
        <p:txBody>
          <a:bodyPr wrap="square" lIns="0" tIns="0" rIns="0" bIns="0" rtlCol="0" anchor="ctr"/>
          <a:lstStyle/>
          <a:p>
            <a:pPr marL="0" indent="0">
              <a:buNone/>
            </a:pPr>
            <a:r>
              <a:rPr lang="en-US" sz="900" dirty="0">
                <a:solidFill>
                  <a:srgbClr val="041E47"/>
                </a:solidFill>
                <a:latin typeface="Aptos" pitchFamily="34" charset="0"/>
                <a:ea typeface="Aptos" pitchFamily="34" charset="-122"/>
                <a:cs typeface="Aptos" pitchFamily="34" charset="-120"/>
              </a:rPr>
              <a:t>Limited partnerships</a:t>
            </a:r>
            <a:endParaRPr lang="en-US" sz="900" dirty="0"/>
          </a:p>
        </p:txBody>
      </p:sp>
      <p:sp>
        <p:nvSpPr>
          <p:cNvPr id="41" name="Shape 38"/>
          <p:cNvSpPr/>
          <p:nvPr/>
        </p:nvSpPr>
        <p:spPr>
          <a:xfrm rot="5400000">
            <a:off x="8668512" y="4251960"/>
            <a:ext cx="128016" cy="137160"/>
          </a:xfrm>
          <a:prstGeom prst="triangle">
            <a:avLst/>
          </a:prstGeom>
          <a:solidFill>
            <a:srgbClr val="6B7280"/>
          </a:solidFill>
          <a:ln/>
        </p:spPr>
      </p:sp>
      <p:sp>
        <p:nvSpPr>
          <p:cNvPr id="42" name="Shape 39"/>
          <p:cNvSpPr/>
          <p:nvPr/>
        </p:nvSpPr>
        <p:spPr>
          <a:xfrm>
            <a:off x="9015984" y="4133088"/>
            <a:ext cx="2670048" cy="365760"/>
          </a:xfrm>
          <a:prstGeom prst="rect">
            <a:avLst/>
          </a:prstGeom>
          <a:solidFill>
            <a:srgbClr val="FFFFFF"/>
          </a:solidFill>
          <a:ln w="6350">
            <a:solidFill>
              <a:srgbClr val="C9D8F2"/>
            </a:solidFill>
            <a:prstDash val="solid"/>
          </a:ln>
        </p:spPr>
      </p:sp>
      <p:sp>
        <p:nvSpPr>
          <p:cNvPr id="43" name="Text 40"/>
          <p:cNvSpPr/>
          <p:nvPr/>
        </p:nvSpPr>
        <p:spPr>
          <a:xfrm>
            <a:off x="9144000" y="4133088"/>
            <a:ext cx="2414016" cy="365760"/>
          </a:xfrm>
          <a:prstGeom prst="rect">
            <a:avLst/>
          </a:prstGeom>
          <a:noFill/>
          <a:ln/>
        </p:spPr>
        <p:txBody>
          <a:bodyPr wrap="square" lIns="0" tIns="0" rIns="0" bIns="0" rtlCol="0" anchor="ctr"/>
          <a:lstStyle/>
          <a:p>
            <a:pPr marL="0" indent="0">
              <a:buNone/>
            </a:pPr>
            <a:r>
              <a:rPr lang="en-US" sz="900" dirty="0">
                <a:solidFill>
                  <a:srgbClr val="46577A"/>
                </a:solidFill>
                <a:latin typeface="Aptos" pitchFamily="34" charset="0"/>
                <a:ea typeface="Aptos" pitchFamily="34" charset="-122"/>
                <a:cs typeface="Aptos" pitchFamily="34" charset="-120"/>
              </a:rPr>
              <a:t>A codeshare and interline ecosystem</a:t>
            </a:r>
            <a:endParaRPr lang="en-US" sz="900" dirty="0"/>
          </a:p>
        </p:txBody>
      </p:sp>
      <p:sp>
        <p:nvSpPr>
          <p:cNvPr id="44" name="Shape 41"/>
          <p:cNvSpPr/>
          <p:nvPr/>
        </p:nvSpPr>
        <p:spPr>
          <a:xfrm>
            <a:off x="6272784" y="4567428"/>
            <a:ext cx="2304288" cy="365760"/>
          </a:xfrm>
          <a:prstGeom prst="rect">
            <a:avLst/>
          </a:prstGeom>
          <a:solidFill>
            <a:srgbClr val="DCE7FA"/>
          </a:solidFill>
          <a:ln/>
        </p:spPr>
      </p:sp>
      <p:sp>
        <p:nvSpPr>
          <p:cNvPr id="45" name="Text 42"/>
          <p:cNvSpPr/>
          <p:nvPr/>
        </p:nvSpPr>
        <p:spPr>
          <a:xfrm>
            <a:off x="6400800" y="4567428"/>
            <a:ext cx="2048256" cy="365760"/>
          </a:xfrm>
          <a:prstGeom prst="rect">
            <a:avLst/>
          </a:prstGeom>
          <a:noFill/>
          <a:ln/>
        </p:spPr>
        <p:txBody>
          <a:bodyPr wrap="square" lIns="0" tIns="0" rIns="0" bIns="0" rtlCol="0" anchor="ctr"/>
          <a:lstStyle/>
          <a:p>
            <a:pPr marL="0" indent="0">
              <a:buNone/>
            </a:pPr>
            <a:r>
              <a:rPr lang="en-US" sz="900" dirty="0">
                <a:solidFill>
                  <a:srgbClr val="041E47"/>
                </a:solidFill>
                <a:latin typeface="Aptos" pitchFamily="34" charset="0"/>
                <a:ea typeface="Aptos" pitchFamily="34" charset="-122"/>
                <a:cs typeface="Aptos" pitchFamily="34" charset="-120"/>
              </a:rPr>
              <a:t>A simple service proposition</a:t>
            </a:r>
            <a:endParaRPr lang="en-US" sz="900" dirty="0"/>
          </a:p>
        </p:txBody>
      </p:sp>
      <p:sp>
        <p:nvSpPr>
          <p:cNvPr id="46" name="Shape 43"/>
          <p:cNvSpPr/>
          <p:nvPr/>
        </p:nvSpPr>
        <p:spPr>
          <a:xfrm rot="5400000">
            <a:off x="8668512" y="4686300"/>
            <a:ext cx="128016" cy="137160"/>
          </a:xfrm>
          <a:prstGeom prst="triangle">
            <a:avLst/>
          </a:prstGeom>
          <a:solidFill>
            <a:srgbClr val="6B7280"/>
          </a:solidFill>
          <a:ln/>
        </p:spPr>
      </p:sp>
      <p:sp>
        <p:nvSpPr>
          <p:cNvPr id="47" name="Shape 44"/>
          <p:cNvSpPr/>
          <p:nvPr/>
        </p:nvSpPr>
        <p:spPr>
          <a:xfrm>
            <a:off x="9015984" y="4567428"/>
            <a:ext cx="2670048" cy="365760"/>
          </a:xfrm>
          <a:prstGeom prst="rect">
            <a:avLst/>
          </a:prstGeom>
          <a:solidFill>
            <a:srgbClr val="FFFFFF"/>
          </a:solidFill>
          <a:ln w="6350">
            <a:solidFill>
              <a:srgbClr val="C9D8F2"/>
            </a:solidFill>
            <a:prstDash val="solid"/>
          </a:ln>
        </p:spPr>
      </p:sp>
      <p:sp>
        <p:nvSpPr>
          <p:cNvPr id="48" name="Text 45"/>
          <p:cNvSpPr/>
          <p:nvPr/>
        </p:nvSpPr>
        <p:spPr>
          <a:xfrm>
            <a:off x="9144000" y="4567428"/>
            <a:ext cx="2414016" cy="365760"/>
          </a:xfrm>
          <a:prstGeom prst="rect">
            <a:avLst/>
          </a:prstGeom>
          <a:noFill/>
          <a:ln/>
        </p:spPr>
        <p:txBody>
          <a:bodyPr wrap="square" lIns="0" tIns="0" rIns="0" bIns="0" rtlCol="0" anchor="ctr"/>
          <a:lstStyle/>
          <a:p>
            <a:pPr marL="0" indent="0">
              <a:buNone/>
            </a:pPr>
            <a:r>
              <a:rPr lang="en-US" sz="900" dirty="0">
                <a:solidFill>
                  <a:srgbClr val="46577A"/>
                </a:solidFill>
                <a:latin typeface="Aptos" pitchFamily="34" charset="0"/>
                <a:ea typeface="Aptos" pitchFamily="34" charset="-122"/>
                <a:cs typeface="Aptos" pitchFamily="34" charset="-120"/>
              </a:rPr>
              <a:t>Selective service differentiation</a:t>
            </a:r>
            <a:endParaRPr lang="en-US" sz="900" dirty="0"/>
          </a:p>
        </p:txBody>
      </p:sp>
      <p:sp>
        <p:nvSpPr>
          <p:cNvPr id="49" name="Shape 46"/>
          <p:cNvSpPr/>
          <p:nvPr/>
        </p:nvSpPr>
        <p:spPr>
          <a:xfrm>
            <a:off x="502920" y="5138928"/>
            <a:ext cx="11185855" cy="548640"/>
          </a:xfrm>
          <a:prstGeom prst="rect">
            <a:avLst/>
          </a:prstGeom>
          <a:solidFill>
            <a:srgbClr val="0032A0"/>
          </a:solidFill>
          <a:ln/>
        </p:spPr>
      </p:sp>
      <p:sp>
        <p:nvSpPr>
          <p:cNvPr id="50" name="Text 47"/>
          <p:cNvSpPr/>
          <p:nvPr/>
        </p:nvSpPr>
        <p:spPr>
          <a:xfrm>
            <a:off x="704088" y="5138928"/>
            <a:ext cx="1371600" cy="548640"/>
          </a:xfrm>
          <a:prstGeom prst="rect">
            <a:avLst/>
          </a:prstGeom>
          <a:noFill/>
          <a:ln/>
        </p:spPr>
        <p:txBody>
          <a:bodyPr wrap="square" lIns="0" tIns="0" rIns="0" bIns="0" rtlCol="0" anchor="ctr"/>
          <a:lstStyle/>
          <a:p>
            <a:pPr marL="0" indent="0">
              <a:buNone/>
            </a:pPr>
            <a:r>
              <a:rPr lang="en-US" sz="900" b="1" dirty="0">
                <a:solidFill>
                  <a:srgbClr val="9FC0F5"/>
                </a:solidFill>
                <a:latin typeface="Aptos" pitchFamily="34" charset="0"/>
                <a:ea typeface="Aptos" pitchFamily="34" charset="-122"/>
                <a:cs typeface="Aptos" pitchFamily="34" charset="-120"/>
              </a:rPr>
              <a:t>DECISION RULE</a:t>
            </a:r>
            <a:endParaRPr lang="en-US" sz="900" dirty="0"/>
          </a:p>
        </p:txBody>
      </p:sp>
      <p:sp>
        <p:nvSpPr>
          <p:cNvPr id="51" name="Text 48"/>
          <p:cNvSpPr/>
          <p:nvPr/>
        </p:nvSpPr>
        <p:spPr>
          <a:xfrm>
            <a:off x="2203704" y="5138928"/>
            <a:ext cx="9283903" cy="548640"/>
          </a:xfrm>
          <a:prstGeom prst="rect">
            <a:avLst/>
          </a:prstGeom>
          <a:noFill/>
          <a:ln/>
        </p:spPr>
        <p:txBody>
          <a:bodyPr wrap="square" lIns="0" tIns="0" rIns="0" bIns="0" rtlCol="0" anchor="ctr"/>
          <a:lstStyle/>
          <a:p>
            <a:pPr marL="0" indent="0">
              <a:buNone/>
            </a:pPr>
            <a:r>
              <a:rPr lang="en-US" sz="1100" b="1" dirty="0">
                <a:solidFill>
                  <a:srgbClr val="FFFFFF"/>
                </a:solidFill>
                <a:latin typeface="Aptos" pitchFamily="34" charset="0"/>
                <a:ea typeface="Aptos" pitchFamily="34" charset="-122"/>
                <a:cs typeface="Aptos" pitchFamily="34" charset="-120"/>
              </a:rPr>
              <a:t>Revenue diversification creates value only where the incremental revenue exceeds the incremental cost and complexity required to generate it. Sophistication is not the risk; unpriced complexity is.</a:t>
            </a:r>
            <a:endParaRPr lang="en-US" sz="1100" dirty="0"/>
          </a:p>
        </p:txBody>
      </p:sp>
      <p:sp>
        <p:nvSpPr>
          <p:cNvPr id="52" name="Shape 49"/>
          <p:cNvSpPr/>
          <p:nvPr/>
        </p:nvSpPr>
        <p:spPr>
          <a:xfrm>
            <a:off x="502920" y="5779008"/>
            <a:ext cx="11185855" cy="402336"/>
          </a:xfrm>
          <a:prstGeom prst="rect">
            <a:avLst/>
          </a:prstGeom>
          <a:solidFill>
            <a:srgbClr val="FFFFFF"/>
          </a:solidFill>
          <a:ln w="9525">
            <a:solidFill>
              <a:srgbClr val="6B7280"/>
            </a:solidFill>
            <a:prstDash val="dash"/>
          </a:ln>
        </p:spPr>
      </p:sp>
      <p:sp>
        <p:nvSpPr>
          <p:cNvPr id="53" name="Shape 50"/>
          <p:cNvSpPr/>
          <p:nvPr/>
        </p:nvSpPr>
        <p:spPr>
          <a:xfrm>
            <a:off x="594360" y="5893308"/>
            <a:ext cx="1344168" cy="173736"/>
          </a:xfrm>
          <a:prstGeom prst="rect">
            <a:avLst/>
          </a:prstGeom>
          <a:solidFill>
            <a:srgbClr val="FFFFFF"/>
          </a:solidFill>
          <a:ln w="9525">
            <a:solidFill>
              <a:srgbClr val="6B7280"/>
            </a:solidFill>
            <a:prstDash val="dash"/>
          </a:ln>
        </p:spPr>
      </p:sp>
      <p:sp>
        <p:nvSpPr>
          <p:cNvPr id="54" name="Text 51"/>
          <p:cNvSpPr/>
          <p:nvPr/>
        </p:nvSpPr>
        <p:spPr>
          <a:xfrm>
            <a:off x="594360" y="5893308"/>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55" name="Text 52"/>
          <p:cNvSpPr/>
          <p:nvPr/>
        </p:nvSpPr>
        <p:spPr>
          <a:xfrm>
            <a:off x="2048256" y="5815584"/>
            <a:ext cx="9530791" cy="329184"/>
          </a:xfrm>
          <a:prstGeom prst="rect">
            <a:avLst/>
          </a:prstGeom>
          <a:noFill/>
          <a:ln/>
        </p:spPr>
        <p:txBody>
          <a:bodyPr wrap="square" lIns="0" tIns="0" rIns="0" bIns="0" rtlCol="0" anchor="ctr"/>
          <a:lstStyle/>
          <a:p>
            <a:pPr marL="0" indent="0">
              <a:buNone/>
            </a:pPr>
            <a:r>
              <a:rPr lang="en-US" sz="950" dirty="0">
                <a:solidFill>
                  <a:srgbClr val="6B7280"/>
                </a:solidFill>
                <a:latin typeface="Aptos" pitchFamily="34" charset="0"/>
                <a:ea typeface="Aptos" pitchFamily="34" charset="-122"/>
                <a:cs typeface="Aptos" pitchFamily="34" charset="-120"/>
              </a:rPr>
              <a:t>The financial contribution of ancillary, cargo, premium and loyalty activity is an open evidence gap (RQ-STR-BM-002, RQ-STR-BM-003-001 to -005). No FY2026 revenue-mix figure is asserted here, and no incremental margin from these layers is claimed.</a:t>
            </a:r>
            <a:endParaRPr lang="en-US" sz="950" dirty="0"/>
          </a:p>
        </p:txBody>
      </p:sp>
      <p:sp>
        <p:nvSpPr>
          <p:cNvPr id="56" name="Shape 53"/>
          <p:cNvSpPr/>
          <p:nvPr/>
        </p:nvSpPr>
        <p:spPr>
          <a:xfrm>
            <a:off x="502920" y="6309360"/>
            <a:ext cx="11185855" cy="5486"/>
          </a:xfrm>
          <a:prstGeom prst="rect">
            <a:avLst/>
          </a:prstGeom>
          <a:solidFill>
            <a:srgbClr val="C9D8F2"/>
          </a:solidFill>
          <a:ln/>
        </p:spPr>
      </p:sp>
      <p:sp>
        <p:nvSpPr>
          <p:cNvPr id="57" name="Text 54"/>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58" name="Text 55"/>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SRC-STR-BM-005 - SRC-STR-BM-006 - 02_Company_Historical_Evidence_Business_Model - External Lens: The Ken, July 2026</a:t>
            </a:r>
            <a:endParaRPr lang="en-US" sz="800" dirty="0"/>
          </a:p>
        </p:txBody>
      </p:sp>
      <p:sp>
        <p:nvSpPr>
          <p:cNvPr id="59" name="Shape 56"/>
          <p:cNvSpPr/>
          <p:nvPr/>
        </p:nvSpPr>
        <p:spPr>
          <a:xfrm>
            <a:off x="11484864" y="6364224"/>
            <a:ext cx="201168" cy="201168"/>
          </a:xfrm>
          <a:prstGeom prst="rect">
            <a:avLst/>
          </a:prstGeom>
          <a:solidFill>
            <a:srgbClr val="0032A0"/>
          </a:solidFill>
          <a:ln/>
        </p:spPr>
      </p:sp>
      <p:sp>
        <p:nvSpPr>
          <p:cNvPr id="60" name="Text 57"/>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05 - EXTERNAL LENS</a:t>
            </a:r>
            <a:endParaRPr lang="en-US" sz="1000" dirty="0"/>
          </a:p>
        </p:txBody>
      </p:sp>
      <p:sp>
        <p:nvSpPr>
          <p:cNvPr id="3" name="Shape 1"/>
          <p:cNvSpPr/>
          <p:nvPr/>
        </p:nvSpPr>
        <p:spPr>
          <a:xfrm>
            <a:off x="502920" y="571500"/>
            <a:ext cx="1463040" cy="45720"/>
          </a:xfrm>
          <a:prstGeom prst="rect">
            <a:avLst/>
          </a:prstGeom>
          <a:solidFill>
            <a:srgbClr val="0032A0"/>
          </a:solidFill>
          <a:ln/>
        </p:spPr>
      </p:sp>
      <p:sp>
        <p:nvSpPr>
          <p:cNvPr id="4" name="Text 2"/>
          <p:cNvSpPr/>
          <p:nvPr/>
        </p:nvSpPr>
        <p:spPr>
          <a:xfrm>
            <a:off x="500177" y="682009"/>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The pilot problem was gradual before it became sudden</a:t>
            </a:r>
            <a:endParaRPr lang="en-US" sz="2250" dirty="0"/>
          </a:p>
        </p:txBody>
      </p:sp>
      <p:sp>
        <p:nvSpPr>
          <p:cNvPr id="5" name="Shape 3"/>
          <p:cNvSpPr/>
          <p:nvPr/>
        </p:nvSpPr>
        <p:spPr>
          <a:xfrm>
            <a:off x="502920" y="1371600"/>
            <a:ext cx="1572768" cy="201168"/>
          </a:xfrm>
          <a:prstGeom prst="roundRect">
            <a:avLst>
              <a:gd name="adj" fmla="val 50000"/>
            </a:avLst>
          </a:prstGeom>
          <a:solidFill>
            <a:srgbClr val="D98A00"/>
          </a:solidFill>
          <a:ln/>
        </p:spPr>
      </p:sp>
      <p:sp>
        <p:nvSpPr>
          <p:cNvPr id="6" name="Text 4"/>
          <p:cNvSpPr/>
          <p:nvPr/>
        </p:nvSpPr>
        <p:spPr>
          <a:xfrm>
            <a:off x="502920" y="1371600"/>
            <a:ext cx="1572768"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Aptos" pitchFamily="34" charset="0"/>
                <a:ea typeface="Aptos" pitchFamily="34" charset="-122"/>
                <a:cs typeface="Aptos" pitchFamily="34" charset="-120"/>
              </a:rPr>
              <a:t>EXTERNAL LENS  |  THE KEN</a:t>
            </a:r>
            <a:endParaRPr lang="en-US" sz="750" dirty="0"/>
          </a:p>
        </p:txBody>
      </p:sp>
      <p:sp>
        <p:nvSpPr>
          <p:cNvPr id="7" name="Text 5"/>
          <p:cNvSpPr/>
          <p:nvPr/>
        </p:nvSpPr>
        <p:spPr>
          <a:xfrm>
            <a:off x="2185416" y="1376172"/>
            <a:ext cx="7680960" cy="192024"/>
          </a:xfrm>
          <a:prstGeom prst="rect">
            <a:avLst/>
          </a:prstGeom>
          <a:noFill/>
          <a:ln/>
        </p:spPr>
        <p:txBody>
          <a:bodyPr wrap="square" lIns="0" tIns="0" rIns="0" bIns="0" rtlCol="0" anchor="ctr"/>
          <a:lstStyle/>
          <a:p>
            <a:pPr marL="0" indent="0">
              <a:buNone/>
            </a:pPr>
            <a:r>
              <a:rPr lang="en-US" sz="850" i="1" dirty="0">
                <a:solidFill>
                  <a:srgbClr val="D98A00"/>
                </a:solidFill>
                <a:latin typeface="Aptos" pitchFamily="34" charset="0"/>
                <a:ea typeface="Aptos" pitchFamily="34" charset="-122"/>
                <a:cs typeface="Aptos" pitchFamily="34" charset="-120"/>
              </a:rPr>
              <a:t>"How Indigo ran out of pilots - gradually, then suddenly" - The Ken, December 2025</a:t>
            </a:r>
            <a:endParaRPr lang="en-US" sz="850" dirty="0"/>
          </a:p>
        </p:txBody>
      </p:sp>
      <p:sp>
        <p:nvSpPr>
          <p:cNvPr id="8" name="Shape 6"/>
          <p:cNvSpPr/>
          <p:nvPr/>
        </p:nvSpPr>
        <p:spPr>
          <a:xfrm>
            <a:off x="502920" y="1920240"/>
            <a:ext cx="7406640" cy="347472"/>
          </a:xfrm>
          <a:prstGeom prst="rect">
            <a:avLst/>
          </a:prstGeom>
          <a:solidFill>
            <a:srgbClr val="041E47"/>
          </a:solidFill>
          <a:ln/>
        </p:spPr>
      </p:sp>
      <p:sp>
        <p:nvSpPr>
          <p:cNvPr id="9" name="Text 7"/>
          <p:cNvSpPr/>
          <p:nvPr/>
        </p:nvSpPr>
        <p:spPr>
          <a:xfrm>
            <a:off x="667512" y="1920240"/>
            <a:ext cx="7077456" cy="347472"/>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GRADUAL  -  WHAT THE EVIDENCE BASE RECORDED ALL ALONG</a:t>
            </a:r>
            <a:endParaRPr lang="en-US" sz="950" dirty="0"/>
          </a:p>
        </p:txBody>
      </p:sp>
      <p:sp>
        <p:nvSpPr>
          <p:cNvPr id="10" name="Shape 8"/>
          <p:cNvSpPr/>
          <p:nvPr/>
        </p:nvSpPr>
        <p:spPr>
          <a:xfrm>
            <a:off x="502920" y="2267712"/>
            <a:ext cx="7406640" cy="1865376"/>
          </a:xfrm>
          <a:prstGeom prst="rect">
            <a:avLst/>
          </a:prstGeom>
          <a:solidFill>
            <a:srgbClr val="F4F7FD"/>
          </a:solidFill>
          <a:ln/>
        </p:spPr>
      </p:sp>
      <p:sp>
        <p:nvSpPr>
          <p:cNvPr id="11" name="Text 9"/>
          <p:cNvSpPr/>
          <p:nvPr/>
        </p:nvSpPr>
        <p:spPr>
          <a:xfrm>
            <a:off x="685800" y="2395728"/>
            <a:ext cx="1883664" cy="292608"/>
          </a:xfrm>
          <a:prstGeom prst="rect">
            <a:avLst/>
          </a:prstGeom>
          <a:noFill/>
          <a:ln/>
        </p:spPr>
        <p:txBody>
          <a:bodyPr wrap="square" lIns="0" tIns="0" rIns="0" bIns="0" rtlCol="0" anchor="ctr"/>
          <a:lstStyle/>
          <a:p>
            <a:pPr marL="0" indent="0">
              <a:buNone/>
            </a:pPr>
            <a:r>
              <a:rPr lang="en-US" sz="850" b="1" dirty="0">
                <a:solidFill>
                  <a:srgbClr val="0032A0"/>
                </a:solidFill>
                <a:latin typeface="Aptos" pitchFamily="34" charset="0"/>
                <a:ea typeface="Aptos" pitchFamily="34" charset="-122"/>
                <a:cs typeface="Aptos" pitchFamily="34" charset="-120"/>
              </a:rPr>
              <a:t>FLEET SCALE</a:t>
            </a:r>
            <a:endParaRPr lang="en-US" sz="850" dirty="0"/>
          </a:p>
        </p:txBody>
      </p:sp>
      <p:sp>
        <p:nvSpPr>
          <p:cNvPr id="12" name="Text 10"/>
          <p:cNvSpPr/>
          <p:nvPr/>
        </p:nvSpPr>
        <p:spPr>
          <a:xfrm>
            <a:off x="2624328" y="2395728"/>
            <a:ext cx="5084064" cy="292608"/>
          </a:xfrm>
          <a:prstGeom prst="rect">
            <a:avLst/>
          </a:prstGeom>
          <a:noFill/>
          <a:ln/>
        </p:spPr>
        <p:txBody>
          <a:bodyPr wrap="square" lIns="0" tIns="0" rIns="0" bIns="0" rtlCol="0" anchor="ctr"/>
          <a:lstStyle/>
          <a:p>
            <a:pPr marL="0" indent="0">
              <a:buNone/>
            </a:pPr>
            <a:r>
              <a:rPr lang="en-US" sz="950" dirty="0">
                <a:solidFill>
                  <a:srgbClr val="041E47"/>
                </a:solidFill>
                <a:latin typeface="Aptos" pitchFamily="34" charset="0"/>
                <a:ea typeface="Aptos" pitchFamily="34" charset="-122"/>
                <a:cs typeface="Aptos" pitchFamily="34" charset="-120"/>
              </a:rPr>
              <a:t>441 aircraft and 123.4 million passengers. Every additional aircraft carries a crew requirement with it.</a:t>
            </a:r>
            <a:endParaRPr lang="en-US" sz="950" dirty="0"/>
          </a:p>
        </p:txBody>
      </p:sp>
      <p:sp>
        <p:nvSpPr>
          <p:cNvPr id="13" name="Text 11"/>
          <p:cNvSpPr/>
          <p:nvPr/>
        </p:nvSpPr>
        <p:spPr>
          <a:xfrm>
            <a:off x="685800" y="2738628"/>
            <a:ext cx="1883664" cy="292608"/>
          </a:xfrm>
          <a:prstGeom prst="rect">
            <a:avLst/>
          </a:prstGeom>
          <a:noFill/>
          <a:ln/>
        </p:spPr>
        <p:txBody>
          <a:bodyPr wrap="square" lIns="0" tIns="0" rIns="0" bIns="0" rtlCol="0" anchor="ctr"/>
          <a:lstStyle/>
          <a:p>
            <a:pPr marL="0" indent="0">
              <a:buNone/>
            </a:pPr>
            <a:r>
              <a:rPr lang="en-US" sz="850" b="1" dirty="0">
                <a:solidFill>
                  <a:srgbClr val="0032A0"/>
                </a:solidFill>
                <a:latin typeface="Aptos" pitchFamily="34" charset="0"/>
                <a:ea typeface="Aptos" pitchFamily="34" charset="-122"/>
                <a:cs typeface="Aptos" pitchFamily="34" charset="-120"/>
              </a:rPr>
              <a:t>CAPACITY GROWTH</a:t>
            </a:r>
            <a:endParaRPr lang="en-US" sz="850" dirty="0"/>
          </a:p>
        </p:txBody>
      </p:sp>
      <p:sp>
        <p:nvSpPr>
          <p:cNvPr id="14" name="Text 12"/>
          <p:cNvSpPr/>
          <p:nvPr/>
        </p:nvSpPr>
        <p:spPr>
          <a:xfrm>
            <a:off x="2624328" y="2738628"/>
            <a:ext cx="5084064" cy="292608"/>
          </a:xfrm>
          <a:prstGeom prst="rect">
            <a:avLst/>
          </a:prstGeom>
          <a:noFill/>
          <a:ln/>
        </p:spPr>
        <p:txBody>
          <a:bodyPr wrap="square" lIns="0" tIns="0" rIns="0" bIns="0" rtlCol="0" anchor="ctr"/>
          <a:lstStyle/>
          <a:p>
            <a:pPr marL="0" indent="0">
              <a:buNone/>
            </a:pPr>
            <a:r>
              <a:rPr lang="en-US" sz="950" dirty="0">
                <a:solidFill>
                  <a:srgbClr val="041E47"/>
                </a:solidFill>
                <a:latin typeface="Aptos" pitchFamily="34" charset="0"/>
                <a:ea typeface="Aptos" pitchFamily="34" charset="-122"/>
                <a:cs typeface="Aptos" pitchFamily="34" charset="-120"/>
              </a:rPr>
              <a:t>ASK grew 9.5% in FY2026 - the crewing base has to grow with the flying, not with the fleet count.</a:t>
            </a:r>
            <a:endParaRPr lang="en-US" sz="950" dirty="0"/>
          </a:p>
        </p:txBody>
      </p:sp>
      <p:sp>
        <p:nvSpPr>
          <p:cNvPr id="15" name="Text 13"/>
          <p:cNvSpPr/>
          <p:nvPr/>
        </p:nvSpPr>
        <p:spPr>
          <a:xfrm>
            <a:off x="685800" y="3081528"/>
            <a:ext cx="1883664" cy="292608"/>
          </a:xfrm>
          <a:prstGeom prst="rect">
            <a:avLst/>
          </a:prstGeom>
          <a:noFill/>
          <a:ln/>
        </p:spPr>
        <p:txBody>
          <a:bodyPr wrap="square" lIns="0" tIns="0" rIns="0" bIns="0" rtlCol="0" anchor="ctr"/>
          <a:lstStyle/>
          <a:p>
            <a:pPr marL="0" indent="0">
              <a:buNone/>
            </a:pPr>
            <a:r>
              <a:rPr lang="en-US" sz="850" b="1" dirty="0">
                <a:solidFill>
                  <a:srgbClr val="0032A0"/>
                </a:solidFill>
                <a:latin typeface="Aptos" pitchFamily="34" charset="0"/>
                <a:ea typeface="Aptos" pitchFamily="34" charset="-122"/>
                <a:cs typeface="Aptos" pitchFamily="34" charset="-120"/>
              </a:rPr>
              <a:t>DOCUMENTED LABOUR RISK</a:t>
            </a:r>
            <a:endParaRPr lang="en-US" sz="850" dirty="0"/>
          </a:p>
        </p:txBody>
      </p:sp>
      <p:sp>
        <p:nvSpPr>
          <p:cNvPr id="16" name="Text 14"/>
          <p:cNvSpPr/>
          <p:nvPr/>
        </p:nvSpPr>
        <p:spPr>
          <a:xfrm>
            <a:off x="2624328" y="3081528"/>
            <a:ext cx="5084064" cy="292608"/>
          </a:xfrm>
          <a:prstGeom prst="rect">
            <a:avLst/>
          </a:prstGeom>
          <a:noFill/>
          <a:ln/>
        </p:spPr>
        <p:txBody>
          <a:bodyPr wrap="square" lIns="0" tIns="0" rIns="0" bIns="0" rtlCol="0" anchor="ctr"/>
          <a:lstStyle/>
          <a:p>
            <a:pPr marL="0" indent="0">
              <a:buNone/>
            </a:pPr>
            <a:r>
              <a:rPr lang="en-US" sz="950" dirty="0">
                <a:solidFill>
                  <a:srgbClr val="041E47"/>
                </a:solidFill>
                <a:latin typeface="Aptos" pitchFamily="34" charset="0"/>
                <a:ea typeface="Aptos" pitchFamily="34" charset="-122"/>
                <a:cs typeface="Aptos" pitchFamily="34" charset="-120"/>
              </a:rPr>
              <a:t>The fleet-growth risk register names labour explicitly: additional pilots, crew, engineers and ground staff required.</a:t>
            </a:r>
            <a:endParaRPr lang="en-US" sz="950" dirty="0"/>
          </a:p>
        </p:txBody>
      </p:sp>
      <p:sp>
        <p:nvSpPr>
          <p:cNvPr id="17" name="Text 15"/>
          <p:cNvSpPr/>
          <p:nvPr/>
        </p:nvSpPr>
        <p:spPr>
          <a:xfrm>
            <a:off x="685800" y="3424428"/>
            <a:ext cx="1883664" cy="292608"/>
          </a:xfrm>
          <a:prstGeom prst="rect">
            <a:avLst/>
          </a:prstGeom>
          <a:noFill/>
          <a:ln/>
        </p:spPr>
        <p:txBody>
          <a:bodyPr wrap="square" lIns="0" tIns="0" rIns="0" bIns="0" rtlCol="0" anchor="ctr"/>
          <a:lstStyle/>
          <a:p>
            <a:pPr marL="0" indent="0">
              <a:buNone/>
            </a:pPr>
            <a:r>
              <a:rPr lang="en-US" sz="850" b="1" dirty="0">
                <a:solidFill>
                  <a:srgbClr val="0032A0"/>
                </a:solidFill>
                <a:latin typeface="Aptos" pitchFamily="34" charset="0"/>
                <a:ea typeface="Aptos" pitchFamily="34" charset="-122"/>
                <a:cs typeface="Aptos" pitchFamily="34" charset="-120"/>
              </a:rPr>
              <a:t>NAMED COST LEVER</a:t>
            </a:r>
            <a:endParaRPr lang="en-US" sz="850" dirty="0"/>
          </a:p>
        </p:txBody>
      </p:sp>
      <p:sp>
        <p:nvSpPr>
          <p:cNvPr id="18" name="Text 16"/>
          <p:cNvSpPr/>
          <p:nvPr/>
        </p:nvSpPr>
        <p:spPr>
          <a:xfrm>
            <a:off x="2624328" y="3424428"/>
            <a:ext cx="5084064" cy="292608"/>
          </a:xfrm>
          <a:prstGeom prst="rect">
            <a:avLst/>
          </a:prstGeom>
          <a:noFill/>
          <a:ln/>
        </p:spPr>
        <p:txBody>
          <a:bodyPr wrap="square" lIns="0" tIns="0" rIns="0" bIns="0" rtlCol="0" anchor="ctr"/>
          <a:lstStyle/>
          <a:p>
            <a:pPr marL="0" indent="0">
              <a:buNone/>
            </a:pPr>
            <a:r>
              <a:rPr lang="en-US" sz="950" dirty="0">
                <a:solidFill>
                  <a:srgbClr val="041E47"/>
                </a:solidFill>
                <a:latin typeface="Aptos" pitchFamily="34" charset="0"/>
                <a:ea typeface="Aptos" pitchFamily="34" charset="-122"/>
                <a:cs typeface="Aptos" pitchFamily="34" charset="-120"/>
              </a:rPr>
              <a:t>Crew productivity appears as a cost lever in the CASK decomposition, and crew optimisation as a technology lever.</a:t>
            </a:r>
            <a:endParaRPr lang="en-US" sz="950" dirty="0"/>
          </a:p>
        </p:txBody>
      </p:sp>
      <p:sp>
        <p:nvSpPr>
          <p:cNvPr id="19" name="Text 17"/>
          <p:cNvSpPr/>
          <p:nvPr/>
        </p:nvSpPr>
        <p:spPr>
          <a:xfrm>
            <a:off x="685800" y="3767328"/>
            <a:ext cx="1883664" cy="292608"/>
          </a:xfrm>
          <a:prstGeom prst="rect">
            <a:avLst/>
          </a:prstGeom>
          <a:noFill/>
          <a:ln/>
        </p:spPr>
        <p:txBody>
          <a:bodyPr wrap="square" lIns="0" tIns="0" rIns="0" bIns="0" rtlCol="0" anchor="ctr"/>
          <a:lstStyle/>
          <a:p>
            <a:pPr marL="0" indent="0">
              <a:buNone/>
            </a:pPr>
            <a:r>
              <a:rPr lang="en-US" sz="850" b="1" dirty="0">
                <a:solidFill>
                  <a:srgbClr val="0032A0"/>
                </a:solidFill>
                <a:latin typeface="Aptos" pitchFamily="34" charset="0"/>
                <a:ea typeface="Aptos" pitchFamily="34" charset="-122"/>
                <a:cs typeface="Aptos" pitchFamily="34" charset="-120"/>
              </a:rPr>
              <a:t>NAMED DISRUPTION RISK</a:t>
            </a:r>
            <a:endParaRPr lang="en-US" sz="850" dirty="0"/>
          </a:p>
        </p:txBody>
      </p:sp>
      <p:sp>
        <p:nvSpPr>
          <p:cNvPr id="20" name="Text 18"/>
          <p:cNvSpPr/>
          <p:nvPr/>
        </p:nvSpPr>
        <p:spPr>
          <a:xfrm>
            <a:off x="2624328" y="3767328"/>
            <a:ext cx="5084064" cy="292608"/>
          </a:xfrm>
          <a:prstGeom prst="rect">
            <a:avLst/>
          </a:prstGeom>
          <a:noFill/>
          <a:ln/>
        </p:spPr>
        <p:txBody>
          <a:bodyPr wrap="square" lIns="0" tIns="0" rIns="0" bIns="0" rtlCol="0" anchor="ctr"/>
          <a:lstStyle/>
          <a:p>
            <a:pPr marL="0" indent="0">
              <a:buNone/>
            </a:pPr>
            <a:r>
              <a:rPr lang="en-US" sz="950" dirty="0">
                <a:solidFill>
                  <a:srgbClr val="041E47"/>
                </a:solidFill>
                <a:latin typeface="Aptos" pitchFamily="34" charset="0"/>
                <a:ea typeface="Aptos" pitchFamily="34" charset="-122"/>
                <a:cs typeface="Aptos" pitchFamily="34" charset="-120"/>
              </a:rPr>
              <a:t>"Shortages of critical manpower" sits in the operational risk register alongside weather, ATC and AOG.</a:t>
            </a:r>
            <a:endParaRPr lang="en-US" sz="950" dirty="0"/>
          </a:p>
        </p:txBody>
      </p:sp>
      <p:sp>
        <p:nvSpPr>
          <p:cNvPr id="21" name="Shape 19"/>
          <p:cNvSpPr/>
          <p:nvPr/>
        </p:nvSpPr>
        <p:spPr>
          <a:xfrm>
            <a:off x="8110728" y="1920240"/>
            <a:ext cx="27432" cy="2212848"/>
          </a:xfrm>
          <a:prstGeom prst="rect">
            <a:avLst/>
          </a:prstGeom>
          <a:solidFill>
            <a:srgbClr val="C43F2E"/>
          </a:solidFill>
          <a:ln/>
        </p:spPr>
      </p:sp>
      <p:sp>
        <p:nvSpPr>
          <p:cNvPr id="22" name="Shape 20"/>
          <p:cNvSpPr/>
          <p:nvPr/>
        </p:nvSpPr>
        <p:spPr>
          <a:xfrm>
            <a:off x="8211312" y="1920240"/>
            <a:ext cx="3474720" cy="347472"/>
          </a:xfrm>
          <a:prstGeom prst="rect">
            <a:avLst/>
          </a:prstGeom>
          <a:solidFill>
            <a:srgbClr val="C43F2E"/>
          </a:solidFill>
          <a:ln/>
        </p:spPr>
      </p:sp>
      <p:sp>
        <p:nvSpPr>
          <p:cNvPr id="23" name="Text 21"/>
          <p:cNvSpPr/>
          <p:nvPr/>
        </p:nvSpPr>
        <p:spPr>
          <a:xfrm>
            <a:off x="8375904" y="1920240"/>
            <a:ext cx="3145536" cy="347472"/>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SUDDEN  -  3-5 DECEMBER 2025</a:t>
            </a:r>
            <a:endParaRPr lang="en-US" sz="950" dirty="0"/>
          </a:p>
        </p:txBody>
      </p:sp>
      <p:sp>
        <p:nvSpPr>
          <p:cNvPr id="24" name="Shape 22"/>
          <p:cNvSpPr/>
          <p:nvPr/>
        </p:nvSpPr>
        <p:spPr>
          <a:xfrm>
            <a:off x="8211312" y="2267712"/>
            <a:ext cx="3474720" cy="1865376"/>
          </a:xfrm>
          <a:prstGeom prst="rect">
            <a:avLst/>
          </a:prstGeom>
          <a:solidFill>
            <a:srgbClr val="FFFFFF"/>
          </a:solidFill>
          <a:ln w="9525">
            <a:solidFill>
              <a:srgbClr val="C43F2E"/>
            </a:solidFill>
            <a:prstDash val="solid"/>
          </a:ln>
        </p:spPr>
      </p:sp>
      <p:sp>
        <p:nvSpPr>
          <p:cNvPr id="25" name="Shape 23"/>
          <p:cNvSpPr/>
          <p:nvPr/>
        </p:nvSpPr>
        <p:spPr>
          <a:xfrm>
            <a:off x="8375904" y="2395728"/>
            <a:ext cx="1371600" cy="182880"/>
          </a:xfrm>
          <a:prstGeom prst="roundRect">
            <a:avLst>
              <a:gd name="adj" fmla="val 45000"/>
            </a:avLst>
          </a:prstGeom>
          <a:solidFill>
            <a:srgbClr val="FFFFFF"/>
          </a:solidFill>
          <a:ln w="9525">
            <a:solidFill>
              <a:srgbClr val="D98A00"/>
            </a:solidFill>
            <a:prstDash val="solid"/>
          </a:ln>
        </p:spPr>
      </p:sp>
      <p:sp>
        <p:nvSpPr>
          <p:cNvPr id="26" name="Text 24"/>
          <p:cNvSpPr/>
          <p:nvPr/>
        </p:nvSpPr>
        <p:spPr>
          <a:xfrm>
            <a:off x="8375904" y="2395728"/>
            <a:ext cx="1371600" cy="182880"/>
          </a:xfrm>
          <a:prstGeom prst="rect">
            <a:avLst/>
          </a:prstGeom>
          <a:noFill/>
          <a:ln/>
        </p:spPr>
        <p:txBody>
          <a:bodyPr wrap="square" lIns="0" tIns="0" rIns="0" bIns="0" rtlCol="0" anchor="ctr"/>
          <a:lstStyle/>
          <a:p>
            <a:pPr marL="0" indent="0" algn="ctr">
              <a:buNone/>
            </a:pPr>
            <a:r>
              <a:rPr lang="en-US" sz="800" b="1" dirty="0">
                <a:solidFill>
                  <a:srgbClr val="D98A00"/>
                </a:solidFill>
                <a:latin typeface="Aptos" pitchFamily="34" charset="0"/>
                <a:ea typeface="Aptos" pitchFamily="34" charset="-122"/>
                <a:cs typeface="Aptos" pitchFamily="34" charset="-120"/>
              </a:rPr>
              <a:t>EXTERNAL SOURCE</a:t>
            </a:r>
            <a:endParaRPr lang="en-US" sz="800" dirty="0"/>
          </a:p>
        </p:txBody>
      </p:sp>
      <p:sp>
        <p:nvSpPr>
          <p:cNvPr id="27" name="Text 25"/>
          <p:cNvSpPr/>
          <p:nvPr/>
        </p:nvSpPr>
        <p:spPr>
          <a:xfrm>
            <a:off x="9838944" y="2395728"/>
            <a:ext cx="1645920" cy="18288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MoCA / PIB</a:t>
            </a:r>
            <a:endParaRPr lang="en-US" sz="850" dirty="0"/>
          </a:p>
        </p:txBody>
      </p:sp>
      <p:sp>
        <p:nvSpPr>
          <p:cNvPr id="28" name="Text 26"/>
          <p:cNvSpPr/>
          <p:nvPr/>
        </p:nvSpPr>
        <p:spPr>
          <a:xfrm>
            <a:off x="8375904" y="2688336"/>
            <a:ext cx="1097280" cy="292608"/>
          </a:xfrm>
          <a:prstGeom prst="rect">
            <a:avLst/>
          </a:prstGeom>
          <a:noFill/>
          <a:ln/>
        </p:spPr>
        <p:txBody>
          <a:bodyPr wrap="square" lIns="0" tIns="0" rIns="0" bIns="0" rtlCol="0" anchor="ctr"/>
          <a:lstStyle/>
          <a:p>
            <a:pPr marL="0" indent="0">
              <a:buNone/>
            </a:pPr>
            <a:r>
              <a:rPr lang="en-US" sz="1500" b="1" dirty="0">
                <a:solidFill>
                  <a:srgbClr val="C43F2E"/>
                </a:solidFill>
                <a:latin typeface="Aptos Display" pitchFamily="34" charset="0"/>
                <a:ea typeface="Aptos Display" pitchFamily="34" charset="-122"/>
                <a:cs typeface="Aptos Display" pitchFamily="34" charset="-120"/>
              </a:rPr>
              <a:t>2,507</a:t>
            </a:r>
            <a:endParaRPr lang="en-US" sz="1500" dirty="0"/>
          </a:p>
        </p:txBody>
      </p:sp>
      <p:sp>
        <p:nvSpPr>
          <p:cNvPr id="29" name="Text 27"/>
          <p:cNvSpPr/>
          <p:nvPr/>
        </p:nvSpPr>
        <p:spPr>
          <a:xfrm>
            <a:off x="9528048" y="2688336"/>
            <a:ext cx="2011680" cy="292608"/>
          </a:xfrm>
          <a:prstGeom prst="rect">
            <a:avLst/>
          </a:prstGeom>
          <a:noFill/>
          <a:ln/>
        </p:spPr>
        <p:txBody>
          <a:bodyPr wrap="square" lIns="0" tIns="0" rIns="0" bIns="0" rtlCol="0" anchor="ctr"/>
          <a:lstStyle/>
          <a:p>
            <a:pPr marL="0" indent="0">
              <a:buNone/>
            </a:pPr>
            <a:r>
              <a:rPr lang="en-US" sz="950" dirty="0">
                <a:solidFill>
                  <a:srgbClr val="46577A"/>
                </a:solidFill>
                <a:latin typeface="Aptos" pitchFamily="34" charset="0"/>
                <a:ea typeface="Aptos" pitchFamily="34" charset="-122"/>
                <a:cs typeface="Aptos" pitchFamily="34" charset="-120"/>
              </a:rPr>
              <a:t>flights cancelled</a:t>
            </a:r>
            <a:endParaRPr lang="en-US" sz="950" dirty="0"/>
          </a:p>
        </p:txBody>
      </p:sp>
      <p:sp>
        <p:nvSpPr>
          <p:cNvPr id="30" name="Text 28"/>
          <p:cNvSpPr/>
          <p:nvPr/>
        </p:nvSpPr>
        <p:spPr>
          <a:xfrm>
            <a:off x="8375904" y="3017520"/>
            <a:ext cx="1097280" cy="292608"/>
          </a:xfrm>
          <a:prstGeom prst="rect">
            <a:avLst/>
          </a:prstGeom>
          <a:noFill/>
          <a:ln/>
        </p:spPr>
        <p:txBody>
          <a:bodyPr wrap="square" lIns="0" tIns="0" rIns="0" bIns="0" rtlCol="0" anchor="ctr"/>
          <a:lstStyle/>
          <a:p>
            <a:pPr marL="0" indent="0">
              <a:buNone/>
            </a:pPr>
            <a:r>
              <a:rPr lang="en-US" sz="1500" b="1" dirty="0">
                <a:solidFill>
                  <a:srgbClr val="C43F2E"/>
                </a:solidFill>
                <a:latin typeface="Aptos Display" pitchFamily="34" charset="0"/>
                <a:ea typeface="Aptos Display" pitchFamily="34" charset="-122"/>
                <a:cs typeface="Aptos Display" pitchFamily="34" charset="-120"/>
              </a:rPr>
              <a:t>1,852</a:t>
            </a:r>
            <a:endParaRPr lang="en-US" sz="1500" dirty="0"/>
          </a:p>
        </p:txBody>
      </p:sp>
      <p:sp>
        <p:nvSpPr>
          <p:cNvPr id="31" name="Text 29"/>
          <p:cNvSpPr/>
          <p:nvPr/>
        </p:nvSpPr>
        <p:spPr>
          <a:xfrm>
            <a:off x="9528048" y="3017520"/>
            <a:ext cx="2011680" cy="292608"/>
          </a:xfrm>
          <a:prstGeom prst="rect">
            <a:avLst/>
          </a:prstGeom>
          <a:noFill/>
          <a:ln/>
        </p:spPr>
        <p:txBody>
          <a:bodyPr wrap="square" lIns="0" tIns="0" rIns="0" bIns="0" rtlCol="0" anchor="ctr"/>
          <a:lstStyle/>
          <a:p>
            <a:pPr marL="0" indent="0">
              <a:buNone/>
            </a:pPr>
            <a:r>
              <a:rPr lang="en-US" sz="950" dirty="0">
                <a:solidFill>
                  <a:srgbClr val="46577A"/>
                </a:solidFill>
                <a:latin typeface="Aptos" pitchFamily="34" charset="0"/>
                <a:ea typeface="Aptos" pitchFamily="34" charset="-122"/>
                <a:cs typeface="Aptos" pitchFamily="34" charset="-120"/>
              </a:rPr>
              <a:t>flights delayed</a:t>
            </a:r>
            <a:endParaRPr lang="en-US" sz="950" dirty="0"/>
          </a:p>
        </p:txBody>
      </p:sp>
      <p:sp>
        <p:nvSpPr>
          <p:cNvPr id="32" name="Text 30"/>
          <p:cNvSpPr/>
          <p:nvPr/>
        </p:nvSpPr>
        <p:spPr>
          <a:xfrm>
            <a:off x="8375904" y="3346704"/>
            <a:ext cx="1097280" cy="292608"/>
          </a:xfrm>
          <a:prstGeom prst="rect">
            <a:avLst/>
          </a:prstGeom>
          <a:noFill/>
          <a:ln/>
        </p:spPr>
        <p:txBody>
          <a:bodyPr wrap="square" lIns="0" tIns="0" rIns="0" bIns="0" rtlCol="0" anchor="ctr"/>
          <a:lstStyle/>
          <a:p>
            <a:pPr marL="0" indent="0">
              <a:buNone/>
            </a:pPr>
            <a:r>
              <a:rPr lang="en-US" sz="1500" b="1" dirty="0">
                <a:solidFill>
                  <a:srgbClr val="C43F2E"/>
                </a:solidFill>
                <a:latin typeface="Aptos Display" pitchFamily="34" charset="0"/>
                <a:ea typeface="Aptos Display" pitchFamily="34" charset="-122"/>
                <a:cs typeface="Aptos Display" pitchFamily="34" charset="-120"/>
              </a:rPr>
              <a:t>300,000+</a:t>
            </a:r>
            <a:endParaRPr lang="en-US" sz="1500" dirty="0"/>
          </a:p>
        </p:txBody>
      </p:sp>
      <p:sp>
        <p:nvSpPr>
          <p:cNvPr id="33" name="Text 31"/>
          <p:cNvSpPr/>
          <p:nvPr/>
        </p:nvSpPr>
        <p:spPr>
          <a:xfrm>
            <a:off x="9528048" y="3346704"/>
            <a:ext cx="2011680" cy="292608"/>
          </a:xfrm>
          <a:prstGeom prst="rect">
            <a:avLst/>
          </a:prstGeom>
          <a:noFill/>
          <a:ln/>
        </p:spPr>
        <p:txBody>
          <a:bodyPr wrap="square" lIns="0" tIns="0" rIns="0" bIns="0" rtlCol="0" anchor="ctr"/>
          <a:lstStyle/>
          <a:p>
            <a:pPr marL="0" indent="0">
              <a:buNone/>
            </a:pPr>
            <a:r>
              <a:rPr lang="en-US" sz="950" dirty="0">
                <a:solidFill>
                  <a:srgbClr val="46577A"/>
                </a:solidFill>
                <a:latin typeface="Aptos" pitchFamily="34" charset="0"/>
                <a:ea typeface="Aptos" pitchFamily="34" charset="-122"/>
                <a:cs typeface="Aptos" pitchFamily="34" charset="-120"/>
              </a:rPr>
              <a:t>passengers affected</a:t>
            </a:r>
            <a:endParaRPr lang="en-US" sz="950" dirty="0"/>
          </a:p>
        </p:txBody>
      </p:sp>
      <p:sp>
        <p:nvSpPr>
          <p:cNvPr id="34" name="Text 32"/>
          <p:cNvSpPr/>
          <p:nvPr/>
        </p:nvSpPr>
        <p:spPr>
          <a:xfrm>
            <a:off x="8375904" y="3694176"/>
            <a:ext cx="3145536" cy="384048"/>
          </a:xfrm>
          <a:prstGeom prst="rect">
            <a:avLst/>
          </a:prstGeom>
          <a:noFill/>
          <a:ln/>
        </p:spPr>
        <p:txBody>
          <a:bodyPr wrap="square" lIns="0" tIns="0" rIns="0" bIns="0" rtlCol="0" anchor="t"/>
          <a:lstStyle/>
          <a:p>
            <a:pPr marL="0" indent="0">
              <a:lnSpc>
                <a:spcPct val="104000"/>
              </a:lnSpc>
              <a:buNone/>
            </a:pPr>
            <a:r>
              <a:rPr lang="en-US" sz="850" dirty="0">
                <a:solidFill>
                  <a:srgbClr val="041E47"/>
                </a:solidFill>
                <a:latin typeface="Aptos" pitchFamily="34" charset="0"/>
                <a:ea typeface="Aptos" pitchFamily="34" charset="-122"/>
                <a:cs typeface="Aptos" pitchFamily="34" charset="-120"/>
              </a:rPr>
              <a:t>Crew-rostering pressure under the revised FDTL regime was among the converging causes. MoCA placed the FDTL orders in abeyance on 5 December 2025.</a:t>
            </a:r>
            <a:endParaRPr lang="en-US" sz="850" dirty="0"/>
          </a:p>
        </p:txBody>
      </p:sp>
      <p:sp>
        <p:nvSpPr>
          <p:cNvPr id="35" name="Shape 33"/>
          <p:cNvSpPr/>
          <p:nvPr/>
        </p:nvSpPr>
        <p:spPr>
          <a:xfrm>
            <a:off x="502920" y="4315968"/>
            <a:ext cx="11185855" cy="603504"/>
          </a:xfrm>
          <a:prstGeom prst="rect">
            <a:avLst/>
          </a:prstGeom>
          <a:solidFill>
            <a:srgbClr val="041E47"/>
          </a:solidFill>
          <a:ln/>
        </p:spPr>
      </p:sp>
      <p:sp>
        <p:nvSpPr>
          <p:cNvPr id="36" name="Shape 34"/>
          <p:cNvSpPr/>
          <p:nvPr/>
        </p:nvSpPr>
        <p:spPr>
          <a:xfrm>
            <a:off x="502920" y="4315968"/>
            <a:ext cx="45720" cy="603504"/>
          </a:xfrm>
          <a:prstGeom prst="rect">
            <a:avLst/>
          </a:prstGeom>
          <a:solidFill>
            <a:srgbClr val="D98A00"/>
          </a:solidFill>
          <a:ln/>
        </p:spPr>
      </p:sp>
      <p:sp>
        <p:nvSpPr>
          <p:cNvPr id="37" name="Text 35"/>
          <p:cNvSpPr/>
          <p:nvPr/>
        </p:nvSpPr>
        <p:spPr>
          <a:xfrm>
            <a:off x="777240" y="4315968"/>
            <a:ext cx="10710367" cy="603504"/>
          </a:xfrm>
          <a:prstGeom prst="rect">
            <a:avLst/>
          </a:prstGeom>
          <a:noFill/>
          <a:ln/>
        </p:spPr>
        <p:txBody>
          <a:bodyPr wrap="square" lIns="0" tIns="0" rIns="0" bIns="0" rtlCol="0" anchor="ctr"/>
          <a:lstStyle/>
          <a:p>
            <a:pPr algn="ctr"/>
            <a:r>
              <a:rPr lang="en-IN" sz="1200" b="1" dirty="0">
                <a:solidFill>
                  <a:srgbClr val="FFFFFF"/>
                </a:solidFill>
                <a:latin typeface="Aptos" pitchFamily="34" charset="0"/>
              </a:rPr>
              <a:t>“Crew capacity was identified as a risk before the December disruption, but the available evidence does not quantify the constraint."</a:t>
            </a:r>
            <a:endParaRPr lang="en-US" sz="1200" b="1" dirty="0">
              <a:solidFill>
                <a:srgbClr val="FFFFFF"/>
              </a:solidFill>
              <a:latin typeface="Aptos" pitchFamily="34" charset="0"/>
            </a:endParaRPr>
          </a:p>
        </p:txBody>
      </p:sp>
      <p:sp>
        <p:nvSpPr>
          <p:cNvPr id="38" name="Shape 36"/>
          <p:cNvSpPr/>
          <p:nvPr/>
        </p:nvSpPr>
        <p:spPr>
          <a:xfrm>
            <a:off x="502920" y="5065776"/>
            <a:ext cx="11185855" cy="786384"/>
          </a:xfrm>
          <a:prstGeom prst="rect">
            <a:avLst/>
          </a:prstGeom>
          <a:solidFill>
            <a:srgbClr val="FFFFFF"/>
          </a:solidFill>
          <a:ln w="9525">
            <a:solidFill>
              <a:srgbClr val="6B7280"/>
            </a:solidFill>
            <a:prstDash val="dash"/>
          </a:ln>
        </p:spPr>
      </p:sp>
      <p:sp>
        <p:nvSpPr>
          <p:cNvPr id="39" name="Shape 37"/>
          <p:cNvSpPr/>
          <p:nvPr/>
        </p:nvSpPr>
        <p:spPr>
          <a:xfrm>
            <a:off x="685800" y="5175504"/>
            <a:ext cx="1344168" cy="173736"/>
          </a:xfrm>
          <a:prstGeom prst="rect">
            <a:avLst/>
          </a:prstGeom>
          <a:solidFill>
            <a:srgbClr val="FFFFFF"/>
          </a:solidFill>
          <a:ln w="9525">
            <a:solidFill>
              <a:srgbClr val="6B7280"/>
            </a:solidFill>
            <a:prstDash val="dash"/>
          </a:ln>
        </p:spPr>
      </p:sp>
      <p:sp>
        <p:nvSpPr>
          <p:cNvPr id="40" name="Text 38"/>
          <p:cNvSpPr/>
          <p:nvPr/>
        </p:nvSpPr>
        <p:spPr>
          <a:xfrm>
            <a:off x="685800" y="5175504"/>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41" name="Shape 39"/>
          <p:cNvSpPr/>
          <p:nvPr/>
        </p:nvSpPr>
        <p:spPr>
          <a:xfrm>
            <a:off x="2203704" y="5248656"/>
            <a:ext cx="54864" cy="54864"/>
          </a:xfrm>
          <a:prstGeom prst="rect">
            <a:avLst/>
          </a:prstGeom>
          <a:solidFill>
            <a:srgbClr val="6B7280"/>
          </a:solidFill>
          <a:ln/>
        </p:spPr>
      </p:sp>
      <p:sp>
        <p:nvSpPr>
          <p:cNvPr id="42" name="Text 40"/>
          <p:cNvSpPr/>
          <p:nvPr/>
        </p:nvSpPr>
        <p:spPr>
          <a:xfrm>
            <a:off x="2368296" y="5157216"/>
            <a:ext cx="4572000" cy="237744"/>
          </a:xfrm>
          <a:prstGeom prst="rect">
            <a:avLst/>
          </a:prstGeom>
          <a:noFill/>
          <a:ln/>
        </p:spPr>
        <p:txBody>
          <a:bodyPr wrap="square" lIns="0" tIns="0" rIns="0" bIns="0" rtlCol="0" anchor="ctr"/>
          <a:lstStyle/>
          <a:p>
            <a:pPr marL="0" indent="0">
              <a:buNone/>
            </a:pPr>
            <a:r>
              <a:rPr lang="en-US" sz="900" dirty="0">
                <a:solidFill>
                  <a:srgbClr val="6B7280"/>
                </a:solidFill>
                <a:latin typeface="Aptos" pitchFamily="34" charset="0"/>
                <a:ea typeface="Aptos" pitchFamily="34" charset="-122"/>
                <a:cs typeface="Aptos" pitchFamily="34" charset="-120"/>
              </a:rPr>
              <a:t>No pilot or first-officer headcount</a:t>
            </a:r>
            <a:endParaRPr lang="en-US" sz="900" dirty="0"/>
          </a:p>
        </p:txBody>
      </p:sp>
      <p:sp>
        <p:nvSpPr>
          <p:cNvPr id="43" name="Shape 41"/>
          <p:cNvSpPr/>
          <p:nvPr/>
        </p:nvSpPr>
        <p:spPr>
          <a:xfrm>
            <a:off x="7086600" y="5248656"/>
            <a:ext cx="54864" cy="54864"/>
          </a:xfrm>
          <a:prstGeom prst="rect">
            <a:avLst/>
          </a:prstGeom>
          <a:solidFill>
            <a:srgbClr val="6B7280"/>
          </a:solidFill>
          <a:ln/>
        </p:spPr>
      </p:sp>
      <p:sp>
        <p:nvSpPr>
          <p:cNvPr id="44" name="Text 42"/>
          <p:cNvSpPr/>
          <p:nvPr/>
        </p:nvSpPr>
        <p:spPr>
          <a:xfrm>
            <a:off x="7251192" y="5157216"/>
            <a:ext cx="4572000" cy="237744"/>
          </a:xfrm>
          <a:prstGeom prst="rect">
            <a:avLst/>
          </a:prstGeom>
          <a:noFill/>
          <a:ln/>
        </p:spPr>
        <p:txBody>
          <a:bodyPr wrap="square" lIns="0" tIns="0" rIns="0" bIns="0" rtlCol="0" anchor="ctr"/>
          <a:lstStyle/>
          <a:p>
            <a:pPr marL="0" indent="0">
              <a:buNone/>
            </a:pPr>
            <a:r>
              <a:rPr lang="en-US" sz="900" dirty="0">
                <a:solidFill>
                  <a:srgbClr val="6B7280"/>
                </a:solidFill>
                <a:latin typeface="Aptos" pitchFamily="34" charset="0"/>
                <a:ea typeface="Aptos" pitchFamily="34" charset="-122"/>
                <a:cs typeface="Aptos" pitchFamily="34" charset="-120"/>
              </a:rPr>
              <a:t>No crew-to-aircraft or crew-to-sector ratio</a:t>
            </a:r>
            <a:endParaRPr lang="en-US" sz="900" dirty="0"/>
          </a:p>
        </p:txBody>
      </p:sp>
      <p:sp>
        <p:nvSpPr>
          <p:cNvPr id="45" name="Shape 43"/>
          <p:cNvSpPr/>
          <p:nvPr/>
        </p:nvSpPr>
        <p:spPr>
          <a:xfrm>
            <a:off x="2203704" y="5559552"/>
            <a:ext cx="54864" cy="54864"/>
          </a:xfrm>
          <a:prstGeom prst="rect">
            <a:avLst/>
          </a:prstGeom>
          <a:solidFill>
            <a:srgbClr val="6B7280"/>
          </a:solidFill>
          <a:ln/>
        </p:spPr>
      </p:sp>
      <p:sp>
        <p:nvSpPr>
          <p:cNvPr id="46" name="Text 44"/>
          <p:cNvSpPr/>
          <p:nvPr/>
        </p:nvSpPr>
        <p:spPr>
          <a:xfrm>
            <a:off x="2368296" y="5468112"/>
            <a:ext cx="4572000" cy="237744"/>
          </a:xfrm>
          <a:prstGeom prst="rect">
            <a:avLst/>
          </a:prstGeom>
          <a:noFill/>
          <a:ln/>
        </p:spPr>
        <p:txBody>
          <a:bodyPr wrap="square" lIns="0" tIns="0" rIns="0" bIns="0" rtlCol="0" anchor="ctr"/>
          <a:lstStyle/>
          <a:p>
            <a:pPr marL="0" indent="0">
              <a:buNone/>
            </a:pPr>
            <a:r>
              <a:rPr lang="en-US" sz="900" dirty="0">
                <a:solidFill>
                  <a:srgbClr val="6B7280"/>
                </a:solidFill>
                <a:latin typeface="Aptos" pitchFamily="34" charset="0"/>
                <a:ea typeface="Aptos" pitchFamily="34" charset="-122"/>
                <a:cs typeface="Aptos" pitchFamily="34" charset="-120"/>
              </a:rPr>
              <a:t>No attrition, training-throughput or command-upgrade data</a:t>
            </a:r>
            <a:endParaRPr lang="en-US" sz="900" dirty="0"/>
          </a:p>
        </p:txBody>
      </p:sp>
      <p:sp>
        <p:nvSpPr>
          <p:cNvPr id="47" name="Shape 45"/>
          <p:cNvSpPr/>
          <p:nvPr/>
        </p:nvSpPr>
        <p:spPr>
          <a:xfrm>
            <a:off x="7086600" y="5559552"/>
            <a:ext cx="54864" cy="54864"/>
          </a:xfrm>
          <a:prstGeom prst="rect">
            <a:avLst/>
          </a:prstGeom>
          <a:solidFill>
            <a:srgbClr val="6B7280"/>
          </a:solidFill>
          <a:ln/>
        </p:spPr>
      </p:sp>
      <p:sp>
        <p:nvSpPr>
          <p:cNvPr id="48" name="Text 46"/>
          <p:cNvSpPr/>
          <p:nvPr/>
        </p:nvSpPr>
        <p:spPr>
          <a:xfrm>
            <a:off x="7251192" y="5468112"/>
            <a:ext cx="4572000" cy="237744"/>
          </a:xfrm>
          <a:prstGeom prst="rect">
            <a:avLst/>
          </a:prstGeom>
          <a:noFill/>
          <a:ln/>
        </p:spPr>
        <p:txBody>
          <a:bodyPr wrap="square" lIns="0" tIns="0" rIns="0" bIns="0" rtlCol="0" anchor="ctr"/>
          <a:lstStyle/>
          <a:p>
            <a:pPr marL="0" indent="0">
              <a:buNone/>
            </a:pPr>
            <a:r>
              <a:rPr lang="en-US" sz="900" dirty="0">
                <a:solidFill>
                  <a:srgbClr val="6B7280"/>
                </a:solidFill>
                <a:latin typeface="Aptos" pitchFamily="34" charset="0"/>
                <a:ea typeface="Aptos" pitchFamily="34" charset="-122"/>
                <a:cs typeface="Aptos" pitchFamily="34" charset="-120"/>
              </a:rPr>
              <a:t>No causal quantification of crew supply against the December disruption</a:t>
            </a:r>
            <a:endParaRPr lang="en-US" sz="900" dirty="0"/>
          </a:p>
        </p:txBody>
      </p:sp>
      <p:sp>
        <p:nvSpPr>
          <p:cNvPr id="49" name="Shape 47"/>
          <p:cNvSpPr/>
          <p:nvPr/>
        </p:nvSpPr>
        <p:spPr>
          <a:xfrm>
            <a:off x="502920" y="5925312"/>
            <a:ext cx="11185855" cy="274320"/>
          </a:xfrm>
          <a:prstGeom prst="rect">
            <a:avLst/>
          </a:prstGeom>
          <a:solidFill>
            <a:srgbClr val="FFFFFF"/>
          </a:solidFill>
          <a:ln w="9525">
            <a:solidFill>
              <a:srgbClr val="6B7280"/>
            </a:solidFill>
            <a:prstDash val="dash"/>
          </a:ln>
        </p:spPr>
      </p:sp>
      <p:sp>
        <p:nvSpPr>
          <p:cNvPr id="50" name="Text 48"/>
          <p:cNvSpPr/>
          <p:nvPr/>
        </p:nvSpPr>
        <p:spPr>
          <a:xfrm>
            <a:off x="612648" y="5925312"/>
            <a:ext cx="10966399" cy="27432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Secondary perspective: The Ken, December 2025. </a:t>
            </a:r>
            <a:endParaRPr lang="en-US" sz="850" dirty="0"/>
          </a:p>
        </p:txBody>
      </p:sp>
      <p:sp>
        <p:nvSpPr>
          <p:cNvPr id="51" name="Shape 49"/>
          <p:cNvSpPr/>
          <p:nvPr/>
        </p:nvSpPr>
        <p:spPr>
          <a:xfrm>
            <a:off x="502920" y="6309360"/>
            <a:ext cx="11185855" cy="5486"/>
          </a:xfrm>
          <a:prstGeom prst="rect">
            <a:avLst/>
          </a:prstGeom>
          <a:solidFill>
            <a:srgbClr val="C9D8F2"/>
          </a:solidFill>
          <a:ln/>
        </p:spPr>
      </p:sp>
      <p:sp>
        <p:nvSpPr>
          <p:cNvPr id="52" name="Text 50"/>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53" name="Text 51"/>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04_Operational_Evidence_Fleet - 08_External_Environment_Risk_Evidence_Risk - MoCA / PIB (Dec 2025) - External Lens: The Ken, December 2025</a:t>
            </a:r>
            <a:endParaRPr lang="en-US" sz="800" dirty="0"/>
          </a:p>
        </p:txBody>
      </p:sp>
      <p:sp>
        <p:nvSpPr>
          <p:cNvPr id="54" name="Shape 52"/>
          <p:cNvSpPr/>
          <p:nvPr/>
        </p:nvSpPr>
        <p:spPr>
          <a:xfrm>
            <a:off x="11484864" y="6364224"/>
            <a:ext cx="201168" cy="201168"/>
          </a:xfrm>
          <a:prstGeom prst="rect">
            <a:avLst/>
          </a:prstGeom>
          <a:solidFill>
            <a:srgbClr val="0032A0"/>
          </a:solidFill>
          <a:ln/>
        </p:spPr>
      </p:sp>
      <p:sp>
        <p:nvSpPr>
          <p:cNvPr id="55" name="Text 53"/>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05 - EXTERNAL LENS</a:t>
            </a:r>
            <a:endParaRPr lang="en-US" sz="1000" dirty="0"/>
          </a:p>
        </p:txBody>
      </p:sp>
      <p:sp>
        <p:nvSpPr>
          <p:cNvPr id="3" name="Shape 1"/>
          <p:cNvSpPr/>
          <p:nvPr/>
        </p:nvSpPr>
        <p:spPr>
          <a:xfrm>
            <a:off x="502920" y="571500"/>
            <a:ext cx="1463040" cy="45720"/>
          </a:xfrm>
          <a:prstGeom prst="rect">
            <a:avLst/>
          </a:prstGeom>
          <a:solidFill>
            <a:srgbClr val="0032A0"/>
          </a:solidFill>
          <a:ln/>
        </p:spPr>
      </p:sp>
      <p:sp>
        <p:nvSpPr>
          <p:cNvPr id="4" name="Text 2"/>
          <p:cNvSpPr/>
          <p:nvPr/>
        </p:nvSpPr>
        <p:spPr>
          <a:xfrm>
            <a:off x="500177" y="692714"/>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Scale approved is not the same as capacity reliably executed</a:t>
            </a:r>
            <a:endParaRPr lang="en-US" sz="2250" dirty="0"/>
          </a:p>
        </p:txBody>
      </p:sp>
      <p:sp>
        <p:nvSpPr>
          <p:cNvPr id="5" name="Shape 3"/>
          <p:cNvSpPr/>
          <p:nvPr/>
        </p:nvSpPr>
        <p:spPr>
          <a:xfrm>
            <a:off x="502920" y="1371600"/>
            <a:ext cx="2331720" cy="182880"/>
          </a:xfrm>
          <a:prstGeom prst="roundRect">
            <a:avLst>
              <a:gd name="adj" fmla="val 45000"/>
            </a:avLst>
          </a:prstGeom>
          <a:solidFill>
            <a:srgbClr val="FFFFFF"/>
          </a:solidFill>
          <a:ln w="9525">
            <a:solidFill>
              <a:srgbClr val="D98A00"/>
            </a:solidFill>
            <a:prstDash val="solid"/>
          </a:ln>
        </p:spPr>
      </p:sp>
      <p:sp>
        <p:nvSpPr>
          <p:cNvPr id="6" name="Text 4"/>
          <p:cNvSpPr/>
          <p:nvPr/>
        </p:nvSpPr>
        <p:spPr>
          <a:xfrm>
            <a:off x="502920" y="1371600"/>
            <a:ext cx="2331720" cy="182880"/>
          </a:xfrm>
          <a:prstGeom prst="rect">
            <a:avLst/>
          </a:prstGeom>
          <a:noFill/>
          <a:ln/>
        </p:spPr>
        <p:txBody>
          <a:bodyPr wrap="square" lIns="0" tIns="0" rIns="0" bIns="0" rtlCol="0" anchor="ctr"/>
          <a:lstStyle/>
          <a:p>
            <a:pPr marL="0" indent="0" algn="ctr">
              <a:buNone/>
            </a:pPr>
            <a:r>
              <a:rPr lang="en-US" sz="800" b="1" dirty="0">
                <a:solidFill>
                  <a:srgbClr val="D98A00"/>
                </a:solidFill>
                <a:latin typeface="Aptos" pitchFamily="34" charset="0"/>
                <a:ea typeface="Aptos" pitchFamily="34" charset="-122"/>
                <a:cs typeface="Aptos" pitchFamily="34" charset="-120"/>
              </a:rPr>
              <a:t>OFFICIAL EXTERNAL EVIDENCE</a:t>
            </a:r>
            <a:endParaRPr lang="en-US" sz="800" dirty="0"/>
          </a:p>
        </p:txBody>
      </p:sp>
      <p:sp>
        <p:nvSpPr>
          <p:cNvPr id="7" name="Text 5"/>
          <p:cNvSpPr/>
          <p:nvPr/>
        </p:nvSpPr>
        <p:spPr>
          <a:xfrm>
            <a:off x="2962656" y="1376172"/>
            <a:ext cx="7680960" cy="192024"/>
          </a:xfrm>
          <a:prstGeom prst="rect">
            <a:avLst/>
          </a:prstGeom>
          <a:noFill/>
          <a:ln/>
        </p:spPr>
        <p:txBody>
          <a:bodyPr wrap="none" lIns="0" tIns="0" rIns="0" bIns="0" rtlCol="0" anchor="ctr"/>
          <a:lstStyle/>
          <a:p>
            <a:pPr marL="0" indent="0">
              <a:buNone/>
            </a:pPr>
            <a:r>
              <a:rPr lang="en-US" sz="850" i="1" dirty="0">
                <a:solidFill>
                  <a:srgbClr val="6B7280"/>
                </a:solidFill>
                <a:latin typeface="Aptos" pitchFamily="34" charset="0"/>
                <a:ea typeface="Aptos" pitchFamily="34" charset="-122"/>
                <a:cs typeface="Aptos" pitchFamily="34" charset="-120"/>
              </a:rPr>
              <a:t>DGCA, Winter Schedule 2025 review, via Business Today, 9 Dec 2025</a:t>
            </a:r>
            <a:endParaRPr lang="en-US" sz="850" dirty="0"/>
          </a:p>
        </p:txBody>
      </p:sp>
      <p:sp>
        <p:nvSpPr>
          <p:cNvPr id="8" name="Shape 6"/>
          <p:cNvSpPr/>
          <p:nvPr/>
        </p:nvSpPr>
        <p:spPr>
          <a:xfrm>
            <a:off x="502920" y="1719072"/>
            <a:ext cx="11185855" cy="1700784"/>
          </a:xfrm>
          <a:prstGeom prst="rect">
            <a:avLst/>
          </a:prstGeom>
          <a:solidFill>
            <a:srgbClr val="F4F7FD"/>
          </a:solidFill>
          <a:ln/>
        </p:spPr>
        <p:txBody>
          <a:bodyPr/>
          <a:lstStyle/>
          <a:p>
            <a:endParaRPr lang="en-IN" dirty="0"/>
          </a:p>
        </p:txBody>
      </p:sp>
      <p:sp>
        <p:nvSpPr>
          <p:cNvPr id="9" name="Text 7"/>
          <p:cNvSpPr/>
          <p:nvPr/>
        </p:nvSpPr>
        <p:spPr>
          <a:xfrm>
            <a:off x="777240" y="1901952"/>
            <a:ext cx="3246120" cy="201168"/>
          </a:xfrm>
          <a:prstGeom prst="rect">
            <a:avLst/>
          </a:prstGeom>
          <a:noFill/>
          <a:ln/>
        </p:spPr>
        <p:txBody>
          <a:bodyPr wrap="square" lIns="0" tIns="0" rIns="0" bIns="0" rtlCol="0" anchor="ctr"/>
          <a:lstStyle/>
          <a:p>
            <a:pPr marL="0" indent="0" algn="l">
              <a:buNone/>
            </a:pPr>
            <a:r>
              <a:rPr lang="en-US" sz="900" b="1" kern="0" spc="110" dirty="0">
                <a:solidFill>
                  <a:srgbClr val="0032A0"/>
                </a:solidFill>
                <a:latin typeface="Aptos" pitchFamily="34" charset="0"/>
                <a:ea typeface="Aptos" pitchFamily="34" charset="-122"/>
                <a:cs typeface="Aptos" pitchFamily="34" charset="-120"/>
              </a:rPr>
              <a:t>SCHEDULE GROWTH</a:t>
            </a:r>
            <a:endParaRPr lang="en-US" sz="900" dirty="0"/>
          </a:p>
        </p:txBody>
      </p:sp>
      <p:sp>
        <p:nvSpPr>
          <p:cNvPr id="10" name="Text 8"/>
          <p:cNvSpPr/>
          <p:nvPr/>
        </p:nvSpPr>
        <p:spPr>
          <a:xfrm>
            <a:off x="777240" y="2121408"/>
            <a:ext cx="3246120" cy="603504"/>
          </a:xfrm>
          <a:prstGeom prst="rect">
            <a:avLst/>
          </a:prstGeom>
          <a:noFill/>
          <a:ln/>
        </p:spPr>
        <p:txBody>
          <a:bodyPr wrap="square" lIns="0" tIns="0" rIns="0" bIns="0" rtlCol="0" anchor="ctr"/>
          <a:lstStyle/>
          <a:p>
            <a:pPr marL="0" indent="0">
              <a:buNone/>
            </a:pPr>
            <a:r>
              <a:rPr lang="en-US" sz="4000" b="1" dirty="0">
                <a:solidFill>
                  <a:srgbClr val="0032A0"/>
                </a:solidFill>
                <a:latin typeface="Aptos Display" pitchFamily="34" charset="0"/>
                <a:ea typeface="Aptos Display" pitchFamily="34" charset="-122"/>
                <a:cs typeface="Aptos Display" pitchFamily="34" charset="-120"/>
              </a:rPr>
              <a:t>+9.66%</a:t>
            </a:r>
            <a:endParaRPr lang="en-US" sz="4000" dirty="0"/>
          </a:p>
        </p:txBody>
      </p:sp>
      <p:sp>
        <p:nvSpPr>
          <p:cNvPr id="11" name="Text 9"/>
          <p:cNvSpPr/>
          <p:nvPr/>
        </p:nvSpPr>
        <p:spPr>
          <a:xfrm>
            <a:off x="777240" y="2724912"/>
            <a:ext cx="3246120" cy="274320"/>
          </a:xfrm>
          <a:prstGeom prst="rect">
            <a:avLst/>
          </a:prstGeom>
          <a:noFill/>
          <a:ln/>
        </p:spPr>
        <p:txBody>
          <a:bodyPr wrap="square" lIns="0" tIns="0" rIns="0" bIns="0" rtlCol="0" anchor="t"/>
          <a:lstStyle/>
          <a:p>
            <a:pPr marL="0" indent="0">
              <a:buNone/>
            </a:pPr>
            <a:r>
              <a:rPr lang="en-US" sz="900" dirty="0">
                <a:solidFill>
                  <a:srgbClr val="46577A"/>
                </a:solidFill>
                <a:latin typeface="Aptos" pitchFamily="34" charset="0"/>
                <a:ea typeface="Aptos" pitchFamily="34" charset="-122"/>
                <a:cs typeface="Aptos" pitchFamily="34" charset="-120"/>
              </a:rPr>
              <a:t>scheduled departures, Winter 2025 vs Winter 2024</a:t>
            </a:r>
            <a:endParaRPr lang="en-US" sz="900" dirty="0"/>
          </a:p>
        </p:txBody>
      </p:sp>
      <p:sp>
        <p:nvSpPr>
          <p:cNvPr id="12" name="Text 10"/>
          <p:cNvSpPr/>
          <p:nvPr/>
        </p:nvSpPr>
        <p:spPr>
          <a:xfrm>
            <a:off x="777240" y="3017520"/>
            <a:ext cx="3246120" cy="219456"/>
          </a:xfrm>
          <a:prstGeom prst="rect">
            <a:avLst/>
          </a:prstGeom>
          <a:noFill/>
          <a:ln/>
        </p:spPr>
        <p:txBody>
          <a:bodyPr wrap="square" lIns="0" tIns="0" rIns="0" bIns="0" rtlCol="0" anchor="t"/>
          <a:lstStyle/>
          <a:p>
            <a:pPr marL="0" indent="0">
              <a:buNone/>
            </a:pPr>
            <a:r>
              <a:rPr lang="en-US" sz="900" b="1" dirty="0">
                <a:solidFill>
                  <a:srgbClr val="46577A"/>
                </a:solidFill>
                <a:latin typeface="Aptos" pitchFamily="34" charset="0"/>
                <a:ea typeface="Aptos" pitchFamily="34" charset="-122"/>
                <a:cs typeface="Aptos" pitchFamily="34" charset="-120"/>
              </a:rPr>
              <a:t>+6.05% vs Summer Schedule 2025</a:t>
            </a:r>
            <a:endParaRPr lang="en-US" sz="900" dirty="0"/>
          </a:p>
        </p:txBody>
      </p:sp>
      <p:sp>
        <p:nvSpPr>
          <p:cNvPr id="13" name="Shape 11"/>
          <p:cNvSpPr/>
          <p:nvPr/>
        </p:nvSpPr>
        <p:spPr>
          <a:xfrm>
            <a:off x="3697834" y="1875635"/>
            <a:ext cx="5486" cy="1335024"/>
          </a:xfrm>
          <a:prstGeom prst="rect">
            <a:avLst/>
          </a:prstGeom>
          <a:solidFill>
            <a:srgbClr val="C9D8F2"/>
          </a:solidFill>
          <a:ln/>
        </p:spPr>
      </p:sp>
      <p:sp>
        <p:nvSpPr>
          <p:cNvPr id="14" name="Text 12"/>
          <p:cNvSpPr/>
          <p:nvPr/>
        </p:nvSpPr>
        <p:spPr>
          <a:xfrm>
            <a:off x="3831336" y="1884680"/>
            <a:ext cx="4846320" cy="201168"/>
          </a:xfrm>
          <a:prstGeom prst="rect">
            <a:avLst/>
          </a:prstGeom>
          <a:noFill/>
          <a:ln/>
        </p:spPr>
        <p:txBody>
          <a:bodyPr wrap="square" lIns="0" tIns="0" rIns="0" bIns="0" rtlCol="0" anchor="ctr"/>
          <a:lstStyle/>
          <a:p>
            <a:pPr marL="0" indent="0" algn="l">
              <a:buNone/>
            </a:pPr>
            <a:r>
              <a:rPr lang="en-US" sz="900" b="1" kern="0" spc="110" dirty="0">
                <a:solidFill>
                  <a:srgbClr val="C43F2E"/>
                </a:solidFill>
                <a:latin typeface="Aptos" pitchFamily="34" charset="0"/>
                <a:ea typeface="Aptos" pitchFamily="34" charset="-122"/>
                <a:cs typeface="Aptos" pitchFamily="34" charset="-120"/>
              </a:rPr>
              <a:t>APPROVED CAPACITY  vs  DEMONSTRATED OPERATING CAPACITY</a:t>
            </a:r>
            <a:endParaRPr lang="en-US" sz="900" dirty="0"/>
          </a:p>
        </p:txBody>
      </p:sp>
      <p:sp>
        <p:nvSpPr>
          <p:cNvPr id="15" name="Text 13"/>
          <p:cNvSpPr/>
          <p:nvPr/>
        </p:nvSpPr>
        <p:spPr>
          <a:xfrm>
            <a:off x="4416552" y="2139696"/>
            <a:ext cx="1417320" cy="566928"/>
          </a:xfrm>
          <a:prstGeom prst="rect">
            <a:avLst/>
          </a:prstGeom>
          <a:noFill/>
          <a:ln/>
        </p:spPr>
        <p:txBody>
          <a:bodyPr wrap="square" lIns="0" tIns="0" rIns="0" bIns="0" rtlCol="0" anchor="ctr"/>
          <a:lstStyle/>
          <a:p>
            <a:pPr marL="0" indent="0">
              <a:buNone/>
            </a:pPr>
            <a:r>
              <a:rPr lang="en-US" sz="3400" b="1" dirty="0">
                <a:solidFill>
                  <a:srgbClr val="041E47"/>
                </a:solidFill>
                <a:latin typeface="Aptos Display" pitchFamily="34" charset="0"/>
                <a:ea typeface="Aptos Display" pitchFamily="34" charset="-122"/>
                <a:cs typeface="Aptos Display" pitchFamily="34" charset="-120"/>
              </a:rPr>
              <a:t>403</a:t>
            </a:r>
            <a:endParaRPr lang="en-US" sz="3400" dirty="0"/>
          </a:p>
        </p:txBody>
      </p:sp>
      <p:sp>
        <p:nvSpPr>
          <p:cNvPr id="16" name="Text 14"/>
          <p:cNvSpPr/>
          <p:nvPr/>
        </p:nvSpPr>
        <p:spPr>
          <a:xfrm>
            <a:off x="4416552" y="2706624"/>
            <a:ext cx="1600200" cy="384048"/>
          </a:xfrm>
          <a:prstGeom prst="rect">
            <a:avLst/>
          </a:prstGeom>
          <a:noFill/>
          <a:ln/>
        </p:spPr>
        <p:txBody>
          <a:bodyPr wrap="square" lIns="0" tIns="0" rIns="0" bIns="0" rtlCol="0" anchor="t"/>
          <a:lstStyle/>
          <a:p>
            <a:pPr marL="0" indent="0">
              <a:lnSpc>
                <a:spcPct val="105000"/>
              </a:lnSpc>
              <a:buNone/>
            </a:pPr>
            <a:r>
              <a:rPr lang="en-US" sz="850" dirty="0">
                <a:solidFill>
                  <a:srgbClr val="46577A"/>
                </a:solidFill>
                <a:latin typeface="Aptos" pitchFamily="34" charset="0"/>
                <a:ea typeface="Aptos" pitchFamily="34" charset="-122"/>
                <a:cs typeface="Aptos" pitchFamily="34" charset="-120"/>
              </a:rPr>
              <a:t>aircraft approved</a:t>
            </a:r>
            <a:endParaRPr lang="en-US" sz="850" dirty="0"/>
          </a:p>
        </p:txBody>
      </p:sp>
      <p:sp>
        <p:nvSpPr>
          <p:cNvPr id="17" name="Shape 15"/>
          <p:cNvSpPr/>
          <p:nvPr/>
        </p:nvSpPr>
        <p:spPr>
          <a:xfrm rot="5400000">
            <a:off x="5952744" y="2340864"/>
            <a:ext cx="201168" cy="182880"/>
          </a:xfrm>
          <a:prstGeom prst="triangle">
            <a:avLst/>
          </a:prstGeom>
          <a:solidFill>
            <a:srgbClr val="6B7280"/>
          </a:solidFill>
          <a:ln/>
        </p:spPr>
      </p:sp>
      <p:sp>
        <p:nvSpPr>
          <p:cNvPr id="18" name="Text 16"/>
          <p:cNvSpPr/>
          <p:nvPr/>
        </p:nvSpPr>
        <p:spPr>
          <a:xfrm>
            <a:off x="6208776" y="2157984"/>
            <a:ext cx="2331720" cy="530352"/>
          </a:xfrm>
          <a:prstGeom prst="rect">
            <a:avLst/>
          </a:prstGeom>
          <a:noFill/>
          <a:ln/>
        </p:spPr>
        <p:txBody>
          <a:bodyPr wrap="none" lIns="0" tIns="0" rIns="0" bIns="0" rtlCol="0" anchor="ctr"/>
          <a:lstStyle/>
          <a:p>
            <a:pPr marL="0" indent="0">
              <a:buNone/>
            </a:pPr>
            <a:r>
              <a:rPr lang="en-US" sz="2400" b="1" dirty="0">
                <a:solidFill>
                  <a:srgbClr val="C43F2E"/>
                </a:solidFill>
                <a:latin typeface="Aptos Display" pitchFamily="34" charset="0"/>
                <a:ea typeface="Aptos Display" pitchFamily="34" charset="-122"/>
                <a:cs typeface="Aptos Display" pitchFamily="34" charset="-120"/>
              </a:rPr>
              <a:t>339 -&gt; 344</a:t>
            </a:r>
            <a:endParaRPr lang="en-US" sz="2400" dirty="0"/>
          </a:p>
        </p:txBody>
      </p:sp>
      <p:sp>
        <p:nvSpPr>
          <p:cNvPr id="19" name="Text 17"/>
          <p:cNvSpPr/>
          <p:nvPr/>
        </p:nvSpPr>
        <p:spPr>
          <a:xfrm>
            <a:off x="6208776" y="2724912"/>
            <a:ext cx="2331720" cy="365760"/>
          </a:xfrm>
          <a:prstGeom prst="rect">
            <a:avLst/>
          </a:prstGeom>
          <a:noFill/>
          <a:ln/>
        </p:spPr>
        <p:txBody>
          <a:bodyPr wrap="square" lIns="0" tIns="0" rIns="0" bIns="0" rtlCol="0" anchor="t"/>
          <a:lstStyle/>
          <a:p>
            <a:pPr marL="0" indent="0">
              <a:lnSpc>
                <a:spcPct val="105000"/>
              </a:lnSpc>
              <a:buNone/>
            </a:pPr>
            <a:r>
              <a:rPr lang="en-US" sz="850" dirty="0">
                <a:solidFill>
                  <a:srgbClr val="46577A"/>
                </a:solidFill>
                <a:latin typeface="Aptos" pitchFamily="34" charset="0"/>
                <a:ea typeface="Aptos" pitchFamily="34" charset="-122"/>
                <a:cs typeface="Aptos" pitchFamily="34" charset="-120"/>
              </a:rPr>
              <a:t>aircraft actually operated, Oct -&gt; Nov 2025</a:t>
            </a:r>
            <a:endParaRPr lang="en-US" sz="850" dirty="0"/>
          </a:p>
        </p:txBody>
      </p:sp>
      <p:sp>
        <p:nvSpPr>
          <p:cNvPr id="20" name="Shape 18"/>
          <p:cNvSpPr/>
          <p:nvPr/>
        </p:nvSpPr>
        <p:spPr>
          <a:xfrm>
            <a:off x="8280807" y="1884172"/>
            <a:ext cx="5486" cy="1335024"/>
          </a:xfrm>
          <a:prstGeom prst="rect">
            <a:avLst/>
          </a:prstGeom>
          <a:solidFill>
            <a:srgbClr val="C9D8F2"/>
          </a:solidFill>
          <a:ln/>
        </p:spPr>
      </p:sp>
      <p:sp>
        <p:nvSpPr>
          <p:cNvPr id="21" name="Text 19"/>
          <p:cNvSpPr/>
          <p:nvPr/>
        </p:nvSpPr>
        <p:spPr>
          <a:xfrm>
            <a:off x="9128912" y="1901952"/>
            <a:ext cx="3029407" cy="201168"/>
          </a:xfrm>
          <a:prstGeom prst="rect">
            <a:avLst/>
          </a:prstGeom>
          <a:noFill/>
          <a:ln/>
        </p:spPr>
        <p:txBody>
          <a:bodyPr wrap="square" lIns="0" tIns="0" rIns="0" bIns="0" rtlCol="0" anchor="ctr"/>
          <a:lstStyle/>
          <a:p>
            <a:pPr marL="0" indent="0" algn="l">
              <a:buNone/>
            </a:pPr>
            <a:r>
              <a:rPr lang="en-US" sz="900" b="1" kern="0" spc="110" dirty="0">
                <a:solidFill>
                  <a:srgbClr val="46577A"/>
                </a:solidFill>
                <a:latin typeface="Aptos" pitchFamily="34" charset="0"/>
                <a:ea typeface="Aptos" pitchFamily="34" charset="-122"/>
                <a:cs typeface="Aptos" pitchFamily="34" charset="-120"/>
              </a:rPr>
              <a:t>REGULATOR FINDING</a:t>
            </a:r>
            <a:endParaRPr lang="en-US" sz="900" dirty="0"/>
          </a:p>
        </p:txBody>
      </p:sp>
      <p:sp>
        <p:nvSpPr>
          <p:cNvPr id="22" name="Text 20"/>
          <p:cNvSpPr/>
          <p:nvPr/>
        </p:nvSpPr>
        <p:spPr>
          <a:xfrm>
            <a:off x="8385048" y="2139696"/>
            <a:ext cx="3029407" cy="786384"/>
          </a:xfrm>
          <a:prstGeom prst="rect">
            <a:avLst/>
          </a:prstGeom>
          <a:noFill/>
          <a:ln/>
        </p:spPr>
        <p:txBody>
          <a:bodyPr wrap="square" lIns="0" tIns="0" rIns="0" bIns="0" rtlCol="0" anchor="t"/>
          <a:lstStyle/>
          <a:p>
            <a:pPr marL="0" indent="0">
              <a:lnSpc>
                <a:spcPct val="112000"/>
              </a:lnSpc>
              <a:buNone/>
            </a:pPr>
            <a:r>
              <a:rPr lang="en-US" sz="1050" i="1" dirty="0">
                <a:solidFill>
                  <a:srgbClr val="041E47"/>
                </a:solidFill>
                <a:latin typeface="Aptos" pitchFamily="34" charset="0"/>
                <a:ea typeface="Aptos" pitchFamily="34" charset="-122"/>
                <a:cs typeface="Aptos" pitchFamily="34" charset="-120"/>
              </a:rPr>
              <a:t>"IndiGo increased scheduled departures without demonstrating the ability to operate them efficiently."</a:t>
            </a:r>
            <a:endParaRPr lang="en-US" sz="1050" dirty="0"/>
          </a:p>
        </p:txBody>
      </p:sp>
      <p:sp>
        <p:nvSpPr>
          <p:cNvPr id="23" name="Text 21"/>
          <p:cNvSpPr/>
          <p:nvPr/>
        </p:nvSpPr>
        <p:spPr>
          <a:xfrm>
            <a:off x="8385048" y="2962656"/>
            <a:ext cx="3029407" cy="219456"/>
          </a:xfrm>
          <a:prstGeom prst="rect">
            <a:avLst/>
          </a:prstGeom>
          <a:noFill/>
          <a:ln/>
        </p:spPr>
        <p:txBody>
          <a:bodyPr wrap="square" lIns="0" tIns="0" rIns="0" bIns="0" rtlCol="0" anchor="t"/>
          <a:lstStyle/>
          <a:p>
            <a:pPr marL="0" indent="0">
              <a:buNone/>
            </a:pPr>
            <a:r>
              <a:rPr lang="en-US" sz="850" dirty="0">
                <a:solidFill>
                  <a:srgbClr val="6B7280"/>
                </a:solidFill>
                <a:latin typeface="Aptos" pitchFamily="34" charset="0"/>
                <a:ea typeface="Aptos" pitchFamily="34" charset="-122"/>
                <a:cs typeface="Aptos" pitchFamily="34" charset="-120"/>
              </a:rPr>
              <a:t>- DGCA, Winter Schedule 2025 review</a:t>
            </a:r>
            <a:endParaRPr lang="en-US" sz="850" dirty="0"/>
          </a:p>
        </p:txBody>
      </p:sp>
      <p:sp>
        <p:nvSpPr>
          <p:cNvPr id="24" name="Shape 22"/>
          <p:cNvSpPr/>
          <p:nvPr/>
        </p:nvSpPr>
        <p:spPr>
          <a:xfrm>
            <a:off x="502920" y="3529584"/>
            <a:ext cx="11185855" cy="475488"/>
          </a:xfrm>
          <a:prstGeom prst="rect">
            <a:avLst/>
          </a:prstGeom>
          <a:solidFill>
            <a:srgbClr val="041E47"/>
          </a:solidFill>
          <a:ln/>
        </p:spPr>
      </p:sp>
      <p:sp>
        <p:nvSpPr>
          <p:cNvPr id="25" name="Text 23"/>
          <p:cNvSpPr/>
          <p:nvPr/>
        </p:nvSpPr>
        <p:spPr>
          <a:xfrm>
            <a:off x="722376" y="3529584"/>
            <a:ext cx="10746943" cy="475488"/>
          </a:xfrm>
          <a:prstGeom prst="rect">
            <a:avLst/>
          </a:prstGeom>
          <a:noFill/>
          <a:ln/>
        </p:spPr>
        <p:txBody>
          <a:bodyPr wrap="square" lIns="0" tIns="0" rIns="0" bIns="0" rtlCol="0" anchor="ctr"/>
          <a:lstStyle/>
          <a:p>
            <a:pPr marL="0" indent="0">
              <a:buNone/>
            </a:pPr>
            <a:r>
              <a:rPr lang="en-US" sz="1500" b="1" dirty="0">
                <a:solidFill>
                  <a:srgbClr val="FFFFFF"/>
                </a:solidFill>
                <a:latin typeface="Aptos Display" pitchFamily="34" charset="0"/>
                <a:ea typeface="Aptos Display" pitchFamily="34" charset="-122"/>
                <a:cs typeface="Aptos Display" pitchFamily="34" charset="-120"/>
              </a:rPr>
              <a:t>Scale approved is not the same as capacity reliably executed.</a:t>
            </a:r>
            <a:endParaRPr lang="en-US" sz="1500" dirty="0"/>
          </a:p>
        </p:txBody>
      </p:sp>
      <p:sp>
        <p:nvSpPr>
          <p:cNvPr id="26" name="Shape 24"/>
          <p:cNvSpPr/>
          <p:nvPr/>
        </p:nvSpPr>
        <p:spPr>
          <a:xfrm>
            <a:off x="502920" y="4169664"/>
            <a:ext cx="3246120" cy="1188720"/>
          </a:xfrm>
          <a:prstGeom prst="rect">
            <a:avLst/>
          </a:prstGeom>
          <a:solidFill>
            <a:srgbClr val="DCE7FA"/>
          </a:solidFill>
          <a:ln/>
        </p:spPr>
      </p:sp>
      <p:sp>
        <p:nvSpPr>
          <p:cNvPr id="27" name="Text 25"/>
          <p:cNvSpPr/>
          <p:nvPr/>
        </p:nvSpPr>
        <p:spPr>
          <a:xfrm>
            <a:off x="649224" y="4279392"/>
            <a:ext cx="2953512" cy="274320"/>
          </a:xfrm>
          <a:prstGeom prst="rect">
            <a:avLst/>
          </a:prstGeom>
          <a:noFill/>
          <a:ln/>
        </p:spPr>
        <p:txBody>
          <a:bodyPr wrap="square" lIns="0" tIns="0" rIns="0" bIns="0" rtlCol="0" anchor="ctr"/>
          <a:lstStyle/>
          <a:p>
            <a:pPr marL="0" indent="0">
              <a:buNone/>
            </a:pPr>
            <a:r>
              <a:rPr lang="en-US" sz="950" b="1" dirty="0">
                <a:solidFill>
                  <a:srgbClr val="041E47"/>
                </a:solidFill>
                <a:latin typeface="Aptos" pitchFamily="34" charset="0"/>
                <a:ea typeface="Aptos" pitchFamily="34" charset="-122"/>
                <a:cs typeface="Aptos" pitchFamily="34" charset="-120"/>
              </a:rPr>
              <a:t>EFFICIENCY MOAT</a:t>
            </a:r>
            <a:endParaRPr lang="en-US" sz="950" dirty="0"/>
          </a:p>
        </p:txBody>
      </p:sp>
      <p:sp>
        <p:nvSpPr>
          <p:cNvPr id="28" name="Text 26"/>
          <p:cNvSpPr/>
          <p:nvPr/>
        </p:nvSpPr>
        <p:spPr>
          <a:xfrm>
            <a:off x="649224" y="4572000"/>
            <a:ext cx="2953512" cy="676656"/>
          </a:xfrm>
          <a:prstGeom prst="rect">
            <a:avLst/>
          </a:prstGeom>
          <a:noFill/>
          <a:ln/>
        </p:spPr>
        <p:txBody>
          <a:bodyPr wrap="square" lIns="0" tIns="0" rIns="0" bIns="0" rtlCol="0" anchor="t"/>
          <a:lstStyle/>
          <a:p>
            <a:pPr marL="0" indent="0">
              <a:lnSpc>
                <a:spcPct val="128000"/>
              </a:lnSpc>
              <a:buNone/>
            </a:pPr>
            <a:r>
              <a:rPr lang="en-US" sz="950" dirty="0">
                <a:solidFill>
                  <a:srgbClr val="041E47"/>
                </a:solidFill>
                <a:latin typeface="Aptos" pitchFamily="34" charset="0"/>
                <a:ea typeface="Aptos" pitchFamily="34" charset="-122"/>
                <a:cs typeface="Aptos" pitchFamily="34" charset="-120"/>
              </a:rPr>
              <a:t>-  Standardisation</a:t>
            </a:r>
            <a:endParaRPr lang="en-US" sz="950" dirty="0"/>
          </a:p>
          <a:p>
            <a:pPr marL="0" indent="0">
              <a:lnSpc>
                <a:spcPct val="128000"/>
              </a:lnSpc>
              <a:buNone/>
            </a:pPr>
            <a:r>
              <a:rPr lang="en-US" sz="950" dirty="0">
                <a:solidFill>
                  <a:srgbClr val="041E47"/>
                </a:solidFill>
                <a:latin typeface="Aptos" pitchFamily="34" charset="0"/>
                <a:ea typeface="Aptos" pitchFamily="34" charset="-122"/>
                <a:cs typeface="Aptos" pitchFamily="34" charset="-120"/>
              </a:rPr>
              <a:t>-  Utilisation</a:t>
            </a:r>
            <a:endParaRPr lang="en-US" sz="950" dirty="0"/>
          </a:p>
          <a:p>
            <a:pPr marL="0" indent="0">
              <a:lnSpc>
                <a:spcPct val="128000"/>
              </a:lnSpc>
              <a:buNone/>
            </a:pPr>
            <a:r>
              <a:rPr lang="en-US" sz="950" dirty="0">
                <a:solidFill>
                  <a:srgbClr val="041E47"/>
                </a:solidFill>
                <a:latin typeface="Aptos" pitchFamily="34" charset="0"/>
                <a:ea typeface="Aptos" pitchFamily="34" charset="-122"/>
                <a:cs typeface="Aptos" pitchFamily="34" charset="-120"/>
              </a:rPr>
              <a:t>-  Tight scheduling</a:t>
            </a:r>
            <a:endParaRPr lang="en-US" sz="950" dirty="0"/>
          </a:p>
          <a:p>
            <a:pPr marL="0" indent="0">
              <a:lnSpc>
                <a:spcPct val="128000"/>
              </a:lnSpc>
              <a:buNone/>
            </a:pPr>
            <a:r>
              <a:rPr lang="en-US" sz="950" dirty="0">
                <a:solidFill>
                  <a:srgbClr val="041E47"/>
                </a:solidFill>
                <a:latin typeface="Aptos" pitchFamily="34" charset="0"/>
                <a:ea typeface="Aptos" pitchFamily="34" charset="-122"/>
                <a:cs typeface="Aptos" pitchFamily="34" charset="-120"/>
              </a:rPr>
              <a:t>-  Low complexity</a:t>
            </a:r>
            <a:endParaRPr lang="en-US" sz="950" dirty="0"/>
          </a:p>
        </p:txBody>
      </p:sp>
      <p:sp>
        <p:nvSpPr>
          <p:cNvPr id="29" name="Shape 27"/>
          <p:cNvSpPr/>
          <p:nvPr/>
        </p:nvSpPr>
        <p:spPr>
          <a:xfrm rot="5400000">
            <a:off x="3895344" y="4681728"/>
            <a:ext cx="164592" cy="164592"/>
          </a:xfrm>
          <a:prstGeom prst="triangle">
            <a:avLst/>
          </a:prstGeom>
          <a:solidFill>
            <a:srgbClr val="6B7280"/>
          </a:solidFill>
          <a:ln/>
        </p:spPr>
      </p:sp>
      <p:sp>
        <p:nvSpPr>
          <p:cNvPr id="30" name="Shape 28"/>
          <p:cNvSpPr/>
          <p:nvPr/>
        </p:nvSpPr>
        <p:spPr>
          <a:xfrm>
            <a:off x="4041648" y="4169664"/>
            <a:ext cx="3429000" cy="1188720"/>
          </a:xfrm>
          <a:prstGeom prst="rect">
            <a:avLst/>
          </a:prstGeom>
          <a:solidFill>
            <a:srgbClr val="C43F2E"/>
          </a:solidFill>
          <a:ln/>
        </p:spPr>
      </p:sp>
      <p:sp>
        <p:nvSpPr>
          <p:cNvPr id="31" name="Text 29"/>
          <p:cNvSpPr/>
          <p:nvPr/>
        </p:nvSpPr>
        <p:spPr>
          <a:xfrm>
            <a:off x="4187952" y="4279392"/>
            <a:ext cx="3136392" cy="274320"/>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OPERATING CAPABILITY GAP</a:t>
            </a:r>
            <a:endParaRPr lang="en-US" sz="950" dirty="0"/>
          </a:p>
        </p:txBody>
      </p:sp>
      <p:sp>
        <p:nvSpPr>
          <p:cNvPr id="32" name="Text 30"/>
          <p:cNvSpPr/>
          <p:nvPr/>
        </p:nvSpPr>
        <p:spPr>
          <a:xfrm>
            <a:off x="4187952" y="4572000"/>
            <a:ext cx="3136392" cy="676656"/>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ptos" pitchFamily="34" charset="0"/>
                <a:ea typeface="Aptos" pitchFamily="34" charset="-122"/>
                <a:cs typeface="Aptos" pitchFamily="34" charset="-120"/>
              </a:rPr>
              <a:t>-  Crew capacity</a:t>
            </a:r>
            <a:endParaRPr lang="en-US" sz="950" dirty="0"/>
          </a:p>
          <a:p>
            <a:pPr marL="0" indent="0">
              <a:lnSpc>
                <a:spcPct val="128000"/>
              </a:lnSpc>
              <a:buNone/>
            </a:pPr>
            <a:r>
              <a:rPr lang="en-US" sz="950" dirty="0">
                <a:solidFill>
                  <a:srgbClr val="FFFFFF"/>
                </a:solidFill>
                <a:latin typeface="Aptos" pitchFamily="34" charset="0"/>
                <a:ea typeface="Aptos" pitchFamily="34" charset="-122"/>
                <a:cs typeface="Aptos" pitchFamily="34" charset="-120"/>
              </a:rPr>
              <a:t>-  Regulatory preparedness</a:t>
            </a:r>
            <a:endParaRPr lang="en-US" sz="950" dirty="0"/>
          </a:p>
          <a:p>
            <a:pPr marL="0" indent="0">
              <a:lnSpc>
                <a:spcPct val="128000"/>
              </a:lnSpc>
              <a:buNone/>
            </a:pPr>
            <a:r>
              <a:rPr lang="en-US" sz="950" dirty="0">
                <a:solidFill>
                  <a:srgbClr val="FFFFFF"/>
                </a:solidFill>
                <a:latin typeface="Aptos" pitchFamily="34" charset="0"/>
                <a:ea typeface="Aptos" pitchFamily="34" charset="-122"/>
                <a:cs typeface="Aptos" pitchFamily="34" charset="-120"/>
              </a:rPr>
              <a:t>-  Schedule execution</a:t>
            </a:r>
            <a:endParaRPr lang="en-US" sz="950" dirty="0"/>
          </a:p>
          <a:p>
            <a:pPr marL="0" indent="0">
              <a:lnSpc>
                <a:spcPct val="128000"/>
              </a:lnSpc>
              <a:buNone/>
            </a:pPr>
            <a:r>
              <a:rPr lang="en-US" sz="950" dirty="0">
                <a:solidFill>
                  <a:srgbClr val="FFFFFF"/>
                </a:solidFill>
                <a:latin typeface="Aptos" pitchFamily="34" charset="0"/>
                <a:ea typeface="Aptos" pitchFamily="34" charset="-122"/>
                <a:cs typeface="Aptos" pitchFamily="34" charset="-120"/>
              </a:rPr>
              <a:t>-  Operational control</a:t>
            </a:r>
            <a:endParaRPr lang="en-US" sz="950" dirty="0"/>
          </a:p>
        </p:txBody>
      </p:sp>
      <p:sp>
        <p:nvSpPr>
          <p:cNvPr id="33" name="Shape 31"/>
          <p:cNvSpPr/>
          <p:nvPr/>
        </p:nvSpPr>
        <p:spPr>
          <a:xfrm rot="5400000">
            <a:off x="7616952" y="4681728"/>
            <a:ext cx="164592" cy="164592"/>
          </a:xfrm>
          <a:prstGeom prst="triangle">
            <a:avLst/>
          </a:prstGeom>
          <a:solidFill>
            <a:srgbClr val="6B7280"/>
          </a:solidFill>
          <a:ln/>
        </p:spPr>
      </p:sp>
      <p:sp>
        <p:nvSpPr>
          <p:cNvPr id="34" name="Text 32"/>
          <p:cNvSpPr/>
          <p:nvPr/>
        </p:nvSpPr>
        <p:spPr>
          <a:xfrm>
            <a:off x="7040880" y="3986784"/>
            <a:ext cx="1325880" cy="164592"/>
          </a:xfrm>
          <a:prstGeom prst="rect">
            <a:avLst/>
          </a:prstGeom>
          <a:noFill/>
          <a:ln/>
        </p:spPr>
        <p:txBody>
          <a:bodyPr wrap="none" lIns="0" tIns="0" rIns="0" bIns="0" rtlCol="0" anchor="ctr"/>
          <a:lstStyle/>
          <a:p>
            <a:pPr marL="0" indent="0" algn="ctr">
              <a:buNone/>
            </a:pPr>
            <a:r>
              <a:rPr lang="en-US" sz="650" b="1" dirty="0">
                <a:solidFill>
                  <a:srgbClr val="6B7280"/>
                </a:solidFill>
                <a:latin typeface="Aptos" pitchFamily="34" charset="0"/>
                <a:ea typeface="Aptos" pitchFamily="34" charset="-122"/>
                <a:cs typeface="Aptos" pitchFamily="34" charset="-120"/>
              </a:rPr>
              <a:t>INFERENCE / SYNTHESIS</a:t>
            </a:r>
            <a:endParaRPr lang="en-US" sz="650" dirty="0"/>
          </a:p>
        </p:txBody>
      </p:sp>
      <p:sp>
        <p:nvSpPr>
          <p:cNvPr id="35" name="Shape 33"/>
          <p:cNvSpPr/>
          <p:nvPr/>
        </p:nvSpPr>
        <p:spPr>
          <a:xfrm>
            <a:off x="7763256" y="4169664"/>
            <a:ext cx="3925519" cy="1188720"/>
          </a:xfrm>
          <a:prstGeom prst="rect">
            <a:avLst/>
          </a:prstGeom>
          <a:solidFill>
            <a:srgbClr val="041E47"/>
          </a:solidFill>
          <a:ln/>
        </p:spPr>
      </p:sp>
      <p:sp>
        <p:nvSpPr>
          <p:cNvPr id="36" name="Text 34"/>
          <p:cNvSpPr/>
          <p:nvPr/>
        </p:nvSpPr>
        <p:spPr>
          <a:xfrm>
            <a:off x="7909560" y="4279392"/>
            <a:ext cx="3632911" cy="274320"/>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NEXT-GENERATION ADVANTAGE</a:t>
            </a:r>
            <a:endParaRPr lang="en-US" sz="950" dirty="0"/>
          </a:p>
        </p:txBody>
      </p:sp>
      <p:sp>
        <p:nvSpPr>
          <p:cNvPr id="37" name="Text 35"/>
          <p:cNvSpPr/>
          <p:nvPr/>
        </p:nvSpPr>
        <p:spPr>
          <a:xfrm>
            <a:off x="7909560" y="4572000"/>
            <a:ext cx="3632911" cy="676656"/>
          </a:xfrm>
          <a:prstGeom prst="rect">
            <a:avLst/>
          </a:prstGeom>
          <a:noFill/>
          <a:ln/>
        </p:spPr>
        <p:txBody>
          <a:bodyPr wrap="square" lIns="0" tIns="0" rIns="0" bIns="0" rtlCol="0" anchor="t"/>
          <a:lstStyle/>
          <a:p>
            <a:pPr marL="0" indent="0">
              <a:buNone/>
            </a:pPr>
            <a:r>
              <a:rPr lang="en-US" sz="1500" b="1" dirty="0">
                <a:solidFill>
                  <a:srgbClr val="D98A00"/>
                </a:solidFill>
                <a:latin typeface="Aptos Display" pitchFamily="34" charset="0"/>
                <a:ea typeface="Aptos Display" pitchFamily="34" charset="-122"/>
                <a:cs typeface="Aptos Display" pitchFamily="34" charset="-120"/>
              </a:rPr>
              <a:t>Efficiency + Resilience</a:t>
            </a:r>
            <a:endParaRPr lang="en-US" sz="1500" dirty="0"/>
          </a:p>
        </p:txBody>
      </p:sp>
      <p:sp>
        <p:nvSpPr>
          <p:cNvPr id="38" name="Text 36"/>
          <p:cNvSpPr/>
          <p:nvPr/>
        </p:nvSpPr>
        <p:spPr>
          <a:xfrm>
            <a:off x="540038" y="5431536"/>
            <a:ext cx="11185855" cy="219456"/>
          </a:xfrm>
          <a:prstGeom prst="rect">
            <a:avLst/>
          </a:prstGeom>
          <a:noFill/>
          <a:ln/>
        </p:spPr>
        <p:txBody>
          <a:bodyPr wrap="square" lIns="0" tIns="0" rIns="0" bIns="0" rtlCol="0" anchor="ctr"/>
          <a:lstStyle/>
          <a:p>
            <a:r>
              <a:rPr lang="en-IN" sz="950" dirty="0">
                <a:solidFill>
                  <a:srgbClr val="6B7280"/>
                </a:solidFill>
                <a:latin typeface="Aptos" pitchFamily="34" charset="0"/>
              </a:rPr>
              <a:t>Interpretation: resilience becomes part of the moat as operating complexity rises.</a:t>
            </a:r>
            <a:endParaRPr lang="en-US" sz="950" dirty="0">
              <a:solidFill>
                <a:srgbClr val="6B7280"/>
              </a:solidFill>
              <a:latin typeface="Aptos" pitchFamily="34" charset="0"/>
            </a:endParaRPr>
          </a:p>
        </p:txBody>
      </p:sp>
      <p:sp>
        <p:nvSpPr>
          <p:cNvPr id="39" name="Shape 37"/>
          <p:cNvSpPr/>
          <p:nvPr/>
        </p:nvSpPr>
        <p:spPr>
          <a:xfrm>
            <a:off x="502920" y="5687568"/>
            <a:ext cx="11185855" cy="420624"/>
          </a:xfrm>
          <a:prstGeom prst="rect">
            <a:avLst/>
          </a:prstGeom>
          <a:solidFill>
            <a:srgbClr val="FFFFFF"/>
          </a:solidFill>
          <a:ln w="9525">
            <a:solidFill>
              <a:srgbClr val="6B7280"/>
            </a:solidFill>
            <a:prstDash val="dash"/>
          </a:ln>
        </p:spPr>
      </p:sp>
      <p:sp>
        <p:nvSpPr>
          <p:cNvPr id="40" name="Shape 38"/>
          <p:cNvSpPr/>
          <p:nvPr/>
        </p:nvSpPr>
        <p:spPr>
          <a:xfrm>
            <a:off x="594360" y="5811012"/>
            <a:ext cx="1344168" cy="173736"/>
          </a:xfrm>
          <a:prstGeom prst="rect">
            <a:avLst/>
          </a:prstGeom>
          <a:solidFill>
            <a:srgbClr val="FFFFFF"/>
          </a:solidFill>
          <a:ln w="9525">
            <a:solidFill>
              <a:srgbClr val="6B7280"/>
            </a:solidFill>
            <a:prstDash val="dash"/>
          </a:ln>
        </p:spPr>
      </p:sp>
      <p:sp>
        <p:nvSpPr>
          <p:cNvPr id="41" name="Text 39"/>
          <p:cNvSpPr/>
          <p:nvPr/>
        </p:nvSpPr>
        <p:spPr>
          <a:xfrm>
            <a:off x="594360" y="5811012"/>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42" name="Text 40"/>
          <p:cNvSpPr/>
          <p:nvPr/>
        </p:nvSpPr>
        <p:spPr>
          <a:xfrm>
            <a:off x="2048256" y="5724144"/>
            <a:ext cx="9530791" cy="347472"/>
          </a:xfrm>
          <a:prstGeom prst="rect">
            <a:avLst/>
          </a:prstGeom>
          <a:noFill/>
          <a:ln/>
        </p:spPr>
        <p:txBody>
          <a:bodyPr wrap="square" lIns="0" tIns="0" rIns="0" bIns="0" rtlCol="0" anchor="ctr"/>
          <a:lstStyle/>
          <a:p>
            <a:r>
              <a:rPr lang="en-IN" sz="1000" b="1" dirty="0"/>
              <a:t>No pilot headcount, crew ratio or causal disruption estimate is established.</a:t>
            </a:r>
            <a:endParaRPr lang="en-US" sz="950" b="1" dirty="0"/>
          </a:p>
        </p:txBody>
      </p:sp>
      <p:sp>
        <p:nvSpPr>
          <p:cNvPr id="43" name="Shape 41"/>
          <p:cNvSpPr/>
          <p:nvPr/>
        </p:nvSpPr>
        <p:spPr>
          <a:xfrm>
            <a:off x="502920" y="6309360"/>
            <a:ext cx="11185855" cy="5486"/>
          </a:xfrm>
          <a:prstGeom prst="rect">
            <a:avLst/>
          </a:prstGeom>
          <a:solidFill>
            <a:srgbClr val="C9D8F2"/>
          </a:solidFill>
          <a:ln/>
        </p:spPr>
      </p:sp>
      <p:sp>
        <p:nvSpPr>
          <p:cNvPr id="44" name="Text 42"/>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45" name="Text 43"/>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DGCA (Winter Schedule 2025 review) - Business Today, 9 Dec 2025 - RQ-OPS-002, RQ-OPS-004 - External Lens: The Ken (Dec 2025)</a:t>
            </a:r>
            <a:endParaRPr lang="en-US" sz="800" dirty="0"/>
          </a:p>
        </p:txBody>
      </p:sp>
      <p:sp>
        <p:nvSpPr>
          <p:cNvPr id="46" name="Shape 44"/>
          <p:cNvSpPr/>
          <p:nvPr/>
        </p:nvSpPr>
        <p:spPr>
          <a:xfrm>
            <a:off x="11484864" y="6364224"/>
            <a:ext cx="201168" cy="201168"/>
          </a:xfrm>
          <a:prstGeom prst="rect">
            <a:avLst/>
          </a:prstGeom>
          <a:solidFill>
            <a:srgbClr val="0032A0"/>
          </a:solidFill>
          <a:ln/>
        </p:spPr>
      </p:sp>
      <p:sp>
        <p:nvSpPr>
          <p:cNvPr id="47" name="Text 45"/>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05 - EXTERNAL LENS</a:t>
            </a:r>
            <a:endParaRPr lang="en-US" sz="1000" dirty="0"/>
          </a:p>
        </p:txBody>
      </p:sp>
      <p:sp>
        <p:nvSpPr>
          <p:cNvPr id="3" name="Shape 1"/>
          <p:cNvSpPr/>
          <p:nvPr/>
        </p:nvSpPr>
        <p:spPr>
          <a:xfrm>
            <a:off x="502920" y="571500"/>
            <a:ext cx="1463040" cy="45720"/>
          </a:xfrm>
          <a:prstGeom prst="rect">
            <a:avLst/>
          </a:prstGeom>
          <a:solidFill>
            <a:srgbClr val="0032A0"/>
          </a:solidFill>
          <a:ln/>
        </p:spPr>
      </p:sp>
      <p:sp>
        <p:nvSpPr>
          <p:cNvPr id="4" name="Text 2"/>
          <p:cNvSpPr/>
          <p:nvPr/>
        </p:nvSpPr>
        <p:spPr>
          <a:xfrm>
            <a:off x="502920" y="692658"/>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Why IndiGo can annoy flyers without destroying the investment thesis</a:t>
            </a:r>
            <a:endParaRPr lang="en-US" sz="2250" dirty="0"/>
          </a:p>
        </p:txBody>
      </p:sp>
      <p:sp>
        <p:nvSpPr>
          <p:cNvPr id="5" name="Shape 3"/>
          <p:cNvSpPr/>
          <p:nvPr/>
        </p:nvSpPr>
        <p:spPr>
          <a:xfrm>
            <a:off x="502920" y="1371600"/>
            <a:ext cx="1572768" cy="201168"/>
          </a:xfrm>
          <a:prstGeom prst="roundRect">
            <a:avLst>
              <a:gd name="adj" fmla="val 50000"/>
            </a:avLst>
          </a:prstGeom>
          <a:solidFill>
            <a:srgbClr val="D98A00"/>
          </a:solidFill>
          <a:ln/>
        </p:spPr>
      </p:sp>
      <p:sp>
        <p:nvSpPr>
          <p:cNvPr id="6" name="Text 4"/>
          <p:cNvSpPr/>
          <p:nvPr/>
        </p:nvSpPr>
        <p:spPr>
          <a:xfrm>
            <a:off x="502920" y="1371600"/>
            <a:ext cx="1572768"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Aptos" pitchFamily="34" charset="0"/>
                <a:ea typeface="Aptos" pitchFamily="34" charset="-122"/>
                <a:cs typeface="Aptos" pitchFamily="34" charset="-120"/>
              </a:rPr>
              <a:t>EXTERNAL LENS  |  THE KEN</a:t>
            </a:r>
            <a:endParaRPr lang="en-US" sz="750" dirty="0"/>
          </a:p>
        </p:txBody>
      </p:sp>
      <p:sp>
        <p:nvSpPr>
          <p:cNvPr id="7" name="Text 5"/>
          <p:cNvSpPr/>
          <p:nvPr/>
        </p:nvSpPr>
        <p:spPr>
          <a:xfrm>
            <a:off x="2185416" y="1376172"/>
            <a:ext cx="7680960" cy="192024"/>
          </a:xfrm>
          <a:prstGeom prst="rect">
            <a:avLst/>
          </a:prstGeom>
          <a:noFill/>
          <a:ln/>
        </p:spPr>
        <p:txBody>
          <a:bodyPr wrap="square" lIns="0" tIns="0" rIns="0" bIns="0" rtlCol="0" anchor="ctr"/>
          <a:lstStyle/>
          <a:p>
            <a:pPr marL="0" indent="0">
              <a:buNone/>
            </a:pPr>
            <a:r>
              <a:rPr lang="en-US" sz="850" i="1" dirty="0">
                <a:solidFill>
                  <a:srgbClr val="D98A00"/>
                </a:solidFill>
                <a:latin typeface="Aptos" pitchFamily="34" charset="0"/>
                <a:ea typeface="Aptos" pitchFamily="34" charset="-122"/>
                <a:cs typeface="Aptos" pitchFamily="34" charset="-120"/>
              </a:rPr>
              <a:t>"Why Indigo would annoy flyers and not investors" - The Ken, January 2026</a:t>
            </a:r>
            <a:endParaRPr lang="en-US" sz="850" dirty="0"/>
          </a:p>
        </p:txBody>
      </p:sp>
      <p:sp>
        <p:nvSpPr>
          <p:cNvPr id="8" name="Shape 6"/>
          <p:cNvSpPr/>
          <p:nvPr/>
        </p:nvSpPr>
        <p:spPr>
          <a:xfrm>
            <a:off x="502920" y="1938528"/>
            <a:ext cx="5413248" cy="365760"/>
          </a:xfrm>
          <a:prstGeom prst="rect">
            <a:avLst/>
          </a:prstGeom>
          <a:solidFill>
            <a:srgbClr val="C43F2E"/>
          </a:solidFill>
          <a:ln/>
        </p:spPr>
      </p:sp>
      <p:sp>
        <p:nvSpPr>
          <p:cNvPr id="9" name="Text 7"/>
          <p:cNvSpPr/>
          <p:nvPr/>
        </p:nvSpPr>
        <p:spPr>
          <a:xfrm>
            <a:off x="667512" y="1938528"/>
            <a:ext cx="5084064" cy="365760"/>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WHAT THE FLYER EXPERIENCES</a:t>
            </a:r>
            <a:endParaRPr lang="en-US" sz="950" dirty="0"/>
          </a:p>
        </p:txBody>
      </p:sp>
      <p:sp>
        <p:nvSpPr>
          <p:cNvPr id="10" name="Shape 8"/>
          <p:cNvSpPr/>
          <p:nvPr/>
        </p:nvSpPr>
        <p:spPr>
          <a:xfrm>
            <a:off x="502920" y="2304288"/>
            <a:ext cx="5413248" cy="2432304"/>
          </a:xfrm>
          <a:prstGeom prst="rect">
            <a:avLst/>
          </a:prstGeom>
          <a:solidFill>
            <a:srgbClr val="FFFFFF"/>
          </a:solidFill>
          <a:ln w="9525">
            <a:solidFill>
              <a:srgbClr val="C9D8F2"/>
            </a:solidFill>
            <a:prstDash val="solid"/>
          </a:ln>
        </p:spPr>
      </p:sp>
      <p:sp>
        <p:nvSpPr>
          <p:cNvPr id="11" name="Text 9"/>
          <p:cNvSpPr/>
          <p:nvPr/>
        </p:nvSpPr>
        <p:spPr>
          <a:xfrm>
            <a:off x="685800" y="2468880"/>
            <a:ext cx="1243584" cy="384048"/>
          </a:xfrm>
          <a:prstGeom prst="rect">
            <a:avLst/>
          </a:prstGeom>
          <a:noFill/>
          <a:ln/>
        </p:spPr>
        <p:txBody>
          <a:bodyPr wrap="square" lIns="0" tIns="0" rIns="0" bIns="0" rtlCol="0" anchor="ctr"/>
          <a:lstStyle/>
          <a:p>
            <a:pPr marL="0" indent="0">
              <a:buNone/>
            </a:pPr>
            <a:r>
              <a:rPr lang="en-US" sz="2000" b="1" dirty="0">
                <a:solidFill>
                  <a:srgbClr val="C43F2E"/>
                </a:solidFill>
                <a:latin typeface="Aptos Display" pitchFamily="34" charset="0"/>
                <a:ea typeface="Aptos Display" pitchFamily="34" charset="-122"/>
                <a:cs typeface="Aptos Display" pitchFamily="34" charset="-120"/>
              </a:rPr>
              <a:t>84.4%</a:t>
            </a:r>
            <a:endParaRPr lang="en-US" sz="2000" dirty="0"/>
          </a:p>
        </p:txBody>
      </p:sp>
      <p:sp>
        <p:nvSpPr>
          <p:cNvPr id="12" name="Text 10"/>
          <p:cNvSpPr/>
          <p:nvPr/>
        </p:nvSpPr>
        <p:spPr>
          <a:xfrm>
            <a:off x="2020824" y="2432304"/>
            <a:ext cx="3675888" cy="512064"/>
          </a:xfrm>
          <a:prstGeom prst="rect">
            <a:avLst/>
          </a:prstGeom>
          <a:noFill/>
          <a:ln/>
        </p:spPr>
        <p:txBody>
          <a:bodyPr wrap="square" lIns="0" tIns="0" rIns="0" bIns="0" rtlCol="0" anchor="ctr"/>
          <a:lstStyle/>
          <a:p>
            <a:pPr marL="0" indent="0">
              <a:lnSpc>
                <a:spcPct val="104000"/>
              </a:lnSpc>
              <a:buNone/>
            </a:pPr>
            <a:r>
              <a:rPr lang="en-US" sz="900" dirty="0">
                <a:solidFill>
                  <a:srgbClr val="46577A"/>
                </a:solidFill>
                <a:latin typeface="Aptos" pitchFamily="34" charset="0"/>
                <a:ea typeface="Aptos" pitchFamily="34" charset="-122"/>
                <a:cs typeface="Aptos" pitchFamily="34" charset="-120"/>
              </a:rPr>
              <a:t>Load factor, FY2026 - down 1.6 pp, so aircraft are fuller than comfort suggests but emptier than last year</a:t>
            </a:r>
            <a:endParaRPr lang="en-US" sz="900" dirty="0"/>
          </a:p>
        </p:txBody>
      </p:sp>
      <p:sp>
        <p:nvSpPr>
          <p:cNvPr id="13" name="Text 11"/>
          <p:cNvSpPr/>
          <p:nvPr/>
        </p:nvSpPr>
        <p:spPr>
          <a:xfrm>
            <a:off x="685800" y="3108960"/>
            <a:ext cx="1243584" cy="384048"/>
          </a:xfrm>
          <a:prstGeom prst="rect">
            <a:avLst/>
          </a:prstGeom>
          <a:noFill/>
          <a:ln/>
        </p:spPr>
        <p:txBody>
          <a:bodyPr wrap="square" lIns="0" tIns="0" rIns="0" bIns="0" rtlCol="0" anchor="ctr"/>
          <a:lstStyle/>
          <a:p>
            <a:pPr marL="0" indent="0">
              <a:buNone/>
            </a:pPr>
            <a:r>
              <a:rPr lang="en-US" sz="2000" b="1" dirty="0">
                <a:solidFill>
                  <a:srgbClr val="2F6BD8"/>
                </a:solidFill>
                <a:latin typeface="Aptos Display" pitchFamily="34" charset="0"/>
                <a:ea typeface="Aptos Display" pitchFamily="34" charset="-122"/>
                <a:cs typeface="Aptos Display" pitchFamily="34" charset="-120"/>
              </a:rPr>
              <a:t>83.4%</a:t>
            </a:r>
            <a:endParaRPr lang="en-US" sz="2000" dirty="0"/>
          </a:p>
        </p:txBody>
      </p:sp>
      <p:sp>
        <p:nvSpPr>
          <p:cNvPr id="14" name="Text 12"/>
          <p:cNvSpPr/>
          <p:nvPr/>
        </p:nvSpPr>
        <p:spPr>
          <a:xfrm>
            <a:off x="2020824" y="3072384"/>
            <a:ext cx="3675888" cy="512064"/>
          </a:xfrm>
          <a:prstGeom prst="rect">
            <a:avLst/>
          </a:prstGeom>
          <a:noFill/>
          <a:ln/>
        </p:spPr>
        <p:txBody>
          <a:bodyPr wrap="square" lIns="0" tIns="0" rIns="0" bIns="0" rtlCol="0" anchor="ctr"/>
          <a:lstStyle/>
          <a:p>
            <a:pPr marL="0" indent="0">
              <a:lnSpc>
                <a:spcPct val="104000"/>
              </a:lnSpc>
              <a:buNone/>
            </a:pPr>
            <a:r>
              <a:rPr lang="en-US" sz="900" dirty="0">
                <a:solidFill>
                  <a:srgbClr val="46577A"/>
                </a:solidFill>
                <a:latin typeface="Aptos" pitchFamily="34" charset="0"/>
                <a:ea typeface="Aptos" pitchFamily="34" charset="-122"/>
                <a:cs typeface="Aptos" pitchFamily="34" charset="-120"/>
              </a:rPr>
              <a:t>On-time performance under IndiGo Standard Time - an external, company-presented figure</a:t>
            </a:r>
            <a:endParaRPr lang="en-US" sz="900" dirty="0"/>
          </a:p>
        </p:txBody>
      </p:sp>
      <p:sp>
        <p:nvSpPr>
          <p:cNvPr id="15" name="Text 13"/>
          <p:cNvSpPr/>
          <p:nvPr/>
        </p:nvSpPr>
        <p:spPr>
          <a:xfrm>
            <a:off x="685800" y="3749040"/>
            <a:ext cx="1243584" cy="384048"/>
          </a:xfrm>
          <a:prstGeom prst="rect">
            <a:avLst/>
          </a:prstGeom>
          <a:noFill/>
          <a:ln/>
        </p:spPr>
        <p:txBody>
          <a:bodyPr wrap="square" lIns="0" tIns="0" rIns="0" bIns="0" rtlCol="0" anchor="ctr"/>
          <a:lstStyle/>
          <a:p>
            <a:pPr marL="0" indent="0">
              <a:buNone/>
            </a:pPr>
            <a:r>
              <a:rPr lang="en-US" sz="2000" b="1" dirty="0">
                <a:solidFill>
                  <a:srgbClr val="C43F2E"/>
                </a:solidFill>
                <a:latin typeface="Aptos Display" pitchFamily="34" charset="0"/>
                <a:ea typeface="Aptos Display" pitchFamily="34" charset="-122"/>
                <a:cs typeface="Aptos Display" pitchFamily="34" charset="-120"/>
              </a:rPr>
              <a:t>2,507</a:t>
            </a:r>
            <a:endParaRPr lang="en-US" sz="2000" dirty="0"/>
          </a:p>
        </p:txBody>
      </p:sp>
      <p:sp>
        <p:nvSpPr>
          <p:cNvPr id="16" name="Text 14"/>
          <p:cNvSpPr/>
          <p:nvPr/>
        </p:nvSpPr>
        <p:spPr>
          <a:xfrm>
            <a:off x="2020824" y="3712464"/>
            <a:ext cx="3675888" cy="512064"/>
          </a:xfrm>
          <a:prstGeom prst="rect">
            <a:avLst/>
          </a:prstGeom>
          <a:noFill/>
          <a:ln/>
        </p:spPr>
        <p:txBody>
          <a:bodyPr wrap="square" lIns="0" tIns="0" rIns="0" bIns="0" rtlCol="0" anchor="ctr"/>
          <a:lstStyle/>
          <a:p>
            <a:pPr marL="0" indent="0">
              <a:lnSpc>
                <a:spcPct val="104000"/>
              </a:lnSpc>
              <a:buNone/>
            </a:pPr>
            <a:r>
              <a:rPr lang="en-US" sz="900" dirty="0">
                <a:solidFill>
                  <a:srgbClr val="46577A"/>
                </a:solidFill>
                <a:latin typeface="Aptos" pitchFamily="34" charset="0"/>
                <a:ea typeface="Aptos" pitchFamily="34" charset="-122"/>
                <a:cs typeface="Aptos" pitchFamily="34" charset="-120"/>
              </a:rPr>
              <a:t>Flights cancelled over three days in December 2025 - the visible service failure</a:t>
            </a:r>
            <a:endParaRPr lang="en-US" sz="900" dirty="0"/>
          </a:p>
        </p:txBody>
      </p:sp>
      <p:sp>
        <p:nvSpPr>
          <p:cNvPr id="17" name="Text 15"/>
          <p:cNvSpPr/>
          <p:nvPr/>
        </p:nvSpPr>
        <p:spPr>
          <a:xfrm>
            <a:off x="685800" y="4279392"/>
            <a:ext cx="5047488" cy="365760"/>
          </a:xfrm>
          <a:prstGeom prst="rect">
            <a:avLst/>
          </a:prstGeom>
          <a:noFill/>
          <a:ln/>
        </p:spPr>
        <p:txBody>
          <a:bodyPr wrap="square" lIns="0" tIns="0" rIns="0" bIns="0" rtlCol="0" anchor="ctr"/>
          <a:lstStyle/>
          <a:p>
            <a:pPr marL="0" indent="0">
              <a:lnSpc>
                <a:spcPct val="104000"/>
              </a:lnSpc>
              <a:buNone/>
            </a:pPr>
            <a:r>
              <a:rPr lang="en-US" sz="850" i="1" dirty="0">
                <a:solidFill>
                  <a:srgbClr val="6B7280"/>
                </a:solidFill>
                <a:latin typeface="Aptos" pitchFamily="34" charset="0"/>
                <a:ea typeface="Aptos" pitchFamily="34" charset="-122"/>
                <a:cs typeface="Aptos" pitchFamily="34" charset="-120"/>
              </a:rPr>
              <a:t>Comparative on-time performance against other Indian carriers remains an open research question (RQ-OPS-REL-001) and is not ranked here.</a:t>
            </a:r>
            <a:endParaRPr lang="en-US" sz="850" dirty="0"/>
          </a:p>
        </p:txBody>
      </p:sp>
      <p:sp>
        <p:nvSpPr>
          <p:cNvPr id="18" name="Shape 16"/>
          <p:cNvSpPr/>
          <p:nvPr/>
        </p:nvSpPr>
        <p:spPr>
          <a:xfrm>
            <a:off x="6272784" y="1938528"/>
            <a:ext cx="5413248" cy="365760"/>
          </a:xfrm>
          <a:prstGeom prst="rect">
            <a:avLst/>
          </a:prstGeom>
          <a:solidFill>
            <a:srgbClr val="0032A0"/>
          </a:solidFill>
          <a:ln/>
        </p:spPr>
      </p:sp>
      <p:sp>
        <p:nvSpPr>
          <p:cNvPr id="19" name="Text 17"/>
          <p:cNvSpPr/>
          <p:nvPr/>
        </p:nvSpPr>
        <p:spPr>
          <a:xfrm>
            <a:off x="6437376" y="1938528"/>
            <a:ext cx="5084064" cy="365760"/>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WHAT THE INVESTOR SEES</a:t>
            </a:r>
            <a:endParaRPr lang="en-US" sz="950" dirty="0"/>
          </a:p>
        </p:txBody>
      </p:sp>
      <p:sp>
        <p:nvSpPr>
          <p:cNvPr id="20" name="Shape 18"/>
          <p:cNvSpPr/>
          <p:nvPr/>
        </p:nvSpPr>
        <p:spPr>
          <a:xfrm>
            <a:off x="6272784" y="2304288"/>
            <a:ext cx="5413248" cy="2432304"/>
          </a:xfrm>
          <a:prstGeom prst="rect">
            <a:avLst/>
          </a:prstGeom>
          <a:solidFill>
            <a:srgbClr val="F4F7FD"/>
          </a:solidFill>
          <a:ln/>
        </p:spPr>
      </p:sp>
      <p:sp>
        <p:nvSpPr>
          <p:cNvPr id="21" name="Text 19"/>
          <p:cNvSpPr/>
          <p:nvPr/>
        </p:nvSpPr>
        <p:spPr>
          <a:xfrm>
            <a:off x="6455664" y="2468880"/>
            <a:ext cx="1499616" cy="384048"/>
          </a:xfrm>
          <a:prstGeom prst="rect">
            <a:avLst/>
          </a:prstGeom>
          <a:noFill/>
          <a:ln/>
        </p:spPr>
        <p:txBody>
          <a:bodyPr wrap="square" lIns="0" tIns="0" rIns="0" bIns="0" rtlCol="0" anchor="ctr"/>
          <a:lstStyle/>
          <a:p>
            <a:pPr marL="0" indent="0">
              <a:buNone/>
            </a:pPr>
            <a:r>
              <a:rPr lang="en-US" sz="2000" b="1" dirty="0">
                <a:solidFill>
                  <a:srgbClr val="0032A0"/>
                </a:solidFill>
                <a:latin typeface="Aptos Display" pitchFamily="34" charset="0"/>
                <a:ea typeface="Aptos Display" pitchFamily="34" charset="-122"/>
                <a:cs typeface="Aptos Display" pitchFamily="34" charset="-120"/>
              </a:rPr>
              <a:t>63.5%</a:t>
            </a:r>
            <a:endParaRPr lang="en-US" sz="2000" dirty="0"/>
          </a:p>
        </p:txBody>
      </p:sp>
      <p:sp>
        <p:nvSpPr>
          <p:cNvPr id="22" name="Text 20"/>
          <p:cNvSpPr/>
          <p:nvPr/>
        </p:nvSpPr>
        <p:spPr>
          <a:xfrm>
            <a:off x="8046720" y="2432304"/>
            <a:ext cx="3419856" cy="512064"/>
          </a:xfrm>
          <a:prstGeom prst="rect">
            <a:avLst/>
          </a:prstGeom>
          <a:noFill/>
          <a:ln/>
        </p:spPr>
        <p:txBody>
          <a:bodyPr wrap="square" lIns="0" tIns="0" rIns="0" bIns="0" rtlCol="0" anchor="ctr"/>
          <a:lstStyle/>
          <a:p>
            <a:pPr marL="0" indent="0">
              <a:lnSpc>
                <a:spcPct val="104000"/>
              </a:lnSpc>
              <a:buNone/>
            </a:pPr>
            <a:r>
              <a:rPr lang="en-US" sz="900" dirty="0">
                <a:solidFill>
                  <a:srgbClr val="46577A"/>
                </a:solidFill>
                <a:latin typeface="Aptos" pitchFamily="34" charset="0"/>
                <a:ea typeface="Aptos" pitchFamily="34" charset="-122"/>
                <a:cs typeface="Aptos" pitchFamily="34" charset="-120"/>
              </a:rPr>
              <a:t>Domestic market share - 37.2 pp clear of the nearest carrier</a:t>
            </a:r>
            <a:endParaRPr lang="en-US" sz="900" dirty="0"/>
          </a:p>
        </p:txBody>
      </p:sp>
      <p:sp>
        <p:nvSpPr>
          <p:cNvPr id="23" name="Text 21"/>
          <p:cNvSpPr/>
          <p:nvPr/>
        </p:nvSpPr>
        <p:spPr>
          <a:xfrm>
            <a:off x="6455664" y="3108960"/>
            <a:ext cx="1499616" cy="384048"/>
          </a:xfrm>
          <a:prstGeom prst="rect">
            <a:avLst/>
          </a:prstGeom>
          <a:noFill/>
          <a:ln/>
        </p:spPr>
        <p:txBody>
          <a:bodyPr wrap="square" lIns="0" tIns="0" rIns="0" bIns="0" rtlCol="0" anchor="ctr"/>
          <a:lstStyle/>
          <a:p>
            <a:pPr marL="0" indent="0">
              <a:buNone/>
            </a:pPr>
            <a:r>
              <a:rPr lang="en-US" sz="2000" b="1" dirty="0">
                <a:solidFill>
                  <a:srgbClr val="0E8A7A"/>
                </a:solidFill>
                <a:latin typeface="Aptos Display" pitchFamily="34" charset="0"/>
                <a:ea typeface="Aptos Display" pitchFamily="34" charset="-122"/>
                <a:cs typeface="Aptos Display" pitchFamily="34" charset="-120"/>
              </a:rPr>
              <a:t>Rs. 234.7B</a:t>
            </a:r>
            <a:endParaRPr lang="en-US" sz="2000" dirty="0"/>
          </a:p>
        </p:txBody>
      </p:sp>
      <p:sp>
        <p:nvSpPr>
          <p:cNvPr id="24" name="Text 22"/>
          <p:cNvSpPr/>
          <p:nvPr/>
        </p:nvSpPr>
        <p:spPr>
          <a:xfrm>
            <a:off x="8046720" y="3072384"/>
            <a:ext cx="3419856" cy="512064"/>
          </a:xfrm>
          <a:prstGeom prst="rect">
            <a:avLst/>
          </a:prstGeom>
          <a:noFill/>
          <a:ln/>
        </p:spPr>
        <p:txBody>
          <a:bodyPr wrap="square" lIns="0" tIns="0" rIns="0" bIns="0" rtlCol="0" anchor="ctr"/>
          <a:lstStyle/>
          <a:p>
            <a:pPr marL="0" indent="0">
              <a:lnSpc>
                <a:spcPct val="104000"/>
              </a:lnSpc>
              <a:buNone/>
            </a:pPr>
            <a:r>
              <a:rPr lang="en-US" sz="900" dirty="0">
                <a:solidFill>
                  <a:srgbClr val="46577A"/>
                </a:solidFill>
                <a:latin typeface="Aptos" pitchFamily="34" charset="0"/>
                <a:ea typeface="Aptos" pitchFamily="34" charset="-122"/>
                <a:cs typeface="Aptos" pitchFamily="34" charset="-120"/>
              </a:rPr>
              <a:t>Operating cash flow, FY2026, against a statutory PAT of -Rs. 23.9B</a:t>
            </a:r>
            <a:endParaRPr lang="en-US" sz="900" dirty="0"/>
          </a:p>
        </p:txBody>
      </p:sp>
      <p:sp>
        <p:nvSpPr>
          <p:cNvPr id="25" name="Text 23"/>
          <p:cNvSpPr/>
          <p:nvPr/>
        </p:nvSpPr>
        <p:spPr>
          <a:xfrm>
            <a:off x="6455664" y="3749040"/>
            <a:ext cx="1499616" cy="384048"/>
          </a:xfrm>
          <a:prstGeom prst="rect">
            <a:avLst/>
          </a:prstGeom>
          <a:noFill/>
          <a:ln/>
        </p:spPr>
        <p:txBody>
          <a:bodyPr wrap="square" lIns="0" tIns="0" rIns="0" bIns="0" rtlCol="0" anchor="ctr"/>
          <a:lstStyle/>
          <a:p>
            <a:pPr marL="0" indent="0">
              <a:buNone/>
            </a:pPr>
            <a:r>
              <a:rPr lang="en-US" sz="2000" b="1" dirty="0">
                <a:solidFill>
                  <a:srgbClr val="0E8A7A"/>
                </a:solidFill>
                <a:latin typeface="Aptos Display" pitchFamily="34" charset="0"/>
                <a:ea typeface="Aptos Display" pitchFamily="34" charset="-122"/>
                <a:cs typeface="Aptos Display" pitchFamily="34" charset="-120"/>
              </a:rPr>
              <a:t>Rs. 212.0B</a:t>
            </a:r>
            <a:endParaRPr lang="en-US" sz="2000" dirty="0"/>
          </a:p>
        </p:txBody>
      </p:sp>
      <p:sp>
        <p:nvSpPr>
          <p:cNvPr id="26" name="Text 24"/>
          <p:cNvSpPr/>
          <p:nvPr/>
        </p:nvSpPr>
        <p:spPr>
          <a:xfrm>
            <a:off x="8046720" y="3712464"/>
            <a:ext cx="3419856" cy="512064"/>
          </a:xfrm>
          <a:prstGeom prst="rect">
            <a:avLst/>
          </a:prstGeom>
          <a:noFill/>
          <a:ln/>
        </p:spPr>
        <p:txBody>
          <a:bodyPr wrap="square" lIns="0" tIns="0" rIns="0" bIns="0" rtlCol="0" anchor="ctr"/>
          <a:lstStyle/>
          <a:p>
            <a:pPr marL="0" indent="0">
              <a:lnSpc>
                <a:spcPct val="104000"/>
              </a:lnSpc>
              <a:buNone/>
            </a:pPr>
            <a:r>
              <a:rPr lang="en-US" sz="900" dirty="0">
                <a:solidFill>
                  <a:srgbClr val="46577A"/>
                </a:solidFill>
                <a:latin typeface="Aptos" pitchFamily="34" charset="0"/>
                <a:ea typeface="Aptos" pitchFamily="34" charset="-122"/>
                <a:cs typeface="Aptos" pitchFamily="34" charset="-120"/>
              </a:rPr>
              <a:t>Free cash flow - the loss is an accounting event, not a cash event</a:t>
            </a:r>
            <a:endParaRPr lang="en-US" sz="900" dirty="0"/>
          </a:p>
        </p:txBody>
      </p:sp>
      <p:sp>
        <p:nvSpPr>
          <p:cNvPr id="27" name="Text 25"/>
          <p:cNvSpPr/>
          <p:nvPr/>
        </p:nvSpPr>
        <p:spPr>
          <a:xfrm>
            <a:off x="6455664" y="4279392"/>
            <a:ext cx="5047488" cy="365760"/>
          </a:xfrm>
          <a:prstGeom prst="rect">
            <a:avLst/>
          </a:prstGeom>
          <a:noFill/>
          <a:ln/>
        </p:spPr>
        <p:txBody>
          <a:bodyPr wrap="square" lIns="0" tIns="0" rIns="0" bIns="0" rtlCol="0" anchor="ctr"/>
          <a:lstStyle/>
          <a:p>
            <a:pPr marL="0" indent="0">
              <a:lnSpc>
                <a:spcPct val="104000"/>
              </a:lnSpc>
              <a:buNone/>
            </a:pPr>
            <a:r>
              <a:rPr lang="en-US" sz="850" i="1" dirty="0">
                <a:solidFill>
                  <a:srgbClr val="46577A"/>
                </a:solidFill>
                <a:latin typeface="Aptos" pitchFamily="34" charset="0"/>
                <a:ea typeface="Aptos" pitchFamily="34" charset="-122"/>
                <a:cs typeface="Aptos" pitchFamily="34" charset="-120"/>
              </a:rPr>
              <a:t>Cash and equivalents stood at Rs. 516.5B. Profit excluding FX and exceptional items fell 15.4%, against a headline PAT decline of 133.0%.</a:t>
            </a:r>
            <a:endParaRPr lang="en-US" sz="850" dirty="0"/>
          </a:p>
        </p:txBody>
      </p:sp>
      <p:sp>
        <p:nvSpPr>
          <p:cNvPr id="28" name="Shape 26"/>
          <p:cNvSpPr/>
          <p:nvPr/>
        </p:nvSpPr>
        <p:spPr>
          <a:xfrm>
            <a:off x="502920" y="4901184"/>
            <a:ext cx="11185855" cy="640080"/>
          </a:xfrm>
          <a:prstGeom prst="rect">
            <a:avLst/>
          </a:prstGeom>
          <a:solidFill>
            <a:srgbClr val="041E47"/>
          </a:solidFill>
          <a:ln/>
        </p:spPr>
        <p:txBody>
          <a:bodyPr/>
          <a:lstStyle/>
          <a:p>
            <a:endParaRPr lang="en-IN" dirty="0"/>
          </a:p>
        </p:txBody>
      </p:sp>
      <p:sp>
        <p:nvSpPr>
          <p:cNvPr id="29" name="Shape 27"/>
          <p:cNvSpPr/>
          <p:nvPr/>
        </p:nvSpPr>
        <p:spPr>
          <a:xfrm>
            <a:off x="502920" y="4901184"/>
            <a:ext cx="45720" cy="640080"/>
          </a:xfrm>
          <a:prstGeom prst="rect">
            <a:avLst/>
          </a:prstGeom>
          <a:solidFill>
            <a:srgbClr val="D98A00"/>
          </a:solidFill>
          <a:ln/>
        </p:spPr>
      </p:sp>
      <p:sp>
        <p:nvSpPr>
          <p:cNvPr id="30" name="Text 28"/>
          <p:cNvSpPr/>
          <p:nvPr/>
        </p:nvSpPr>
        <p:spPr>
          <a:xfrm>
            <a:off x="777240" y="4901184"/>
            <a:ext cx="10710367" cy="640080"/>
          </a:xfrm>
          <a:prstGeom prst="rect">
            <a:avLst/>
          </a:prstGeom>
          <a:noFill/>
          <a:ln/>
        </p:spPr>
        <p:txBody>
          <a:bodyPr wrap="square" lIns="0" tIns="0" rIns="0" bIns="0" rtlCol="0" anchor="ctr"/>
          <a:lstStyle/>
          <a:p>
            <a:pPr algn="ctr">
              <a:lnSpc>
                <a:spcPct val="106000"/>
              </a:lnSpc>
            </a:pPr>
            <a:r>
              <a:rPr lang="en-IN" sz="1150" b="1" dirty="0">
                <a:solidFill>
                  <a:srgbClr val="FFFFFF"/>
                </a:solidFill>
                <a:latin typeface="Aptos" pitchFamily="34" charset="0"/>
              </a:rPr>
              <a:t>“The evidence points to a unit-economic problem, not a demonstrated structural loss of market position”</a:t>
            </a:r>
            <a:endParaRPr lang="en-US" sz="1150" b="1" dirty="0">
              <a:solidFill>
                <a:srgbClr val="FFFFFF"/>
              </a:solidFill>
              <a:latin typeface="Aptos" pitchFamily="34" charset="0"/>
            </a:endParaRPr>
          </a:p>
        </p:txBody>
      </p:sp>
      <p:sp>
        <p:nvSpPr>
          <p:cNvPr id="31" name="Shape 29"/>
          <p:cNvSpPr/>
          <p:nvPr/>
        </p:nvSpPr>
        <p:spPr>
          <a:xfrm>
            <a:off x="502920" y="5632704"/>
            <a:ext cx="11185855" cy="566928"/>
          </a:xfrm>
          <a:prstGeom prst="rect">
            <a:avLst/>
          </a:prstGeom>
          <a:solidFill>
            <a:srgbClr val="FFFFFF"/>
          </a:solidFill>
          <a:ln w="9525">
            <a:solidFill>
              <a:srgbClr val="6B7280"/>
            </a:solidFill>
            <a:prstDash val="dash"/>
          </a:ln>
        </p:spPr>
      </p:sp>
      <p:sp>
        <p:nvSpPr>
          <p:cNvPr id="32" name="Shape 30"/>
          <p:cNvSpPr/>
          <p:nvPr/>
        </p:nvSpPr>
        <p:spPr>
          <a:xfrm>
            <a:off x="594360" y="5829300"/>
            <a:ext cx="1344168" cy="173736"/>
          </a:xfrm>
          <a:prstGeom prst="rect">
            <a:avLst/>
          </a:prstGeom>
          <a:solidFill>
            <a:srgbClr val="FFFFFF"/>
          </a:solidFill>
          <a:ln w="9525">
            <a:solidFill>
              <a:srgbClr val="6B7280"/>
            </a:solidFill>
            <a:prstDash val="dash"/>
          </a:ln>
        </p:spPr>
      </p:sp>
      <p:sp>
        <p:nvSpPr>
          <p:cNvPr id="33" name="Text 31"/>
          <p:cNvSpPr/>
          <p:nvPr/>
        </p:nvSpPr>
        <p:spPr>
          <a:xfrm>
            <a:off x="594360" y="5829300"/>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34" name="Text 32"/>
          <p:cNvSpPr/>
          <p:nvPr/>
        </p:nvSpPr>
        <p:spPr>
          <a:xfrm>
            <a:off x="2048256" y="5669280"/>
            <a:ext cx="9530791" cy="493776"/>
          </a:xfrm>
          <a:prstGeom prst="rect">
            <a:avLst/>
          </a:prstGeom>
          <a:noFill/>
          <a:ln/>
        </p:spPr>
        <p:txBody>
          <a:bodyPr wrap="square" lIns="0" tIns="0" rIns="0" bIns="0" rtlCol="0" anchor="ctr"/>
          <a:lstStyle/>
          <a:p>
            <a:r>
              <a:rPr lang="en-IN" sz="1000" dirty="0"/>
              <a:t>The threshold at which service deterioration begins to affect share or unit economics is not established</a:t>
            </a:r>
            <a:r>
              <a:rPr lang="en-US" sz="950" dirty="0">
                <a:solidFill>
                  <a:srgbClr val="6B7280"/>
                </a:solidFill>
                <a:latin typeface="Aptos" pitchFamily="34" charset="0"/>
                <a:ea typeface="Aptos" pitchFamily="34" charset="-122"/>
                <a:cs typeface="Aptos" pitchFamily="34" charset="-120"/>
              </a:rPr>
              <a:t>.</a:t>
            </a:r>
            <a:endParaRPr lang="en-US" sz="950" dirty="0"/>
          </a:p>
        </p:txBody>
      </p:sp>
      <p:sp>
        <p:nvSpPr>
          <p:cNvPr id="35" name="Shape 33"/>
          <p:cNvSpPr/>
          <p:nvPr/>
        </p:nvSpPr>
        <p:spPr>
          <a:xfrm>
            <a:off x="502920" y="6309360"/>
            <a:ext cx="11185855" cy="5486"/>
          </a:xfrm>
          <a:prstGeom prst="rect">
            <a:avLst/>
          </a:prstGeom>
          <a:solidFill>
            <a:srgbClr val="C9D8F2"/>
          </a:solidFill>
          <a:ln/>
        </p:spPr>
      </p:sp>
      <p:sp>
        <p:nvSpPr>
          <p:cNvPr id="36" name="Text 34"/>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37" name="Text 35"/>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SRC-FY26-006 - 05_Market_Competition_Evidence_Market_Share - RQ-OPS-REL-001 - External Lens: The Ken, January 2026</a:t>
            </a:r>
            <a:endParaRPr lang="en-US" sz="800" dirty="0"/>
          </a:p>
        </p:txBody>
      </p:sp>
      <p:sp>
        <p:nvSpPr>
          <p:cNvPr id="38" name="Shape 36"/>
          <p:cNvSpPr/>
          <p:nvPr/>
        </p:nvSpPr>
        <p:spPr>
          <a:xfrm>
            <a:off x="11484864" y="6364224"/>
            <a:ext cx="201168" cy="201168"/>
          </a:xfrm>
          <a:prstGeom prst="rect">
            <a:avLst/>
          </a:prstGeom>
          <a:solidFill>
            <a:srgbClr val="0032A0"/>
          </a:solidFill>
          <a:ln/>
        </p:spPr>
      </p:sp>
      <p:sp>
        <p:nvSpPr>
          <p:cNvPr id="39" name="Text 37"/>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06 - THE ANSWER AND ITS EVIDENCE</a:t>
            </a:r>
            <a:endParaRPr lang="en-US" sz="1000" dirty="0"/>
          </a:p>
        </p:txBody>
      </p:sp>
      <p:sp>
        <p:nvSpPr>
          <p:cNvPr id="3" name="Shape 1"/>
          <p:cNvSpPr/>
          <p:nvPr/>
        </p:nvSpPr>
        <p:spPr>
          <a:xfrm>
            <a:off x="502919" y="571500"/>
            <a:ext cx="2134343" cy="45719"/>
          </a:xfrm>
          <a:prstGeom prst="rect">
            <a:avLst/>
          </a:prstGeom>
          <a:solidFill>
            <a:srgbClr val="0032A0"/>
          </a:solidFill>
          <a:ln/>
        </p:spPr>
      </p:sp>
      <p:sp>
        <p:nvSpPr>
          <p:cNvPr id="4" name="Text 2"/>
          <p:cNvSpPr/>
          <p:nvPr/>
        </p:nvSpPr>
        <p:spPr>
          <a:xfrm>
            <a:off x="500177" y="649224"/>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Fix the economics of the capacity already flying; pace new capacity only when the evidence proves the divergence is real</a:t>
            </a:r>
            <a:endParaRPr lang="en-US" sz="2250" dirty="0"/>
          </a:p>
        </p:txBody>
      </p:sp>
      <p:sp>
        <p:nvSpPr>
          <p:cNvPr id="5" name="Text 3"/>
          <p:cNvSpPr/>
          <p:nvPr/>
        </p:nvSpPr>
        <p:spPr>
          <a:xfrm>
            <a:off x="502920" y="1444752"/>
            <a:ext cx="36576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WHAT THE EVIDENCE SHOWS</a:t>
            </a:r>
            <a:endParaRPr lang="en-US" sz="1000" dirty="0"/>
          </a:p>
        </p:txBody>
      </p:sp>
      <p:sp>
        <p:nvSpPr>
          <p:cNvPr id="6" name="Text 4"/>
          <p:cNvSpPr/>
          <p:nvPr/>
        </p:nvSpPr>
        <p:spPr>
          <a:xfrm>
            <a:off x="502920" y="1700784"/>
            <a:ext cx="2631872" cy="347472"/>
          </a:xfrm>
          <a:prstGeom prst="rect">
            <a:avLst/>
          </a:prstGeom>
          <a:noFill/>
          <a:ln/>
        </p:spPr>
        <p:txBody>
          <a:bodyPr wrap="square" lIns="0" tIns="0" rIns="0" bIns="0" rtlCol="0" anchor="ctr"/>
          <a:lstStyle/>
          <a:p>
            <a:pPr marL="0" indent="0">
              <a:buNone/>
            </a:pPr>
            <a:r>
              <a:rPr lang="en-US" sz="1550" b="1" dirty="0">
                <a:solidFill>
                  <a:srgbClr val="C43F2E"/>
                </a:solidFill>
                <a:latin typeface="Aptos Display" pitchFamily="34" charset="0"/>
                <a:ea typeface="Aptos Display" pitchFamily="34" charset="-122"/>
                <a:cs typeface="Aptos Display" pitchFamily="34" charset="-120"/>
              </a:rPr>
              <a:t>ASK +9.5%</a:t>
            </a:r>
            <a:endParaRPr lang="en-US" sz="1550" dirty="0"/>
          </a:p>
        </p:txBody>
      </p:sp>
      <p:sp>
        <p:nvSpPr>
          <p:cNvPr id="7" name="Text 5"/>
          <p:cNvSpPr/>
          <p:nvPr/>
        </p:nvSpPr>
        <p:spPr>
          <a:xfrm>
            <a:off x="502920" y="2066544"/>
            <a:ext cx="2631872" cy="256032"/>
          </a:xfrm>
          <a:prstGeom prst="rect">
            <a:avLst/>
          </a:prstGeom>
          <a:noFill/>
          <a:ln/>
        </p:spPr>
        <p:txBody>
          <a:bodyPr wrap="square" lIns="0" tIns="0" rIns="0" bIns="0" rtlCol="0" anchor="t"/>
          <a:lstStyle/>
          <a:p>
            <a:pPr marL="0" indent="0">
              <a:buNone/>
            </a:pPr>
            <a:r>
              <a:rPr lang="en-US" sz="950" dirty="0">
                <a:solidFill>
                  <a:srgbClr val="46577A"/>
                </a:solidFill>
                <a:latin typeface="Aptos" pitchFamily="34" charset="0"/>
                <a:ea typeface="Aptos" pitchFamily="34" charset="-122"/>
                <a:cs typeface="Aptos" pitchFamily="34" charset="-120"/>
              </a:rPr>
              <a:t>vs passengers +4.0%</a:t>
            </a:r>
            <a:endParaRPr lang="en-US" sz="950" dirty="0"/>
          </a:p>
        </p:txBody>
      </p:sp>
      <p:sp>
        <p:nvSpPr>
          <p:cNvPr id="8" name="Shape 6"/>
          <p:cNvSpPr/>
          <p:nvPr/>
        </p:nvSpPr>
        <p:spPr>
          <a:xfrm>
            <a:off x="3262808" y="1737360"/>
            <a:ext cx="5486" cy="603504"/>
          </a:xfrm>
          <a:prstGeom prst="rect">
            <a:avLst/>
          </a:prstGeom>
          <a:solidFill>
            <a:srgbClr val="C9D8F2"/>
          </a:solidFill>
          <a:ln/>
        </p:spPr>
      </p:sp>
      <p:sp>
        <p:nvSpPr>
          <p:cNvPr id="9" name="Text 7"/>
          <p:cNvSpPr/>
          <p:nvPr/>
        </p:nvSpPr>
        <p:spPr>
          <a:xfrm>
            <a:off x="3299384" y="1700784"/>
            <a:ext cx="2631872" cy="347472"/>
          </a:xfrm>
          <a:prstGeom prst="rect">
            <a:avLst/>
          </a:prstGeom>
          <a:noFill/>
          <a:ln/>
        </p:spPr>
        <p:txBody>
          <a:bodyPr wrap="square" lIns="0" tIns="0" rIns="0" bIns="0" rtlCol="0" anchor="ctr"/>
          <a:lstStyle/>
          <a:p>
            <a:pPr marL="0" indent="0">
              <a:buNone/>
            </a:pPr>
            <a:r>
              <a:rPr lang="en-US" sz="1550" b="1" dirty="0">
                <a:solidFill>
                  <a:srgbClr val="C43F2E"/>
                </a:solidFill>
                <a:latin typeface="Aptos Display" pitchFamily="34" charset="0"/>
                <a:ea typeface="Aptos Display" pitchFamily="34" charset="-122"/>
                <a:cs typeface="Aptos Display" pitchFamily="34" charset="-120"/>
              </a:rPr>
              <a:t>RASK -3.0%</a:t>
            </a:r>
            <a:endParaRPr lang="en-US" sz="1550" dirty="0"/>
          </a:p>
        </p:txBody>
      </p:sp>
      <p:sp>
        <p:nvSpPr>
          <p:cNvPr id="10" name="Text 8"/>
          <p:cNvSpPr/>
          <p:nvPr/>
        </p:nvSpPr>
        <p:spPr>
          <a:xfrm>
            <a:off x="3299384" y="2066544"/>
            <a:ext cx="2631872" cy="256032"/>
          </a:xfrm>
          <a:prstGeom prst="rect">
            <a:avLst/>
          </a:prstGeom>
          <a:noFill/>
          <a:ln/>
        </p:spPr>
        <p:txBody>
          <a:bodyPr wrap="square" lIns="0" tIns="0" rIns="0" bIns="0" rtlCol="0" anchor="t"/>
          <a:lstStyle/>
          <a:p>
            <a:pPr marL="0" indent="0">
              <a:buNone/>
            </a:pPr>
            <a:r>
              <a:rPr lang="en-US" sz="950" dirty="0">
                <a:solidFill>
                  <a:srgbClr val="46577A"/>
                </a:solidFill>
                <a:latin typeface="Aptos" pitchFamily="34" charset="0"/>
                <a:ea typeface="Aptos" pitchFamily="34" charset="-122"/>
                <a:cs typeface="Aptos" pitchFamily="34" charset="-120"/>
              </a:rPr>
              <a:t>CASK +7.2%</a:t>
            </a:r>
            <a:endParaRPr lang="en-US" sz="950" dirty="0"/>
          </a:p>
        </p:txBody>
      </p:sp>
      <p:sp>
        <p:nvSpPr>
          <p:cNvPr id="11" name="Shape 9"/>
          <p:cNvSpPr/>
          <p:nvPr/>
        </p:nvSpPr>
        <p:spPr>
          <a:xfrm>
            <a:off x="6059272" y="1737360"/>
            <a:ext cx="5486" cy="603504"/>
          </a:xfrm>
          <a:prstGeom prst="rect">
            <a:avLst/>
          </a:prstGeom>
          <a:solidFill>
            <a:srgbClr val="C9D8F2"/>
          </a:solidFill>
          <a:ln/>
        </p:spPr>
      </p:sp>
      <p:sp>
        <p:nvSpPr>
          <p:cNvPr id="12" name="Text 10"/>
          <p:cNvSpPr/>
          <p:nvPr/>
        </p:nvSpPr>
        <p:spPr>
          <a:xfrm>
            <a:off x="6095848" y="1700784"/>
            <a:ext cx="2631872" cy="347472"/>
          </a:xfrm>
          <a:prstGeom prst="rect">
            <a:avLst/>
          </a:prstGeom>
          <a:noFill/>
          <a:ln/>
        </p:spPr>
        <p:txBody>
          <a:bodyPr wrap="square" lIns="0" tIns="0" rIns="0" bIns="0" rtlCol="0" anchor="ctr"/>
          <a:lstStyle/>
          <a:p>
            <a:pPr marL="0" indent="0">
              <a:buNone/>
            </a:pPr>
            <a:r>
              <a:rPr lang="en-US" sz="1550" b="1" dirty="0">
                <a:solidFill>
                  <a:srgbClr val="C43F2E"/>
                </a:solidFill>
                <a:latin typeface="Aptos Display" pitchFamily="34" charset="0"/>
                <a:ea typeface="Aptos Display" pitchFamily="34" charset="-122"/>
                <a:cs typeface="Aptos Display" pitchFamily="34" charset="-120"/>
              </a:rPr>
              <a:t>Non-fuel +27.8%</a:t>
            </a:r>
            <a:endParaRPr lang="en-US" sz="1550" dirty="0"/>
          </a:p>
        </p:txBody>
      </p:sp>
      <p:sp>
        <p:nvSpPr>
          <p:cNvPr id="13" name="Text 11"/>
          <p:cNvSpPr/>
          <p:nvPr/>
        </p:nvSpPr>
        <p:spPr>
          <a:xfrm>
            <a:off x="6095848" y="2066544"/>
            <a:ext cx="2631872" cy="256032"/>
          </a:xfrm>
          <a:prstGeom prst="rect">
            <a:avLst/>
          </a:prstGeom>
          <a:noFill/>
          <a:ln/>
        </p:spPr>
        <p:txBody>
          <a:bodyPr wrap="square" lIns="0" tIns="0" rIns="0" bIns="0" rtlCol="0" anchor="t"/>
          <a:lstStyle/>
          <a:p>
            <a:pPr marL="0" indent="0">
              <a:buNone/>
            </a:pPr>
            <a:r>
              <a:rPr lang="en-US" sz="950" dirty="0">
                <a:solidFill>
                  <a:srgbClr val="46577A"/>
                </a:solidFill>
                <a:latin typeface="Aptos" pitchFamily="34" charset="0"/>
                <a:ea typeface="Aptos" pitchFamily="34" charset="-122"/>
                <a:cs typeface="Aptos" pitchFamily="34" charset="-120"/>
              </a:rPr>
              <a:t>not fuel - fuel CASK -11.5%</a:t>
            </a:r>
            <a:endParaRPr lang="en-US" sz="950" dirty="0"/>
          </a:p>
        </p:txBody>
      </p:sp>
      <p:sp>
        <p:nvSpPr>
          <p:cNvPr id="14" name="Shape 12"/>
          <p:cNvSpPr/>
          <p:nvPr/>
        </p:nvSpPr>
        <p:spPr>
          <a:xfrm>
            <a:off x="8855735" y="1737360"/>
            <a:ext cx="5486" cy="603504"/>
          </a:xfrm>
          <a:prstGeom prst="rect">
            <a:avLst/>
          </a:prstGeom>
          <a:solidFill>
            <a:srgbClr val="C9D8F2"/>
          </a:solidFill>
          <a:ln/>
        </p:spPr>
      </p:sp>
      <p:sp>
        <p:nvSpPr>
          <p:cNvPr id="15" name="Text 13"/>
          <p:cNvSpPr/>
          <p:nvPr/>
        </p:nvSpPr>
        <p:spPr>
          <a:xfrm>
            <a:off x="8892311" y="1700784"/>
            <a:ext cx="2631872" cy="347472"/>
          </a:xfrm>
          <a:prstGeom prst="rect">
            <a:avLst/>
          </a:prstGeom>
          <a:noFill/>
          <a:ln/>
        </p:spPr>
        <p:txBody>
          <a:bodyPr wrap="square" lIns="0" tIns="0" rIns="0" bIns="0" rtlCol="0" anchor="ctr"/>
          <a:lstStyle/>
          <a:p>
            <a:pPr marL="0" indent="0">
              <a:buNone/>
            </a:pPr>
            <a:r>
              <a:rPr lang="en-US" sz="1550" b="1" dirty="0">
                <a:solidFill>
                  <a:srgbClr val="0E8A7A"/>
                </a:solidFill>
                <a:latin typeface="Aptos Display" pitchFamily="34" charset="0"/>
                <a:ea typeface="Aptos Display" pitchFamily="34" charset="-122"/>
                <a:cs typeface="Aptos Display" pitchFamily="34" charset="-120"/>
              </a:rPr>
              <a:t>EBITDAR ex-FX +1.4%</a:t>
            </a:r>
            <a:endParaRPr lang="en-US" sz="1550" dirty="0"/>
          </a:p>
        </p:txBody>
      </p:sp>
      <p:sp>
        <p:nvSpPr>
          <p:cNvPr id="16" name="Text 14"/>
          <p:cNvSpPr/>
          <p:nvPr/>
        </p:nvSpPr>
        <p:spPr>
          <a:xfrm>
            <a:off x="8892311" y="2066544"/>
            <a:ext cx="2631872" cy="256032"/>
          </a:xfrm>
          <a:prstGeom prst="rect">
            <a:avLst/>
          </a:prstGeom>
          <a:noFill/>
          <a:ln/>
        </p:spPr>
        <p:txBody>
          <a:bodyPr wrap="square" lIns="0" tIns="0" rIns="0" bIns="0" rtlCol="0" anchor="t"/>
          <a:lstStyle/>
          <a:p>
            <a:pPr marL="0" indent="0">
              <a:buNone/>
            </a:pPr>
            <a:r>
              <a:rPr lang="en-US" sz="950" dirty="0">
                <a:solidFill>
                  <a:srgbClr val="46577A"/>
                </a:solidFill>
                <a:latin typeface="Aptos" pitchFamily="34" charset="0"/>
                <a:ea typeface="Aptos" pitchFamily="34" charset="-122"/>
                <a:cs typeface="Aptos" pitchFamily="34" charset="-120"/>
              </a:rPr>
              <a:t>underlying economics positive</a:t>
            </a:r>
            <a:endParaRPr lang="en-US" sz="950" dirty="0"/>
          </a:p>
        </p:txBody>
      </p:sp>
      <p:sp>
        <p:nvSpPr>
          <p:cNvPr id="17" name="Shape 15"/>
          <p:cNvSpPr/>
          <p:nvPr/>
        </p:nvSpPr>
        <p:spPr>
          <a:xfrm>
            <a:off x="502920" y="2432304"/>
            <a:ext cx="11185855" cy="5486"/>
          </a:xfrm>
          <a:prstGeom prst="rect">
            <a:avLst/>
          </a:prstGeom>
          <a:solidFill>
            <a:srgbClr val="C9D8F2"/>
          </a:solidFill>
          <a:ln/>
        </p:spPr>
      </p:sp>
      <p:sp>
        <p:nvSpPr>
          <p:cNvPr id="18" name="Text 16"/>
          <p:cNvSpPr/>
          <p:nvPr/>
        </p:nvSpPr>
        <p:spPr>
          <a:xfrm>
            <a:off x="502920" y="2560320"/>
            <a:ext cx="36576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THE RECOMMENDATION</a:t>
            </a:r>
            <a:endParaRPr lang="en-US" sz="1000" dirty="0"/>
          </a:p>
        </p:txBody>
      </p:sp>
      <p:sp>
        <p:nvSpPr>
          <p:cNvPr id="19" name="Shape 17"/>
          <p:cNvSpPr/>
          <p:nvPr/>
        </p:nvSpPr>
        <p:spPr>
          <a:xfrm>
            <a:off x="502920" y="2834640"/>
            <a:ext cx="3602736" cy="1572768"/>
          </a:xfrm>
          <a:prstGeom prst="rect">
            <a:avLst/>
          </a:prstGeom>
          <a:solidFill>
            <a:srgbClr val="0032A0"/>
          </a:solidFill>
          <a:ln/>
        </p:spPr>
      </p:sp>
      <p:sp>
        <p:nvSpPr>
          <p:cNvPr id="20" name="Text 18"/>
          <p:cNvSpPr/>
          <p:nvPr/>
        </p:nvSpPr>
        <p:spPr>
          <a:xfrm>
            <a:off x="704088" y="2980944"/>
            <a:ext cx="457200" cy="365760"/>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A</a:t>
            </a:r>
            <a:endParaRPr lang="en-US" sz="2200" dirty="0"/>
          </a:p>
        </p:txBody>
      </p:sp>
      <p:sp>
        <p:nvSpPr>
          <p:cNvPr id="21" name="Text 19"/>
          <p:cNvSpPr/>
          <p:nvPr/>
        </p:nvSpPr>
        <p:spPr>
          <a:xfrm>
            <a:off x="1161288" y="3017520"/>
            <a:ext cx="2743200" cy="292608"/>
          </a:xfrm>
          <a:prstGeom prst="rect">
            <a:avLst/>
          </a:prstGeom>
          <a:noFill/>
          <a:ln/>
        </p:spPr>
        <p:txBody>
          <a:bodyPr wrap="square" lIns="0" tIns="0" rIns="0" bIns="0" rtlCol="0" anchor="ctr"/>
          <a:lstStyle/>
          <a:p>
            <a:pPr marL="0" indent="0">
              <a:buNone/>
            </a:pPr>
            <a:r>
              <a:rPr lang="en-US" sz="900" b="1" dirty="0">
                <a:solidFill>
                  <a:srgbClr val="AFC6F0"/>
                </a:solidFill>
                <a:latin typeface="Aptos" pitchFamily="34" charset="0"/>
                <a:ea typeface="Aptos" pitchFamily="34" charset="-122"/>
                <a:cs typeface="Aptos" pitchFamily="34" charset="-120"/>
              </a:rPr>
              <a:t>ACT NOW</a:t>
            </a:r>
            <a:endParaRPr lang="en-US" sz="900" dirty="0"/>
          </a:p>
        </p:txBody>
      </p:sp>
      <p:sp>
        <p:nvSpPr>
          <p:cNvPr id="22" name="Text 20"/>
          <p:cNvSpPr/>
          <p:nvPr/>
        </p:nvSpPr>
        <p:spPr>
          <a:xfrm>
            <a:off x="704088" y="3364992"/>
            <a:ext cx="3200400" cy="384048"/>
          </a:xfrm>
          <a:prstGeom prst="rect">
            <a:avLst/>
          </a:prstGeom>
          <a:noFill/>
          <a:ln/>
        </p:spPr>
        <p:txBody>
          <a:bodyPr wrap="square" lIns="0" tIns="0" rIns="0" bIns="0" rtlCol="0" anchor="ctr"/>
          <a:lstStyle/>
          <a:p>
            <a:pPr marL="0" indent="0">
              <a:buNone/>
            </a:pPr>
            <a:r>
              <a:rPr lang="en-US" sz="1350" b="1" dirty="0">
                <a:solidFill>
                  <a:srgbClr val="FFFFFF"/>
                </a:solidFill>
                <a:latin typeface="Aptos Display" pitchFamily="34" charset="0"/>
                <a:ea typeface="Aptos Display" pitchFamily="34" charset="-122"/>
                <a:cs typeface="Aptos Display" pitchFamily="34" charset="-120"/>
              </a:rPr>
              <a:t>UNIT-REVENUE IMPROVEMENT</a:t>
            </a:r>
            <a:endParaRPr lang="en-US" sz="1350" dirty="0"/>
          </a:p>
        </p:txBody>
      </p:sp>
      <p:sp>
        <p:nvSpPr>
          <p:cNvPr id="23" name="Text 21"/>
          <p:cNvSpPr/>
          <p:nvPr/>
        </p:nvSpPr>
        <p:spPr>
          <a:xfrm>
            <a:off x="704088" y="3749040"/>
            <a:ext cx="3200400" cy="201168"/>
          </a:xfrm>
          <a:prstGeom prst="rect">
            <a:avLst/>
          </a:prstGeom>
          <a:noFill/>
          <a:ln/>
        </p:spPr>
        <p:txBody>
          <a:bodyPr wrap="square" lIns="0" tIns="0" rIns="0" bIns="0" rtlCol="0" anchor="ctr"/>
          <a:lstStyle/>
          <a:p>
            <a:pPr marL="0" indent="0">
              <a:buNone/>
            </a:pPr>
            <a:r>
              <a:rPr lang="en-US" sz="900" b="1" dirty="0">
                <a:solidFill>
                  <a:srgbClr val="AFC6F0"/>
                </a:solidFill>
                <a:latin typeface="Aptos" pitchFamily="34" charset="0"/>
                <a:ea typeface="Aptos" pitchFamily="34" charset="-122"/>
                <a:cs typeface="Aptos" pitchFamily="34" charset="-120"/>
              </a:rPr>
              <a:t>ALT-3 basis - 72.8%</a:t>
            </a:r>
            <a:endParaRPr lang="en-US" sz="900" dirty="0"/>
          </a:p>
        </p:txBody>
      </p:sp>
      <p:sp>
        <p:nvSpPr>
          <p:cNvPr id="24" name="Text 22"/>
          <p:cNvSpPr/>
          <p:nvPr/>
        </p:nvSpPr>
        <p:spPr>
          <a:xfrm>
            <a:off x="704088" y="3950208"/>
            <a:ext cx="3200400" cy="365760"/>
          </a:xfrm>
          <a:prstGeom prst="rect">
            <a:avLst/>
          </a:prstGeom>
          <a:noFill/>
          <a:ln/>
        </p:spPr>
        <p:txBody>
          <a:bodyPr wrap="square" lIns="0" tIns="0" rIns="0" bIns="0" rtlCol="0" anchor="t"/>
          <a:lstStyle/>
          <a:p>
            <a:pPr marL="0" indent="0">
              <a:buNone/>
            </a:pPr>
            <a:r>
              <a:rPr lang="en-US" sz="950" dirty="0">
                <a:solidFill>
                  <a:srgbClr val="D7E3F8"/>
                </a:solidFill>
                <a:latin typeface="Aptos" pitchFamily="34" charset="0"/>
                <a:ea typeface="Aptos" pitchFamily="34" charset="-122"/>
                <a:cs typeface="Aptos" pitchFamily="34" charset="-120"/>
              </a:rPr>
              <a:t>Pricing, revenue management, ancillary, premiumisation, loyalty, corporate travel, cargo, partnerships.</a:t>
            </a:r>
            <a:endParaRPr lang="en-US" sz="950" dirty="0"/>
          </a:p>
        </p:txBody>
      </p:sp>
      <p:sp>
        <p:nvSpPr>
          <p:cNvPr id="25" name="Shape 23"/>
          <p:cNvSpPr/>
          <p:nvPr/>
        </p:nvSpPr>
        <p:spPr>
          <a:xfrm>
            <a:off x="4306824" y="2834640"/>
            <a:ext cx="3602736" cy="1572768"/>
          </a:xfrm>
          <a:prstGeom prst="rect">
            <a:avLst/>
          </a:prstGeom>
          <a:solidFill>
            <a:srgbClr val="041E47"/>
          </a:solidFill>
          <a:ln/>
        </p:spPr>
      </p:sp>
      <p:sp>
        <p:nvSpPr>
          <p:cNvPr id="26" name="Text 24"/>
          <p:cNvSpPr/>
          <p:nvPr/>
        </p:nvSpPr>
        <p:spPr>
          <a:xfrm>
            <a:off x="4507992" y="2980944"/>
            <a:ext cx="457200" cy="365760"/>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B</a:t>
            </a:r>
            <a:endParaRPr lang="en-US" sz="2200" dirty="0"/>
          </a:p>
        </p:txBody>
      </p:sp>
      <p:sp>
        <p:nvSpPr>
          <p:cNvPr id="27" name="Text 25"/>
          <p:cNvSpPr/>
          <p:nvPr/>
        </p:nvSpPr>
        <p:spPr>
          <a:xfrm>
            <a:off x="4965192" y="3017520"/>
            <a:ext cx="2743200" cy="292608"/>
          </a:xfrm>
          <a:prstGeom prst="rect">
            <a:avLst/>
          </a:prstGeom>
          <a:noFill/>
          <a:ln/>
        </p:spPr>
        <p:txBody>
          <a:bodyPr wrap="square" lIns="0" tIns="0" rIns="0" bIns="0" rtlCol="0" anchor="ctr"/>
          <a:lstStyle/>
          <a:p>
            <a:pPr marL="0" indent="0">
              <a:buNone/>
            </a:pPr>
            <a:r>
              <a:rPr lang="en-US" sz="900" b="1" dirty="0">
                <a:solidFill>
                  <a:srgbClr val="8FB0E8"/>
                </a:solidFill>
                <a:latin typeface="Aptos" pitchFamily="34" charset="0"/>
                <a:ea typeface="Aptos" pitchFamily="34" charset="-122"/>
                <a:cs typeface="Aptos" pitchFamily="34" charset="-120"/>
              </a:rPr>
              <a:t>ACT NOW</a:t>
            </a:r>
            <a:endParaRPr lang="en-US" sz="900" dirty="0"/>
          </a:p>
        </p:txBody>
      </p:sp>
      <p:sp>
        <p:nvSpPr>
          <p:cNvPr id="28" name="Text 26"/>
          <p:cNvSpPr/>
          <p:nvPr/>
        </p:nvSpPr>
        <p:spPr>
          <a:xfrm>
            <a:off x="4507992" y="3364992"/>
            <a:ext cx="3200400" cy="384048"/>
          </a:xfrm>
          <a:prstGeom prst="rect">
            <a:avLst/>
          </a:prstGeom>
          <a:noFill/>
          <a:ln/>
        </p:spPr>
        <p:txBody>
          <a:bodyPr wrap="square" lIns="0" tIns="0" rIns="0" bIns="0" rtlCol="0" anchor="ctr"/>
          <a:lstStyle/>
          <a:p>
            <a:pPr marL="0" indent="0">
              <a:buNone/>
            </a:pPr>
            <a:r>
              <a:rPr lang="en-US" sz="1350" b="1" dirty="0">
                <a:solidFill>
                  <a:srgbClr val="FFFFFF"/>
                </a:solidFill>
                <a:latin typeface="Aptos Display" pitchFamily="34" charset="0"/>
                <a:ea typeface="Aptos Display" pitchFamily="34" charset="-122"/>
                <a:cs typeface="Aptos Display" pitchFamily="34" charset="-120"/>
              </a:rPr>
              <a:t>ADDRESSABLE COST PRODUCTIVITY</a:t>
            </a:r>
            <a:endParaRPr lang="en-US" sz="1350" dirty="0"/>
          </a:p>
        </p:txBody>
      </p:sp>
      <p:sp>
        <p:nvSpPr>
          <p:cNvPr id="29" name="Text 27"/>
          <p:cNvSpPr/>
          <p:nvPr/>
        </p:nvSpPr>
        <p:spPr>
          <a:xfrm>
            <a:off x="4507992" y="3749040"/>
            <a:ext cx="3200400" cy="201168"/>
          </a:xfrm>
          <a:prstGeom prst="rect">
            <a:avLst/>
          </a:prstGeom>
          <a:noFill/>
          <a:ln/>
        </p:spPr>
        <p:txBody>
          <a:bodyPr wrap="square" lIns="0" tIns="0" rIns="0" bIns="0" rtlCol="0" anchor="ctr"/>
          <a:lstStyle/>
          <a:p>
            <a:pPr marL="0" indent="0">
              <a:buNone/>
            </a:pPr>
            <a:r>
              <a:rPr lang="en-US" sz="900" b="1" dirty="0">
                <a:solidFill>
                  <a:srgbClr val="8FB0E8"/>
                </a:solidFill>
                <a:latin typeface="Aptos" pitchFamily="34" charset="0"/>
                <a:ea typeface="Aptos" pitchFamily="34" charset="-122"/>
                <a:cs typeface="Aptos" pitchFamily="34" charset="-120"/>
              </a:rPr>
              <a:t>ALT-4 basis - 68.8%</a:t>
            </a:r>
            <a:endParaRPr lang="en-US" sz="900" dirty="0"/>
          </a:p>
        </p:txBody>
      </p:sp>
      <p:sp>
        <p:nvSpPr>
          <p:cNvPr id="30" name="Text 28"/>
          <p:cNvSpPr/>
          <p:nvPr/>
        </p:nvSpPr>
        <p:spPr>
          <a:xfrm>
            <a:off x="4507992" y="3950208"/>
            <a:ext cx="3200400" cy="365760"/>
          </a:xfrm>
          <a:prstGeom prst="rect">
            <a:avLst/>
          </a:prstGeom>
          <a:noFill/>
          <a:ln/>
        </p:spPr>
        <p:txBody>
          <a:bodyPr wrap="square" lIns="0" tIns="0" rIns="0" bIns="0" rtlCol="0" anchor="t"/>
          <a:lstStyle/>
          <a:p>
            <a:pPr marL="0" indent="0">
              <a:buNone/>
            </a:pPr>
            <a:r>
              <a:rPr lang="en-US" sz="950" dirty="0">
                <a:solidFill>
                  <a:srgbClr val="B9CDF0"/>
                </a:solidFill>
                <a:latin typeface="Aptos" pitchFamily="34" charset="0"/>
                <a:ea typeface="Aptos" pitchFamily="34" charset="-122"/>
                <a:cs typeface="Aptos" pitchFamily="34" charset="-120"/>
              </a:rPr>
              <a:t>Procurement, crew productivity, airport cost, ground automation, verified AI-assisted operations.</a:t>
            </a:r>
            <a:endParaRPr lang="en-US" sz="950" dirty="0"/>
          </a:p>
        </p:txBody>
      </p:sp>
      <p:sp>
        <p:nvSpPr>
          <p:cNvPr id="31" name="Shape 29"/>
          <p:cNvSpPr/>
          <p:nvPr/>
        </p:nvSpPr>
        <p:spPr>
          <a:xfrm>
            <a:off x="8110728" y="2944368"/>
            <a:ext cx="3602736" cy="1463040"/>
          </a:xfrm>
          <a:prstGeom prst="rect">
            <a:avLst/>
          </a:prstGeom>
          <a:solidFill>
            <a:srgbClr val="FFFFFF"/>
          </a:solidFill>
          <a:ln w="19050">
            <a:solidFill>
              <a:srgbClr val="0032A0"/>
            </a:solidFill>
            <a:prstDash val="dash"/>
          </a:ln>
        </p:spPr>
      </p:sp>
      <p:sp>
        <p:nvSpPr>
          <p:cNvPr id="32" name="Shape 30"/>
          <p:cNvSpPr/>
          <p:nvPr/>
        </p:nvSpPr>
        <p:spPr>
          <a:xfrm>
            <a:off x="7982712" y="2944368"/>
            <a:ext cx="45720" cy="1463040"/>
          </a:xfrm>
          <a:prstGeom prst="rect">
            <a:avLst/>
          </a:prstGeom>
          <a:solidFill>
            <a:srgbClr val="D98A00"/>
          </a:solidFill>
          <a:ln/>
        </p:spPr>
      </p:sp>
      <p:sp>
        <p:nvSpPr>
          <p:cNvPr id="33" name="Text 31"/>
          <p:cNvSpPr/>
          <p:nvPr/>
        </p:nvSpPr>
        <p:spPr>
          <a:xfrm>
            <a:off x="8311896" y="3090672"/>
            <a:ext cx="457200" cy="365760"/>
          </a:xfrm>
          <a:prstGeom prst="rect">
            <a:avLst/>
          </a:prstGeom>
          <a:noFill/>
          <a:ln/>
        </p:spPr>
        <p:txBody>
          <a:bodyPr wrap="square" lIns="0" tIns="0" rIns="0" bIns="0" rtlCol="0" anchor="ctr"/>
          <a:lstStyle/>
          <a:p>
            <a:pPr marL="0" indent="0">
              <a:buNone/>
            </a:pPr>
            <a:r>
              <a:rPr lang="en-US" sz="2200" b="1" dirty="0">
                <a:solidFill>
                  <a:srgbClr val="0032A0"/>
                </a:solidFill>
                <a:latin typeface="Aptos Display" pitchFamily="34" charset="0"/>
                <a:ea typeface="Aptos Display" pitchFamily="34" charset="-122"/>
                <a:cs typeface="Aptos Display" pitchFamily="34" charset="-120"/>
              </a:rPr>
              <a:t>C</a:t>
            </a:r>
            <a:endParaRPr lang="en-US" sz="2200" dirty="0"/>
          </a:p>
        </p:txBody>
      </p:sp>
      <p:sp>
        <p:nvSpPr>
          <p:cNvPr id="34" name="Text 32"/>
          <p:cNvSpPr/>
          <p:nvPr/>
        </p:nvSpPr>
        <p:spPr>
          <a:xfrm>
            <a:off x="8769096" y="3127248"/>
            <a:ext cx="2743200" cy="292608"/>
          </a:xfrm>
          <a:prstGeom prst="rect">
            <a:avLst/>
          </a:prstGeom>
          <a:noFill/>
          <a:ln/>
        </p:spPr>
        <p:txBody>
          <a:bodyPr wrap="square" lIns="0" tIns="0" rIns="0" bIns="0" rtlCol="0" anchor="ctr"/>
          <a:lstStyle/>
          <a:p>
            <a:pPr marL="0" indent="0">
              <a:buNone/>
            </a:pPr>
            <a:r>
              <a:rPr lang="en-US" sz="900" b="1" dirty="0">
                <a:solidFill>
                  <a:srgbClr val="D98A00"/>
                </a:solidFill>
                <a:latin typeface="Aptos" pitchFamily="34" charset="0"/>
                <a:ea typeface="Aptos" pitchFamily="34" charset="-122"/>
                <a:cs typeface="Aptos" pitchFamily="34" charset="-120"/>
              </a:rPr>
              <a:t>MONITOR -&gt; ACTIVATE ON EVIDENCE</a:t>
            </a:r>
            <a:endParaRPr lang="en-US" sz="900" dirty="0"/>
          </a:p>
        </p:txBody>
      </p:sp>
      <p:sp>
        <p:nvSpPr>
          <p:cNvPr id="35" name="Text 33"/>
          <p:cNvSpPr/>
          <p:nvPr/>
        </p:nvSpPr>
        <p:spPr>
          <a:xfrm>
            <a:off x="8311896" y="3474720"/>
            <a:ext cx="3200400" cy="384048"/>
          </a:xfrm>
          <a:prstGeom prst="rect">
            <a:avLst/>
          </a:prstGeom>
          <a:noFill/>
          <a:ln/>
        </p:spPr>
        <p:txBody>
          <a:bodyPr wrap="square" lIns="0" tIns="0" rIns="0" bIns="0" rtlCol="0" anchor="ctr"/>
          <a:lstStyle/>
          <a:p>
            <a:pPr marL="0" indent="0">
              <a:buNone/>
            </a:pPr>
            <a:r>
              <a:rPr lang="en-US" sz="1350" b="1" dirty="0">
                <a:solidFill>
                  <a:srgbClr val="041E47"/>
                </a:solidFill>
                <a:latin typeface="Aptos Display" pitchFamily="34" charset="0"/>
                <a:ea typeface="Aptos Display" pitchFamily="34" charset="-122"/>
                <a:cs typeface="Aptos Display" pitchFamily="34" charset="-120"/>
              </a:rPr>
              <a:t>CAPACITY PACING</a:t>
            </a:r>
            <a:endParaRPr lang="en-US" sz="1350" dirty="0"/>
          </a:p>
        </p:txBody>
      </p:sp>
      <p:sp>
        <p:nvSpPr>
          <p:cNvPr id="36" name="Text 34"/>
          <p:cNvSpPr/>
          <p:nvPr/>
        </p:nvSpPr>
        <p:spPr>
          <a:xfrm>
            <a:off x="8311896" y="3858768"/>
            <a:ext cx="3200400" cy="201168"/>
          </a:xfrm>
          <a:prstGeom prst="rect">
            <a:avLst/>
          </a:prstGeom>
          <a:noFill/>
          <a:ln/>
        </p:spPr>
        <p:txBody>
          <a:bodyPr wrap="square" lIns="0" tIns="0" rIns="0" bIns="0" rtlCol="0" anchor="ctr"/>
          <a:lstStyle/>
          <a:p>
            <a:pPr marL="0" indent="0">
              <a:buNone/>
            </a:pPr>
            <a:r>
              <a:rPr lang="en-US" sz="900" b="1" dirty="0">
                <a:solidFill>
                  <a:srgbClr val="D98A00"/>
                </a:solidFill>
                <a:latin typeface="Aptos" pitchFamily="34" charset="0"/>
                <a:ea typeface="Aptos" pitchFamily="34" charset="-122"/>
                <a:cs typeface="Aptos" pitchFamily="34" charset="-120"/>
              </a:rPr>
              <a:t>ALT-1 basis - 74.4%</a:t>
            </a:r>
            <a:endParaRPr lang="en-US" sz="900" dirty="0"/>
          </a:p>
        </p:txBody>
      </p:sp>
      <p:sp>
        <p:nvSpPr>
          <p:cNvPr id="37" name="Text 35"/>
          <p:cNvSpPr/>
          <p:nvPr/>
        </p:nvSpPr>
        <p:spPr>
          <a:xfrm>
            <a:off x="8311896" y="4059936"/>
            <a:ext cx="3200400" cy="365760"/>
          </a:xfrm>
          <a:prstGeom prst="rect">
            <a:avLst/>
          </a:prstGeom>
          <a:noFill/>
          <a:ln/>
        </p:spPr>
        <p:txBody>
          <a:bodyPr wrap="square" lIns="0" tIns="0" rIns="0" bIns="0" rtlCol="0" anchor="t"/>
          <a:lstStyle/>
          <a:p>
            <a:pPr marL="0" indent="0">
              <a:buNone/>
            </a:pPr>
            <a:r>
              <a:rPr lang="en-US" sz="950" dirty="0">
                <a:solidFill>
                  <a:srgbClr val="46577A"/>
                </a:solidFill>
                <a:latin typeface="Aptos" pitchFamily="34" charset="0"/>
                <a:ea typeface="Aptos" pitchFamily="34" charset="-122"/>
                <a:cs typeface="Aptos" pitchFamily="34" charset="-120"/>
              </a:rPr>
              <a:t>Conditional governance lever - not an immediate capacity reduction.</a:t>
            </a:r>
            <a:endParaRPr lang="en-US" sz="950" dirty="0"/>
          </a:p>
        </p:txBody>
      </p:sp>
      <p:sp>
        <p:nvSpPr>
          <p:cNvPr id="38" name="Text 36"/>
          <p:cNvSpPr/>
          <p:nvPr/>
        </p:nvSpPr>
        <p:spPr>
          <a:xfrm>
            <a:off x="502920" y="4443984"/>
            <a:ext cx="3602736" cy="182880"/>
          </a:xfrm>
          <a:prstGeom prst="rect">
            <a:avLst/>
          </a:prstGeom>
          <a:noFill/>
          <a:ln/>
        </p:spPr>
        <p:txBody>
          <a:bodyPr wrap="square" lIns="0" tIns="0" rIns="0" bIns="0" rtlCol="0" anchor="ctr"/>
          <a:lstStyle/>
          <a:p>
            <a:pPr marL="0" indent="0">
              <a:buNone/>
            </a:pPr>
            <a:r>
              <a:rPr lang="en-US" sz="850" b="1" dirty="0">
                <a:solidFill>
                  <a:srgbClr val="6B7280"/>
                </a:solidFill>
                <a:latin typeface="Aptos" pitchFamily="34" charset="0"/>
                <a:ea typeface="Aptos" pitchFamily="34" charset="-122"/>
                <a:cs typeface="Aptos" pitchFamily="34" charset="-120"/>
              </a:rPr>
              <a:t>IMMEDIATE</a:t>
            </a:r>
            <a:endParaRPr lang="en-US" sz="850" dirty="0"/>
          </a:p>
        </p:txBody>
      </p:sp>
      <p:sp>
        <p:nvSpPr>
          <p:cNvPr id="39" name="Text 37"/>
          <p:cNvSpPr/>
          <p:nvPr/>
        </p:nvSpPr>
        <p:spPr>
          <a:xfrm>
            <a:off x="8110728" y="4443984"/>
            <a:ext cx="3602736" cy="182880"/>
          </a:xfrm>
          <a:prstGeom prst="rect">
            <a:avLst/>
          </a:prstGeom>
          <a:noFill/>
          <a:ln/>
        </p:spPr>
        <p:txBody>
          <a:bodyPr wrap="square" lIns="0" tIns="0" rIns="0" bIns="0" rtlCol="0" anchor="ctr"/>
          <a:lstStyle/>
          <a:p>
            <a:pPr marL="0" indent="0" algn="r">
              <a:buNone/>
            </a:pPr>
            <a:r>
              <a:rPr lang="en-US" sz="850" b="1" dirty="0">
                <a:solidFill>
                  <a:srgbClr val="D98A00"/>
                </a:solidFill>
                <a:latin typeface="Aptos" pitchFamily="34" charset="0"/>
                <a:ea typeface="Aptos" pitchFamily="34" charset="-122"/>
                <a:cs typeface="Aptos" pitchFamily="34" charset="-120"/>
              </a:rPr>
              <a:t>EVIDENCE-GATED</a:t>
            </a:r>
            <a:endParaRPr lang="en-US" sz="850" dirty="0"/>
          </a:p>
        </p:txBody>
      </p:sp>
      <p:sp>
        <p:nvSpPr>
          <p:cNvPr id="40" name="Shape 38"/>
          <p:cNvSpPr/>
          <p:nvPr/>
        </p:nvSpPr>
        <p:spPr>
          <a:xfrm>
            <a:off x="502920" y="4718304"/>
            <a:ext cx="11185855" cy="5486"/>
          </a:xfrm>
          <a:prstGeom prst="rect">
            <a:avLst/>
          </a:prstGeom>
          <a:solidFill>
            <a:srgbClr val="C9D8F2"/>
          </a:solidFill>
          <a:ln/>
        </p:spPr>
      </p:sp>
      <p:sp>
        <p:nvSpPr>
          <p:cNvPr id="41" name="Text 39"/>
          <p:cNvSpPr/>
          <p:nvPr/>
        </p:nvSpPr>
        <p:spPr>
          <a:xfrm>
            <a:off x="502920" y="4846320"/>
            <a:ext cx="45720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WHY NOT SIMPLY THE TOP SCORE</a:t>
            </a:r>
            <a:endParaRPr lang="en-US" sz="1000" dirty="0"/>
          </a:p>
        </p:txBody>
      </p:sp>
      <p:sp>
        <p:nvSpPr>
          <p:cNvPr id="42" name="Text 40"/>
          <p:cNvSpPr/>
          <p:nvPr/>
        </p:nvSpPr>
        <p:spPr>
          <a:xfrm>
            <a:off x="502920" y="5120640"/>
            <a:ext cx="3454298" cy="530352"/>
          </a:xfrm>
          <a:prstGeom prst="rect">
            <a:avLst/>
          </a:prstGeom>
          <a:noFill/>
          <a:ln/>
        </p:spPr>
        <p:txBody>
          <a:bodyPr wrap="square" lIns="0" tIns="0" rIns="0" bIns="0" rtlCol="0" anchor="t"/>
          <a:lstStyle/>
          <a:p>
            <a:pPr marL="0" indent="0">
              <a:buNone/>
            </a:pPr>
            <a:r>
              <a:rPr lang="en-US" sz="1000" dirty="0">
                <a:solidFill>
                  <a:srgbClr val="46577A"/>
                </a:solidFill>
                <a:latin typeface="Aptos" pitchFamily="34" charset="0"/>
                <a:ea typeface="Aptos" pitchFamily="34" charset="-122"/>
                <a:cs typeface="Aptos" pitchFamily="34" charset="-120"/>
              </a:rPr>
              <a:t>ALT-1 and ALT-3 are 1.6 points apart on one year of evidence.</a:t>
            </a:r>
            <a:endParaRPr lang="en-US" sz="1000" dirty="0"/>
          </a:p>
        </p:txBody>
      </p:sp>
      <p:sp>
        <p:nvSpPr>
          <p:cNvPr id="43" name="Text 41"/>
          <p:cNvSpPr/>
          <p:nvPr/>
        </p:nvSpPr>
        <p:spPr>
          <a:xfrm>
            <a:off x="4231538" y="5120640"/>
            <a:ext cx="3454298" cy="530352"/>
          </a:xfrm>
          <a:prstGeom prst="rect">
            <a:avLst/>
          </a:prstGeom>
          <a:noFill/>
          <a:ln/>
        </p:spPr>
        <p:txBody>
          <a:bodyPr wrap="square" lIns="0" tIns="0" rIns="0" bIns="0" rtlCol="0" anchor="t"/>
          <a:lstStyle/>
          <a:p>
            <a:pPr marL="0" indent="0">
              <a:buNone/>
            </a:pPr>
            <a:r>
              <a:rPr lang="en-US" sz="1000" dirty="0">
                <a:solidFill>
                  <a:srgbClr val="46577A"/>
                </a:solidFill>
                <a:latin typeface="Aptos" pitchFamily="34" charset="0"/>
                <a:ea typeface="Aptos" pitchFamily="34" charset="-122"/>
                <a:cs typeface="Aptos" pitchFamily="34" charset="-120"/>
              </a:rPr>
              <a:t>ALT-1 scores 2/5 on growth preservation - in direct tension with the problem statement.</a:t>
            </a:r>
            <a:endParaRPr lang="en-US" sz="1000" dirty="0"/>
          </a:p>
        </p:txBody>
      </p:sp>
      <p:sp>
        <p:nvSpPr>
          <p:cNvPr id="44" name="Text 42"/>
          <p:cNvSpPr/>
          <p:nvPr/>
        </p:nvSpPr>
        <p:spPr>
          <a:xfrm>
            <a:off x="7960157" y="5120640"/>
            <a:ext cx="3454298" cy="530352"/>
          </a:xfrm>
          <a:prstGeom prst="rect">
            <a:avLst/>
          </a:prstGeom>
          <a:noFill/>
          <a:ln/>
        </p:spPr>
        <p:txBody>
          <a:bodyPr wrap="square" lIns="0" tIns="0" rIns="0" bIns="0" rtlCol="0" anchor="t"/>
          <a:lstStyle/>
          <a:p>
            <a:pPr marL="0" indent="0">
              <a:buNone/>
            </a:pPr>
            <a:r>
              <a:rPr lang="en-US" sz="1000" dirty="0">
                <a:solidFill>
                  <a:srgbClr val="46577A"/>
                </a:solidFill>
                <a:latin typeface="Aptos" pitchFamily="34" charset="0"/>
                <a:ea typeface="Aptos" pitchFamily="34" charset="-122"/>
                <a:cs typeface="Aptos" pitchFamily="34" charset="-120"/>
              </a:rPr>
              <a:t>ALT-3 and ALT-4 levers are reversible and lower-regret under uncertainty.</a:t>
            </a:r>
            <a:endParaRPr lang="en-US" sz="1000" dirty="0"/>
          </a:p>
        </p:txBody>
      </p:sp>
      <p:sp>
        <p:nvSpPr>
          <p:cNvPr id="45" name="Shape 43"/>
          <p:cNvSpPr/>
          <p:nvPr/>
        </p:nvSpPr>
        <p:spPr>
          <a:xfrm>
            <a:off x="502920" y="5760720"/>
            <a:ext cx="1481328" cy="173736"/>
          </a:xfrm>
          <a:prstGeom prst="rect">
            <a:avLst/>
          </a:prstGeom>
          <a:solidFill>
            <a:srgbClr val="0032A0"/>
          </a:solidFill>
          <a:ln/>
        </p:spPr>
      </p:sp>
      <p:sp>
        <p:nvSpPr>
          <p:cNvPr id="46" name="Text 44"/>
          <p:cNvSpPr/>
          <p:nvPr/>
        </p:nvSpPr>
        <p:spPr>
          <a:xfrm>
            <a:off x="502920" y="5760720"/>
            <a:ext cx="1481328"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RECOMMENDATION</a:t>
            </a:r>
            <a:endParaRPr lang="en-US" sz="900" dirty="0"/>
          </a:p>
        </p:txBody>
      </p:sp>
      <p:sp>
        <p:nvSpPr>
          <p:cNvPr id="47" name="Text 45"/>
          <p:cNvSpPr/>
          <p:nvPr/>
        </p:nvSpPr>
        <p:spPr>
          <a:xfrm>
            <a:off x="2075688" y="5742432"/>
            <a:ext cx="9613087" cy="219456"/>
          </a:xfrm>
          <a:prstGeom prst="rect">
            <a:avLst/>
          </a:prstGeom>
          <a:noFill/>
          <a:ln/>
        </p:spPr>
        <p:txBody>
          <a:bodyPr wrap="square" lIns="0" tIns="0" rIns="0" bIns="0" rtlCol="0" anchor="t"/>
          <a:lstStyle/>
          <a:p>
            <a:pPr marL="0" indent="0">
              <a:buNone/>
            </a:pPr>
            <a:r>
              <a:rPr lang="en-US" sz="950" dirty="0">
                <a:solidFill>
                  <a:srgbClr val="46577A"/>
                </a:solidFill>
                <a:latin typeface="Aptos" pitchFamily="34" charset="0"/>
                <a:ea typeface="Aptos" pitchFamily="34" charset="-122"/>
                <a:cs typeface="Aptos" pitchFamily="34" charset="-120"/>
              </a:rPr>
              <a:t>An evidence-justified synthesis of ALT-3, ALT-4 and ALT-1 (conditional). It is not the highest-scoring single alternative and it is not ALT-6 (64.2%) relabelled.</a:t>
            </a:r>
            <a:endParaRPr lang="en-US" sz="950" dirty="0"/>
          </a:p>
        </p:txBody>
      </p:sp>
      <p:sp>
        <p:nvSpPr>
          <p:cNvPr id="48" name="Shape 46"/>
          <p:cNvSpPr/>
          <p:nvPr/>
        </p:nvSpPr>
        <p:spPr>
          <a:xfrm>
            <a:off x="502920" y="6309360"/>
            <a:ext cx="11185855" cy="5486"/>
          </a:xfrm>
          <a:prstGeom prst="rect">
            <a:avLst/>
          </a:prstGeom>
          <a:solidFill>
            <a:srgbClr val="C9D8F2"/>
          </a:solidFill>
          <a:ln/>
        </p:spPr>
      </p:sp>
      <p:sp>
        <p:nvSpPr>
          <p:cNvPr id="49" name="Text 47"/>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50" name="Text 48"/>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SRC-FY26-002 - SRC-FY26-006 - IndiGo_PASS_1C_4_5_Source_Pack - IndiGo_PASS_7_Traceability_Recovery_Pack</a:t>
            </a:r>
            <a:endParaRPr lang="en-US" sz="800" dirty="0"/>
          </a:p>
        </p:txBody>
      </p:sp>
      <p:sp>
        <p:nvSpPr>
          <p:cNvPr id="51" name="Shape 49"/>
          <p:cNvSpPr/>
          <p:nvPr/>
        </p:nvSpPr>
        <p:spPr>
          <a:xfrm>
            <a:off x="11484864" y="6364224"/>
            <a:ext cx="201168" cy="201168"/>
          </a:xfrm>
          <a:prstGeom prst="rect">
            <a:avLst/>
          </a:prstGeom>
          <a:solidFill>
            <a:srgbClr val="0032A0"/>
          </a:solidFill>
          <a:ln/>
        </p:spPr>
      </p:sp>
      <p:sp>
        <p:nvSpPr>
          <p:cNvPr id="52" name="Text 50"/>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06 - THE ANSWER AND ITS EVIDENCE</a:t>
            </a:r>
            <a:endParaRPr lang="en-US" sz="1000" dirty="0"/>
          </a:p>
        </p:txBody>
      </p:sp>
      <p:sp>
        <p:nvSpPr>
          <p:cNvPr id="3" name="Shape 1"/>
          <p:cNvSpPr/>
          <p:nvPr/>
        </p:nvSpPr>
        <p:spPr>
          <a:xfrm>
            <a:off x="502919" y="571500"/>
            <a:ext cx="2145495" cy="45719"/>
          </a:xfrm>
          <a:prstGeom prst="rect">
            <a:avLst/>
          </a:prstGeom>
          <a:solidFill>
            <a:srgbClr val="0032A0"/>
          </a:solidFill>
          <a:ln/>
        </p:spPr>
      </p:sp>
      <p:sp>
        <p:nvSpPr>
          <p:cNvPr id="4" name="Text 2"/>
          <p:cNvSpPr/>
          <p:nvPr/>
        </p:nvSpPr>
        <p:spPr>
          <a:xfrm>
            <a:off x="502920" y="709398"/>
            <a:ext cx="11185855" cy="749808"/>
          </a:xfrm>
          <a:prstGeom prst="rect">
            <a:avLst/>
          </a:prstGeom>
          <a:noFill/>
          <a:ln/>
        </p:spPr>
        <p:txBody>
          <a:bodyPr wrap="square" lIns="0" tIns="0" rIns="0" bIns="0" rtlCol="0" anchor="t"/>
          <a:lstStyle/>
          <a:p>
            <a:pPr>
              <a:lnSpc>
                <a:spcPct val="104000"/>
              </a:lnSpc>
            </a:pPr>
            <a:r>
              <a:rPr lang="en-IN" sz="2250" b="1" dirty="0">
                <a:solidFill>
                  <a:srgbClr val="041E47"/>
                </a:solidFill>
                <a:latin typeface="Aptos Display" pitchFamily="34" charset="0"/>
              </a:rPr>
              <a:t>Evidence discipline keeps the diagnosis separate from what the data does not establish</a:t>
            </a:r>
            <a:endParaRPr lang="en-US" sz="2250" b="1" dirty="0">
              <a:solidFill>
                <a:srgbClr val="041E47"/>
              </a:solidFill>
              <a:latin typeface="Aptos Display" pitchFamily="34" charset="0"/>
            </a:endParaRPr>
          </a:p>
        </p:txBody>
      </p:sp>
      <p:sp>
        <p:nvSpPr>
          <p:cNvPr id="5" name="Text 3"/>
          <p:cNvSpPr/>
          <p:nvPr/>
        </p:nvSpPr>
        <p:spPr>
          <a:xfrm>
            <a:off x="502920" y="1444752"/>
            <a:ext cx="45720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THE EVIDENCE CHAIN</a:t>
            </a:r>
            <a:endParaRPr lang="en-US" sz="1000" dirty="0"/>
          </a:p>
        </p:txBody>
      </p:sp>
      <p:sp>
        <p:nvSpPr>
          <p:cNvPr id="6" name="Shape 4"/>
          <p:cNvSpPr/>
          <p:nvPr/>
        </p:nvSpPr>
        <p:spPr>
          <a:xfrm>
            <a:off x="502920" y="1737360"/>
            <a:ext cx="1463040" cy="457200"/>
          </a:xfrm>
          <a:prstGeom prst="roundRect">
            <a:avLst>
              <a:gd name="adj" fmla="val 10000"/>
            </a:avLst>
          </a:prstGeom>
          <a:solidFill>
            <a:srgbClr val="DCE7FA"/>
          </a:solidFill>
          <a:ln w="9525">
            <a:solidFill>
              <a:srgbClr val="2F6BD8"/>
            </a:solidFill>
            <a:prstDash val="solid"/>
          </a:ln>
        </p:spPr>
      </p:sp>
      <p:sp>
        <p:nvSpPr>
          <p:cNvPr id="7" name="Text 5"/>
          <p:cNvSpPr/>
          <p:nvPr/>
        </p:nvSpPr>
        <p:spPr>
          <a:xfrm>
            <a:off x="502920" y="1737360"/>
            <a:ext cx="1463040" cy="457200"/>
          </a:xfrm>
          <a:prstGeom prst="rect">
            <a:avLst/>
          </a:prstGeom>
          <a:noFill/>
          <a:ln/>
        </p:spPr>
        <p:txBody>
          <a:bodyPr wrap="square" lIns="0" tIns="0" rIns="0" bIns="0" rtlCol="0" anchor="ctr"/>
          <a:lstStyle/>
          <a:p>
            <a:pPr marL="0" indent="0" algn="ctr">
              <a:buNone/>
            </a:pPr>
            <a:r>
              <a:rPr lang="en-US" sz="1000" b="1" dirty="0">
                <a:solidFill>
                  <a:srgbClr val="041E47"/>
                </a:solidFill>
                <a:latin typeface="Aptos" pitchFamily="34" charset="0"/>
                <a:ea typeface="Aptos" pitchFamily="34" charset="-122"/>
                <a:cs typeface="Aptos" pitchFamily="34" charset="-120"/>
              </a:rPr>
              <a:t>Source</a:t>
            </a:r>
            <a:endParaRPr lang="en-US" sz="1000" dirty="0"/>
          </a:p>
        </p:txBody>
      </p:sp>
      <p:sp>
        <p:nvSpPr>
          <p:cNvPr id="8" name="Shape 6"/>
          <p:cNvSpPr/>
          <p:nvPr/>
        </p:nvSpPr>
        <p:spPr>
          <a:xfrm>
            <a:off x="1984248" y="1956816"/>
            <a:ext cx="100584" cy="20117"/>
          </a:xfrm>
          <a:prstGeom prst="rect">
            <a:avLst/>
          </a:prstGeom>
          <a:solidFill>
            <a:srgbClr val="2F6BD8"/>
          </a:solidFill>
          <a:ln/>
        </p:spPr>
      </p:sp>
      <p:sp>
        <p:nvSpPr>
          <p:cNvPr id="9" name="Shape 7"/>
          <p:cNvSpPr/>
          <p:nvPr/>
        </p:nvSpPr>
        <p:spPr>
          <a:xfrm rot="5400000">
            <a:off x="2048256" y="1897380"/>
            <a:ext cx="91440" cy="109728"/>
          </a:xfrm>
          <a:prstGeom prst="triangle">
            <a:avLst/>
          </a:prstGeom>
          <a:solidFill>
            <a:srgbClr val="2F6BD8"/>
          </a:solidFill>
          <a:ln/>
        </p:spPr>
      </p:sp>
      <p:sp>
        <p:nvSpPr>
          <p:cNvPr id="10" name="Shape 8"/>
          <p:cNvSpPr/>
          <p:nvPr/>
        </p:nvSpPr>
        <p:spPr>
          <a:xfrm>
            <a:off x="2139696" y="1737360"/>
            <a:ext cx="1463040" cy="457200"/>
          </a:xfrm>
          <a:prstGeom prst="roundRect">
            <a:avLst>
              <a:gd name="adj" fmla="val 10000"/>
            </a:avLst>
          </a:prstGeom>
          <a:solidFill>
            <a:srgbClr val="DCE7FA"/>
          </a:solidFill>
          <a:ln w="9525">
            <a:solidFill>
              <a:srgbClr val="2F6BD8"/>
            </a:solidFill>
            <a:prstDash val="solid"/>
          </a:ln>
        </p:spPr>
      </p:sp>
      <p:sp>
        <p:nvSpPr>
          <p:cNvPr id="11" name="Text 9"/>
          <p:cNvSpPr/>
          <p:nvPr/>
        </p:nvSpPr>
        <p:spPr>
          <a:xfrm>
            <a:off x="2139696" y="1737360"/>
            <a:ext cx="1463040" cy="457200"/>
          </a:xfrm>
          <a:prstGeom prst="rect">
            <a:avLst/>
          </a:prstGeom>
          <a:noFill/>
          <a:ln/>
        </p:spPr>
        <p:txBody>
          <a:bodyPr wrap="square" lIns="0" tIns="0" rIns="0" bIns="0" rtlCol="0" anchor="ctr"/>
          <a:lstStyle/>
          <a:p>
            <a:pPr marL="0" indent="0" algn="ctr">
              <a:buNone/>
            </a:pPr>
            <a:r>
              <a:rPr lang="en-US" sz="1000" b="1" dirty="0">
                <a:solidFill>
                  <a:srgbClr val="041E47"/>
                </a:solidFill>
                <a:latin typeface="Aptos" pitchFamily="34" charset="0"/>
                <a:ea typeface="Aptos" pitchFamily="34" charset="-122"/>
                <a:cs typeface="Aptos" pitchFamily="34" charset="-120"/>
              </a:rPr>
              <a:t>Evidence</a:t>
            </a:r>
            <a:endParaRPr lang="en-US" sz="1000" dirty="0"/>
          </a:p>
        </p:txBody>
      </p:sp>
      <p:sp>
        <p:nvSpPr>
          <p:cNvPr id="12" name="Shape 10"/>
          <p:cNvSpPr/>
          <p:nvPr/>
        </p:nvSpPr>
        <p:spPr>
          <a:xfrm>
            <a:off x="3621024" y="1956816"/>
            <a:ext cx="100584" cy="20117"/>
          </a:xfrm>
          <a:prstGeom prst="rect">
            <a:avLst/>
          </a:prstGeom>
          <a:solidFill>
            <a:srgbClr val="2F6BD8"/>
          </a:solidFill>
          <a:ln/>
        </p:spPr>
      </p:sp>
      <p:sp>
        <p:nvSpPr>
          <p:cNvPr id="13" name="Shape 11"/>
          <p:cNvSpPr/>
          <p:nvPr/>
        </p:nvSpPr>
        <p:spPr>
          <a:xfrm rot="5400000">
            <a:off x="3685032" y="1897380"/>
            <a:ext cx="91440" cy="109728"/>
          </a:xfrm>
          <a:prstGeom prst="triangle">
            <a:avLst/>
          </a:prstGeom>
          <a:solidFill>
            <a:srgbClr val="2F6BD8"/>
          </a:solidFill>
          <a:ln/>
        </p:spPr>
      </p:sp>
      <p:sp>
        <p:nvSpPr>
          <p:cNvPr id="14" name="Shape 12"/>
          <p:cNvSpPr/>
          <p:nvPr/>
        </p:nvSpPr>
        <p:spPr>
          <a:xfrm>
            <a:off x="3776472" y="1737360"/>
            <a:ext cx="1463040" cy="457200"/>
          </a:xfrm>
          <a:prstGeom prst="roundRect">
            <a:avLst>
              <a:gd name="adj" fmla="val 10000"/>
            </a:avLst>
          </a:prstGeom>
          <a:solidFill>
            <a:srgbClr val="DCE7FA"/>
          </a:solidFill>
          <a:ln w="9525">
            <a:solidFill>
              <a:srgbClr val="2F6BD8"/>
            </a:solidFill>
            <a:prstDash val="solid"/>
          </a:ln>
        </p:spPr>
      </p:sp>
      <p:sp>
        <p:nvSpPr>
          <p:cNvPr id="15" name="Text 13"/>
          <p:cNvSpPr/>
          <p:nvPr/>
        </p:nvSpPr>
        <p:spPr>
          <a:xfrm>
            <a:off x="3776472" y="1737360"/>
            <a:ext cx="1463040" cy="457200"/>
          </a:xfrm>
          <a:prstGeom prst="rect">
            <a:avLst/>
          </a:prstGeom>
          <a:noFill/>
          <a:ln/>
        </p:spPr>
        <p:txBody>
          <a:bodyPr wrap="square" lIns="0" tIns="0" rIns="0" bIns="0" rtlCol="0" anchor="ctr"/>
          <a:lstStyle/>
          <a:p>
            <a:pPr marL="0" indent="0" algn="ctr">
              <a:buNone/>
            </a:pPr>
            <a:r>
              <a:rPr lang="en-US" sz="1000" b="1" dirty="0">
                <a:solidFill>
                  <a:srgbClr val="041E47"/>
                </a:solidFill>
                <a:latin typeface="Aptos" pitchFamily="34" charset="0"/>
                <a:ea typeface="Aptos" pitchFamily="34" charset="-122"/>
                <a:cs typeface="Aptos" pitchFamily="34" charset="-120"/>
              </a:rPr>
              <a:t>Validation</a:t>
            </a:r>
            <a:endParaRPr lang="en-US" sz="1000" dirty="0"/>
          </a:p>
        </p:txBody>
      </p:sp>
      <p:sp>
        <p:nvSpPr>
          <p:cNvPr id="16" name="Shape 14"/>
          <p:cNvSpPr/>
          <p:nvPr/>
        </p:nvSpPr>
        <p:spPr>
          <a:xfrm>
            <a:off x="5257800" y="1956816"/>
            <a:ext cx="100584" cy="20117"/>
          </a:xfrm>
          <a:prstGeom prst="rect">
            <a:avLst/>
          </a:prstGeom>
          <a:solidFill>
            <a:srgbClr val="2F6BD8"/>
          </a:solidFill>
          <a:ln/>
        </p:spPr>
      </p:sp>
      <p:sp>
        <p:nvSpPr>
          <p:cNvPr id="17" name="Shape 15"/>
          <p:cNvSpPr/>
          <p:nvPr/>
        </p:nvSpPr>
        <p:spPr>
          <a:xfrm rot="5400000">
            <a:off x="5321808" y="1897380"/>
            <a:ext cx="91440" cy="109728"/>
          </a:xfrm>
          <a:prstGeom prst="triangle">
            <a:avLst/>
          </a:prstGeom>
          <a:solidFill>
            <a:srgbClr val="2F6BD8"/>
          </a:solidFill>
          <a:ln/>
        </p:spPr>
      </p:sp>
      <p:sp>
        <p:nvSpPr>
          <p:cNvPr id="18" name="Shape 16"/>
          <p:cNvSpPr/>
          <p:nvPr/>
        </p:nvSpPr>
        <p:spPr>
          <a:xfrm>
            <a:off x="5413248" y="1737360"/>
            <a:ext cx="1463040" cy="457200"/>
          </a:xfrm>
          <a:prstGeom prst="roundRect">
            <a:avLst>
              <a:gd name="adj" fmla="val 10000"/>
            </a:avLst>
          </a:prstGeom>
          <a:solidFill>
            <a:srgbClr val="DCE7FA"/>
          </a:solidFill>
          <a:ln w="9525">
            <a:solidFill>
              <a:srgbClr val="2F6BD8"/>
            </a:solidFill>
            <a:prstDash val="solid"/>
          </a:ln>
        </p:spPr>
      </p:sp>
      <p:sp>
        <p:nvSpPr>
          <p:cNvPr id="19" name="Text 17"/>
          <p:cNvSpPr/>
          <p:nvPr/>
        </p:nvSpPr>
        <p:spPr>
          <a:xfrm>
            <a:off x="5413248" y="1737360"/>
            <a:ext cx="1463040" cy="457200"/>
          </a:xfrm>
          <a:prstGeom prst="rect">
            <a:avLst/>
          </a:prstGeom>
          <a:noFill/>
          <a:ln/>
        </p:spPr>
        <p:txBody>
          <a:bodyPr wrap="square" lIns="0" tIns="0" rIns="0" bIns="0" rtlCol="0" anchor="ctr"/>
          <a:lstStyle/>
          <a:p>
            <a:pPr marL="0" indent="0" algn="ctr">
              <a:buNone/>
            </a:pPr>
            <a:r>
              <a:rPr lang="en-US" sz="1000" b="1" dirty="0">
                <a:solidFill>
                  <a:srgbClr val="041E47"/>
                </a:solidFill>
                <a:latin typeface="Aptos" pitchFamily="34" charset="0"/>
                <a:ea typeface="Aptos" pitchFamily="34" charset="-122"/>
                <a:cs typeface="Aptos" pitchFamily="34" charset="-120"/>
              </a:rPr>
              <a:t>Analysis</a:t>
            </a:r>
            <a:endParaRPr lang="en-US" sz="1000" dirty="0"/>
          </a:p>
        </p:txBody>
      </p:sp>
      <p:sp>
        <p:nvSpPr>
          <p:cNvPr id="20" name="Shape 18"/>
          <p:cNvSpPr/>
          <p:nvPr/>
        </p:nvSpPr>
        <p:spPr>
          <a:xfrm>
            <a:off x="6894576" y="1956816"/>
            <a:ext cx="100584" cy="20117"/>
          </a:xfrm>
          <a:prstGeom prst="rect">
            <a:avLst/>
          </a:prstGeom>
          <a:solidFill>
            <a:srgbClr val="2F6BD8"/>
          </a:solidFill>
          <a:ln/>
        </p:spPr>
      </p:sp>
      <p:sp>
        <p:nvSpPr>
          <p:cNvPr id="21" name="Shape 19"/>
          <p:cNvSpPr/>
          <p:nvPr/>
        </p:nvSpPr>
        <p:spPr>
          <a:xfrm rot="5400000">
            <a:off x="6958584" y="1897380"/>
            <a:ext cx="91440" cy="109728"/>
          </a:xfrm>
          <a:prstGeom prst="triangle">
            <a:avLst/>
          </a:prstGeom>
          <a:solidFill>
            <a:srgbClr val="2F6BD8"/>
          </a:solidFill>
          <a:ln/>
        </p:spPr>
      </p:sp>
      <p:sp>
        <p:nvSpPr>
          <p:cNvPr id="22" name="Shape 20"/>
          <p:cNvSpPr/>
          <p:nvPr/>
        </p:nvSpPr>
        <p:spPr>
          <a:xfrm>
            <a:off x="7050024" y="1737360"/>
            <a:ext cx="1463040" cy="457200"/>
          </a:xfrm>
          <a:prstGeom prst="roundRect">
            <a:avLst>
              <a:gd name="adj" fmla="val 10000"/>
            </a:avLst>
          </a:prstGeom>
          <a:solidFill>
            <a:srgbClr val="DCE7FA"/>
          </a:solidFill>
          <a:ln w="9525">
            <a:solidFill>
              <a:srgbClr val="2F6BD8"/>
            </a:solidFill>
            <a:prstDash val="solid"/>
          </a:ln>
        </p:spPr>
      </p:sp>
      <p:sp>
        <p:nvSpPr>
          <p:cNvPr id="23" name="Text 21"/>
          <p:cNvSpPr/>
          <p:nvPr/>
        </p:nvSpPr>
        <p:spPr>
          <a:xfrm>
            <a:off x="7050024" y="1737360"/>
            <a:ext cx="1463040" cy="457200"/>
          </a:xfrm>
          <a:prstGeom prst="rect">
            <a:avLst/>
          </a:prstGeom>
          <a:noFill/>
          <a:ln/>
        </p:spPr>
        <p:txBody>
          <a:bodyPr wrap="square" lIns="0" tIns="0" rIns="0" bIns="0" rtlCol="0" anchor="ctr"/>
          <a:lstStyle/>
          <a:p>
            <a:pPr marL="0" indent="0" algn="ctr">
              <a:buNone/>
            </a:pPr>
            <a:r>
              <a:rPr lang="en-US" sz="1000" b="1" dirty="0">
                <a:solidFill>
                  <a:srgbClr val="041E47"/>
                </a:solidFill>
                <a:latin typeface="Aptos" pitchFamily="34" charset="0"/>
                <a:ea typeface="Aptos" pitchFamily="34" charset="-122"/>
                <a:cs typeface="Aptos" pitchFamily="34" charset="-120"/>
              </a:rPr>
              <a:t>Insight</a:t>
            </a:r>
            <a:endParaRPr lang="en-US" sz="1000" dirty="0"/>
          </a:p>
        </p:txBody>
      </p:sp>
      <p:sp>
        <p:nvSpPr>
          <p:cNvPr id="24" name="Shape 22"/>
          <p:cNvSpPr/>
          <p:nvPr/>
        </p:nvSpPr>
        <p:spPr>
          <a:xfrm>
            <a:off x="8531352" y="1956816"/>
            <a:ext cx="100584" cy="20117"/>
          </a:xfrm>
          <a:prstGeom prst="rect">
            <a:avLst/>
          </a:prstGeom>
          <a:solidFill>
            <a:srgbClr val="2F6BD8"/>
          </a:solidFill>
          <a:ln/>
        </p:spPr>
      </p:sp>
      <p:sp>
        <p:nvSpPr>
          <p:cNvPr id="25" name="Shape 23"/>
          <p:cNvSpPr/>
          <p:nvPr/>
        </p:nvSpPr>
        <p:spPr>
          <a:xfrm rot="5400000">
            <a:off x="8595360" y="1897380"/>
            <a:ext cx="91440" cy="109728"/>
          </a:xfrm>
          <a:prstGeom prst="triangle">
            <a:avLst/>
          </a:prstGeom>
          <a:solidFill>
            <a:srgbClr val="2F6BD8"/>
          </a:solidFill>
          <a:ln/>
        </p:spPr>
      </p:sp>
      <p:sp>
        <p:nvSpPr>
          <p:cNvPr id="26" name="Shape 24"/>
          <p:cNvSpPr/>
          <p:nvPr/>
        </p:nvSpPr>
        <p:spPr>
          <a:xfrm>
            <a:off x="8686800" y="1737360"/>
            <a:ext cx="1463040" cy="457200"/>
          </a:xfrm>
          <a:prstGeom prst="roundRect">
            <a:avLst>
              <a:gd name="adj" fmla="val 10000"/>
            </a:avLst>
          </a:prstGeom>
          <a:solidFill>
            <a:srgbClr val="DCE7FA"/>
          </a:solidFill>
          <a:ln w="9525">
            <a:solidFill>
              <a:srgbClr val="2F6BD8"/>
            </a:solidFill>
            <a:prstDash val="solid"/>
          </a:ln>
        </p:spPr>
      </p:sp>
      <p:sp>
        <p:nvSpPr>
          <p:cNvPr id="27" name="Text 25"/>
          <p:cNvSpPr/>
          <p:nvPr/>
        </p:nvSpPr>
        <p:spPr>
          <a:xfrm>
            <a:off x="8686800" y="1737360"/>
            <a:ext cx="1463040" cy="457200"/>
          </a:xfrm>
          <a:prstGeom prst="rect">
            <a:avLst/>
          </a:prstGeom>
          <a:noFill/>
          <a:ln/>
        </p:spPr>
        <p:txBody>
          <a:bodyPr wrap="square" lIns="0" tIns="0" rIns="0" bIns="0" rtlCol="0" anchor="ctr"/>
          <a:lstStyle/>
          <a:p>
            <a:pPr marL="0" indent="0" algn="ctr">
              <a:buNone/>
            </a:pPr>
            <a:r>
              <a:rPr lang="en-US" sz="1000" b="1" dirty="0">
                <a:solidFill>
                  <a:srgbClr val="041E47"/>
                </a:solidFill>
                <a:latin typeface="Aptos" pitchFamily="34" charset="0"/>
                <a:ea typeface="Aptos" pitchFamily="34" charset="-122"/>
                <a:cs typeface="Aptos" pitchFamily="34" charset="-120"/>
              </a:rPr>
              <a:t>Exhibit</a:t>
            </a:r>
            <a:endParaRPr lang="en-US" sz="1000" dirty="0"/>
          </a:p>
        </p:txBody>
      </p:sp>
      <p:sp>
        <p:nvSpPr>
          <p:cNvPr id="28" name="Shape 26"/>
          <p:cNvSpPr/>
          <p:nvPr/>
        </p:nvSpPr>
        <p:spPr>
          <a:xfrm>
            <a:off x="10168128" y="1956816"/>
            <a:ext cx="100584" cy="20117"/>
          </a:xfrm>
          <a:prstGeom prst="rect">
            <a:avLst/>
          </a:prstGeom>
          <a:solidFill>
            <a:srgbClr val="2F6BD8"/>
          </a:solidFill>
          <a:ln/>
        </p:spPr>
      </p:sp>
      <p:sp>
        <p:nvSpPr>
          <p:cNvPr id="29" name="Shape 27"/>
          <p:cNvSpPr/>
          <p:nvPr/>
        </p:nvSpPr>
        <p:spPr>
          <a:xfrm rot="5400000">
            <a:off x="10232136" y="1897380"/>
            <a:ext cx="91440" cy="109728"/>
          </a:xfrm>
          <a:prstGeom prst="triangle">
            <a:avLst/>
          </a:prstGeom>
          <a:solidFill>
            <a:srgbClr val="2F6BD8"/>
          </a:solidFill>
          <a:ln/>
        </p:spPr>
      </p:sp>
      <p:sp>
        <p:nvSpPr>
          <p:cNvPr id="30" name="Shape 28"/>
          <p:cNvSpPr/>
          <p:nvPr/>
        </p:nvSpPr>
        <p:spPr>
          <a:xfrm>
            <a:off x="10323576" y="1737360"/>
            <a:ext cx="1463040" cy="457200"/>
          </a:xfrm>
          <a:prstGeom prst="roundRect">
            <a:avLst>
              <a:gd name="adj" fmla="val 10000"/>
            </a:avLst>
          </a:prstGeom>
          <a:solidFill>
            <a:srgbClr val="0032A0"/>
          </a:solidFill>
          <a:ln w="9525">
            <a:solidFill>
              <a:srgbClr val="0032A0"/>
            </a:solidFill>
            <a:prstDash val="solid"/>
          </a:ln>
        </p:spPr>
      </p:sp>
      <p:sp>
        <p:nvSpPr>
          <p:cNvPr id="31" name="Text 29"/>
          <p:cNvSpPr/>
          <p:nvPr/>
        </p:nvSpPr>
        <p:spPr>
          <a:xfrm>
            <a:off x="10323576" y="1737360"/>
            <a:ext cx="146304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Recommendation</a:t>
            </a:r>
            <a:endParaRPr lang="en-US" sz="1000" dirty="0"/>
          </a:p>
        </p:txBody>
      </p:sp>
      <p:sp>
        <p:nvSpPr>
          <p:cNvPr id="32" name="Shape 30"/>
          <p:cNvSpPr/>
          <p:nvPr/>
        </p:nvSpPr>
        <p:spPr>
          <a:xfrm>
            <a:off x="502920" y="2432304"/>
            <a:ext cx="11185855" cy="5486"/>
          </a:xfrm>
          <a:prstGeom prst="rect">
            <a:avLst/>
          </a:prstGeom>
          <a:solidFill>
            <a:srgbClr val="C9D8F2"/>
          </a:solidFill>
          <a:ln/>
        </p:spPr>
      </p:sp>
      <p:sp>
        <p:nvSpPr>
          <p:cNvPr id="33" name="Text 31"/>
          <p:cNvSpPr/>
          <p:nvPr/>
        </p:nvSpPr>
        <p:spPr>
          <a:xfrm>
            <a:off x="502920" y="2578608"/>
            <a:ext cx="54864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CLASSIFICATION GRAMMAR USED THROUGHOUT</a:t>
            </a:r>
            <a:endParaRPr lang="en-US" sz="1000" dirty="0"/>
          </a:p>
        </p:txBody>
      </p:sp>
      <p:sp>
        <p:nvSpPr>
          <p:cNvPr id="34" name="Shape 32"/>
          <p:cNvSpPr/>
          <p:nvPr/>
        </p:nvSpPr>
        <p:spPr>
          <a:xfrm>
            <a:off x="502920" y="2889504"/>
            <a:ext cx="1481328" cy="173736"/>
          </a:xfrm>
          <a:prstGeom prst="rect">
            <a:avLst/>
          </a:prstGeom>
          <a:solidFill>
            <a:srgbClr val="041E47"/>
          </a:solidFill>
          <a:ln/>
        </p:spPr>
      </p:sp>
      <p:sp>
        <p:nvSpPr>
          <p:cNvPr id="35" name="Text 33"/>
          <p:cNvSpPr/>
          <p:nvPr/>
        </p:nvSpPr>
        <p:spPr>
          <a:xfrm>
            <a:off x="502920" y="2889504"/>
            <a:ext cx="1481328"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FACT</a:t>
            </a:r>
            <a:endParaRPr lang="en-US" sz="900" dirty="0"/>
          </a:p>
        </p:txBody>
      </p:sp>
      <p:sp>
        <p:nvSpPr>
          <p:cNvPr id="36" name="Text 34"/>
          <p:cNvSpPr/>
          <p:nvPr/>
        </p:nvSpPr>
        <p:spPr>
          <a:xfrm>
            <a:off x="2148840" y="2871216"/>
            <a:ext cx="3977640" cy="219456"/>
          </a:xfrm>
          <a:prstGeom prst="rect">
            <a:avLst/>
          </a:prstGeom>
          <a:noFill/>
          <a:ln/>
        </p:spPr>
        <p:txBody>
          <a:bodyPr wrap="square" lIns="0" tIns="0" rIns="0" bIns="0" rtlCol="0" anchor="ctr"/>
          <a:lstStyle/>
          <a:p>
            <a:pPr marL="0" indent="0">
              <a:buNone/>
            </a:pPr>
            <a:r>
              <a:rPr lang="en-US" sz="1000" dirty="0">
                <a:solidFill>
                  <a:srgbClr val="46577A"/>
                </a:solidFill>
                <a:latin typeface="Aptos" pitchFamily="34" charset="0"/>
                <a:ea typeface="Aptos" pitchFamily="34" charset="-122"/>
                <a:cs typeface="Aptos" pitchFamily="34" charset="-120"/>
              </a:rPr>
              <a:t>Directly evidenced, primary source</a:t>
            </a:r>
            <a:endParaRPr lang="en-US" sz="1000" dirty="0"/>
          </a:p>
        </p:txBody>
      </p:sp>
      <p:sp>
        <p:nvSpPr>
          <p:cNvPr id="37" name="Shape 35"/>
          <p:cNvSpPr/>
          <p:nvPr/>
        </p:nvSpPr>
        <p:spPr>
          <a:xfrm>
            <a:off x="502920" y="3195828"/>
            <a:ext cx="1481328" cy="173736"/>
          </a:xfrm>
          <a:prstGeom prst="rect">
            <a:avLst/>
          </a:prstGeom>
          <a:solidFill>
            <a:srgbClr val="FFFFFF"/>
          </a:solidFill>
          <a:ln w="9525">
            <a:solidFill>
              <a:srgbClr val="0032A0"/>
            </a:solidFill>
            <a:prstDash val="solid"/>
          </a:ln>
        </p:spPr>
      </p:sp>
      <p:sp>
        <p:nvSpPr>
          <p:cNvPr id="38" name="Text 36"/>
          <p:cNvSpPr/>
          <p:nvPr/>
        </p:nvSpPr>
        <p:spPr>
          <a:xfrm>
            <a:off x="502920" y="3195828"/>
            <a:ext cx="1481328" cy="173736"/>
          </a:xfrm>
          <a:prstGeom prst="rect">
            <a:avLst/>
          </a:prstGeom>
          <a:noFill/>
          <a:ln/>
        </p:spPr>
        <p:txBody>
          <a:bodyPr wrap="square" lIns="0" tIns="0" rIns="0" bIns="0" rtlCol="0" anchor="ctr"/>
          <a:lstStyle/>
          <a:p>
            <a:pPr marL="0" indent="0" algn="ctr">
              <a:buNone/>
            </a:pPr>
            <a:r>
              <a:rPr lang="en-US" sz="900" b="1" dirty="0">
                <a:solidFill>
                  <a:srgbClr val="0032A0"/>
                </a:solidFill>
                <a:latin typeface="Aptos" pitchFamily="34" charset="0"/>
                <a:ea typeface="Aptos" pitchFamily="34" charset="-122"/>
                <a:cs typeface="Aptos" pitchFamily="34" charset="-120"/>
              </a:rPr>
              <a:t>CALCULATION</a:t>
            </a:r>
            <a:endParaRPr lang="en-US" sz="900" dirty="0"/>
          </a:p>
        </p:txBody>
      </p:sp>
      <p:sp>
        <p:nvSpPr>
          <p:cNvPr id="39" name="Text 37"/>
          <p:cNvSpPr/>
          <p:nvPr/>
        </p:nvSpPr>
        <p:spPr>
          <a:xfrm>
            <a:off x="2148840" y="3177540"/>
            <a:ext cx="3977640" cy="219456"/>
          </a:xfrm>
          <a:prstGeom prst="rect">
            <a:avLst/>
          </a:prstGeom>
          <a:noFill/>
          <a:ln/>
        </p:spPr>
        <p:txBody>
          <a:bodyPr wrap="square" lIns="0" tIns="0" rIns="0" bIns="0" rtlCol="0" anchor="ctr"/>
          <a:lstStyle/>
          <a:p>
            <a:pPr marL="0" indent="0">
              <a:buNone/>
            </a:pPr>
            <a:r>
              <a:rPr lang="en-US" sz="1000" dirty="0">
                <a:solidFill>
                  <a:srgbClr val="46577A"/>
                </a:solidFill>
                <a:latin typeface="Aptos" pitchFamily="34" charset="0"/>
                <a:ea typeface="Aptos" pitchFamily="34" charset="-122"/>
                <a:cs typeface="Aptos" pitchFamily="34" charset="-120"/>
              </a:rPr>
              <a:t>Derived arithmetic, method shown</a:t>
            </a:r>
            <a:endParaRPr lang="en-US" sz="1000" dirty="0"/>
          </a:p>
        </p:txBody>
      </p:sp>
      <p:sp>
        <p:nvSpPr>
          <p:cNvPr id="40" name="Shape 38"/>
          <p:cNvSpPr/>
          <p:nvPr/>
        </p:nvSpPr>
        <p:spPr>
          <a:xfrm>
            <a:off x="502920" y="3502152"/>
            <a:ext cx="1481328" cy="173736"/>
          </a:xfrm>
          <a:prstGeom prst="rect">
            <a:avLst/>
          </a:prstGeom>
          <a:solidFill>
            <a:srgbClr val="FFFFFF"/>
          </a:solidFill>
          <a:ln w="9525">
            <a:solidFill>
              <a:srgbClr val="46577A"/>
            </a:solidFill>
            <a:prstDash val="solid"/>
          </a:ln>
        </p:spPr>
      </p:sp>
      <p:sp>
        <p:nvSpPr>
          <p:cNvPr id="41" name="Text 39"/>
          <p:cNvSpPr/>
          <p:nvPr/>
        </p:nvSpPr>
        <p:spPr>
          <a:xfrm>
            <a:off x="502920" y="3502152"/>
            <a:ext cx="1481328" cy="173736"/>
          </a:xfrm>
          <a:prstGeom prst="rect">
            <a:avLst/>
          </a:prstGeom>
          <a:noFill/>
          <a:ln/>
        </p:spPr>
        <p:txBody>
          <a:bodyPr wrap="square" lIns="0" tIns="0" rIns="0" bIns="0" rtlCol="0" anchor="ctr"/>
          <a:lstStyle/>
          <a:p>
            <a:pPr marL="0" indent="0" algn="ctr">
              <a:buNone/>
            </a:pPr>
            <a:r>
              <a:rPr lang="en-US" sz="900" b="1" dirty="0">
                <a:solidFill>
                  <a:srgbClr val="46577A"/>
                </a:solidFill>
                <a:latin typeface="Aptos" pitchFamily="34" charset="0"/>
                <a:ea typeface="Aptos" pitchFamily="34" charset="-122"/>
                <a:cs typeface="Aptos" pitchFamily="34" charset="-120"/>
              </a:rPr>
              <a:t>INFERENCE</a:t>
            </a:r>
            <a:endParaRPr lang="en-US" sz="900" dirty="0"/>
          </a:p>
        </p:txBody>
      </p:sp>
      <p:sp>
        <p:nvSpPr>
          <p:cNvPr id="42" name="Text 40"/>
          <p:cNvSpPr/>
          <p:nvPr/>
        </p:nvSpPr>
        <p:spPr>
          <a:xfrm>
            <a:off x="2148840" y="3483864"/>
            <a:ext cx="3977640" cy="219456"/>
          </a:xfrm>
          <a:prstGeom prst="rect">
            <a:avLst/>
          </a:prstGeom>
          <a:noFill/>
          <a:ln/>
        </p:spPr>
        <p:txBody>
          <a:bodyPr wrap="square" lIns="0" tIns="0" rIns="0" bIns="0" rtlCol="0" anchor="ctr"/>
          <a:lstStyle/>
          <a:p>
            <a:pPr marL="0" indent="0">
              <a:buNone/>
            </a:pPr>
            <a:r>
              <a:rPr lang="en-US" sz="1000" dirty="0">
                <a:solidFill>
                  <a:srgbClr val="46577A"/>
                </a:solidFill>
                <a:latin typeface="Aptos" pitchFamily="34" charset="0"/>
                <a:ea typeface="Aptos" pitchFamily="34" charset="-122"/>
                <a:cs typeface="Aptos" pitchFamily="34" charset="-120"/>
              </a:rPr>
              <a:t>Interpretation of evidence</a:t>
            </a:r>
            <a:endParaRPr lang="en-US" sz="1000" dirty="0"/>
          </a:p>
        </p:txBody>
      </p:sp>
      <p:sp>
        <p:nvSpPr>
          <p:cNvPr id="43" name="Shape 41"/>
          <p:cNvSpPr/>
          <p:nvPr/>
        </p:nvSpPr>
        <p:spPr>
          <a:xfrm>
            <a:off x="502920" y="3808476"/>
            <a:ext cx="1481328" cy="173736"/>
          </a:xfrm>
          <a:prstGeom prst="rect">
            <a:avLst/>
          </a:prstGeom>
          <a:solidFill>
            <a:srgbClr val="FFFFFF"/>
          </a:solidFill>
          <a:ln w="9525">
            <a:solidFill>
              <a:srgbClr val="D98A00"/>
            </a:solidFill>
            <a:prstDash val="solid"/>
          </a:ln>
        </p:spPr>
      </p:sp>
      <p:sp>
        <p:nvSpPr>
          <p:cNvPr id="44" name="Text 42"/>
          <p:cNvSpPr/>
          <p:nvPr/>
        </p:nvSpPr>
        <p:spPr>
          <a:xfrm>
            <a:off x="502920" y="3808476"/>
            <a:ext cx="1481328" cy="173736"/>
          </a:xfrm>
          <a:prstGeom prst="rect">
            <a:avLst/>
          </a:prstGeom>
          <a:noFill/>
          <a:ln/>
        </p:spPr>
        <p:txBody>
          <a:bodyPr wrap="square" lIns="0" tIns="0" rIns="0" bIns="0" rtlCol="0" anchor="ctr"/>
          <a:lstStyle/>
          <a:p>
            <a:pPr marL="0" indent="0" algn="ctr">
              <a:buNone/>
            </a:pPr>
            <a:r>
              <a:rPr lang="en-US" sz="900" b="1" dirty="0">
                <a:solidFill>
                  <a:srgbClr val="D98A00"/>
                </a:solidFill>
                <a:latin typeface="Aptos" pitchFamily="34" charset="0"/>
                <a:ea typeface="Aptos" pitchFamily="34" charset="-122"/>
                <a:cs typeface="Aptos" pitchFamily="34" charset="-120"/>
              </a:rPr>
              <a:t>HYPOTHESIS</a:t>
            </a:r>
            <a:endParaRPr lang="en-US" sz="900" dirty="0"/>
          </a:p>
        </p:txBody>
      </p:sp>
      <p:sp>
        <p:nvSpPr>
          <p:cNvPr id="45" name="Text 43"/>
          <p:cNvSpPr/>
          <p:nvPr/>
        </p:nvSpPr>
        <p:spPr>
          <a:xfrm>
            <a:off x="2148840" y="3790188"/>
            <a:ext cx="3977640" cy="219456"/>
          </a:xfrm>
          <a:prstGeom prst="rect">
            <a:avLst/>
          </a:prstGeom>
          <a:noFill/>
          <a:ln/>
        </p:spPr>
        <p:txBody>
          <a:bodyPr wrap="square" lIns="0" tIns="0" rIns="0" bIns="0" rtlCol="0" anchor="ctr"/>
          <a:lstStyle/>
          <a:p>
            <a:pPr marL="0" indent="0">
              <a:buNone/>
            </a:pPr>
            <a:r>
              <a:rPr lang="en-US" sz="1000" dirty="0">
                <a:solidFill>
                  <a:srgbClr val="46577A"/>
                </a:solidFill>
                <a:latin typeface="Aptos" pitchFamily="34" charset="0"/>
                <a:ea typeface="Aptos" pitchFamily="34" charset="-122"/>
                <a:cs typeface="Aptos" pitchFamily="34" charset="-120"/>
              </a:rPr>
              <a:t>Open proposition, untested</a:t>
            </a:r>
            <a:endParaRPr lang="en-US" sz="1000" dirty="0"/>
          </a:p>
        </p:txBody>
      </p:sp>
      <p:sp>
        <p:nvSpPr>
          <p:cNvPr id="46" name="Shape 44"/>
          <p:cNvSpPr/>
          <p:nvPr/>
        </p:nvSpPr>
        <p:spPr>
          <a:xfrm>
            <a:off x="502920" y="4114800"/>
            <a:ext cx="1481328" cy="173736"/>
          </a:xfrm>
          <a:prstGeom prst="rect">
            <a:avLst/>
          </a:prstGeom>
          <a:solidFill>
            <a:srgbClr val="0032A0"/>
          </a:solidFill>
          <a:ln/>
        </p:spPr>
      </p:sp>
      <p:sp>
        <p:nvSpPr>
          <p:cNvPr id="47" name="Text 45"/>
          <p:cNvSpPr/>
          <p:nvPr/>
        </p:nvSpPr>
        <p:spPr>
          <a:xfrm>
            <a:off x="502920" y="4114800"/>
            <a:ext cx="1481328"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RECOMMENDATION</a:t>
            </a:r>
            <a:endParaRPr lang="en-US" sz="900" dirty="0"/>
          </a:p>
        </p:txBody>
      </p:sp>
      <p:sp>
        <p:nvSpPr>
          <p:cNvPr id="48" name="Text 46"/>
          <p:cNvSpPr/>
          <p:nvPr/>
        </p:nvSpPr>
        <p:spPr>
          <a:xfrm>
            <a:off x="2148840" y="4096512"/>
            <a:ext cx="3977640" cy="219456"/>
          </a:xfrm>
          <a:prstGeom prst="rect">
            <a:avLst/>
          </a:prstGeom>
          <a:noFill/>
          <a:ln/>
        </p:spPr>
        <p:txBody>
          <a:bodyPr wrap="square" lIns="0" tIns="0" rIns="0" bIns="0" rtlCol="0" anchor="ctr"/>
          <a:lstStyle/>
          <a:p>
            <a:pPr marL="0" indent="0">
              <a:buNone/>
            </a:pPr>
            <a:r>
              <a:rPr lang="en-US" sz="1000" dirty="0">
                <a:solidFill>
                  <a:srgbClr val="46577A"/>
                </a:solidFill>
                <a:latin typeface="Aptos" pitchFamily="34" charset="0"/>
                <a:ea typeface="Aptos" pitchFamily="34" charset="-122"/>
                <a:cs typeface="Aptos" pitchFamily="34" charset="-120"/>
              </a:rPr>
              <a:t>Strategic judgement</a:t>
            </a:r>
            <a:endParaRPr lang="en-US" sz="1000" dirty="0"/>
          </a:p>
        </p:txBody>
      </p:sp>
      <p:sp>
        <p:nvSpPr>
          <p:cNvPr id="49" name="Shape 47"/>
          <p:cNvSpPr/>
          <p:nvPr/>
        </p:nvSpPr>
        <p:spPr>
          <a:xfrm>
            <a:off x="502920" y="4421124"/>
            <a:ext cx="1481328" cy="173736"/>
          </a:xfrm>
          <a:prstGeom prst="rect">
            <a:avLst/>
          </a:prstGeom>
          <a:solidFill>
            <a:srgbClr val="FFFFFF"/>
          </a:solidFill>
          <a:ln w="9525">
            <a:solidFill>
              <a:srgbClr val="6B7280"/>
            </a:solidFill>
            <a:prstDash val="dash"/>
          </a:ln>
        </p:spPr>
      </p:sp>
      <p:sp>
        <p:nvSpPr>
          <p:cNvPr id="50" name="Text 48"/>
          <p:cNvSpPr/>
          <p:nvPr/>
        </p:nvSpPr>
        <p:spPr>
          <a:xfrm>
            <a:off x="502920" y="4421124"/>
            <a:ext cx="148132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51" name="Text 49"/>
          <p:cNvSpPr/>
          <p:nvPr/>
        </p:nvSpPr>
        <p:spPr>
          <a:xfrm>
            <a:off x="2148840" y="4402836"/>
            <a:ext cx="3977640" cy="219456"/>
          </a:xfrm>
          <a:prstGeom prst="rect">
            <a:avLst/>
          </a:prstGeom>
          <a:noFill/>
          <a:ln/>
        </p:spPr>
        <p:txBody>
          <a:bodyPr wrap="square" lIns="0" tIns="0" rIns="0" bIns="0" rtlCol="0" anchor="ctr"/>
          <a:lstStyle/>
          <a:p>
            <a:pPr marL="0" indent="0">
              <a:buNone/>
            </a:pPr>
            <a:r>
              <a:rPr lang="en-US" sz="1000" dirty="0">
                <a:solidFill>
                  <a:srgbClr val="46577A"/>
                </a:solidFill>
                <a:latin typeface="Aptos" pitchFamily="34" charset="0"/>
                <a:ea typeface="Aptos" pitchFamily="34" charset="-122"/>
                <a:cs typeface="Aptos" pitchFamily="34" charset="-120"/>
              </a:rPr>
              <a:t>Evidence does not support a conclusion; no estimate supplied</a:t>
            </a:r>
            <a:endParaRPr lang="en-US" sz="1000" dirty="0"/>
          </a:p>
        </p:txBody>
      </p:sp>
      <p:sp>
        <p:nvSpPr>
          <p:cNvPr id="52" name="Text 50"/>
          <p:cNvSpPr/>
          <p:nvPr/>
        </p:nvSpPr>
        <p:spPr>
          <a:xfrm>
            <a:off x="502920" y="4828032"/>
            <a:ext cx="36576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SOURCE TIERING</a:t>
            </a:r>
            <a:endParaRPr lang="en-US" sz="1000" dirty="0"/>
          </a:p>
        </p:txBody>
      </p:sp>
      <p:sp>
        <p:nvSpPr>
          <p:cNvPr id="53" name="Text 51"/>
          <p:cNvSpPr/>
          <p:nvPr/>
        </p:nvSpPr>
        <p:spPr>
          <a:xfrm>
            <a:off x="502920" y="5102352"/>
            <a:ext cx="868680" cy="237744"/>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Tier 1A</a:t>
            </a:r>
            <a:endParaRPr lang="en-US" sz="1000" dirty="0"/>
          </a:p>
        </p:txBody>
      </p:sp>
      <p:sp>
        <p:nvSpPr>
          <p:cNvPr id="54" name="Text 52"/>
          <p:cNvSpPr/>
          <p:nvPr/>
        </p:nvSpPr>
        <p:spPr>
          <a:xfrm>
            <a:off x="1417320" y="5102352"/>
            <a:ext cx="4709160" cy="237744"/>
          </a:xfrm>
          <a:prstGeom prst="rect">
            <a:avLst/>
          </a:prstGeom>
          <a:noFill/>
          <a:ln/>
        </p:spPr>
        <p:txBody>
          <a:bodyPr wrap="square" lIns="0" tIns="0" rIns="0" bIns="0" rtlCol="0" anchor="ctr"/>
          <a:lstStyle/>
          <a:p>
            <a:pPr marL="0" indent="0">
              <a:buNone/>
            </a:pPr>
            <a:r>
              <a:rPr lang="en-US" sz="950" dirty="0">
                <a:solidFill>
                  <a:srgbClr val="46577A"/>
                </a:solidFill>
                <a:latin typeface="Aptos" pitchFamily="34" charset="0"/>
                <a:ea typeface="Aptos" pitchFamily="34" charset="-122"/>
                <a:cs typeface="Aptos" pitchFamily="34" charset="-120"/>
              </a:rPr>
              <a:t>Company primary - results, investor and operational disclosures</a:t>
            </a:r>
            <a:endParaRPr lang="en-US" sz="950" dirty="0"/>
          </a:p>
        </p:txBody>
      </p:sp>
      <p:sp>
        <p:nvSpPr>
          <p:cNvPr id="55" name="Text 53"/>
          <p:cNvSpPr/>
          <p:nvPr/>
        </p:nvSpPr>
        <p:spPr>
          <a:xfrm>
            <a:off x="502920" y="5376672"/>
            <a:ext cx="868680" cy="237744"/>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Tier 1B</a:t>
            </a:r>
            <a:endParaRPr lang="en-US" sz="1000" dirty="0"/>
          </a:p>
        </p:txBody>
      </p:sp>
      <p:sp>
        <p:nvSpPr>
          <p:cNvPr id="56" name="Text 54"/>
          <p:cNvSpPr/>
          <p:nvPr/>
        </p:nvSpPr>
        <p:spPr>
          <a:xfrm>
            <a:off x="1417320" y="5376672"/>
            <a:ext cx="4709160" cy="237744"/>
          </a:xfrm>
          <a:prstGeom prst="rect">
            <a:avLst/>
          </a:prstGeom>
          <a:noFill/>
          <a:ln/>
        </p:spPr>
        <p:txBody>
          <a:bodyPr wrap="square" lIns="0" tIns="0" rIns="0" bIns="0" rtlCol="0" anchor="ctr"/>
          <a:lstStyle/>
          <a:p>
            <a:pPr marL="0" indent="0">
              <a:buNone/>
            </a:pPr>
            <a:r>
              <a:rPr lang="en-US" sz="950" dirty="0">
                <a:solidFill>
                  <a:srgbClr val="46577A"/>
                </a:solidFill>
                <a:latin typeface="Aptos" pitchFamily="34" charset="0"/>
                <a:ea typeface="Aptos" pitchFamily="34" charset="-122"/>
                <a:cs typeface="Aptos" pitchFamily="34" charset="-120"/>
              </a:rPr>
              <a:t>Regulatory / audited - consolidated financial results, filings</a:t>
            </a:r>
            <a:endParaRPr lang="en-US" sz="950" dirty="0"/>
          </a:p>
        </p:txBody>
      </p:sp>
      <p:sp>
        <p:nvSpPr>
          <p:cNvPr id="57" name="Text 55"/>
          <p:cNvSpPr/>
          <p:nvPr/>
        </p:nvSpPr>
        <p:spPr>
          <a:xfrm>
            <a:off x="502920" y="5650992"/>
            <a:ext cx="868680" cy="237744"/>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Tier 2A</a:t>
            </a:r>
            <a:endParaRPr lang="en-US" sz="1000" dirty="0"/>
          </a:p>
        </p:txBody>
      </p:sp>
      <p:sp>
        <p:nvSpPr>
          <p:cNvPr id="58" name="Text 56"/>
          <p:cNvSpPr/>
          <p:nvPr/>
        </p:nvSpPr>
        <p:spPr>
          <a:xfrm>
            <a:off x="1417320" y="5650992"/>
            <a:ext cx="4709160" cy="237744"/>
          </a:xfrm>
          <a:prstGeom prst="rect">
            <a:avLst/>
          </a:prstGeom>
          <a:noFill/>
          <a:ln/>
        </p:spPr>
        <p:txBody>
          <a:bodyPr wrap="square" lIns="0" tIns="0" rIns="0" bIns="0" rtlCol="0" anchor="ctr"/>
          <a:lstStyle/>
          <a:p>
            <a:pPr marL="0" indent="0">
              <a:buNone/>
            </a:pPr>
            <a:r>
              <a:rPr lang="en-US" sz="950" dirty="0">
                <a:solidFill>
                  <a:srgbClr val="46577A"/>
                </a:solidFill>
                <a:latin typeface="Aptos" pitchFamily="34" charset="0"/>
                <a:ea typeface="Aptos" pitchFamily="34" charset="-122"/>
                <a:cs typeface="Aptos" pitchFamily="34" charset="-120"/>
              </a:rPr>
              <a:t>DGCA - Airbus - IATA - Ministry of Civil Aviation</a:t>
            </a:r>
            <a:endParaRPr lang="en-US" sz="950" dirty="0"/>
          </a:p>
        </p:txBody>
      </p:sp>
      <p:sp>
        <p:nvSpPr>
          <p:cNvPr id="59" name="Text 57"/>
          <p:cNvSpPr/>
          <p:nvPr/>
        </p:nvSpPr>
        <p:spPr>
          <a:xfrm>
            <a:off x="502920" y="5925312"/>
            <a:ext cx="868680" cy="237744"/>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Tier 2B-3</a:t>
            </a:r>
            <a:endParaRPr lang="en-US" sz="1000" dirty="0"/>
          </a:p>
        </p:txBody>
      </p:sp>
      <p:sp>
        <p:nvSpPr>
          <p:cNvPr id="60" name="Text 58"/>
          <p:cNvSpPr/>
          <p:nvPr/>
        </p:nvSpPr>
        <p:spPr>
          <a:xfrm>
            <a:off x="1417320" y="5925312"/>
            <a:ext cx="4709160" cy="237744"/>
          </a:xfrm>
          <a:prstGeom prst="rect">
            <a:avLst/>
          </a:prstGeom>
          <a:noFill/>
          <a:ln/>
        </p:spPr>
        <p:txBody>
          <a:bodyPr wrap="square" lIns="0" tIns="0" rIns="0" bIns="0" rtlCol="0" anchor="ctr"/>
          <a:lstStyle/>
          <a:p>
            <a:pPr marL="0" indent="0">
              <a:buNone/>
            </a:pPr>
            <a:r>
              <a:rPr lang="en-US" sz="950" dirty="0">
                <a:solidFill>
                  <a:srgbClr val="46577A"/>
                </a:solidFill>
                <a:latin typeface="Aptos" pitchFamily="34" charset="0"/>
                <a:ea typeface="Aptos" pitchFamily="34" charset="-122"/>
                <a:cs typeface="Aptos" pitchFamily="34" charset="-120"/>
              </a:rPr>
              <a:t>Secondary - context only; not used for material quantitative claims</a:t>
            </a:r>
            <a:endParaRPr lang="en-US" sz="950" dirty="0"/>
          </a:p>
        </p:txBody>
      </p:sp>
      <p:sp>
        <p:nvSpPr>
          <p:cNvPr id="61" name="Shape 59"/>
          <p:cNvSpPr/>
          <p:nvPr/>
        </p:nvSpPr>
        <p:spPr>
          <a:xfrm>
            <a:off x="6446520" y="2578608"/>
            <a:ext cx="5486" cy="3584448"/>
          </a:xfrm>
          <a:prstGeom prst="rect">
            <a:avLst/>
          </a:prstGeom>
          <a:solidFill>
            <a:srgbClr val="C9D8F2"/>
          </a:solidFill>
          <a:ln/>
        </p:spPr>
      </p:sp>
      <p:sp>
        <p:nvSpPr>
          <p:cNvPr id="62" name="Text 60"/>
          <p:cNvSpPr/>
          <p:nvPr/>
        </p:nvSpPr>
        <p:spPr>
          <a:xfrm>
            <a:off x="6693408" y="2578608"/>
            <a:ext cx="384048" cy="237744"/>
          </a:xfrm>
          <a:prstGeom prst="rect">
            <a:avLst/>
          </a:prstGeom>
          <a:noFill/>
          <a:ln/>
        </p:spPr>
        <p:txBody>
          <a:bodyPr wrap="square" lIns="0" tIns="0" rIns="0" bIns="0" rtlCol="0" anchor="ctr"/>
          <a:lstStyle/>
          <a:p>
            <a:pPr marL="0" indent="0">
              <a:buNone/>
            </a:pPr>
            <a:r>
              <a:rPr lang="en-US" sz="1200" b="1" dirty="0">
                <a:solidFill>
                  <a:srgbClr val="0032A0"/>
                </a:solidFill>
                <a:latin typeface="Aptos Display" pitchFamily="34" charset="0"/>
                <a:ea typeface="Aptos Display" pitchFamily="34" charset="-122"/>
                <a:cs typeface="Aptos Display" pitchFamily="34" charset="-120"/>
              </a:rPr>
              <a:t>01</a:t>
            </a:r>
            <a:endParaRPr lang="en-US" sz="1200" dirty="0"/>
          </a:p>
        </p:txBody>
      </p:sp>
      <p:sp>
        <p:nvSpPr>
          <p:cNvPr id="63" name="Text 61"/>
          <p:cNvSpPr/>
          <p:nvPr/>
        </p:nvSpPr>
        <p:spPr>
          <a:xfrm>
            <a:off x="7059168" y="2578608"/>
            <a:ext cx="4617720" cy="237744"/>
          </a:xfrm>
          <a:prstGeom prst="rect">
            <a:avLst/>
          </a:prstGeom>
          <a:noFill/>
          <a:ln/>
        </p:spPr>
        <p:txBody>
          <a:bodyPr wrap="square" lIns="0" tIns="0" rIns="0" bIns="0" rtlCol="0" anchor="ctr"/>
          <a:lstStyle/>
          <a:p>
            <a:pPr marL="0" indent="0">
              <a:buNone/>
            </a:pPr>
            <a:r>
              <a:rPr lang="en-US" sz="1150" b="1" dirty="0">
                <a:solidFill>
                  <a:srgbClr val="041E47"/>
                </a:solidFill>
                <a:latin typeface="Aptos" pitchFamily="34" charset="0"/>
                <a:ea typeface="Aptos" pitchFamily="34" charset="-122"/>
                <a:cs typeface="Aptos" pitchFamily="34" charset="-120"/>
              </a:rPr>
              <a:t>Conflicts are preserved, not reconciled</a:t>
            </a:r>
            <a:endParaRPr lang="en-US" sz="1150" dirty="0"/>
          </a:p>
        </p:txBody>
      </p:sp>
      <p:sp>
        <p:nvSpPr>
          <p:cNvPr id="64" name="Text 62"/>
          <p:cNvSpPr/>
          <p:nvPr/>
        </p:nvSpPr>
        <p:spPr>
          <a:xfrm>
            <a:off x="6693408" y="2852928"/>
            <a:ext cx="4983480" cy="786384"/>
          </a:xfrm>
          <a:prstGeom prst="rect">
            <a:avLst/>
          </a:prstGeom>
          <a:noFill/>
          <a:ln/>
        </p:spPr>
        <p:txBody>
          <a:bodyPr wrap="square" lIns="0" tIns="0" rIns="0" bIns="0" rtlCol="0" anchor="t"/>
          <a:lstStyle/>
          <a:p>
            <a:pPr marL="0" indent="0" algn="l">
              <a:lnSpc>
                <a:spcPct val="112000"/>
              </a:lnSpc>
              <a:buNone/>
            </a:pPr>
            <a:r>
              <a:rPr lang="en-US" sz="1000" dirty="0">
                <a:solidFill>
                  <a:srgbClr val="46577A"/>
                </a:solidFill>
                <a:latin typeface="Aptos" pitchFamily="34" charset="0"/>
                <a:ea typeface="Aptos" pitchFamily="34" charset="-122"/>
                <a:cs typeface="Aptos" pitchFamily="34" charset="-120"/>
              </a:rPr>
              <a:t>Six conflicts logged; three resolved as definitional; three remain OPEN - CONF-001, CONF-005 and CONF-006 - and each is disclosed at the point where it affects an interpretation.</a:t>
            </a:r>
            <a:endParaRPr lang="en-US" sz="1000" dirty="0"/>
          </a:p>
        </p:txBody>
      </p:sp>
      <p:sp>
        <p:nvSpPr>
          <p:cNvPr id="65" name="Text 63"/>
          <p:cNvSpPr/>
          <p:nvPr/>
        </p:nvSpPr>
        <p:spPr>
          <a:xfrm>
            <a:off x="6693408" y="3785616"/>
            <a:ext cx="384048" cy="237744"/>
          </a:xfrm>
          <a:prstGeom prst="rect">
            <a:avLst/>
          </a:prstGeom>
          <a:noFill/>
          <a:ln/>
        </p:spPr>
        <p:txBody>
          <a:bodyPr wrap="square" lIns="0" tIns="0" rIns="0" bIns="0" rtlCol="0" anchor="ctr"/>
          <a:lstStyle/>
          <a:p>
            <a:pPr marL="0" indent="0">
              <a:buNone/>
            </a:pPr>
            <a:r>
              <a:rPr lang="en-US" sz="1200" b="1" dirty="0">
                <a:solidFill>
                  <a:srgbClr val="0032A0"/>
                </a:solidFill>
                <a:latin typeface="Aptos Display" pitchFamily="34" charset="0"/>
                <a:ea typeface="Aptos Display" pitchFamily="34" charset="-122"/>
                <a:cs typeface="Aptos Display" pitchFamily="34" charset="-120"/>
              </a:rPr>
              <a:t>02</a:t>
            </a:r>
            <a:endParaRPr lang="en-US" sz="1200" dirty="0"/>
          </a:p>
        </p:txBody>
      </p:sp>
      <p:sp>
        <p:nvSpPr>
          <p:cNvPr id="66" name="Text 64"/>
          <p:cNvSpPr/>
          <p:nvPr/>
        </p:nvSpPr>
        <p:spPr>
          <a:xfrm>
            <a:off x="7059168" y="3785616"/>
            <a:ext cx="4617720" cy="237744"/>
          </a:xfrm>
          <a:prstGeom prst="rect">
            <a:avLst/>
          </a:prstGeom>
          <a:noFill/>
          <a:ln/>
        </p:spPr>
        <p:txBody>
          <a:bodyPr wrap="square" lIns="0" tIns="0" rIns="0" bIns="0" rtlCol="0" anchor="ctr"/>
          <a:lstStyle/>
          <a:p>
            <a:pPr marL="0" indent="0">
              <a:buNone/>
            </a:pPr>
            <a:r>
              <a:rPr lang="en-US" sz="1150" b="1" dirty="0">
                <a:solidFill>
                  <a:srgbClr val="041E47"/>
                </a:solidFill>
                <a:latin typeface="Aptos" pitchFamily="34" charset="0"/>
                <a:ea typeface="Aptos" pitchFamily="34" charset="-122"/>
                <a:cs typeface="Aptos" pitchFamily="34" charset="-120"/>
              </a:rPr>
              <a:t>Scenario is not forecast is not recommendation</a:t>
            </a:r>
            <a:endParaRPr lang="en-US" sz="1150" dirty="0"/>
          </a:p>
        </p:txBody>
      </p:sp>
      <p:sp>
        <p:nvSpPr>
          <p:cNvPr id="67" name="Text 65"/>
          <p:cNvSpPr/>
          <p:nvPr/>
        </p:nvSpPr>
        <p:spPr>
          <a:xfrm>
            <a:off x="6693408" y="4059936"/>
            <a:ext cx="4983480" cy="786384"/>
          </a:xfrm>
          <a:prstGeom prst="rect">
            <a:avLst/>
          </a:prstGeom>
          <a:noFill/>
          <a:ln/>
        </p:spPr>
        <p:txBody>
          <a:bodyPr wrap="square" lIns="0" tIns="0" rIns="0" bIns="0" rtlCol="0" anchor="t"/>
          <a:lstStyle/>
          <a:p>
            <a:pPr marL="0" indent="0" algn="l">
              <a:lnSpc>
                <a:spcPct val="112000"/>
              </a:lnSpc>
              <a:buNone/>
            </a:pPr>
            <a:r>
              <a:rPr lang="en-US" sz="1000" dirty="0">
                <a:solidFill>
                  <a:srgbClr val="46577A"/>
                </a:solidFill>
                <a:latin typeface="Aptos" pitchFamily="34" charset="0"/>
                <a:ea typeface="Aptos" pitchFamily="34" charset="-122"/>
                <a:cs typeface="Aptos" pitchFamily="34" charset="-120"/>
              </a:rPr>
              <a:t>Where this deck shows a scenario, it is constant-volume arithmetic used to size an opportunity. This study contains no forecast: the evidence base provides no validated demand elasticity and no multi-year trend.</a:t>
            </a:r>
            <a:endParaRPr lang="en-US" sz="1000" dirty="0"/>
          </a:p>
        </p:txBody>
      </p:sp>
      <p:sp>
        <p:nvSpPr>
          <p:cNvPr id="68" name="Text 66"/>
          <p:cNvSpPr/>
          <p:nvPr/>
        </p:nvSpPr>
        <p:spPr>
          <a:xfrm>
            <a:off x="6693408" y="4992624"/>
            <a:ext cx="384048" cy="237744"/>
          </a:xfrm>
          <a:prstGeom prst="rect">
            <a:avLst/>
          </a:prstGeom>
          <a:noFill/>
          <a:ln/>
        </p:spPr>
        <p:txBody>
          <a:bodyPr wrap="square" lIns="0" tIns="0" rIns="0" bIns="0" rtlCol="0" anchor="ctr"/>
          <a:lstStyle/>
          <a:p>
            <a:pPr marL="0" indent="0">
              <a:buNone/>
            </a:pPr>
            <a:r>
              <a:rPr lang="en-US" sz="1200" b="1" dirty="0">
                <a:solidFill>
                  <a:srgbClr val="0032A0"/>
                </a:solidFill>
                <a:latin typeface="Aptos Display" pitchFamily="34" charset="0"/>
                <a:ea typeface="Aptos Display" pitchFamily="34" charset="-122"/>
                <a:cs typeface="Aptos Display" pitchFamily="34" charset="-120"/>
              </a:rPr>
              <a:t>03</a:t>
            </a:r>
            <a:endParaRPr lang="en-US" sz="1200" dirty="0"/>
          </a:p>
        </p:txBody>
      </p:sp>
      <p:sp>
        <p:nvSpPr>
          <p:cNvPr id="69" name="Text 67"/>
          <p:cNvSpPr/>
          <p:nvPr/>
        </p:nvSpPr>
        <p:spPr>
          <a:xfrm>
            <a:off x="7059168" y="4992624"/>
            <a:ext cx="4617720" cy="237744"/>
          </a:xfrm>
          <a:prstGeom prst="rect">
            <a:avLst/>
          </a:prstGeom>
          <a:noFill/>
          <a:ln/>
        </p:spPr>
        <p:txBody>
          <a:bodyPr wrap="square" lIns="0" tIns="0" rIns="0" bIns="0" rtlCol="0" anchor="ctr"/>
          <a:lstStyle/>
          <a:p>
            <a:pPr marL="0" indent="0">
              <a:buNone/>
            </a:pPr>
            <a:r>
              <a:rPr lang="en-US" sz="1150" b="1" dirty="0">
                <a:solidFill>
                  <a:srgbClr val="041E47"/>
                </a:solidFill>
                <a:latin typeface="Aptos" pitchFamily="34" charset="0"/>
                <a:ea typeface="Aptos" pitchFamily="34" charset="-122"/>
                <a:cs typeface="Aptos" pitchFamily="34" charset="-120"/>
              </a:rPr>
              <a:t>Confidence is separate from source tier</a:t>
            </a:r>
            <a:endParaRPr lang="en-US" sz="1150" dirty="0"/>
          </a:p>
        </p:txBody>
      </p:sp>
      <p:sp>
        <p:nvSpPr>
          <p:cNvPr id="70" name="Text 68"/>
          <p:cNvSpPr/>
          <p:nvPr/>
        </p:nvSpPr>
        <p:spPr>
          <a:xfrm>
            <a:off x="6693408" y="5266944"/>
            <a:ext cx="4983480" cy="786384"/>
          </a:xfrm>
          <a:prstGeom prst="rect">
            <a:avLst/>
          </a:prstGeom>
          <a:noFill/>
          <a:ln/>
        </p:spPr>
        <p:txBody>
          <a:bodyPr wrap="square" lIns="0" tIns="0" rIns="0" bIns="0" rtlCol="0" anchor="t"/>
          <a:lstStyle/>
          <a:p>
            <a:pPr marL="0" indent="0" algn="l">
              <a:lnSpc>
                <a:spcPct val="112000"/>
              </a:lnSpc>
              <a:buNone/>
            </a:pPr>
            <a:r>
              <a:rPr lang="en-US" sz="1000" dirty="0">
                <a:solidFill>
                  <a:srgbClr val="46577A"/>
                </a:solidFill>
                <a:latin typeface="Aptos" pitchFamily="34" charset="0"/>
                <a:ea typeface="Aptos" pitchFamily="34" charset="-122"/>
                <a:cs typeface="Aptos" pitchFamily="34" charset="-120"/>
              </a:rPr>
              <a:t>A Tier 1 source can still support only a moderate-confidence inference where it does not establish causality.</a:t>
            </a:r>
            <a:endParaRPr lang="en-US" sz="1000" dirty="0"/>
          </a:p>
        </p:txBody>
      </p:sp>
      <p:sp>
        <p:nvSpPr>
          <p:cNvPr id="71" name="Shape 69"/>
          <p:cNvSpPr/>
          <p:nvPr/>
        </p:nvSpPr>
        <p:spPr>
          <a:xfrm>
            <a:off x="502920" y="6309360"/>
            <a:ext cx="11185855" cy="5486"/>
          </a:xfrm>
          <a:prstGeom prst="rect">
            <a:avLst/>
          </a:prstGeom>
          <a:solidFill>
            <a:srgbClr val="C9D8F2"/>
          </a:solidFill>
          <a:ln/>
        </p:spPr>
      </p:sp>
      <p:sp>
        <p:nvSpPr>
          <p:cNvPr id="72" name="Text 70"/>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73" name="Text 71"/>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00_Research_Control - 01_Source_Registry - 09_Calculations_Hypotheses_Research_Gaps_Conflicts - Appendices A / B / I</a:t>
            </a:r>
            <a:endParaRPr lang="en-US" sz="800" dirty="0"/>
          </a:p>
        </p:txBody>
      </p:sp>
      <p:sp>
        <p:nvSpPr>
          <p:cNvPr id="74" name="Shape 72"/>
          <p:cNvSpPr/>
          <p:nvPr/>
        </p:nvSpPr>
        <p:spPr>
          <a:xfrm>
            <a:off x="11484864" y="6364224"/>
            <a:ext cx="201168" cy="201168"/>
          </a:xfrm>
          <a:prstGeom prst="rect">
            <a:avLst/>
          </a:prstGeom>
          <a:solidFill>
            <a:srgbClr val="0032A0"/>
          </a:solidFill>
          <a:ln/>
        </p:spPr>
      </p:sp>
      <p:sp>
        <p:nvSpPr>
          <p:cNvPr id="75" name="Text 73"/>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07 - THE DIAGNOSIS</a:t>
            </a:r>
            <a:endParaRPr lang="en-US" sz="1000" dirty="0"/>
          </a:p>
        </p:txBody>
      </p:sp>
      <p:sp>
        <p:nvSpPr>
          <p:cNvPr id="3" name="Shape 1"/>
          <p:cNvSpPr/>
          <p:nvPr/>
        </p:nvSpPr>
        <p:spPr>
          <a:xfrm>
            <a:off x="502920" y="571500"/>
            <a:ext cx="1463040" cy="45720"/>
          </a:xfrm>
          <a:prstGeom prst="rect">
            <a:avLst/>
          </a:prstGeom>
          <a:solidFill>
            <a:srgbClr val="0032A0"/>
          </a:solidFill>
          <a:ln/>
        </p:spPr>
      </p:sp>
      <p:sp>
        <p:nvSpPr>
          <p:cNvPr id="4" name="Text 2"/>
          <p:cNvSpPr/>
          <p:nvPr/>
        </p:nvSpPr>
        <p:spPr>
          <a:xfrm>
            <a:off x="502920" y="703775"/>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FY2026 in ten numbers: growth intact, unit economics inverted</a:t>
            </a:r>
            <a:endParaRPr lang="en-US" sz="2250" dirty="0"/>
          </a:p>
        </p:txBody>
      </p:sp>
      <p:sp>
        <p:nvSpPr>
          <p:cNvPr id="5" name="Text 3"/>
          <p:cNvSpPr/>
          <p:nvPr/>
        </p:nvSpPr>
        <p:spPr>
          <a:xfrm>
            <a:off x="502920" y="1481328"/>
            <a:ext cx="5193792" cy="201168"/>
          </a:xfrm>
          <a:prstGeom prst="rect">
            <a:avLst/>
          </a:prstGeom>
          <a:noFill/>
          <a:ln/>
        </p:spPr>
        <p:txBody>
          <a:bodyPr wrap="square" lIns="0" tIns="0" rIns="0" bIns="0" rtlCol="0" anchor="ctr"/>
          <a:lstStyle/>
          <a:p>
            <a:pPr marL="0" indent="0" algn="l">
              <a:buNone/>
            </a:pPr>
            <a:r>
              <a:rPr lang="en-US" sz="1050" b="1" kern="0" spc="110" dirty="0">
                <a:solidFill>
                  <a:srgbClr val="0E8A7A"/>
                </a:solidFill>
                <a:latin typeface="Aptos" pitchFamily="34" charset="0"/>
                <a:ea typeface="Aptos" pitchFamily="34" charset="-122"/>
                <a:cs typeface="Aptos" pitchFamily="34" charset="-120"/>
              </a:rPr>
              <a:t>VOLUME GREW</a:t>
            </a:r>
            <a:endParaRPr lang="en-US" sz="1050" dirty="0"/>
          </a:p>
        </p:txBody>
      </p:sp>
      <p:sp>
        <p:nvSpPr>
          <p:cNvPr id="6" name="Text 4"/>
          <p:cNvSpPr/>
          <p:nvPr/>
        </p:nvSpPr>
        <p:spPr>
          <a:xfrm>
            <a:off x="2532888" y="1792224"/>
            <a:ext cx="1115568" cy="219456"/>
          </a:xfrm>
          <a:prstGeom prst="rect">
            <a:avLst/>
          </a:prstGeom>
          <a:noFill/>
          <a:ln/>
        </p:spPr>
        <p:txBody>
          <a:bodyPr wrap="square" lIns="0" tIns="0" rIns="0" bIns="0" rtlCol="0" anchor="ctr"/>
          <a:lstStyle/>
          <a:p>
            <a:pPr marL="0" indent="0" algn="r">
              <a:buNone/>
            </a:pPr>
            <a:r>
              <a:rPr lang="en-US" sz="900" b="1" dirty="0">
                <a:solidFill>
                  <a:srgbClr val="6B7280"/>
                </a:solidFill>
                <a:latin typeface="Aptos" pitchFamily="34" charset="0"/>
                <a:ea typeface="Aptos" pitchFamily="34" charset="-122"/>
                <a:cs typeface="Aptos" pitchFamily="34" charset="-120"/>
              </a:rPr>
              <a:t>FY2024-25</a:t>
            </a:r>
            <a:endParaRPr lang="en-US" sz="900" dirty="0"/>
          </a:p>
        </p:txBody>
      </p:sp>
      <p:sp>
        <p:nvSpPr>
          <p:cNvPr id="7" name="Text 5"/>
          <p:cNvSpPr/>
          <p:nvPr/>
        </p:nvSpPr>
        <p:spPr>
          <a:xfrm>
            <a:off x="3685032" y="1792224"/>
            <a:ext cx="914400" cy="219456"/>
          </a:xfrm>
          <a:prstGeom prst="rect">
            <a:avLst/>
          </a:prstGeom>
          <a:noFill/>
          <a:ln/>
        </p:spPr>
        <p:txBody>
          <a:bodyPr wrap="square" lIns="0" tIns="0" rIns="0" bIns="0" rtlCol="0" anchor="ctr"/>
          <a:lstStyle/>
          <a:p>
            <a:pPr marL="0" indent="0" algn="r">
              <a:buNone/>
            </a:pPr>
            <a:r>
              <a:rPr lang="en-US" sz="900" b="1" dirty="0">
                <a:solidFill>
                  <a:srgbClr val="6B7280"/>
                </a:solidFill>
                <a:latin typeface="Aptos" pitchFamily="34" charset="0"/>
                <a:ea typeface="Aptos" pitchFamily="34" charset="-122"/>
                <a:cs typeface="Aptos" pitchFamily="34" charset="-120"/>
              </a:rPr>
              <a:t>FY2025-26</a:t>
            </a:r>
            <a:endParaRPr lang="en-US" sz="900" dirty="0"/>
          </a:p>
        </p:txBody>
      </p:sp>
      <p:sp>
        <p:nvSpPr>
          <p:cNvPr id="8" name="Text 6"/>
          <p:cNvSpPr/>
          <p:nvPr/>
        </p:nvSpPr>
        <p:spPr>
          <a:xfrm>
            <a:off x="4654296" y="1792224"/>
            <a:ext cx="1042416" cy="219456"/>
          </a:xfrm>
          <a:prstGeom prst="rect">
            <a:avLst/>
          </a:prstGeom>
          <a:noFill/>
          <a:ln/>
        </p:spPr>
        <p:txBody>
          <a:bodyPr wrap="square" lIns="0" tIns="0" rIns="0" bIns="0" rtlCol="0" anchor="ctr"/>
          <a:lstStyle/>
          <a:p>
            <a:pPr marL="0" indent="0" algn="r">
              <a:buNone/>
            </a:pPr>
            <a:r>
              <a:rPr lang="en-US" sz="900" b="1" dirty="0">
                <a:solidFill>
                  <a:srgbClr val="6B7280"/>
                </a:solidFill>
                <a:latin typeface="Aptos" pitchFamily="34" charset="0"/>
                <a:ea typeface="Aptos" pitchFamily="34" charset="-122"/>
                <a:cs typeface="Aptos" pitchFamily="34" charset="-120"/>
              </a:rPr>
              <a:t>CHANGE</a:t>
            </a:r>
            <a:endParaRPr lang="en-US" sz="900" dirty="0"/>
          </a:p>
        </p:txBody>
      </p:sp>
      <p:sp>
        <p:nvSpPr>
          <p:cNvPr id="9" name="Shape 7"/>
          <p:cNvSpPr/>
          <p:nvPr/>
        </p:nvSpPr>
        <p:spPr>
          <a:xfrm>
            <a:off x="502920" y="2029968"/>
            <a:ext cx="5193792" cy="5486"/>
          </a:xfrm>
          <a:prstGeom prst="rect">
            <a:avLst/>
          </a:prstGeom>
          <a:solidFill>
            <a:srgbClr val="C9D8F2"/>
          </a:solidFill>
          <a:ln/>
        </p:spPr>
      </p:sp>
      <p:sp>
        <p:nvSpPr>
          <p:cNvPr id="10" name="Text 8"/>
          <p:cNvSpPr/>
          <p:nvPr/>
        </p:nvSpPr>
        <p:spPr>
          <a:xfrm>
            <a:off x="502920" y="2121408"/>
            <a:ext cx="1993392" cy="420624"/>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ASK (billion)</a:t>
            </a:r>
            <a:endParaRPr lang="en-US" sz="1100" dirty="0"/>
          </a:p>
        </p:txBody>
      </p:sp>
      <p:sp>
        <p:nvSpPr>
          <p:cNvPr id="11" name="Text 9"/>
          <p:cNvSpPr/>
          <p:nvPr/>
        </p:nvSpPr>
        <p:spPr>
          <a:xfrm>
            <a:off x="2532888" y="2121408"/>
            <a:ext cx="1115568" cy="420624"/>
          </a:xfrm>
          <a:prstGeom prst="rect">
            <a:avLst/>
          </a:prstGeom>
          <a:noFill/>
          <a:ln/>
        </p:spPr>
        <p:txBody>
          <a:bodyPr wrap="square" lIns="0" tIns="0" rIns="0" bIns="0" rtlCol="0" anchor="ctr"/>
          <a:lstStyle/>
          <a:p>
            <a:pPr marL="0" indent="0" algn="r">
              <a:buNone/>
            </a:pPr>
            <a:r>
              <a:rPr lang="en-US" sz="1100" dirty="0">
                <a:solidFill>
                  <a:srgbClr val="6B7280"/>
                </a:solidFill>
                <a:latin typeface="Aptos" pitchFamily="34" charset="0"/>
                <a:ea typeface="Aptos" pitchFamily="34" charset="-122"/>
                <a:cs typeface="Aptos" pitchFamily="34" charset="-120"/>
              </a:rPr>
              <a:t>157.4</a:t>
            </a:r>
            <a:endParaRPr lang="en-US" sz="1100" dirty="0"/>
          </a:p>
        </p:txBody>
      </p:sp>
      <p:sp>
        <p:nvSpPr>
          <p:cNvPr id="12" name="Text 10"/>
          <p:cNvSpPr/>
          <p:nvPr/>
        </p:nvSpPr>
        <p:spPr>
          <a:xfrm>
            <a:off x="3685032" y="2121408"/>
            <a:ext cx="914400" cy="420624"/>
          </a:xfrm>
          <a:prstGeom prst="rect">
            <a:avLst/>
          </a:prstGeom>
          <a:noFill/>
          <a:ln/>
        </p:spPr>
        <p:txBody>
          <a:bodyPr wrap="square" lIns="0" tIns="0" rIns="0" bIns="0" rtlCol="0" anchor="ctr"/>
          <a:lstStyle/>
          <a:p>
            <a:pPr marL="0" indent="0" algn="r">
              <a:buNone/>
            </a:pPr>
            <a:r>
              <a:rPr lang="en-US" sz="1400" b="1" dirty="0">
                <a:solidFill>
                  <a:srgbClr val="041E47"/>
                </a:solidFill>
                <a:latin typeface="Aptos Display" pitchFamily="34" charset="0"/>
                <a:ea typeface="Aptos Display" pitchFamily="34" charset="-122"/>
                <a:cs typeface="Aptos Display" pitchFamily="34" charset="-120"/>
              </a:rPr>
              <a:t>172.4</a:t>
            </a:r>
            <a:endParaRPr lang="en-US" sz="1400" dirty="0"/>
          </a:p>
        </p:txBody>
      </p:sp>
      <p:sp>
        <p:nvSpPr>
          <p:cNvPr id="13" name="Text 11"/>
          <p:cNvSpPr/>
          <p:nvPr/>
        </p:nvSpPr>
        <p:spPr>
          <a:xfrm>
            <a:off x="4654296" y="2121408"/>
            <a:ext cx="1042416" cy="420624"/>
          </a:xfrm>
          <a:prstGeom prst="rect">
            <a:avLst/>
          </a:prstGeom>
          <a:noFill/>
          <a:ln/>
        </p:spPr>
        <p:txBody>
          <a:bodyPr wrap="square" lIns="0" tIns="0" rIns="0" bIns="0" rtlCol="0" anchor="ctr"/>
          <a:lstStyle/>
          <a:p>
            <a:pPr marL="0" indent="0" algn="r">
              <a:buNone/>
            </a:pPr>
            <a:r>
              <a:rPr lang="en-US" sz="1050" b="1" dirty="0">
                <a:solidFill>
                  <a:srgbClr val="0E8A7A"/>
                </a:solidFill>
                <a:latin typeface="Aptos" pitchFamily="34" charset="0"/>
                <a:ea typeface="Aptos" pitchFamily="34" charset="-122"/>
                <a:cs typeface="Aptos" pitchFamily="34" charset="-120"/>
              </a:rPr>
              <a:t>  +9.5%</a:t>
            </a:r>
            <a:endParaRPr lang="en-US" sz="1050" dirty="0"/>
          </a:p>
        </p:txBody>
      </p:sp>
      <p:sp>
        <p:nvSpPr>
          <p:cNvPr id="14" name="Shape 12"/>
          <p:cNvSpPr/>
          <p:nvPr/>
        </p:nvSpPr>
        <p:spPr>
          <a:xfrm>
            <a:off x="502920" y="2624328"/>
            <a:ext cx="5193792" cy="5486"/>
          </a:xfrm>
          <a:prstGeom prst="rect">
            <a:avLst/>
          </a:prstGeom>
          <a:solidFill>
            <a:srgbClr val="C9D8F2"/>
          </a:solidFill>
          <a:ln/>
        </p:spPr>
      </p:sp>
      <p:sp>
        <p:nvSpPr>
          <p:cNvPr id="15" name="Text 13"/>
          <p:cNvSpPr/>
          <p:nvPr/>
        </p:nvSpPr>
        <p:spPr>
          <a:xfrm>
            <a:off x="502920" y="2688336"/>
            <a:ext cx="1993392" cy="420624"/>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RPK (billion)</a:t>
            </a:r>
            <a:endParaRPr lang="en-US" sz="1100" dirty="0"/>
          </a:p>
        </p:txBody>
      </p:sp>
      <p:sp>
        <p:nvSpPr>
          <p:cNvPr id="16" name="Text 14"/>
          <p:cNvSpPr/>
          <p:nvPr/>
        </p:nvSpPr>
        <p:spPr>
          <a:xfrm>
            <a:off x="2532888" y="2688336"/>
            <a:ext cx="1115568" cy="420624"/>
          </a:xfrm>
          <a:prstGeom prst="rect">
            <a:avLst/>
          </a:prstGeom>
          <a:noFill/>
          <a:ln/>
        </p:spPr>
        <p:txBody>
          <a:bodyPr wrap="square" lIns="0" tIns="0" rIns="0" bIns="0" rtlCol="0" anchor="ctr"/>
          <a:lstStyle/>
          <a:p>
            <a:pPr marL="0" indent="0" algn="r">
              <a:buNone/>
            </a:pPr>
            <a:r>
              <a:rPr lang="en-US" sz="1100" dirty="0">
                <a:solidFill>
                  <a:srgbClr val="6B7280"/>
                </a:solidFill>
                <a:latin typeface="Aptos" pitchFamily="34" charset="0"/>
                <a:ea typeface="Aptos" pitchFamily="34" charset="-122"/>
                <a:cs typeface="Aptos" pitchFamily="34" charset="-120"/>
              </a:rPr>
              <a:t>135.4</a:t>
            </a:r>
            <a:endParaRPr lang="en-US" sz="1100" dirty="0"/>
          </a:p>
        </p:txBody>
      </p:sp>
      <p:sp>
        <p:nvSpPr>
          <p:cNvPr id="17" name="Text 15"/>
          <p:cNvSpPr/>
          <p:nvPr/>
        </p:nvSpPr>
        <p:spPr>
          <a:xfrm>
            <a:off x="3685032" y="2688336"/>
            <a:ext cx="914400" cy="420624"/>
          </a:xfrm>
          <a:prstGeom prst="rect">
            <a:avLst/>
          </a:prstGeom>
          <a:noFill/>
          <a:ln/>
        </p:spPr>
        <p:txBody>
          <a:bodyPr wrap="square" lIns="0" tIns="0" rIns="0" bIns="0" rtlCol="0" anchor="ctr"/>
          <a:lstStyle/>
          <a:p>
            <a:pPr marL="0" indent="0" algn="r">
              <a:buNone/>
            </a:pPr>
            <a:r>
              <a:rPr lang="en-US" sz="1400" b="1" dirty="0">
                <a:solidFill>
                  <a:srgbClr val="041E47"/>
                </a:solidFill>
                <a:latin typeface="Aptos Display" pitchFamily="34" charset="0"/>
                <a:ea typeface="Aptos Display" pitchFamily="34" charset="-122"/>
                <a:cs typeface="Aptos Display" pitchFamily="34" charset="-120"/>
              </a:rPr>
              <a:t>145.5</a:t>
            </a:r>
            <a:endParaRPr lang="en-US" sz="1400" dirty="0"/>
          </a:p>
        </p:txBody>
      </p:sp>
      <p:sp>
        <p:nvSpPr>
          <p:cNvPr id="18" name="Text 16"/>
          <p:cNvSpPr/>
          <p:nvPr/>
        </p:nvSpPr>
        <p:spPr>
          <a:xfrm>
            <a:off x="4654296" y="2688336"/>
            <a:ext cx="1042416" cy="420624"/>
          </a:xfrm>
          <a:prstGeom prst="rect">
            <a:avLst/>
          </a:prstGeom>
          <a:noFill/>
          <a:ln/>
        </p:spPr>
        <p:txBody>
          <a:bodyPr wrap="square" lIns="0" tIns="0" rIns="0" bIns="0" rtlCol="0" anchor="ctr"/>
          <a:lstStyle/>
          <a:p>
            <a:pPr marL="0" indent="0" algn="r">
              <a:buNone/>
            </a:pPr>
            <a:r>
              <a:rPr lang="en-US" sz="1050" b="1" dirty="0">
                <a:solidFill>
                  <a:srgbClr val="0E8A7A"/>
                </a:solidFill>
                <a:latin typeface="Aptos" pitchFamily="34" charset="0"/>
                <a:ea typeface="Aptos" pitchFamily="34" charset="-122"/>
                <a:cs typeface="Aptos" pitchFamily="34" charset="-120"/>
              </a:rPr>
              <a:t>  +7.5%</a:t>
            </a:r>
            <a:endParaRPr lang="en-US" sz="1050" dirty="0"/>
          </a:p>
        </p:txBody>
      </p:sp>
      <p:sp>
        <p:nvSpPr>
          <p:cNvPr id="19" name="Shape 17"/>
          <p:cNvSpPr/>
          <p:nvPr/>
        </p:nvSpPr>
        <p:spPr>
          <a:xfrm>
            <a:off x="502920" y="3191256"/>
            <a:ext cx="5193792" cy="5486"/>
          </a:xfrm>
          <a:prstGeom prst="rect">
            <a:avLst/>
          </a:prstGeom>
          <a:solidFill>
            <a:srgbClr val="C9D8F2"/>
          </a:solidFill>
          <a:ln/>
        </p:spPr>
      </p:sp>
      <p:sp>
        <p:nvSpPr>
          <p:cNvPr id="20" name="Text 18"/>
          <p:cNvSpPr/>
          <p:nvPr/>
        </p:nvSpPr>
        <p:spPr>
          <a:xfrm>
            <a:off x="502920" y="3255264"/>
            <a:ext cx="1993392" cy="420624"/>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Passengers (million)</a:t>
            </a:r>
            <a:endParaRPr lang="en-US" sz="1100" dirty="0"/>
          </a:p>
        </p:txBody>
      </p:sp>
      <p:sp>
        <p:nvSpPr>
          <p:cNvPr id="21" name="Text 19"/>
          <p:cNvSpPr/>
          <p:nvPr/>
        </p:nvSpPr>
        <p:spPr>
          <a:xfrm>
            <a:off x="2532888" y="3255264"/>
            <a:ext cx="1115568" cy="420624"/>
          </a:xfrm>
          <a:prstGeom prst="rect">
            <a:avLst/>
          </a:prstGeom>
          <a:noFill/>
          <a:ln/>
        </p:spPr>
        <p:txBody>
          <a:bodyPr wrap="square" lIns="0" tIns="0" rIns="0" bIns="0" rtlCol="0" anchor="ctr"/>
          <a:lstStyle/>
          <a:p>
            <a:pPr marL="0" indent="0" algn="r">
              <a:buNone/>
            </a:pPr>
            <a:r>
              <a:rPr lang="en-US" sz="1100" dirty="0">
                <a:solidFill>
                  <a:srgbClr val="6B7280"/>
                </a:solidFill>
                <a:latin typeface="Aptos" pitchFamily="34" charset="0"/>
                <a:ea typeface="Aptos" pitchFamily="34" charset="-122"/>
                <a:cs typeface="Aptos" pitchFamily="34" charset="-120"/>
              </a:rPr>
              <a:t>118.6</a:t>
            </a:r>
            <a:endParaRPr lang="en-US" sz="1100" dirty="0"/>
          </a:p>
        </p:txBody>
      </p:sp>
      <p:sp>
        <p:nvSpPr>
          <p:cNvPr id="22" name="Text 20"/>
          <p:cNvSpPr/>
          <p:nvPr/>
        </p:nvSpPr>
        <p:spPr>
          <a:xfrm>
            <a:off x="3685032" y="3255264"/>
            <a:ext cx="914400" cy="420624"/>
          </a:xfrm>
          <a:prstGeom prst="rect">
            <a:avLst/>
          </a:prstGeom>
          <a:noFill/>
          <a:ln/>
        </p:spPr>
        <p:txBody>
          <a:bodyPr wrap="square" lIns="0" tIns="0" rIns="0" bIns="0" rtlCol="0" anchor="ctr"/>
          <a:lstStyle/>
          <a:p>
            <a:pPr marL="0" indent="0" algn="r">
              <a:buNone/>
            </a:pPr>
            <a:r>
              <a:rPr lang="en-US" sz="1400" b="1" dirty="0">
                <a:solidFill>
                  <a:srgbClr val="041E47"/>
                </a:solidFill>
                <a:latin typeface="Aptos Display" pitchFamily="34" charset="0"/>
                <a:ea typeface="Aptos Display" pitchFamily="34" charset="-122"/>
                <a:cs typeface="Aptos Display" pitchFamily="34" charset="-120"/>
              </a:rPr>
              <a:t>123.4</a:t>
            </a:r>
            <a:endParaRPr lang="en-US" sz="1400" dirty="0"/>
          </a:p>
        </p:txBody>
      </p:sp>
      <p:sp>
        <p:nvSpPr>
          <p:cNvPr id="23" name="Text 21"/>
          <p:cNvSpPr/>
          <p:nvPr/>
        </p:nvSpPr>
        <p:spPr>
          <a:xfrm>
            <a:off x="4654296" y="3255264"/>
            <a:ext cx="1042416" cy="420624"/>
          </a:xfrm>
          <a:prstGeom prst="rect">
            <a:avLst/>
          </a:prstGeom>
          <a:noFill/>
          <a:ln/>
        </p:spPr>
        <p:txBody>
          <a:bodyPr wrap="square" lIns="0" tIns="0" rIns="0" bIns="0" rtlCol="0" anchor="ctr"/>
          <a:lstStyle/>
          <a:p>
            <a:pPr marL="0" indent="0" algn="r">
              <a:buNone/>
            </a:pPr>
            <a:r>
              <a:rPr lang="en-US" sz="1050" b="1" dirty="0">
                <a:solidFill>
                  <a:srgbClr val="0E8A7A"/>
                </a:solidFill>
                <a:latin typeface="Aptos" pitchFamily="34" charset="0"/>
                <a:ea typeface="Aptos" pitchFamily="34" charset="-122"/>
                <a:cs typeface="Aptos" pitchFamily="34" charset="-120"/>
              </a:rPr>
              <a:t>  +4.0%</a:t>
            </a:r>
            <a:endParaRPr lang="en-US" sz="1050" dirty="0"/>
          </a:p>
        </p:txBody>
      </p:sp>
      <p:sp>
        <p:nvSpPr>
          <p:cNvPr id="24" name="Shape 22"/>
          <p:cNvSpPr/>
          <p:nvPr/>
        </p:nvSpPr>
        <p:spPr>
          <a:xfrm>
            <a:off x="502920" y="3758184"/>
            <a:ext cx="5193792" cy="5486"/>
          </a:xfrm>
          <a:prstGeom prst="rect">
            <a:avLst/>
          </a:prstGeom>
          <a:solidFill>
            <a:srgbClr val="C9D8F2"/>
          </a:solidFill>
          <a:ln/>
        </p:spPr>
      </p:sp>
      <p:sp>
        <p:nvSpPr>
          <p:cNvPr id="25" name="Text 23"/>
          <p:cNvSpPr/>
          <p:nvPr/>
        </p:nvSpPr>
        <p:spPr>
          <a:xfrm>
            <a:off x="502920" y="3822192"/>
            <a:ext cx="1993392" cy="420624"/>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Revenue from operations (Rs. B)</a:t>
            </a:r>
            <a:endParaRPr lang="en-US" sz="1100" dirty="0"/>
          </a:p>
        </p:txBody>
      </p:sp>
      <p:sp>
        <p:nvSpPr>
          <p:cNvPr id="26" name="Text 24"/>
          <p:cNvSpPr/>
          <p:nvPr/>
        </p:nvSpPr>
        <p:spPr>
          <a:xfrm>
            <a:off x="2532888" y="3822192"/>
            <a:ext cx="1115568" cy="420624"/>
          </a:xfrm>
          <a:prstGeom prst="rect">
            <a:avLst/>
          </a:prstGeom>
          <a:noFill/>
          <a:ln/>
        </p:spPr>
        <p:txBody>
          <a:bodyPr wrap="square" lIns="0" tIns="0" rIns="0" bIns="0" rtlCol="0" anchor="ctr"/>
          <a:lstStyle/>
          <a:p>
            <a:pPr marL="0" indent="0" algn="r">
              <a:buNone/>
            </a:pPr>
            <a:r>
              <a:rPr lang="en-US" sz="1100" dirty="0">
                <a:solidFill>
                  <a:srgbClr val="6B7280"/>
                </a:solidFill>
                <a:latin typeface="Aptos" pitchFamily="34" charset="0"/>
                <a:ea typeface="Aptos" pitchFamily="34" charset="-122"/>
                <a:cs typeface="Aptos" pitchFamily="34" charset="-120"/>
              </a:rPr>
              <a:t>808.029</a:t>
            </a:r>
            <a:endParaRPr lang="en-US" sz="1100" dirty="0"/>
          </a:p>
        </p:txBody>
      </p:sp>
      <p:sp>
        <p:nvSpPr>
          <p:cNvPr id="27" name="Text 25"/>
          <p:cNvSpPr/>
          <p:nvPr/>
        </p:nvSpPr>
        <p:spPr>
          <a:xfrm>
            <a:off x="3685032" y="3822192"/>
            <a:ext cx="914400" cy="420624"/>
          </a:xfrm>
          <a:prstGeom prst="rect">
            <a:avLst/>
          </a:prstGeom>
          <a:noFill/>
          <a:ln/>
        </p:spPr>
        <p:txBody>
          <a:bodyPr wrap="square" lIns="0" tIns="0" rIns="0" bIns="0" rtlCol="0" anchor="ctr"/>
          <a:lstStyle/>
          <a:p>
            <a:pPr marL="0" indent="0" algn="r">
              <a:buNone/>
            </a:pPr>
            <a:r>
              <a:rPr lang="en-US" sz="1400" b="1" dirty="0">
                <a:solidFill>
                  <a:srgbClr val="041E47"/>
                </a:solidFill>
                <a:latin typeface="Aptos Display" pitchFamily="34" charset="0"/>
                <a:ea typeface="Aptos Display" pitchFamily="34" charset="-122"/>
                <a:cs typeface="Aptos Display" pitchFamily="34" charset="-120"/>
              </a:rPr>
              <a:t>849.619</a:t>
            </a:r>
            <a:endParaRPr lang="en-US" sz="1400" dirty="0"/>
          </a:p>
        </p:txBody>
      </p:sp>
      <p:sp>
        <p:nvSpPr>
          <p:cNvPr id="28" name="Text 26"/>
          <p:cNvSpPr/>
          <p:nvPr/>
        </p:nvSpPr>
        <p:spPr>
          <a:xfrm>
            <a:off x="4654296" y="3822192"/>
            <a:ext cx="1042416" cy="420624"/>
          </a:xfrm>
          <a:prstGeom prst="rect">
            <a:avLst/>
          </a:prstGeom>
          <a:noFill/>
          <a:ln/>
        </p:spPr>
        <p:txBody>
          <a:bodyPr wrap="square" lIns="0" tIns="0" rIns="0" bIns="0" rtlCol="0" anchor="ctr"/>
          <a:lstStyle/>
          <a:p>
            <a:pPr marL="0" indent="0" algn="r">
              <a:buNone/>
            </a:pPr>
            <a:r>
              <a:rPr lang="en-US" sz="1050" b="1" dirty="0">
                <a:solidFill>
                  <a:srgbClr val="0E8A7A"/>
                </a:solidFill>
                <a:latin typeface="Aptos" pitchFamily="34" charset="0"/>
                <a:ea typeface="Aptos" pitchFamily="34" charset="-122"/>
                <a:cs typeface="Aptos" pitchFamily="34" charset="-120"/>
              </a:rPr>
              <a:t>  +5.1%</a:t>
            </a:r>
            <a:endParaRPr lang="en-US" sz="1050" dirty="0"/>
          </a:p>
        </p:txBody>
      </p:sp>
      <p:sp>
        <p:nvSpPr>
          <p:cNvPr id="29" name="Shape 27"/>
          <p:cNvSpPr/>
          <p:nvPr/>
        </p:nvSpPr>
        <p:spPr>
          <a:xfrm>
            <a:off x="502920" y="4325112"/>
            <a:ext cx="5193792" cy="5486"/>
          </a:xfrm>
          <a:prstGeom prst="rect">
            <a:avLst/>
          </a:prstGeom>
          <a:solidFill>
            <a:srgbClr val="C9D8F2"/>
          </a:solidFill>
          <a:ln/>
        </p:spPr>
      </p:sp>
      <p:sp>
        <p:nvSpPr>
          <p:cNvPr id="30" name="Text 28"/>
          <p:cNvSpPr/>
          <p:nvPr/>
        </p:nvSpPr>
        <p:spPr>
          <a:xfrm>
            <a:off x="502920" y="4389120"/>
            <a:ext cx="1993392" cy="420624"/>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Total income (Rs. B)</a:t>
            </a:r>
            <a:endParaRPr lang="en-US" sz="1100" dirty="0"/>
          </a:p>
        </p:txBody>
      </p:sp>
      <p:sp>
        <p:nvSpPr>
          <p:cNvPr id="31" name="Text 29"/>
          <p:cNvSpPr/>
          <p:nvPr/>
        </p:nvSpPr>
        <p:spPr>
          <a:xfrm>
            <a:off x="2532888" y="4389120"/>
            <a:ext cx="1115568" cy="420624"/>
          </a:xfrm>
          <a:prstGeom prst="rect">
            <a:avLst/>
          </a:prstGeom>
          <a:noFill/>
          <a:ln/>
        </p:spPr>
        <p:txBody>
          <a:bodyPr wrap="square" lIns="0" tIns="0" rIns="0" bIns="0" rtlCol="0" anchor="ctr"/>
          <a:lstStyle/>
          <a:p>
            <a:pPr marL="0" indent="0" algn="r">
              <a:buNone/>
            </a:pPr>
            <a:r>
              <a:rPr lang="en-US" sz="1100" dirty="0">
                <a:solidFill>
                  <a:srgbClr val="6B7280"/>
                </a:solidFill>
                <a:latin typeface="Aptos" pitchFamily="34" charset="0"/>
                <a:ea typeface="Aptos" pitchFamily="34" charset="-122"/>
                <a:cs typeface="Aptos" pitchFamily="34" charset="-120"/>
              </a:rPr>
              <a:t>840.982</a:t>
            </a:r>
            <a:endParaRPr lang="en-US" sz="1100" dirty="0"/>
          </a:p>
        </p:txBody>
      </p:sp>
      <p:sp>
        <p:nvSpPr>
          <p:cNvPr id="32" name="Text 30"/>
          <p:cNvSpPr/>
          <p:nvPr/>
        </p:nvSpPr>
        <p:spPr>
          <a:xfrm>
            <a:off x="3685032" y="4389120"/>
            <a:ext cx="914400" cy="420624"/>
          </a:xfrm>
          <a:prstGeom prst="rect">
            <a:avLst/>
          </a:prstGeom>
          <a:noFill/>
          <a:ln/>
        </p:spPr>
        <p:txBody>
          <a:bodyPr wrap="square" lIns="0" tIns="0" rIns="0" bIns="0" rtlCol="0" anchor="ctr"/>
          <a:lstStyle/>
          <a:p>
            <a:pPr marL="0" indent="0" algn="r">
              <a:buNone/>
            </a:pPr>
            <a:r>
              <a:rPr lang="en-US" sz="1400" b="1" dirty="0">
                <a:solidFill>
                  <a:srgbClr val="041E47"/>
                </a:solidFill>
                <a:latin typeface="Aptos Display" pitchFamily="34" charset="0"/>
                <a:ea typeface="Aptos Display" pitchFamily="34" charset="-122"/>
                <a:cs typeface="Aptos Display" pitchFamily="34" charset="-120"/>
              </a:rPr>
              <a:t>895.134</a:t>
            </a:r>
            <a:endParaRPr lang="en-US" sz="1400" dirty="0"/>
          </a:p>
        </p:txBody>
      </p:sp>
      <p:sp>
        <p:nvSpPr>
          <p:cNvPr id="33" name="Text 31"/>
          <p:cNvSpPr/>
          <p:nvPr/>
        </p:nvSpPr>
        <p:spPr>
          <a:xfrm>
            <a:off x="4654296" y="4389120"/>
            <a:ext cx="1042416" cy="420624"/>
          </a:xfrm>
          <a:prstGeom prst="rect">
            <a:avLst/>
          </a:prstGeom>
          <a:noFill/>
          <a:ln/>
        </p:spPr>
        <p:txBody>
          <a:bodyPr wrap="square" lIns="0" tIns="0" rIns="0" bIns="0" rtlCol="0" anchor="ctr"/>
          <a:lstStyle/>
          <a:p>
            <a:pPr marL="0" indent="0" algn="r">
              <a:buNone/>
            </a:pPr>
            <a:r>
              <a:rPr lang="en-US" sz="1050" b="1" dirty="0">
                <a:solidFill>
                  <a:srgbClr val="0E8A7A"/>
                </a:solidFill>
                <a:latin typeface="Aptos" pitchFamily="34" charset="0"/>
                <a:ea typeface="Aptos" pitchFamily="34" charset="-122"/>
                <a:cs typeface="Aptos" pitchFamily="34" charset="-120"/>
              </a:rPr>
              <a:t>  +6.4%</a:t>
            </a:r>
            <a:endParaRPr lang="en-US" sz="1050" dirty="0"/>
          </a:p>
        </p:txBody>
      </p:sp>
      <p:sp>
        <p:nvSpPr>
          <p:cNvPr id="34" name="Text 32"/>
          <p:cNvSpPr/>
          <p:nvPr/>
        </p:nvSpPr>
        <p:spPr>
          <a:xfrm>
            <a:off x="6492240" y="1481328"/>
            <a:ext cx="5193792" cy="201168"/>
          </a:xfrm>
          <a:prstGeom prst="rect">
            <a:avLst/>
          </a:prstGeom>
          <a:noFill/>
          <a:ln/>
        </p:spPr>
        <p:txBody>
          <a:bodyPr wrap="square" lIns="0" tIns="0" rIns="0" bIns="0" rtlCol="0" anchor="ctr"/>
          <a:lstStyle/>
          <a:p>
            <a:pPr marL="0" indent="0" algn="l">
              <a:buNone/>
            </a:pPr>
            <a:r>
              <a:rPr lang="en-US" sz="1050" b="1" kern="0" spc="110" dirty="0">
                <a:solidFill>
                  <a:srgbClr val="C43F2E"/>
                </a:solidFill>
                <a:latin typeface="Aptos" pitchFamily="34" charset="0"/>
                <a:ea typeface="Aptos" pitchFamily="34" charset="-122"/>
                <a:cs typeface="Aptos" pitchFamily="34" charset="-120"/>
              </a:rPr>
              <a:t>UNIT ECONOMICS COMPRESSED</a:t>
            </a:r>
            <a:endParaRPr lang="en-US" sz="1050" dirty="0"/>
          </a:p>
        </p:txBody>
      </p:sp>
      <p:sp>
        <p:nvSpPr>
          <p:cNvPr id="35" name="Text 33"/>
          <p:cNvSpPr/>
          <p:nvPr/>
        </p:nvSpPr>
        <p:spPr>
          <a:xfrm>
            <a:off x="8522208" y="1792224"/>
            <a:ext cx="1115568" cy="219456"/>
          </a:xfrm>
          <a:prstGeom prst="rect">
            <a:avLst/>
          </a:prstGeom>
          <a:noFill/>
          <a:ln/>
        </p:spPr>
        <p:txBody>
          <a:bodyPr wrap="square" lIns="0" tIns="0" rIns="0" bIns="0" rtlCol="0" anchor="ctr"/>
          <a:lstStyle/>
          <a:p>
            <a:pPr marL="0" indent="0" algn="r">
              <a:buNone/>
            </a:pPr>
            <a:r>
              <a:rPr lang="en-US" sz="900" b="1" dirty="0">
                <a:solidFill>
                  <a:srgbClr val="6B7280"/>
                </a:solidFill>
                <a:latin typeface="Aptos" pitchFamily="34" charset="0"/>
                <a:ea typeface="Aptos" pitchFamily="34" charset="-122"/>
                <a:cs typeface="Aptos" pitchFamily="34" charset="-120"/>
              </a:rPr>
              <a:t>FY2024-25</a:t>
            </a:r>
            <a:endParaRPr lang="en-US" sz="900" dirty="0"/>
          </a:p>
        </p:txBody>
      </p:sp>
      <p:sp>
        <p:nvSpPr>
          <p:cNvPr id="36" name="Text 34"/>
          <p:cNvSpPr/>
          <p:nvPr/>
        </p:nvSpPr>
        <p:spPr>
          <a:xfrm>
            <a:off x="9674352" y="1792224"/>
            <a:ext cx="914400" cy="219456"/>
          </a:xfrm>
          <a:prstGeom prst="rect">
            <a:avLst/>
          </a:prstGeom>
          <a:noFill/>
          <a:ln/>
        </p:spPr>
        <p:txBody>
          <a:bodyPr wrap="square" lIns="0" tIns="0" rIns="0" bIns="0" rtlCol="0" anchor="ctr"/>
          <a:lstStyle/>
          <a:p>
            <a:pPr marL="0" indent="0" algn="r">
              <a:buNone/>
            </a:pPr>
            <a:r>
              <a:rPr lang="en-US" sz="900" b="1" dirty="0">
                <a:solidFill>
                  <a:srgbClr val="6B7280"/>
                </a:solidFill>
                <a:latin typeface="Aptos" pitchFamily="34" charset="0"/>
                <a:ea typeface="Aptos" pitchFamily="34" charset="-122"/>
                <a:cs typeface="Aptos" pitchFamily="34" charset="-120"/>
              </a:rPr>
              <a:t>FY2025-26</a:t>
            </a:r>
            <a:endParaRPr lang="en-US" sz="900" dirty="0"/>
          </a:p>
        </p:txBody>
      </p:sp>
      <p:sp>
        <p:nvSpPr>
          <p:cNvPr id="37" name="Text 35"/>
          <p:cNvSpPr/>
          <p:nvPr/>
        </p:nvSpPr>
        <p:spPr>
          <a:xfrm>
            <a:off x="10643616" y="1792224"/>
            <a:ext cx="1042416" cy="219456"/>
          </a:xfrm>
          <a:prstGeom prst="rect">
            <a:avLst/>
          </a:prstGeom>
          <a:noFill/>
          <a:ln/>
        </p:spPr>
        <p:txBody>
          <a:bodyPr wrap="square" lIns="0" tIns="0" rIns="0" bIns="0" rtlCol="0" anchor="ctr"/>
          <a:lstStyle/>
          <a:p>
            <a:pPr marL="0" indent="0" algn="r">
              <a:buNone/>
            </a:pPr>
            <a:r>
              <a:rPr lang="en-US" sz="900" b="1" dirty="0">
                <a:solidFill>
                  <a:srgbClr val="6B7280"/>
                </a:solidFill>
                <a:latin typeface="Aptos" pitchFamily="34" charset="0"/>
                <a:ea typeface="Aptos" pitchFamily="34" charset="-122"/>
                <a:cs typeface="Aptos" pitchFamily="34" charset="-120"/>
              </a:rPr>
              <a:t>CHANGE</a:t>
            </a:r>
            <a:endParaRPr lang="en-US" sz="900" dirty="0"/>
          </a:p>
        </p:txBody>
      </p:sp>
      <p:sp>
        <p:nvSpPr>
          <p:cNvPr id="38" name="Shape 36"/>
          <p:cNvSpPr/>
          <p:nvPr/>
        </p:nvSpPr>
        <p:spPr>
          <a:xfrm>
            <a:off x="6492240" y="2029968"/>
            <a:ext cx="5193792" cy="5486"/>
          </a:xfrm>
          <a:prstGeom prst="rect">
            <a:avLst/>
          </a:prstGeom>
          <a:solidFill>
            <a:srgbClr val="C9D8F2"/>
          </a:solidFill>
          <a:ln/>
        </p:spPr>
      </p:sp>
      <p:sp>
        <p:nvSpPr>
          <p:cNvPr id="39" name="Text 37"/>
          <p:cNvSpPr/>
          <p:nvPr/>
        </p:nvSpPr>
        <p:spPr>
          <a:xfrm>
            <a:off x="6492240" y="2121408"/>
            <a:ext cx="1993392" cy="420624"/>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Load factor</a:t>
            </a:r>
            <a:endParaRPr lang="en-US" sz="1100" dirty="0"/>
          </a:p>
        </p:txBody>
      </p:sp>
      <p:sp>
        <p:nvSpPr>
          <p:cNvPr id="40" name="Text 38"/>
          <p:cNvSpPr/>
          <p:nvPr/>
        </p:nvSpPr>
        <p:spPr>
          <a:xfrm>
            <a:off x="8522208" y="2121408"/>
            <a:ext cx="1115568" cy="420624"/>
          </a:xfrm>
          <a:prstGeom prst="rect">
            <a:avLst/>
          </a:prstGeom>
          <a:noFill/>
          <a:ln/>
        </p:spPr>
        <p:txBody>
          <a:bodyPr wrap="square" lIns="0" tIns="0" rIns="0" bIns="0" rtlCol="0" anchor="ctr"/>
          <a:lstStyle/>
          <a:p>
            <a:pPr marL="0" indent="0" algn="r">
              <a:buNone/>
            </a:pPr>
            <a:r>
              <a:rPr lang="en-US" sz="1100" dirty="0">
                <a:solidFill>
                  <a:srgbClr val="6B7280"/>
                </a:solidFill>
                <a:latin typeface="Aptos" pitchFamily="34" charset="0"/>
                <a:ea typeface="Aptos" pitchFamily="34" charset="-122"/>
                <a:cs typeface="Aptos" pitchFamily="34" charset="-120"/>
              </a:rPr>
              <a:t>86.0%</a:t>
            </a:r>
            <a:endParaRPr lang="en-US" sz="1100" dirty="0"/>
          </a:p>
        </p:txBody>
      </p:sp>
      <p:sp>
        <p:nvSpPr>
          <p:cNvPr id="41" name="Text 39"/>
          <p:cNvSpPr/>
          <p:nvPr/>
        </p:nvSpPr>
        <p:spPr>
          <a:xfrm>
            <a:off x="9674352" y="2121408"/>
            <a:ext cx="914400" cy="420624"/>
          </a:xfrm>
          <a:prstGeom prst="rect">
            <a:avLst/>
          </a:prstGeom>
          <a:noFill/>
          <a:ln/>
        </p:spPr>
        <p:txBody>
          <a:bodyPr wrap="square" lIns="0" tIns="0" rIns="0" bIns="0" rtlCol="0" anchor="ctr"/>
          <a:lstStyle/>
          <a:p>
            <a:pPr marL="0" indent="0" algn="r">
              <a:buNone/>
            </a:pPr>
            <a:r>
              <a:rPr lang="en-US" sz="1400" b="1" dirty="0">
                <a:solidFill>
                  <a:srgbClr val="041E47"/>
                </a:solidFill>
                <a:latin typeface="Aptos Display" pitchFamily="34" charset="0"/>
                <a:ea typeface="Aptos Display" pitchFamily="34" charset="-122"/>
                <a:cs typeface="Aptos Display" pitchFamily="34" charset="-120"/>
              </a:rPr>
              <a:t>84.4%</a:t>
            </a:r>
            <a:endParaRPr lang="en-US" sz="1400" dirty="0"/>
          </a:p>
        </p:txBody>
      </p:sp>
      <p:sp>
        <p:nvSpPr>
          <p:cNvPr id="42" name="Text 40"/>
          <p:cNvSpPr/>
          <p:nvPr/>
        </p:nvSpPr>
        <p:spPr>
          <a:xfrm>
            <a:off x="10643616" y="2121408"/>
            <a:ext cx="1042416" cy="420624"/>
          </a:xfrm>
          <a:prstGeom prst="rect">
            <a:avLst/>
          </a:prstGeom>
          <a:noFill/>
          <a:ln/>
        </p:spPr>
        <p:txBody>
          <a:bodyPr wrap="square" lIns="0" tIns="0" rIns="0" bIns="0" rtlCol="0" anchor="ctr"/>
          <a:lstStyle/>
          <a:p>
            <a:pPr marL="0" indent="0" algn="r">
              <a:buNone/>
            </a:pPr>
            <a:r>
              <a:rPr lang="en-US" sz="1050" b="1" dirty="0">
                <a:solidFill>
                  <a:srgbClr val="C43F2E"/>
                </a:solidFill>
                <a:latin typeface="Aptos" pitchFamily="34" charset="0"/>
                <a:ea typeface="Aptos" pitchFamily="34" charset="-122"/>
                <a:cs typeface="Aptos" pitchFamily="34" charset="-120"/>
              </a:rPr>
              <a:t>- 1.6 pp</a:t>
            </a:r>
            <a:endParaRPr lang="en-US" sz="1050" dirty="0"/>
          </a:p>
        </p:txBody>
      </p:sp>
      <p:sp>
        <p:nvSpPr>
          <p:cNvPr id="43" name="Shape 41"/>
          <p:cNvSpPr/>
          <p:nvPr/>
        </p:nvSpPr>
        <p:spPr>
          <a:xfrm>
            <a:off x="6492240" y="2624328"/>
            <a:ext cx="5193792" cy="5486"/>
          </a:xfrm>
          <a:prstGeom prst="rect">
            <a:avLst/>
          </a:prstGeom>
          <a:solidFill>
            <a:srgbClr val="C9D8F2"/>
          </a:solidFill>
          <a:ln/>
        </p:spPr>
      </p:sp>
      <p:sp>
        <p:nvSpPr>
          <p:cNvPr id="44" name="Text 42"/>
          <p:cNvSpPr/>
          <p:nvPr/>
        </p:nvSpPr>
        <p:spPr>
          <a:xfrm>
            <a:off x="6492240" y="2688336"/>
            <a:ext cx="1993392" cy="420624"/>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RASK (Rs. /ASK)</a:t>
            </a:r>
            <a:endParaRPr lang="en-US" sz="1100" dirty="0"/>
          </a:p>
        </p:txBody>
      </p:sp>
      <p:sp>
        <p:nvSpPr>
          <p:cNvPr id="45" name="Text 43"/>
          <p:cNvSpPr/>
          <p:nvPr/>
        </p:nvSpPr>
        <p:spPr>
          <a:xfrm>
            <a:off x="8522208" y="2688336"/>
            <a:ext cx="1115568" cy="420624"/>
          </a:xfrm>
          <a:prstGeom prst="rect">
            <a:avLst/>
          </a:prstGeom>
          <a:noFill/>
          <a:ln/>
        </p:spPr>
        <p:txBody>
          <a:bodyPr wrap="square" lIns="0" tIns="0" rIns="0" bIns="0" rtlCol="0" anchor="ctr"/>
          <a:lstStyle/>
          <a:p>
            <a:pPr marL="0" indent="0" algn="r">
              <a:buNone/>
            </a:pPr>
            <a:r>
              <a:rPr lang="en-US" sz="1100" dirty="0">
                <a:solidFill>
                  <a:srgbClr val="6B7280"/>
                </a:solidFill>
                <a:latin typeface="Aptos" pitchFamily="34" charset="0"/>
                <a:ea typeface="Aptos" pitchFamily="34" charset="-122"/>
                <a:cs typeface="Aptos" pitchFamily="34" charset="-120"/>
              </a:rPr>
              <a:t>5.14</a:t>
            </a:r>
            <a:endParaRPr lang="en-US" sz="1100" dirty="0"/>
          </a:p>
        </p:txBody>
      </p:sp>
      <p:sp>
        <p:nvSpPr>
          <p:cNvPr id="46" name="Text 44"/>
          <p:cNvSpPr/>
          <p:nvPr/>
        </p:nvSpPr>
        <p:spPr>
          <a:xfrm>
            <a:off x="9674352" y="2688336"/>
            <a:ext cx="914400" cy="420624"/>
          </a:xfrm>
          <a:prstGeom prst="rect">
            <a:avLst/>
          </a:prstGeom>
          <a:noFill/>
          <a:ln/>
        </p:spPr>
        <p:txBody>
          <a:bodyPr wrap="square" lIns="0" tIns="0" rIns="0" bIns="0" rtlCol="0" anchor="ctr"/>
          <a:lstStyle/>
          <a:p>
            <a:pPr marL="0" indent="0" algn="r">
              <a:buNone/>
            </a:pPr>
            <a:r>
              <a:rPr lang="en-US" sz="1400" b="1" dirty="0">
                <a:solidFill>
                  <a:srgbClr val="041E47"/>
                </a:solidFill>
                <a:latin typeface="Aptos Display" pitchFamily="34" charset="0"/>
                <a:ea typeface="Aptos Display" pitchFamily="34" charset="-122"/>
                <a:cs typeface="Aptos Display" pitchFamily="34" charset="-120"/>
              </a:rPr>
              <a:t>4.99</a:t>
            </a:r>
            <a:endParaRPr lang="en-US" sz="1400" dirty="0"/>
          </a:p>
        </p:txBody>
      </p:sp>
      <p:sp>
        <p:nvSpPr>
          <p:cNvPr id="47" name="Text 45"/>
          <p:cNvSpPr/>
          <p:nvPr/>
        </p:nvSpPr>
        <p:spPr>
          <a:xfrm>
            <a:off x="10643616" y="2688336"/>
            <a:ext cx="1042416" cy="420624"/>
          </a:xfrm>
          <a:prstGeom prst="rect">
            <a:avLst/>
          </a:prstGeom>
          <a:noFill/>
          <a:ln/>
        </p:spPr>
        <p:txBody>
          <a:bodyPr wrap="square" lIns="0" tIns="0" rIns="0" bIns="0" rtlCol="0" anchor="ctr"/>
          <a:lstStyle/>
          <a:p>
            <a:pPr marL="0" indent="0" algn="r">
              <a:buNone/>
            </a:pPr>
            <a:r>
              <a:rPr lang="en-US" sz="1050" b="1" dirty="0">
                <a:solidFill>
                  <a:srgbClr val="C43F2E"/>
                </a:solidFill>
                <a:latin typeface="Aptos" pitchFamily="34" charset="0"/>
                <a:ea typeface="Aptos" pitchFamily="34" charset="-122"/>
                <a:cs typeface="Aptos" pitchFamily="34" charset="-120"/>
              </a:rPr>
              <a:t>- 3.0%</a:t>
            </a:r>
            <a:endParaRPr lang="en-US" sz="1050" dirty="0"/>
          </a:p>
        </p:txBody>
      </p:sp>
      <p:sp>
        <p:nvSpPr>
          <p:cNvPr id="48" name="Shape 46"/>
          <p:cNvSpPr/>
          <p:nvPr/>
        </p:nvSpPr>
        <p:spPr>
          <a:xfrm>
            <a:off x="6492240" y="3191256"/>
            <a:ext cx="5193792" cy="5486"/>
          </a:xfrm>
          <a:prstGeom prst="rect">
            <a:avLst/>
          </a:prstGeom>
          <a:solidFill>
            <a:srgbClr val="C9D8F2"/>
          </a:solidFill>
          <a:ln/>
        </p:spPr>
      </p:sp>
      <p:sp>
        <p:nvSpPr>
          <p:cNvPr id="49" name="Text 47"/>
          <p:cNvSpPr/>
          <p:nvPr/>
        </p:nvSpPr>
        <p:spPr>
          <a:xfrm>
            <a:off x="6492240" y="3255264"/>
            <a:ext cx="1993392" cy="420624"/>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CASK (Rs. /ASK)</a:t>
            </a:r>
            <a:endParaRPr lang="en-US" sz="1100" dirty="0"/>
          </a:p>
        </p:txBody>
      </p:sp>
      <p:sp>
        <p:nvSpPr>
          <p:cNvPr id="50" name="Text 48"/>
          <p:cNvSpPr/>
          <p:nvPr/>
        </p:nvSpPr>
        <p:spPr>
          <a:xfrm>
            <a:off x="8522208" y="3255264"/>
            <a:ext cx="1115568" cy="420624"/>
          </a:xfrm>
          <a:prstGeom prst="rect">
            <a:avLst/>
          </a:prstGeom>
          <a:noFill/>
          <a:ln/>
        </p:spPr>
        <p:txBody>
          <a:bodyPr wrap="square" lIns="0" tIns="0" rIns="0" bIns="0" rtlCol="0" anchor="ctr"/>
          <a:lstStyle/>
          <a:p>
            <a:pPr marL="0" indent="0" algn="r">
              <a:buNone/>
            </a:pPr>
            <a:r>
              <a:rPr lang="en-US" sz="1100" dirty="0">
                <a:solidFill>
                  <a:srgbClr val="6B7280"/>
                </a:solidFill>
                <a:latin typeface="Aptos" pitchFamily="34" charset="0"/>
                <a:ea typeface="Aptos" pitchFamily="34" charset="-122"/>
                <a:cs typeface="Aptos" pitchFamily="34" charset="-120"/>
              </a:rPr>
              <a:t>4.66 / 4.65*</a:t>
            </a:r>
            <a:endParaRPr lang="en-US" sz="1100" dirty="0"/>
          </a:p>
        </p:txBody>
      </p:sp>
      <p:sp>
        <p:nvSpPr>
          <p:cNvPr id="51" name="Text 49"/>
          <p:cNvSpPr/>
          <p:nvPr/>
        </p:nvSpPr>
        <p:spPr>
          <a:xfrm>
            <a:off x="9674352" y="3255264"/>
            <a:ext cx="914400" cy="420624"/>
          </a:xfrm>
          <a:prstGeom prst="rect">
            <a:avLst/>
          </a:prstGeom>
          <a:noFill/>
          <a:ln/>
        </p:spPr>
        <p:txBody>
          <a:bodyPr wrap="square" lIns="0" tIns="0" rIns="0" bIns="0" rtlCol="0" anchor="ctr"/>
          <a:lstStyle/>
          <a:p>
            <a:pPr marL="0" indent="0" algn="r">
              <a:buNone/>
            </a:pPr>
            <a:r>
              <a:rPr lang="en-US" sz="1400" b="1" dirty="0">
                <a:solidFill>
                  <a:srgbClr val="041E47"/>
                </a:solidFill>
                <a:latin typeface="Aptos Display" pitchFamily="34" charset="0"/>
                <a:ea typeface="Aptos Display" pitchFamily="34" charset="-122"/>
                <a:cs typeface="Aptos Display" pitchFamily="34" charset="-120"/>
              </a:rPr>
              <a:t>5.00</a:t>
            </a:r>
            <a:endParaRPr lang="en-US" sz="1400" dirty="0"/>
          </a:p>
        </p:txBody>
      </p:sp>
      <p:sp>
        <p:nvSpPr>
          <p:cNvPr id="52" name="Text 50"/>
          <p:cNvSpPr/>
          <p:nvPr/>
        </p:nvSpPr>
        <p:spPr>
          <a:xfrm>
            <a:off x="10643616" y="3255264"/>
            <a:ext cx="1042416" cy="420624"/>
          </a:xfrm>
          <a:prstGeom prst="rect">
            <a:avLst/>
          </a:prstGeom>
          <a:noFill/>
          <a:ln/>
        </p:spPr>
        <p:txBody>
          <a:bodyPr wrap="square" lIns="0" tIns="0" rIns="0" bIns="0" rtlCol="0" anchor="ctr"/>
          <a:lstStyle/>
          <a:p>
            <a:pPr marL="0" indent="0" algn="r">
              <a:buNone/>
            </a:pPr>
            <a:r>
              <a:rPr lang="en-US" sz="1050" b="1" dirty="0">
                <a:solidFill>
                  <a:srgbClr val="C43F2E"/>
                </a:solidFill>
                <a:latin typeface="Aptos" pitchFamily="34" charset="0"/>
                <a:ea typeface="Aptos" pitchFamily="34" charset="-122"/>
                <a:cs typeface="Aptos" pitchFamily="34" charset="-120"/>
              </a:rPr>
              <a:t>+7.2%</a:t>
            </a:r>
            <a:endParaRPr lang="en-US" sz="1050" dirty="0"/>
          </a:p>
        </p:txBody>
      </p:sp>
      <p:sp>
        <p:nvSpPr>
          <p:cNvPr id="53" name="Shape 51"/>
          <p:cNvSpPr/>
          <p:nvPr/>
        </p:nvSpPr>
        <p:spPr>
          <a:xfrm>
            <a:off x="6492240" y="3758184"/>
            <a:ext cx="5193792" cy="5486"/>
          </a:xfrm>
          <a:prstGeom prst="rect">
            <a:avLst/>
          </a:prstGeom>
          <a:solidFill>
            <a:srgbClr val="C9D8F2"/>
          </a:solidFill>
          <a:ln/>
        </p:spPr>
      </p:sp>
      <p:sp>
        <p:nvSpPr>
          <p:cNvPr id="54" name="Text 52"/>
          <p:cNvSpPr/>
          <p:nvPr/>
        </p:nvSpPr>
        <p:spPr>
          <a:xfrm>
            <a:off x="6492240" y="3822192"/>
            <a:ext cx="1993392" cy="420624"/>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RASK - CASK (Rs. /ASK)</a:t>
            </a:r>
            <a:endParaRPr lang="en-US" sz="1100" dirty="0"/>
          </a:p>
        </p:txBody>
      </p:sp>
      <p:sp>
        <p:nvSpPr>
          <p:cNvPr id="55" name="Text 53"/>
          <p:cNvSpPr/>
          <p:nvPr/>
        </p:nvSpPr>
        <p:spPr>
          <a:xfrm>
            <a:off x="8522208" y="3822192"/>
            <a:ext cx="1115568" cy="420624"/>
          </a:xfrm>
          <a:prstGeom prst="rect">
            <a:avLst/>
          </a:prstGeom>
          <a:noFill/>
          <a:ln/>
        </p:spPr>
        <p:txBody>
          <a:bodyPr wrap="square" lIns="0" tIns="0" rIns="0" bIns="0" rtlCol="0" anchor="ctr"/>
          <a:lstStyle/>
          <a:p>
            <a:pPr marL="0" indent="0" algn="r">
              <a:buNone/>
            </a:pPr>
            <a:r>
              <a:rPr lang="en-US" sz="1100" dirty="0">
                <a:solidFill>
                  <a:srgbClr val="6B7280"/>
                </a:solidFill>
                <a:latin typeface="Aptos" pitchFamily="34" charset="0"/>
                <a:ea typeface="Aptos" pitchFamily="34" charset="-122"/>
                <a:cs typeface="Aptos" pitchFamily="34" charset="-120"/>
              </a:rPr>
              <a:t>+0.48 / +0.49*</a:t>
            </a:r>
            <a:endParaRPr lang="en-US" sz="1100" dirty="0"/>
          </a:p>
        </p:txBody>
      </p:sp>
      <p:sp>
        <p:nvSpPr>
          <p:cNvPr id="56" name="Text 54"/>
          <p:cNvSpPr/>
          <p:nvPr/>
        </p:nvSpPr>
        <p:spPr>
          <a:xfrm>
            <a:off x="9674352" y="3822192"/>
            <a:ext cx="914400" cy="420624"/>
          </a:xfrm>
          <a:prstGeom prst="rect">
            <a:avLst/>
          </a:prstGeom>
          <a:noFill/>
          <a:ln/>
        </p:spPr>
        <p:txBody>
          <a:bodyPr wrap="square" lIns="0" tIns="0" rIns="0" bIns="0" rtlCol="0" anchor="ctr"/>
          <a:lstStyle/>
          <a:p>
            <a:pPr marL="0" indent="0" algn="r">
              <a:buNone/>
            </a:pPr>
            <a:r>
              <a:rPr lang="en-US" sz="1400" b="1" dirty="0">
                <a:solidFill>
                  <a:srgbClr val="041E47"/>
                </a:solidFill>
                <a:latin typeface="Aptos Display" pitchFamily="34" charset="0"/>
                <a:ea typeface="Aptos Display" pitchFamily="34" charset="-122"/>
                <a:cs typeface="Aptos Display" pitchFamily="34" charset="-120"/>
              </a:rPr>
              <a:t>-0.01</a:t>
            </a:r>
            <a:endParaRPr lang="en-US" sz="1400" dirty="0"/>
          </a:p>
        </p:txBody>
      </p:sp>
      <p:sp>
        <p:nvSpPr>
          <p:cNvPr id="57" name="Text 55"/>
          <p:cNvSpPr/>
          <p:nvPr/>
        </p:nvSpPr>
        <p:spPr>
          <a:xfrm>
            <a:off x="10643616" y="3822192"/>
            <a:ext cx="1042416" cy="420624"/>
          </a:xfrm>
          <a:prstGeom prst="rect">
            <a:avLst/>
          </a:prstGeom>
          <a:noFill/>
          <a:ln/>
        </p:spPr>
        <p:txBody>
          <a:bodyPr wrap="square" lIns="0" tIns="0" rIns="0" bIns="0" rtlCol="0" anchor="ctr"/>
          <a:lstStyle/>
          <a:p>
            <a:pPr marL="0" indent="0" algn="r">
              <a:buNone/>
            </a:pPr>
            <a:r>
              <a:rPr lang="en-US" sz="1050" b="1" dirty="0">
                <a:solidFill>
                  <a:srgbClr val="C43F2E"/>
                </a:solidFill>
                <a:latin typeface="Aptos" pitchFamily="34" charset="0"/>
                <a:ea typeface="Aptos" pitchFamily="34" charset="-122"/>
                <a:cs typeface="Aptos" pitchFamily="34" charset="-120"/>
              </a:rPr>
              <a:t>- Rs. 0.49</a:t>
            </a:r>
            <a:endParaRPr lang="en-US" sz="1050" dirty="0"/>
          </a:p>
        </p:txBody>
      </p:sp>
      <p:sp>
        <p:nvSpPr>
          <p:cNvPr id="58" name="Shape 56"/>
          <p:cNvSpPr/>
          <p:nvPr/>
        </p:nvSpPr>
        <p:spPr>
          <a:xfrm>
            <a:off x="6492240" y="4325112"/>
            <a:ext cx="5193792" cy="5486"/>
          </a:xfrm>
          <a:prstGeom prst="rect">
            <a:avLst/>
          </a:prstGeom>
          <a:solidFill>
            <a:srgbClr val="C9D8F2"/>
          </a:solidFill>
          <a:ln/>
        </p:spPr>
      </p:sp>
      <p:sp>
        <p:nvSpPr>
          <p:cNvPr id="59" name="Text 57"/>
          <p:cNvSpPr/>
          <p:nvPr/>
        </p:nvSpPr>
        <p:spPr>
          <a:xfrm>
            <a:off x="6492240" y="4389120"/>
            <a:ext cx="1993392" cy="420624"/>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EBITDAR margin</a:t>
            </a:r>
            <a:endParaRPr lang="en-US" sz="1100" dirty="0"/>
          </a:p>
        </p:txBody>
      </p:sp>
      <p:sp>
        <p:nvSpPr>
          <p:cNvPr id="60" name="Text 58"/>
          <p:cNvSpPr/>
          <p:nvPr/>
        </p:nvSpPr>
        <p:spPr>
          <a:xfrm>
            <a:off x="8522208" y="4389120"/>
            <a:ext cx="1115568" cy="420624"/>
          </a:xfrm>
          <a:prstGeom prst="rect">
            <a:avLst/>
          </a:prstGeom>
          <a:noFill/>
          <a:ln/>
        </p:spPr>
        <p:txBody>
          <a:bodyPr wrap="square" lIns="0" tIns="0" rIns="0" bIns="0" rtlCol="0" anchor="ctr"/>
          <a:lstStyle/>
          <a:p>
            <a:pPr marL="0" indent="0" algn="r">
              <a:buNone/>
            </a:pPr>
            <a:r>
              <a:rPr lang="en-US" sz="1100" dirty="0">
                <a:solidFill>
                  <a:srgbClr val="6B7280"/>
                </a:solidFill>
                <a:latin typeface="Aptos" pitchFamily="34" charset="0"/>
                <a:ea typeface="Aptos" pitchFamily="34" charset="-122"/>
                <a:cs typeface="Aptos" pitchFamily="34" charset="-120"/>
              </a:rPr>
              <a:t>26.3%</a:t>
            </a:r>
            <a:endParaRPr lang="en-US" sz="1100" dirty="0"/>
          </a:p>
        </p:txBody>
      </p:sp>
      <p:sp>
        <p:nvSpPr>
          <p:cNvPr id="61" name="Text 59"/>
          <p:cNvSpPr/>
          <p:nvPr/>
        </p:nvSpPr>
        <p:spPr>
          <a:xfrm>
            <a:off x="9674352" y="4389120"/>
            <a:ext cx="914400" cy="420624"/>
          </a:xfrm>
          <a:prstGeom prst="rect">
            <a:avLst/>
          </a:prstGeom>
          <a:noFill/>
          <a:ln/>
        </p:spPr>
        <p:txBody>
          <a:bodyPr wrap="square" lIns="0" tIns="0" rIns="0" bIns="0" rtlCol="0" anchor="ctr"/>
          <a:lstStyle/>
          <a:p>
            <a:pPr marL="0" indent="0" algn="r">
              <a:buNone/>
            </a:pPr>
            <a:r>
              <a:rPr lang="en-US" sz="1400" b="1" dirty="0">
                <a:solidFill>
                  <a:srgbClr val="041E47"/>
                </a:solidFill>
                <a:latin typeface="Aptos Display" pitchFamily="34" charset="0"/>
                <a:ea typeface="Aptos Display" pitchFamily="34" charset="-122"/>
                <a:cs typeface="Aptos Display" pitchFamily="34" charset="-120"/>
              </a:rPr>
              <a:t>17.8%</a:t>
            </a:r>
            <a:endParaRPr lang="en-US" sz="1400" dirty="0"/>
          </a:p>
        </p:txBody>
      </p:sp>
      <p:sp>
        <p:nvSpPr>
          <p:cNvPr id="62" name="Text 60"/>
          <p:cNvSpPr/>
          <p:nvPr/>
        </p:nvSpPr>
        <p:spPr>
          <a:xfrm>
            <a:off x="10643616" y="4389120"/>
            <a:ext cx="1042416" cy="420624"/>
          </a:xfrm>
          <a:prstGeom prst="rect">
            <a:avLst/>
          </a:prstGeom>
          <a:noFill/>
          <a:ln/>
        </p:spPr>
        <p:txBody>
          <a:bodyPr wrap="square" lIns="0" tIns="0" rIns="0" bIns="0" rtlCol="0" anchor="ctr"/>
          <a:lstStyle/>
          <a:p>
            <a:pPr marL="0" indent="0" algn="r">
              <a:buNone/>
            </a:pPr>
            <a:r>
              <a:rPr lang="en-US" sz="1050" b="1" dirty="0">
                <a:solidFill>
                  <a:srgbClr val="C43F2E"/>
                </a:solidFill>
                <a:latin typeface="Aptos" pitchFamily="34" charset="0"/>
                <a:ea typeface="Aptos" pitchFamily="34" charset="-122"/>
                <a:cs typeface="Aptos" pitchFamily="34" charset="-120"/>
              </a:rPr>
              <a:t>- 8.5 pp</a:t>
            </a:r>
            <a:endParaRPr lang="en-US" sz="1050" dirty="0"/>
          </a:p>
        </p:txBody>
      </p:sp>
      <p:sp>
        <p:nvSpPr>
          <p:cNvPr id="63" name="Shape 61"/>
          <p:cNvSpPr/>
          <p:nvPr/>
        </p:nvSpPr>
        <p:spPr>
          <a:xfrm>
            <a:off x="6053328" y="1481328"/>
            <a:ext cx="5486" cy="3566160"/>
          </a:xfrm>
          <a:prstGeom prst="rect">
            <a:avLst/>
          </a:prstGeom>
          <a:solidFill>
            <a:srgbClr val="C9D8F2"/>
          </a:solidFill>
          <a:ln/>
        </p:spPr>
      </p:sp>
      <p:sp>
        <p:nvSpPr>
          <p:cNvPr id="64" name="Shape 62"/>
          <p:cNvSpPr/>
          <p:nvPr/>
        </p:nvSpPr>
        <p:spPr>
          <a:xfrm>
            <a:off x="502920" y="5138928"/>
            <a:ext cx="11185855" cy="475488"/>
          </a:xfrm>
          <a:prstGeom prst="rect">
            <a:avLst/>
          </a:prstGeom>
          <a:solidFill>
            <a:srgbClr val="F4F7FD"/>
          </a:solidFill>
          <a:ln/>
        </p:spPr>
      </p:sp>
      <p:sp>
        <p:nvSpPr>
          <p:cNvPr id="65" name="Text 63"/>
          <p:cNvSpPr/>
          <p:nvPr/>
        </p:nvSpPr>
        <p:spPr>
          <a:xfrm>
            <a:off x="722376" y="5138928"/>
            <a:ext cx="10698480" cy="475488"/>
          </a:xfrm>
          <a:prstGeom prst="rect">
            <a:avLst/>
          </a:prstGeom>
          <a:noFill/>
          <a:ln/>
        </p:spPr>
        <p:txBody>
          <a:bodyPr wrap="square" lIns="0" tIns="0" rIns="0" bIns="0" rtlCol="0" anchor="ctr"/>
          <a:lstStyle/>
          <a:p>
            <a:pPr marL="0" indent="0">
              <a:buNone/>
            </a:pPr>
            <a:r>
              <a:rPr lang="en-US" sz="1400" b="1" dirty="0">
                <a:solidFill>
                  <a:srgbClr val="041E47"/>
                </a:solidFill>
                <a:latin typeface="Aptos Display" pitchFamily="34" charset="0"/>
                <a:ea typeface="Aptos Display" pitchFamily="34" charset="-122"/>
                <a:cs typeface="Aptos Display" pitchFamily="34" charset="-120"/>
              </a:rPr>
              <a:t>Revenue grew 5.1%. Capacity grew 9.5%. That difference is where RASK went.</a:t>
            </a:r>
            <a:endParaRPr lang="en-US" sz="1400" dirty="0"/>
          </a:p>
        </p:txBody>
      </p:sp>
      <p:sp>
        <p:nvSpPr>
          <p:cNvPr id="66" name="Shape 64"/>
          <p:cNvSpPr/>
          <p:nvPr/>
        </p:nvSpPr>
        <p:spPr>
          <a:xfrm>
            <a:off x="502920" y="5724144"/>
            <a:ext cx="11185855" cy="438912"/>
          </a:xfrm>
          <a:prstGeom prst="rect">
            <a:avLst/>
          </a:prstGeom>
          <a:solidFill>
            <a:srgbClr val="FFFFFF"/>
          </a:solidFill>
          <a:ln w="9525">
            <a:solidFill>
              <a:srgbClr val="6B7280"/>
            </a:solidFill>
            <a:prstDash val="dash"/>
          </a:ln>
        </p:spPr>
      </p:sp>
      <p:sp>
        <p:nvSpPr>
          <p:cNvPr id="67" name="Shape 65"/>
          <p:cNvSpPr/>
          <p:nvPr/>
        </p:nvSpPr>
        <p:spPr>
          <a:xfrm>
            <a:off x="594360" y="5856732"/>
            <a:ext cx="1344168" cy="173736"/>
          </a:xfrm>
          <a:prstGeom prst="rect">
            <a:avLst/>
          </a:prstGeom>
          <a:solidFill>
            <a:srgbClr val="FFFFFF"/>
          </a:solidFill>
          <a:ln w="9525">
            <a:solidFill>
              <a:srgbClr val="6B7280"/>
            </a:solidFill>
            <a:prstDash val="dash"/>
          </a:ln>
        </p:spPr>
      </p:sp>
      <p:sp>
        <p:nvSpPr>
          <p:cNvPr id="68" name="Text 66"/>
          <p:cNvSpPr/>
          <p:nvPr/>
        </p:nvSpPr>
        <p:spPr>
          <a:xfrm>
            <a:off x="594360" y="5856732"/>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69" name="Text 67"/>
          <p:cNvSpPr/>
          <p:nvPr/>
        </p:nvSpPr>
        <p:spPr>
          <a:xfrm>
            <a:off x="2048256" y="5760720"/>
            <a:ext cx="9530791" cy="365760"/>
          </a:xfrm>
          <a:prstGeom prst="rect">
            <a:avLst/>
          </a:prstGeom>
          <a:noFill/>
          <a:ln/>
        </p:spPr>
        <p:txBody>
          <a:bodyPr wrap="square" lIns="0" tIns="0" rIns="0" bIns="0" rtlCol="0" anchor="ctr"/>
          <a:lstStyle/>
          <a:p>
            <a:pPr marL="0" indent="0">
              <a:buNone/>
            </a:pPr>
            <a:r>
              <a:rPr lang="en-US" sz="950" dirty="0">
                <a:solidFill>
                  <a:srgbClr val="6B7280"/>
                </a:solidFill>
                <a:latin typeface="Aptos" pitchFamily="34" charset="0"/>
                <a:ea typeface="Aptos" pitchFamily="34" charset="-122"/>
                <a:cs typeface="Aptos" pitchFamily="34" charset="-120"/>
              </a:rPr>
              <a:t>* The FY2025 CASK comparator appears as both Rs. 4.65 and Rs. 4.66, and the spread as both +Rs. 0.48 and +Rs. 0.49, across evidence extracts. The discrepancy is preserved, not reconciled.</a:t>
            </a:r>
            <a:endParaRPr lang="en-US" sz="950" dirty="0"/>
          </a:p>
        </p:txBody>
      </p:sp>
      <p:sp>
        <p:nvSpPr>
          <p:cNvPr id="70" name="Shape 68"/>
          <p:cNvSpPr/>
          <p:nvPr/>
        </p:nvSpPr>
        <p:spPr>
          <a:xfrm>
            <a:off x="502920" y="6309360"/>
            <a:ext cx="11185855" cy="5486"/>
          </a:xfrm>
          <a:prstGeom prst="rect">
            <a:avLst/>
          </a:prstGeom>
          <a:solidFill>
            <a:srgbClr val="C9D8F2"/>
          </a:solidFill>
          <a:ln/>
        </p:spPr>
      </p:sp>
      <p:sp>
        <p:nvSpPr>
          <p:cNvPr id="71" name="Text 69"/>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72" name="Text 70"/>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SRC-FY26-002 - SRC-FY26-006 - EVD-OPS-NET-002 - EVD-FIN-UE-003/004</a:t>
            </a:r>
            <a:endParaRPr lang="en-US" sz="800" dirty="0"/>
          </a:p>
        </p:txBody>
      </p:sp>
      <p:sp>
        <p:nvSpPr>
          <p:cNvPr id="73" name="Shape 71"/>
          <p:cNvSpPr/>
          <p:nvPr/>
        </p:nvSpPr>
        <p:spPr>
          <a:xfrm>
            <a:off x="11484864" y="6364224"/>
            <a:ext cx="201168" cy="201168"/>
          </a:xfrm>
          <a:prstGeom prst="rect">
            <a:avLst/>
          </a:prstGeom>
          <a:solidFill>
            <a:srgbClr val="0032A0"/>
          </a:solidFill>
          <a:ln/>
        </p:spPr>
      </p:sp>
      <p:sp>
        <p:nvSpPr>
          <p:cNvPr id="74" name="Text 72"/>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07 - THE DIAGNOSIS</a:t>
            </a:r>
            <a:endParaRPr lang="en-US" sz="1000" dirty="0"/>
          </a:p>
        </p:txBody>
      </p:sp>
      <p:sp>
        <p:nvSpPr>
          <p:cNvPr id="3" name="Shape 1"/>
          <p:cNvSpPr/>
          <p:nvPr/>
        </p:nvSpPr>
        <p:spPr>
          <a:xfrm>
            <a:off x="502920" y="571500"/>
            <a:ext cx="1463040" cy="45720"/>
          </a:xfrm>
          <a:prstGeom prst="rect">
            <a:avLst/>
          </a:prstGeom>
          <a:solidFill>
            <a:srgbClr val="0032A0"/>
          </a:solidFill>
          <a:ln/>
        </p:spPr>
      </p:sp>
      <p:sp>
        <p:nvSpPr>
          <p:cNvPr id="4" name="Text 2"/>
          <p:cNvSpPr/>
          <p:nvPr/>
        </p:nvSpPr>
        <p:spPr>
          <a:xfrm>
            <a:off x="502920" y="603504"/>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Capacity expanded materially faster than demand absorbed it</a:t>
            </a:r>
            <a:endParaRPr lang="en-US" sz="2250" dirty="0"/>
          </a:p>
        </p:txBody>
      </p:sp>
      <p:sp>
        <p:nvSpPr>
          <p:cNvPr id="5" name="Text 3"/>
          <p:cNvSpPr/>
          <p:nvPr/>
        </p:nvSpPr>
        <p:spPr>
          <a:xfrm>
            <a:off x="502920" y="1444752"/>
            <a:ext cx="54864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FY2026 GROWTH - CAPACITY, TRAFFIC, PASSENGERS</a:t>
            </a:r>
            <a:endParaRPr lang="en-US" sz="1000" dirty="0"/>
          </a:p>
        </p:txBody>
      </p:sp>
      <p:graphicFrame>
        <p:nvGraphicFramePr>
          <p:cNvPr id="6" name="Chart 0"/>
          <p:cNvGraphicFramePr/>
          <p:nvPr/>
        </p:nvGraphicFramePr>
        <p:xfrm>
          <a:off x="502920" y="1700784"/>
          <a:ext cx="4617720" cy="2944368"/>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193792" y="1847088"/>
            <a:ext cx="2084832" cy="603504"/>
          </a:xfrm>
          <a:prstGeom prst="rect">
            <a:avLst/>
          </a:prstGeom>
          <a:solidFill>
            <a:srgbClr val="FFFFFF"/>
          </a:solidFill>
          <a:ln w="9525">
            <a:solidFill>
              <a:srgbClr val="C43F2E"/>
            </a:solidFill>
            <a:prstDash val="solid"/>
          </a:ln>
        </p:spPr>
      </p:sp>
      <p:sp>
        <p:nvSpPr>
          <p:cNvPr id="8" name="Text 5"/>
          <p:cNvSpPr/>
          <p:nvPr/>
        </p:nvSpPr>
        <p:spPr>
          <a:xfrm>
            <a:off x="5285232" y="1883664"/>
            <a:ext cx="1901952" cy="219456"/>
          </a:xfrm>
          <a:prstGeom prst="rect">
            <a:avLst/>
          </a:prstGeom>
          <a:noFill/>
          <a:ln/>
        </p:spPr>
        <p:txBody>
          <a:bodyPr wrap="square" lIns="0" tIns="0" rIns="0" bIns="0" rtlCol="0" anchor="ctr"/>
          <a:lstStyle/>
          <a:p>
            <a:pPr marL="0" indent="0">
              <a:buNone/>
            </a:pPr>
            <a:r>
              <a:rPr lang="en-US" sz="900" b="1" dirty="0">
                <a:solidFill>
                  <a:srgbClr val="46577A"/>
                </a:solidFill>
                <a:latin typeface="Aptos" pitchFamily="34" charset="0"/>
                <a:ea typeface="Aptos" pitchFamily="34" charset="-122"/>
                <a:cs typeface="Aptos" pitchFamily="34" charset="-120"/>
              </a:rPr>
              <a:t>ASK - RPK</a:t>
            </a:r>
            <a:endParaRPr lang="en-US" sz="900" dirty="0"/>
          </a:p>
        </p:txBody>
      </p:sp>
      <p:sp>
        <p:nvSpPr>
          <p:cNvPr id="9" name="Text 6"/>
          <p:cNvSpPr/>
          <p:nvPr/>
        </p:nvSpPr>
        <p:spPr>
          <a:xfrm>
            <a:off x="5285232" y="2084832"/>
            <a:ext cx="1901952" cy="310896"/>
          </a:xfrm>
          <a:prstGeom prst="rect">
            <a:avLst/>
          </a:prstGeom>
          <a:noFill/>
          <a:ln/>
        </p:spPr>
        <p:txBody>
          <a:bodyPr wrap="square" lIns="0" tIns="0" rIns="0" bIns="0" rtlCol="0" anchor="ctr"/>
          <a:lstStyle/>
          <a:p>
            <a:pPr marL="0" indent="0">
              <a:buNone/>
            </a:pPr>
            <a:r>
              <a:rPr lang="en-US" sz="1700" b="1" dirty="0">
                <a:solidFill>
                  <a:srgbClr val="C43F2E"/>
                </a:solidFill>
                <a:latin typeface="Aptos Display" pitchFamily="34" charset="0"/>
                <a:ea typeface="Aptos Display" pitchFamily="34" charset="-122"/>
                <a:cs typeface="Aptos Display" pitchFamily="34" charset="-120"/>
              </a:rPr>
              <a:t>2.0 pp</a:t>
            </a:r>
            <a:endParaRPr lang="en-US" sz="1700" dirty="0"/>
          </a:p>
        </p:txBody>
      </p:sp>
      <p:sp>
        <p:nvSpPr>
          <p:cNvPr id="10" name="Shape 7"/>
          <p:cNvSpPr/>
          <p:nvPr/>
        </p:nvSpPr>
        <p:spPr>
          <a:xfrm>
            <a:off x="5193792" y="2560320"/>
            <a:ext cx="2084832" cy="603504"/>
          </a:xfrm>
          <a:prstGeom prst="rect">
            <a:avLst/>
          </a:prstGeom>
          <a:solidFill>
            <a:srgbClr val="FFFFFF"/>
          </a:solidFill>
          <a:ln w="9525">
            <a:solidFill>
              <a:srgbClr val="C43F2E"/>
            </a:solidFill>
            <a:prstDash val="solid"/>
          </a:ln>
        </p:spPr>
      </p:sp>
      <p:sp>
        <p:nvSpPr>
          <p:cNvPr id="11" name="Text 8"/>
          <p:cNvSpPr/>
          <p:nvPr/>
        </p:nvSpPr>
        <p:spPr>
          <a:xfrm>
            <a:off x="5285232" y="2596896"/>
            <a:ext cx="1901952" cy="219456"/>
          </a:xfrm>
          <a:prstGeom prst="rect">
            <a:avLst/>
          </a:prstGeom>
          <a:noFill/>
          <a:ln/>
        </p:spPr>
        <p:txBody>
          <a:bodyPr wrap="square" lIns="0" tIns="0" rIns="0" bIns="0" rtlCol="0" anchor="ctr"/>
          <a:lstStyle/>
          <a:p>
            <a:pPr marL="0" indent="0">
              <a:buNone/>
            </a:pPr>
            <a:r>
              <a:rPr lang="en-US" sz="900" b="1" dirty="0">
                <a:solidFill>
                  <a:srgbClr val="46577A"/>
                </a:solidFill>
                <a:latin typeface="Aptos" pitchFamily="34" charset="0"/>
                <a:ea typeface="Aptos" pitchFamily="34" charset="-122"/>
                <a:cs typeface="Aptos" pitchFamily="34" charset="-120"/>
              </a:rPr>
              <a:t>ASK - PASSENGERS</a:t>
            </a:r>
            <a:endParaRPr lang="en-US" sz="900" dirty="0"/>
          </a:p>
        </p:txBody>
      </p:sp>
      <p:sp>
        <p:nvSpPr>
          <p:cNvPr id="12" name="Text 9"/>
          <p:cNvSpPr/>
          <p:nvPr/>
        </p:nvSpPr>
        <p:spPr>
          <a:xfrm>
            <a:off x="5285232" y="2798064"/>
            <a:ext cx="1901952" cy="310896"/>
          </a:xfrm>
          <a:prstGeom prst="rect">
            <a:avLst/>
          </a:prstGeom>
          <a:noFill/>
          <a:ln/>
        </p:spPr>
        <p:txBody>
          <a:bodyPr wrap="square" lIns="0" tIns="0" rIns="0" bIns="0" rtlCol="0" anchor="ctr"/>
          <a:lstStyle/>
          <a:p>
            <a:pPr marL="0" indent="0">
              <a:buNone/>
            </a:pPr>
            <a:r>
              <a:rPr lang="en-US" sz="1700" b="1" dirty="0">
                <a:solidFill>
                  <a:srgbClr val="C43F2E"/>
                </a:solidFill>
                <a:latin typeface="Aptos Display" pitchFamily="34" charset="0"/>
                <a:ea typeface="Aptos Display" pitchFamily="34" charset="-122"/>
                <a:cs typeface="Aptos Display" pitchFamily="34" charset="-120"/>
              </a:rPr>
              <a:t>5.5 pp</a:t>
            </a:r>
            <a:endParaRPr lang="en-US" sz="1700" dirty="0"/>
          </a:p>
        </p:txBody>
      </p:sp>
      <p:sp>
        <p:nvSpPr>
          <p:cNvPr id="13" name="Text 10"/>
          <p:cNvSpPr/>
          <p:nvPr/>
        </p:nvSpPr>
        <p:spPr>
          <a:xfrm>
            <a:off x="502920" y="4718304"/>
            <a:ext cx="54864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LOAD FACTOR ABSORBED THE DIFFERENCE</a:t>
            </a:r>
            <a:endParaRPr lang="en-US" sz="1000" dirty="0"/>
          </a:p>
        </p:txBody>
      </p:sp>
      <p:sp>
        <p:nvSpPr>
          <p:cNvPr id="14" name="Shape 11"/>
          <p:cNvSpPr/>
          <p:nvPr/>
        </p:nvSpPr>
        <p:spPr>
          <a:xfrm>
            <a:off x="502920" y="4974336"/>
            <a:ext cx="6775704" cy="731520"/>
          </a:xfrm>
          <a:prstGeom prst="rect">
            <a:avLst/>
          </a:prstGeom>
          <a:solidFill>
            <a:srgbClr val="F4F7FD"/>
          </a:solidFill>
          <a:ln/>
        </p:spPr>
      </p:sp>
      <p:sp>
        <p:nvSpPr>
          <p:cNvPr id="15" name="Text 12"/>
          <p:cNvSpPr/>
          <p:nvPr/>
        </p:nvSpPr>
        <p:spPr>
          <a:xfrm>
            <a:off x="777240" y="5029200"/>
            <a:ext cx="1188720" cy="621792"/>
          </a:xfrm>
          <a:prstGeom prst="rect">
            <a:avLst/>
          </a:prstGeom>
          <a:noFill/>
          <a:ln/>
        </p:spPr>
        <p:txBody>
          <a:bodyPr wrap="square" lIns="0" tIns="0" rIns="0" bIns="0" rtlCol="0" anchor="ctr"/>
          <a:lstStyle/>
          <a:p>
            <a:pPr marL="0" indent="0">
              <a:buNone/>
            </a:pPr>
            <a:r>
              <a:rPr lang="en-US" sz="2400" b="1" dirty="0">
                <a:solidFill>
                  <a:srgbClr val="6B7280"/>
                </a:solidFill>
                <a:latin typeface="Aptos Display" pitchFamily="34" charset="0"/>
                <a:ea typeface="Aptos Display" pitchFamily="34" charset="-122"/>
                <a:cs typeface="Aptos Display" pitchFamily="34" charset="-120"/>
              </a:rPr>
              <a:t>86.0%</a:t>
            </a:r>
            <a:endParaRPr lang="en-US" sz="2400" dirty="0"/>
          </a:p>
        </p:txBody>
      </p:sp>
      <p:sp>
        <p:nvSpPr>
          <p:cNvPr id="16" name="Text 13"/>
          <p:cNvSpPr/>
          <p:nvPr/>
        </p:nvSpPr>
        <p:spPr>
          <a:xfrm>
            <a:off x="1984248" y="5029200"/>
            <a:ext cx="777240" cy="621792"/>
          </a:xfrm>
          <a:prstGeom prst="rect">
            <a:avLst/>
          </a:prstGeom>
          <a:noFill/>
          <a:ln/>
        </p:spPr>
        <p:txBody>
          <a:bodyPr wrap="square" lIns="0" tIns="0" rIns="0" bIns="0" rtlCol="0" anchor="ctr"/>
          <a:lstStyle/>
          <a:p>
            <a:pPr marL="0" indent="0">
              <a:buNone/>
            </a:pPr>
            <a:r>
              <a:rPr lang="en-US" sz="900" dirty="0">
                <a:solidFill>
                  <a:srgbClr val="6B7280"/>
                </a:solidFill>
                <a:latin typeface="Aptos" pitchFamily="34" charset="0"/>
                <a:ea typeface="Aptos" pitchFamily="34" charset="-122"/>
                <a:cs typeface="Aptos" pitchFamily="34" charset="-120"/>
              </a:rPr>
              <a:t>FY2025</a:t>
            </a:r>
            <a:endParaRPr lang="en-US" sz="900" dirty="0"/>
          </a:p>
        </p:txBody>
      </p:sp>
      <p:sp>
        <p:nvSpPr>
          <p:cNvPr id="17" name="Shape 14"/>
          <p:cNvSpPr/>
          <p:nvPr/>
        </p:nvSpPr>
        <p:spPr>
          <a:xfrm>
            <a:off x="2788920" y="5230368"/>
            <a:ext cx="960120" cy="201168"/>
          </a:xfrm>
          <a:prstGeom prst="line">
            <a:avLst/>
          </a:prstGeom>
          <a:noFill/>
          <a:ln w="31750">
            <a:solidFill>
              <a:srgbClr val="C43F2E"/>
            </a:solidFill>
            <a:prstDash val="solid"/>
            <a:tailEnd type="triangle"/>
          </a:ln>
        </p:spPr>
      </p:sp>
      <p:sp>
        <p:nvSpPr>
          <p:cNvPr id="18" name="Text 15"/>
          <p:cNvSpPr/>
          <p:nvPr/>
        </p:nvSpPr>
        <p:spPr>
          <a:xfrm>
            <a:off x="3886200" y="5029200"/>
            <a:ext cx="1188720" cy="621792"/>
          </a:xfrm>
          <a:prstGeom prst="rect">
            <a:avLst/>
          </a:prstGeom>
          <a:noFill/>
          <a:ln/>
        </p:spPr>
        <p:txBody>
          <a:bodyPr wrap="square" lIns="0" tIns="0" rIns="0" bIns="0" rtlCol="0" anchor="ctr"/>
          <a:lstStyle/>
          <a:p>
            <a:pPr marL="0" indent="0">
              <a:buNone/>
            </a:pPr>
            <a:r>
              <a:rPr lang="en-US" sz="2400" b="1" dirty="0">
                <a:solidFill>
                  <a:srgbClr val="C43F2E"/>
                </a:solidFill>
                <a:latin typeface="Aptos Display" pitchFamily="34" charset="0"/>
                <a:ea typeface="Aptos Display" pitchFamily="34" charset="-122"/>
                <a:cs typeface="Aptos Display" pitchFamily="34" charset="-120"/>
              </a:rPr>
              <a:t>84.4%</a:t>
            </a:r>
            <a:endParaRPr lang="en-US" sz="2400" dirty="0"/>
          </a:p>
        </p:txBody>
      </p:sp>
      <p:sp>
        <p:nvSpPr>
          <p:cNvPr id="19" name="Text 16"/>
          <p:cNvSpPr/>
          <p:nvPr/>
        </p:nvSpPr>
        <p:spPr>
          <a:xfrm>
            <a:off x="5093208" y="5029200"/>
            <a:ext cx="777240" cy="621792"/>
          </a:xfrm>
          <a:prstGeom prst="rect">
            <a:avLst/>
          </a:prstGeom>
          <a:noFill/>
          <a:ln/>
        </p:spPr>
        <p:txBody>
          <a:bodyPr wrap="square" lIns="0" tIns="0" rIns="0" bIns="0" rtlCol="0" anchor="ctr"/>
          <a:lstStyle/>
          <a:p>
            <a:pPr marL="0" indent="0">
              <a:buNone/>
            </a:pPr>
            <a:r>
              <a:rPr lang="en-US" sz="900" dirty="0">
                <a:solidFill>
                  <a:srgbClr val="6B7280"/>
                </a:solidFill>
                <a:latin typeface="Aptos" pitchFamily="34" charset="0"/>
                <a:ea typeface="Aptos" pitchFamily="34" charset="-122"/>
                <a:cs typeface="Aptos" pitchFamily="34" charset="-120"/>
              </a:rPr>
              <a:t>FY2026</a:t>
            </a:r>
            <a:endParaRPr lang="en-US" sz="900" dirty="0"/>
          </a:p>
        </p:txBody>
      </p:sp>
      <p:sp>
        <p:nvSpPr>
          <p:cNvPr id="20" name="Text 17"/>
          <p:cNvSpPr/>
          <p:nvPr/>
        </p:nvSpPr>
        <p:spPr>
          <a:xfrm>
            <a:off x="5897880" y="5029200"/>
            <a:ext cx="1234440" cy="621792"/>
          </a:xfrm>
          <a:prstGeom prst="rect">
            <a:avLst/>
          </a:prstGeom>
          <a:noFill/>
          <a:ln/>
        </p:spPr>
        <p:txBody>
          <a:bodyPr wrap="square" lIns="0" tIns="0" rIns="0" bIns="0" rtlCol="0" anchor="ctr"/>
          <a:lstStyle/>
          <a:p>
            <a:pPr marL="0" indent="0" algn="r">
              <a:buNone/>
            </a:pPr>
            <a:r>
              <a:rPr lang="en-US" sz="1200" b="1" dirty="0">
                <a:solidFill>
                  <a:srgbClr val="C43F2E"/>
                </a:solidFill>
                <a:latin typeface="Aptos" pitchFamily="34" charset="0"/>
                <a:ea typeface="Aptos" pitchFamily="34" charset="-122"/>
                <a:cs typeface="Aptos" pitchFamily="34" charset="-120"/>
              </a:rPr>
              <a:t>-1.6 pp</a:t>
            </a:r>
            <a:endParaRPr lang="en-US" sz="1200" dirty="0"/>
          </a:p>
        </p:txBody>
      </p:sp>
      <p:sp>
        <p:nvSpPr>
          <p:cNvPr id="21" name="Shape 18"/>
          <p:cNvSpPr/>
          <p:nvPr/>
        </p:nvSpPr>
        <p:spPr>
          <a:xfrm>
            <a:off x="7589520" y="1444752"/>
            <a:ext cx="5486" cy="4261104"/>
          </a:xfrm>
          <a:prstGeom prst="rect">
            <a:avLst/>
          </a:prstGeom>
          <a:solidFill>
            <a:srgbClr val="C9D8F2"/>
          </a:solidFill>
          <a:ln/>
        </p:spPr>
      </p:sp>
      <p:sp>
        <p:nvSpPr>
          <p:cNvPr id="22" name="Shape 19"/>
          <p:cNvSpPr/>
          <p:nvPr/>
        </p:nvSpPr>
        <p:spPr>
          <a:xfrm>
            <a:off x="7827264" y="1481328"/>
            <a:ext cx="1044245" cy="173736"/>
          </a:xfrm>
          <a:prstGeom prst="rect">
            <a:avLst/>
          </a:prstGeom>
          <a:solidFill>
            <a:srgbClr val="FFFFFF"/>
          </a:solidFill>
          <a:ln w="9525">
            <a:solidFill>
              <a:srgbClr val="0032A0"/>
            </a:solidFill>
            <a:prstDash val="solid"/>
          </a:ln>
        </p:spPr>
      </p:sp>
      <p:sp>
        <p:nvSpPr>
          <p:cNvPr id="23" name="Text 20"/>
          <p:cNvSpPr/>
          <p:nvPr/>
        </p:nvSpPr>
        <p:spPr>
          <a:xfrm>
            <a:off x="7827264" y="1481328"/>
            <a:ext cx="1044245" cy="173736"/>
          </a:xfrm>
          <a:prstGeom prst="rect">
            <a:avLst/>
          </a:prstGeom>
          <a:noFill/>
          <a:ln/>
        </p:spPr>
        <p:txBody>
          <a:bodyPr wrap="square" lIns="0" tIns="0" rIns="0" bIns="0" rtlCol="0" anchor="ctr"/>
          <a:lstStyle/>
          <a:p>
            <a:pPr marL="0" indent="0" algn="ctr">
              <a:buNone/>
            </a:pPr>
            <a:r>
              <a:rPr lang="en-US" sz="900" b="1" dirty="0">
                <a:solidFill>
                  <a:srgbClr val="0032A0"/>
                </a:solidFill>
                <a:latin typeface="Aptos" pitchFamily="34" charset="0"/>
                <a:ea typeface="Aptos" pitchFamily="34" charset="-122"/>
                <a:cs typeface="Aptos" pitchFamily="34" charset="-120"/>
              </a:rPr>
              <a:t>CALCULATION</a:t>
            </a:r>
            <a:endParaRPr lang="en-US" sz="900" dirty="0"/>
          </a:p>
        </p:txBody>
      </p:sp>
      <p:sp>
        <p:nvSpPr>
          <p:cNvPr id="24" name="Text 21"/>
          <p:cNvSpPr/>
          <p:nvPr/>
        </p:nvSpPr>
        <p:spPr>
          <a:xfrm>
            <a:off x="7827264" y="1737360"/>
            <a:ext cx="3840480" cy="384048"/>
          </a:xfrm>
          <a:prstGeom prst="rect">
            <a:avLst/>
          </a:prstGeom>
          <a:noFill/>
          <a:ln/>
        </p:spPr>
        <p:txBody>
          <a:bodyPr wrap="square" lIns="0" tIns="0" rIns="0" bIns="0" rtlCol="0" anchor="t"/>
          <a:lstStyle/>
          <a:p>
            <a:pPr marL="0" indent="0">
              <a:buNone/>
            </a:pPr>
            <a:r>
              <a:rPr lang="en-US" sz="1000" dirty="0">
                <a:solidFill>
                  <a:srgbClr val="46577A"/>
                </a:solidFill>
                <a:latin typeface="Aptos" pitchFamily="34" charset="0"/>
                <a:ea typeface="Aptos" pitchFamily="34" charset="-122"/>
                <a:cs typeface="Aptos" pitchFamily="34" charset="-120"/>
              </a:rPr>
              <a:t>Passenger growth as a share of capacity growth</a:t>
            </a:r>
            <a:endParaRPr lang="en-US" sz="1000" dirty="0"/>
          </a:p>
        </p:txBody>
      </p:sp>
      <p:sp>
        <p:nvSpPr>
          <p:cNvPr id="25" name="Text 22"/>
          <p:cNvSpPr/>
          <p:nvPr/>
        </p:nvSpPr>
        <p:spPr>
          <a:xfrm>
            <a:off x="7827264" y="2103120"/>
            <a:ext cx="3840480" cy="274320"/>
          </a:xfrm>
          <a:prstGeom prst="rect">
            <a:avLst/>
          </a:prstGeom>
          <a:noFill/>
          <a:ln/>
        </p:spPr>
        <p:txBody>
          <a:bodyPr wrap="square" lIns="0" tIns="0" rIns="0" bIns="0" rtlCol="0" anchor="ctr"/>
          <a:lstStyle/>
          <a:p>
            <a:pPr marL="0" indent="0">
              <a:buNone/>
            </a:pPr>
            <a:r>
              <a:rPr lang="en-US" sz="1400" b="1" dirty="0">
                <a:solidFill>
                  <a:srgbClr val="041E47"/>
                </a:solidFill>
                <a:latin typeface="Aptos Display" pitchFamily="34" charset="0"/>
                <a:ea typeface="Aptos Display" pitchFamily="34" charset="-122"/>
                <a:cs typeface="Aptos Display" pitchFamily="34" charset="-120"/>
              </a:rPr>
              <a:t>4.0% / 9.5% = 42.1%</a:t>
            </a:r>
            <a:endParaRPr lang="en-US" sz="1400" dirty="0"/>
          </a:p>
        </p:txBody>
      </p:sp>
      <p:sp>
        <p:nvSpPr>
          <p:cNvPr id="26" name="Shape 23"/>
          <p:cNvSpPr/>
          <p:nvPr/>
        </p:nvSpPr>
        <p:spPr>
          <a:xfrm>
            <a:off x="7827264" y="2523744"/>
            <a:ext cx="1044245" cy="173736"/>
          </a:xfrm>
          <a:prstGeom prst="rect">
            <a:avLst/>
          </a:prstGeom>
          <a:solidFill>
            <a:srgbClr val="FFFFFF"/>
          </a:solidFill>
          <a:ln w="9525">
            <a:solidFill>
              <a:srgbClr val="0032A0"/>
            </a:solidFill>
            <a:prstDash val="solid"/>
          </a:ln>
        </p:spPr>
      </p:sp>
      <p:sp>
        <p:nvSpPr>
          <p:cNvPr id="27" name="Text 24"/>
          <p:cNvSpPr/>
          <p:nvPr/>
        </p:nvSpPr>
        <p:spPr>
          <a:xfrm>
            <a:off x="7827264" y="2523744"/>
            <a:ext cx="1044245" cy="173736"/>
          </a:xfrm>
          <a:prstGeom prst="rect">
            <a:avLst/>
          </a:prstGeom>
          <a:noFill/>
          <a:ln/>
        </p:spPr>
        <p:txBody>
          <a:bodyPr wrap="square" lIns="0" tIns="0" rIns="0" bIns="0" rtlCol="0" anchor="ctr"/>
          <a:lstStyle/>
          <a:p>
            <a:pPr marL="0" indent="0" algn="ctr">
              <a:buNone/>
            </a:pPr>
            <a:r>
              <a:rPr lang="en-US" sz="900" b="1" dirty="0">
                <a:solidFill>
                  <a:srgbClr val="0032A0"/>
                </a:solidFill>
                <a:latin typeface="Aptos" pitchFamily="34" charset="0"/>
                <a:ea typeface="Aptos" pitchFamily="34" charset="-122"/>
                <a:cs typeface="Aptos" pitchFamily="34" charset="-120"/>
              </a:rPr>
              <a:t>CALCULATION</a:t>
            </a:r>
            <a:endParaRPr lang="en-US" sz="900" dirty="0"/>
          </a:p>
        </p:txBody>
      </p:sp>
      <p:sp>
        <p:nvSpPr>
          <p:cNvPr id="28" name="Text 25"/>
          <p:cNvSpPr/>
          <p:nvPr/>
        </p:nvSpPr>
        <p:spPr>
          <a:xfrm>
            <a:off x="7827264" y="2779776"/>
            <a:ext cx="3840480" cy="384048"/>
          </a:xfrm>
          <a:prstGeom prst="rect">
            <a:avLst/>
          </a:prstGeom>
          <a:noFill/>
          <a:ln/>
        </p:spPr>
        <p:txBody>
          <a:bodyPr wrap="square" lIns="0" tIns="0" rIns="0" bIns="0" rtlCol="0" anchor="t"/>
          <a:lstStyle/>
          <a:p>
            <a:pPr marL="0" indent="0">
              <a:buNone/>
            </a:pPr>
            <a:r>
              <a:rPr lang="en-US" sz="1000" dirty="0">
                <a:solidFill>
                  <a:srgbClr val="46577A"/>
                </a:solidFill>
                <a:latin typeface="Aptos" pitchFamily="34" charset="0"/>
                <a:ea typeface="Aptos" pitchFamily="34" charset="-122"/>
                <a:cs typeface="Aptos" pitchFamily="34" charset="-120"/>
              </a:rPr>
              <a:t>ASK growth minus RPK growth</a:t>
            </a:r>
            <a:endParaRPr lang="en-US" sz="1000" dirty="0"/>
          </a:p>
        </p:txBody>
      </p:sp>
      <p:sp>
        <p:nvSpPr>
          <p:cNvPr id="29" name="Text 26"/>
          <p:cNvSpPr/>
          <p:nvPr/>
        </p:nvSpPr>
        <p:spPr>
          <a:xfrm>
            <a:off x="7827264" y="3145536"/>
            <a:ext cx="3840480" cy="274320"/>
          </a:xfrm>
          <a:prstGeom prst="rect">
            <a:avLst/>
          </a:prstGeom>
          <a:noFill/>
          <a:ln/>
        </p:spPr>
        <p:txBody>
          <a:bodyPr wrap="square" lIns="0" tIns="0" rIns="0" bIns="0" rtlCol="0" anchor="ctr"/>
          <a:lstStyle/>
          <a:p>
            <a:pPr marL="0" indent="0">
              <a:buNone/>
            </a:pPr>
            <a:r>
              <a:rPr lang="en-US" sz="1400" b="1" dirty="0">
                <a:solidFill>
                  <a:srgbClr val="041E47"/>
                </a:solidFill>
                <a:latin typeface="Aptos Display" pitchFamily="34" charset="0"/>
                <a:ea typeface="Aptos Display" pitchFamily="34" charset="-122"/>
                <a:cs typeface="Aptos Display" pitchFamily="34" charset="-120"/>
              </a:rPr>
              <a:t>9.5% - 7.5% = 2.0 pp</a:t>
            </a:r>
            <a:endParaRPr lang="en-US" sz="1400" dirty="0"/>
          </a:p>
        </p:txBody>
      </p:sp>
      <p:sp>
        <p:nvSpPr>
          <p:cNvPr id="30" name="Shape 27"/>
          <p:cNvSpPr/>
          <p:nvPr/>
        </p:nvSpPr>
        <p:spPr>
          <a:xfrm>
            <a:off x="7827264" y="3566160"/>
            <a:ext cx="519379" cy="173736"/>
          </a:xfrm>
          <a:prstGeom prst="rect">
            <a:avLst/>
          </a:prstGeom>
          <a:solidFill>
            <a:srgbClr val="041E47"/>
          </a:solidFill>
          <a:ln/>
        </p:spPr>
      </p:sp>
      <p:sp>
        <p:nvSpPr>
          <p:cNvPr id="31" name="Text 28"/>
          <p:cNvSpPr/>
          <p:nvPr/>
        </p:nvSpPr>
        <p:spPr>
          <a:xfrm>
            <a:off x="7827264" y="3566160"/>
            <a:ext cx="519379"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FACT</a:t>
            </a:r>
            <a:endParaRPr lang="en-US" sz="900" dirty="0"/>
          </a:p>
        </p:txBody>
      </p:sp>
      <p:sp>
        <p:nvSpPr>
          <p:cNvPr id="32" name="Text 29"/>
          <p:cNvSpPr/>
          <p:nvPr/>
        </p:nvSpPr>
        <p:spPr>
          <a:xfrm>
            <a:off x="7827264" y="3822192"/>
            <a:ext cx="3840480" cy="384048"/>
          </a:xfrm>
          <a:prstGeom prst="rect">
            <a:avLst/>
          </a:prstGeom>
          <a:noFill/>
          <a:ln/>
        </p:spPr>
        <p:txBody>
          <a:bodyPr wrap="square" lIns="0" tIns="0" rIns="0" bIns="0" rtlCol="0" anchor="t"/>
          <a:lstStyle/>
          <a:p>
            <a:pPr marL="0" indent="0">
              <a:buNone/>
            </a:pPr>
            <a:r>
              <a:rPr lang="en-US" sz="1000" dirty="0">
                <a:solidFill>
                  <a:srgbClr val="46577A"/>
                </a:solidFill>
                <a:latin typeface="Aptos" pitchFamily="34" charset="0"/>
                <a:ea typeface="Aptos" pitchFamily="34" charset="-122"/>
                <a:cs typeface="Aptos" pitchFamily="34" charset="-120"/>
              </a:rPr>
              <a:t>Load factor movement, FY2025 -&gt; FY2026</a:t>
            </a:r>
            <a:endParaRPr lang="en-US" sz="1000" dirty="0"/>
          </a:p>
        </p:txBody>
      </p:sp>
      <p:sp>
        <p:nvSpPr>
          <p:cNvPr id="33" name="Text 30"/>
          <p:cNvSpPr/>
          <p:nvPr/>
        </p:nvSpPr>
        <p:spPr>
          <a:xfrm>
            <a:off x="7827264" y="4187952"/>
            <a:ext cx="3840480" cy="274320"/>
          </a:xfrm>
          <a:prstGeom prst="rect">
            <a:avLst/>
          </a:prstGeom>
          <a:noFill/>
          <a:ln/>
        </p:spPr>
        <p:txBody>
          <a:bodyPr wrap="square" lIns="0" tIns="0" rIns="0" bIns="0" rtlCol="0" anchor="ctr"/>
          <a:lstStyle/>
          <a:p>
            <a:pPr marL="0" indent="0">
              <a:buNone/>
            </a:pPr>
            <a:r>
              <a:rPr lang="en-US" sz="1400" b="1" dirty="0">
                <a:solidFill>
                  <a:srgbClr val="041E47"/>
                </a:solidFill>
                <a:latin typeface="Aptos Display" pitchFamily="34" charset="0"/>
                <a:ea typeface="Aptos Display" pitchFamily="34" charset="-122"/>
                <a:cs typeface="Aptos Display" pitchFamily="34" charset="-120"/>
              </a:rPr>
              <a:t>86.0% -&gt; 84.4%  (-1.6 pp)</a:t>
            </a:r>
            <a:endParaRPr lang="en-US" sz="1400" dirty="0"/>
          </a:p>
        </p:txBody>
      </p:sp>
      <p:sp>
        <p:nvSpPr>
          <p:cNvPr id="34" name="Text 31"/>
          <p:cNvSpPr/>
          <p:nvPr/>
        </p:nvSpPr>
        <p:spPr>
          <a:xfrm>
            <a:off x="7827264" y="4718304"/>
            <a:ext cx="3840480" cy="566928"/>
          </a:xfrm>
          <a:prstGeom prst="rect">
            <a:avLst/>
          </a:prstGeom>
          <a:noFill/>
          <a:ln/>
        </p:spPr>
        <p:txBody>
          <a:bodyPr wrap="square" lIns="0" tIns="0" rIns="0" bIns="0" rtlCol="0" anchor="t"/>
          <a:lstStyle/>
          <a:p>
            <a:pPr>
              <a:lnSpc>
                <a:spcPct val="112000"/>
              </a:lnSpc>
            </a:pPr>
            <a:r>
              <a:rPr lang="en-IN" sz="1000" b="1" dirty="0"/>
              <a:t>Association, not causality. Structural persistence remains unestablished.</a:t>
            </a:r>
            <a:endParaRPr lang="en-US" sz="950" b="1" dirty="0"/>
          </a:p>
        </p:txBody>
      </p:sp>
      <p:sp>
        <p:nvSpPr>
          <p:cNvPr id="35" name="Shape 32"/>
          <p:cNvSpPr/>
          <p:nvPr/>
        </p:nvSpPr>
        <p:spPr>
          <a:xfrm>
            <a:off x="502920" y="5760720"/>
            <a:ext cx="11185855" cy="402336"/>
          </a:xfrm>
          <a:prstGeom prst="rect">
            <a:avLst/>
          </a:prstGeom>
          <a:solidFill>
            <a:srgbClr val="FFFFFF"/>
          </a:solidFill>
          <a:ln w="9525">
            <a:solidFill>
              <a:srgbClr val="D98A00"/>
            </a:solidFill>
            <a:prstDash val="dash"/>
          </a:ln>
        </p:spPr>
      </p:sp>
      <p:sp>
        <p:nvSpPr>
          <p:cNvPr id="36" name="Shape 33"/>
          <p:cNvSpPr/>
          <p:nvPr/>
        </p:nvSpPr>
        <p:spPr>
          <a:xfrm>
            <a:off x="594360" y="5875020"/>
            <a:ext cx="969264" cy="173736"/>
          </a:xfrm>
          <a:prstGeom prst="rect">
            <a:avLst/>
          </a:prstGeom>
          <a:solidFill>
            <a:srgbClr val="FFFFFF"/>
          </a:solidFill>
          <a:ln w="9525">
            <a:solidFill>
              <a:srgbClr val="D98A00"/>
            </a:solidFill>
            <a:prstDash val="solid"/>
          </a:ln>
        </p:spPr>
      </p:sp>
      <p:sp>
        <p:nvSpPr>
          <p:cNvPr id="37" name="Text 34"/>
          <p:cNvSpPr/>
          <p:nvPr/>
        </p:nvSpPr>
        <p:spPr>
          <a:xfrm>
            <a:off x="594360" y="5875020"/>
            <a:ext cx="969264" cy="173736"/>
          </a:xfrm>
          <a:prstGeom prst="rect">
            <a:avLst/>
          </a:prstGeom>
          <a:noFill/>
          <a:ln/>
        </p:spPr>
        <p:txBody>
          <a:bodyPr wrap="square" lIns="0" tIns="0" rIns="0" bIns="0" rtlCol="0" anchor="ctr"/>
          <a:lstStyle/>
          <a:p>
            <a:pPr marL="0" indent="0" algn="ctr">
              <a:buNone/>
            </a:pPr>
            <a:r>
              <a:rPr lang="en-US" sz="900" b="1" dirty="0">
                <a:solidFill>
                  <a:srgbClr val="D98A00"/>
                </a:solidFill>
                <a:latin typeface="Aptos" pitchFamily="34" charset="0"/>
                <a:ea typeface="Aptos" pitchFamily="34" charset="-122"/>
                <a:cs typeface="Aptos" pitchFamily="34" charset="-120"/>
              </a:rPr>
              <a:t>HYPOTHESIS</a:t>
            </a:r>
            <a:endParaRPr lang="en-US" sz="900" dirty="0"/>
          </a:p>
        </p:txBody>
      </p:sp>
      <p:sp>
        <p:nvSpPr>
          <p:cNvPr id="38" name="Text 35"/>
          <p:cNvSpPr/>
          <p:nvPr/>
        </p:nvSpPr>
        <p:spPr>
          <a:xfrm>
            <a:off x="1673352" y="5797296"/>
            <a:ext cx="9905695" cy="329184"/>
          </a:xfrm>
          <a:prstGeom prst="rect">
            <a:avLst/>
          </a:prstGeom>
          <a:noFill/>
          <a:ln/>
        </p:spPr>
        <p:txBody>
          <a:bodyPr wrap="square" lIns="0" tIns="0" rIns="0" bIns="0" rtlCol="0" anchor="ctr"/>
          <a:lstStyle/>
          <a:p>
            <a:pPr marL="0" indent="0">
              <a:buNone/>
            </a:pPr>
            <a:r>
              <a:rPr lang="en-US" sz="950" dirty="0">
                <a:solidFill>
                  <a:srgbClr val="6B7280"/>
                </a:solidFill>
                <a:latin typeface="Aptos" pitchFamily="34" charset="0"/>
                <a:ea typeface="Aptos" pitchFamily="34" charset="-122"/>
                <a:cs typeface="Aptos" pitchFamily="34" charset="-120"/>
              </a:rPr>
              <a:t>Whether this divergence is structural or a one-year event is not established. The comparison rests on FY2026 against a single prior-year baseline - HYPOTHESIS (untested), LOW confidence.</a:t>
            </a:r>
            <a:endParaRPr lang="en-US" sz="950" dirty="0"/>
          </a:p>
        </p:txBody>
      </p:sp>
      <p:sp>
        <p:nvSpPr>
          <p:cNvPr id="39" name="Shape 36"/>
          <p:cNvSpPr/>
          <p:nvPr/>
        </p:nvSpPr>
        <p:spPr>
          <a:xfrm>
            <a:off x="502920" y="6309360"/>
            <a:ext cx="11185855" cy="5486"/>
          </a:xfrm>
          <a:prstGeom prst="rect">
            <a:avLst/>
          </a:prstGeom>
          <a:solidFill>
            <a:srgbClr val="C9D8F2"/>
          </a:solidFill>
          <a:ln/>
        </p:spPr>
      </p:sp>
      <p:sp>
        <p:nvSpPr>
          <p:cNvPr id="40" name="Text 37"/>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41" name="Text 38"/>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SRC-FY26-002 - EVD-OPS-NET-002 - EVD-OPS-FLEET-003 - 10_Validated_Exhibits_Charts Sec. 10.1.3</a:t>
            </a:r>
            <a:endParaRPr lang="en-US" sz="800" dirty="0"/>
          </a:p>
        </p:txBody>
      </p:sp>
      <p:sp>
        <p:nvSpPr>
          <p:cNvPr id="42" name="Shape 39"/>
          <p:cNvSpPr/>
          <p:nvPr/>
        </p:nvSpPr>
        <p:spPr>
          <a:xfrm>
            <a:off x="11484864" y="6364224"/>
            <a:ext cx="201168" cy="201168"/>
          </a:xfrm>
          <a:prstGeom prst="rect">
            <a:avLst/>
          </a:prstGeom>
          <a:solidFill>
            <a:srgbClr val="0032A0"/>
          </a:solidFill>
          <a:ln/>
        </p:spPr>
      </p:sp>
      <p:sp>
        <p:nvSpPr>
          <p:cNvPr id="43" name="Text 40"/>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07 - THE DIAGNOSIS</a:t>
            </a:r>
            <a:endParaRPr lang="en-US" sz="1000" dirty="0"/>
          </a:p>
        </p:txBody>
      </p:sp>
      <p:sp>
        <p:nvSpPr>
          <p:cNvPr id="3" name="Shape 1"/>
          <p:cNvSpPr/>
          <p:nvPr/>
        </p:nvSpPr>
        <p:spPr>
          <a:xfrm>
            <a:off x="502920" y="571500"/>
            <a:ext cx="1463040" cy="45720"/>
          </a:xfrm>
          <a:prstGeom prst="rect">
            <a:avLst/>
          </a:prstGeom>
          <a:solidFill>
            <a:srgbClr val="0032A0"/>
          </a:solidFill>
          <a:ln/>
        </p:spPr>
      </p:sp>
      <p:sp>
        <p:nvSpPr>
          <p:cNvPr id="4" name="Text 2"/>
          <p:cNvSpPr/>
          <p:nvPr/>
        </p:nvSpPr>
        <p:spPr>
          <a:xfrm>
            <a:off x="502920" y="603504"/>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The RASK-CASK spread flipped from +Rs. 0.48 to -Rs. 0.01 per available seat kilometre</a:t>
            </a:r>
            <a:endParaRPr lang="en-US" sz="2250" dirty="0"/>
          </a:p>
        </p:txBody>
      </p:sp>
      <p:sp>
        <p:nvSpPr>
          <p:cNvPr id="5" name="Text 3"/>
          <p:cNvSpPr/>
          <p:nvPr/>
        </p:nvSpPr>
        <p:spPr>
          <a:xfrm>
            <a:off x="502920" y="1444752"/>
            <a:ext cx="54864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UNIT REVENUE vs UNIT COST, Rs. PER ASK</a:t>
            </a:r>
            <a:endParaRPr lang="en-US" sz="1000" dirty="0"/>
          </a:p>
        </p:txBody>
      </p:sp>
      <p:sp>
        <p:nvSpPr>
          <p:cNvPr id="6" name="Shape 4"/>
          <p:cNvSpPr/>
          <p:nvPr/>
        </p:nvSpPr>
        <p:spPr>
          <a:xfrm>
            <a:off x="1234440" y="4331442"/>
            <a:ext cx="4389120" cy="5486"/>
          </a:xfrm>
          <a:prstGeom prst="rect">
            <a:avLst/>
          </a:prstGeom>
          <a:solidFill>
            <a:srgbClr val="C9D8F2"/>
          </a:solidFill>
          <a:ln/>
        </p:spPr>
      </p:sp>
      <p:sp>
        <p:nvSpPr>
          <p:cNvPr id="7" name="Text 5"/>
          <p:cNvSpPr/>
          <p:nvPr/>
        </p:nvSpPr>
        <p:spPr>
          <a:xfrm>
            <a:off x="502920" y="4230858"/>
            <a:ext cx="658368" cy="201168"/>
          </a:xfrm>
          <a:prstGeom prst="rect">
            <a:avLst/>
          </a:prstGeom>
          <a:noFill/>
          <a:ln/>
        </p:spPr>
        <p:txBody>
          <a:bodyPr wrap="square" lIns="0" tIns="0" rIns="0" bIns="0" rtlCol="0" anchor="ctr"/>
          <a:lstStyle/>
          <a:p>
            <a:pPr marL="0" indent="0" algn="r">
              <a:buNone/>
            </a:pPr>
            <a:r>
              <a:rPr lang="en-US" sz="900" dirty="0">
                <a:solidFill>
                  <a:srgbClr val="6B7280"/>
                </a:solidFill>
                <a:latin typeface="Aptos" pitchFamily="34" charset="0"/>
                <a:ea typeface="Aptos" pitchFamily="34" charset="-122"/>
                <a:cs typeface="Aptos" pitchFamily="34" charset="-120"/>
              </a:rPr>
              <a:t>Rs. 4.60</a:t>
            </a:r>
            <a:endParaRPr lang="en-US" sz="900" dirty="0"/>
          </a:p>
        </p:txBody>
      </p:sp>
      <p:sp>
        <p:nvSpPr>
          <p:cNvPr id="8" name="Shape 6"/>
          <p:cNvSpPr/>
          <p:nvPr/>
        </p:nvSpPr>
        <p:spPr>
          <a:xfrm>
            <a:off x="1234440" y="3515516"/>
            <a:ext cx="4389120" cy="5486"/>
          </a:xfrm>
          <a:prstGeom prst="rect">
            <a:avLst/>
          </a:prstGeom>
          <a:solidFill>
            <a:srgbClr val="C9D8F2"/>
          </a:solidFill>
          <a:ln/>
        </p:spPr>
      </p:sp>
      <p:sp>
        <p:nvSpPr>
          <p:cNvPr id="9" name="Text 7"/>
          <p:cNvSpPr/>
          <p:nvPr/>
        </p:nvSpPr>
        <p:spPr>
          <a:xfrm>
            <a:off x="502920" y="3414932"/>
            <a:ext cx="658368" cy="201168"/>
          </a:xfrm>
          <a:prstGeom prst="rect">
            <a:avLst/>
          </a:prstGeom>
          <a:noFill/>
          <a:ln/>
        </p:spPr>
        <p:txBody>
          <a:bodyPr wrap="square" lIns="0" tIns="0" rIns="0" bIns="0" rtlCol="0" anchor="ctr"/>
          <a:lstStyle/>
          <a:p>
            <a:pPr marL="0" indent="0" algn="r">
              <a:buNone/>
            </a:pPr>
            <a:r>
              <a:rPr lang="en-US" sz="900" dirty="0">
                <a:solidFill>
                  <a:srgbClr val="6B7280"/>
                </a:solidFill>
                <a:latin typeface="Aptos" pitchFamily="34" charset="0"/>
                <a:ea typeface="Aptos" pitchFamily="34" charset="-122"/>
                <a:cs typeface="Aptos" pitchFamily="34" charset="-120"/>
              </a:rPr>
              <a:t>Rs. 4.80</a:t>
            </a:r>
            <a:endParaRPr lang="en-US" sz="900" dirty="0"/>
          </a:p>
        </p:txBody>
      </p:sp>
      <p:sp>
        <p:nvSpPr>
          <p:cNvPr id="10" name="Shape 8"/>
          <p:cNvSpPr/>
          <p:nvPr/>
        </p:nvSpPr>
        <p:spPr>
          <a:xfrm>
            <a:off x="1234440" y="2699590"/>
            <a:ext cx="4389120" cy="5486"/>
          </a:xfrm>
          <a:prstGeom prst="rect">
            <a:avLst/>
          </a:prstGeom>
          <a:solidFill>
            <a:srgbClr val="C9D8F2"/>
          </a:solidFill>
          <a:ln/>
        </p:spPr>
      </p:sp>
      <p:sp>
        <p:nvSpPr>
          <p:cNvPr id="11" name="Text 9"/>
          <p:cNvSpPr/>
          <p:nvPr/>
        </p:nvSpPr>
        <p:spPr>
          <a:xfrm>
            <a:off x="502920" y="2599006"/>
            <a:ext cx="658368" cy="201168"/>
          </a:xfrm>
          <a:prstGeom prst="rect">
            <a:avLst/>
          </a:prstGeom>
          <a:noFill/>
          <a:ln/>
        </p:spPr>
        <p:txBody>
          <a:bodyPr wrap="square" lIns="0" tIns="0" rIns="0" bIns="0" rtlCol="0" anchor="ctr"/>
          <a:lstStyle/>
          <a:p>
            <a:pPr marL="0" indent="0" algn="r">
              <a:buNone/>
            </a:pPr>
            <a:r>
              <a:rPr lang="en-US" sz="900" dirty="0">
                <a:solidFill>
                  <a:srgbClr val="6B7280"/>
                </a:solidFill>
                <a:latin typeface="Aptos" pitchFamily="34" charset="0"/>
                <a:ea typeface="Aptos" pitchFamily="34" charset="-122"/>
                <a:cs typeface="Aptos" pitchFamily="34" charset="-120"/>
              </a:rPr>
              <a:t>Rs. 5.00</a:t>
            </a:r>
            <a:endParaRPr lang="en-US" sz="900" dirty="0"/>
          </a:p>
        </p:txBody>
      </p:sp>
      <p:sp>
        <p:nvSpPr>
          <p:cNvPr id="12" name="Shape 10"/>
          <p:cNvSpPr/>
          <p:nvPr/>
        </p:nvSpPr>
        <p:spPr>
          <a:xfrm>
            <a:off x="1234440" y="1883664"/>
            <a:ext cx="4389120" cy="5486"/>
          </a:xfrm>
          <a:prstGeom prst="rect">
            <a:avLst/>
          </a:prstGeom>
          <a:solidFill>
            <a:srgbClr val="C9D8F2"/>
          </a:solidFill>
          <a:ln/>
        </p:spPr>
      </p:sp>
      <p:sp>
        <p:nvSpPr>
          <p:cNvPr id="13" name="Text 11"/>
          <p:cNvSpPr/>
          <p:nvPr/>
        </p:nvSpPr>
        <p:spPr>
          <a:xfrm>
            <a:off x="502920" y="1783080"/>
            <a:ext cx="658368" cy="201168"/>
          </a:xfrm>
          <a:prstGeom prst="rect">
            <a:avLst/>
          </a:prstGeom>
          <a:noFill/>
          <a:ln/>
        </p:spPr>
        <p:txBody>
          <a:bodyPr wrap="square" lIns="0" tIns="0" rIns="0" bIns="0" rtlCol="0" anchor="ctr"/>
          <a:lstStyle/>
          <a:p>
            <a:pPr marL="0" indent="0" algn="r">
              <a:buNone/>
            </a:pPr>
            <a:r>
              <a:rPr lang="en-US" sz="900" dirty="0">
                <a:solidFill>
                  <a:srgbClr val="6B7280"/>
                </a:solidFill>
                <a:latin typeface="Aptos" pitchFamily="34" charset="0"/>
                <a:ea typeface="Aptos" pitchFamily="34" charset="-122"/>
                <a:cs typeface="Aptos" pitchFamily="34" charset="-120"/>
              </a:rPr>
              <a:t>Rs. 5.20</a:t>
            </a:r>
            <a:endParaRPr lang="en-US" sz="900" dirty="0"/>
          </a:p>
        </p:txBody>
      </p:sp>
      <p:sp>
        <p:nvSpPr>
          <p:cNvPr id="14" name="Shape 12"/>
          <p:cNvSpPr/>
          <p:nvPr/>
        </p:nvSpPr>
        <p:spPr>
          <a:xfrm>
            <a:off x="1892808" y="2128442"/>
            <a:ext cx="237744" cy="1958223"/>
          </a:xfrm>
          <a:prstGeom prst="rect">
            <a:avLst/>
          </a:prstGeom>
          <a:solidFill>
            <a:srgbClr val="0E8A7A">
              <a:alpha val="22000"/>
            </a:srgbClr>
          </a:solidFill>
          <a:ln/>
        </p:spPr>
      </p:sp>
      <p:sp>
        <p:nvSpPr>
          <p:cNvPr id="15" name="Shape 13"/>
          <p:cNvSpPr/>
          <p:nvPr/>
        </p:nvSpPr>
        <p:spPr>
          <a:xfrm>
            <a:off x="4773168" y="2699590"/>
            <a:ext cx="237744" cy="40796"/>
          </a:xfrm>
          <a:prstGeom prst="rect">
            <a:avLst/>
          </a:prstGeom>
          <a:solidFill>
            <a:srgbClr val="C43F2E"/>
          </a:solidFill>
          <a:ln/>
        </p:spPr>
      </p:sp>
      <p:sp>
        <p:nvSpPr>
          <p:cNvPr id="16" name="Text 14"/>
          <p:cNvSpPr/>
          <p:nvPr/>
        </p:nvSpPr>
        <p:spPr>
          <a:xfrm>
            <a:off x="2194560" y="2979537"/>
            <a:ext cx="1188720" cy="256032"/>
          </a:xfrm>
          <a:prstGeom prst="rect">
            <a:avLst/>
          </a:prstGeom>
          <a:noFill/>
          <a:ln/>
        </p:spPr>
        <p:txBody>
          <a:bodyPr wrap="none" lIns="0" tIns="0" rIns="0" bIns="0" rtlCol="0" anchor="ctr"/>
          <a:lstStyle/>
          <a:p>
            <a:pPr marL="0" indent="0">
              <a:buNone/>
            </a:pPr>
            <a:r>
              <a:rPr lang="en-US" sz="1100" b="1" dirty="0">
                <a:solidFill>
                  <a:srgbClr val="0E8A7A"/>
                </a:solidFill>
                <a:latin typeface="Aptos" pitchFamily="34" charset="0"/>
                <a:ea typeface="Aptos" pitchFamily="34" charset="-122"/>
                <a:cs typeface="Aptos" pitchFamily="34" charset="-120"/>
              </a:rPr>
              <a:t>+Rs. 0.48</a:t>
            </a:r>
            <a:endParaRPr lang="en-US" sz="1100" dirty="0"/>
          </a:p>
        </p:txBody>
      </p:sp>
      <p:sp>
        <p:nvSpPr>
          <p:cNvPr id="17" name="Shape 15"/>
          <p:cNvSpPr/>
          <p:nvPr/>
        </p:nvSpPr>
        <p:spPr>
          <a:xfrm>
            <a:off x="2011680" y="2128442"/>
            <a:ext cx="2880360" cy="611945"/>
          </a:xfrm>
          <a:prstGeom prst="line">
            <a:avLst/>
          </a:prstGeom>
          <a:noFill/>
          <a:ln w="34925">
            <a:solidFill>
              <a:srgbClr val="0032A0"/>
            </a:solidFill>
            <a:prstDash val="solid"/>
          </a:ln>
        </p:spPr>
      </p:sp>
      <p:sp>
        <p:nvSpPr>
          <p:cNvPr id="18" name="Shape 16"/>
          <p:cNvSpPr/>
          <p:nvPr/>
        </p:nvSpPr>
        <p:spPr>
          <a:xfrm flipV="1">
            <a:off x="2011680" y="2699590"/>
            <a:ext cx="2880360" cy="1387074"/>
          </a:xfrm>
          <a:prstGeom prst="line">
            <a:avLst/>
          </a:prstGeom>
          <a:noFill/>
          <a:ln w="34925">
            <a:solidFill>
              <a:srgbClr val="041E47"/>
            </a:solidFill>
            <a:prstDash val="dash"/>
          </a:ln>
        </p:spPr>
      </p:sp>
      <p:sp>
        <p:nvSpPr>
          <p:cNvPr id="19" name="Shape 17"/>
          <p:cNvSpPr/>
          <p:nvPr/>
        </p:nvSpPr>
        <p:spPr>
          <a:xfrm>
            <a:off x="1947672" y="2064434"/>
            <a:ext cx="128016" cy="128016"/>
          </a:xfrm>
          <a:prstGeom prst="ellipse">
            <a:avLst/>
          </a:prstGeom>
          <a:solidFill>
            <a:srgbClr val="0032A0"/>
          </a:solidFill>
          <a:ln w="12700">
            <a:solidFill>
              <a:srgbClr val="FFFFFF"/>
            </a:solidFill>
            <a:prstDash val="solid"/>
          </a:ln>
        </p:spPr>
      </p:sp>
      <p:sp>
        <p:nvSpPr>
          <p:cNvPr id="20" name="Text 18"/>
          <p:cNvSpPr/>
          <p:nvPr/>
        </p:nvSpPr>
        <p:spPr>
          <a:xfrm>
            <a:off x="1143000" y="1817546"/>
            <a:ext cx="1737360" cy="219456"/>
          </a:xfrm>
          <a:prstGeom prst="rect">
            <a:avLst/>
          </a:prstGeom>
          <a:noFill/>
          <a:ln/>
        </p:spPr>
        <p:txBody>
          <a:bodyPr wrap="square" lIns="0" tIns="0" rIns="0" bIns="0" rtlCol="0" anchor="ctr"/>
          <a:lstStyle/>
          <a:p>
            <a:pPr marL="0" indent="0" algn="ctr">
              <a:buNone/>
            </a:pPr>
            <a:r>
              <a:rPr lang="en-US" sz="1000" b="1" dirty="0">
                <a:solidFill>
                  <a:srgbClr val="0032A0"/>
                </a:solidFill>
                <a:latin typeface="Aptos" pitchFamily="34" charset="0"/>
                <a:ea typeface="Aptos" pitchFamily="34" charset="-122"/>
                <a:cs typeface="Aptos" pitchFamily="34" charset="-120"/>
              </a:rPr>
              <a:t>RASK Rs. 5.14</a:t>
            </a:r>
            <a:endParaRPr lang="en-US" sz="1000" dirty="0"/>
          </a:p>
        </p:txBody>
      </p:sp>
      <p:sp>
        <p:nvSpPr>
          <p:cNvPr id="21" name="Shape 19"/>
          <p:cNvSpPr/>
          <p:nvPr/>
        </p:nvSpPr>
        <p:spPr>
          <a:xfrm>
            <a:off x="4828032" y="2676378"/>
            <a:ext cx="128016" cy="128016"/>
          </a:xfrm>
          <a:prstGeom prst="ellipse">
            <a:avLst/>
          </a:prstGeom>
          <a:solidFill>
            <a:srgbClr val="0032A0"/>
          </a:solidFill>
          <a:ln w="12700">
            <a:solidFill>
              <a:srgbClr val="FFFFFF"/>
            </a:solidFill>
            <a:prstDash val="solid"/>
          </a:ln>
        </p:spPr>
      </p:sp>
      <p:sp>
        <p:nvSpPr>
          <p:cNvPr id="22" name="Text 20"/>
          <p:cNvSpPr/>
          <p:nvPr/>
        </p:nvSpPr>
        <p:spPr>
          <a:xfrm>
            <a:off x="4023360" y="2429490"/>
            <a:ext cx="1737360" cy="219456"/>
          </a:xfrm>
          <a:prstGeom prst="rect">
            <a:avLst/>
          </a:prstGeom>
          <a:noFill/>
          <a:ln/>
        </p:spPr>
        <p:txBody>
          <a:bodyPr wrap="square" lIns="0" tIns="0" rIns="0" bIns="0" rtlCol="0" anchor="ctr"/>
          <a:lstStyle/>
          <a:p>
            <a:pPr marL="0" indent="0" algn="ctr">
              <a:buNone/>
            </a:pPr>
            <a:r>
              <a:rPr lang="en-US" sz="1000" b="1" dirty="0">
                <a:solidFill>
                  <a:srgbClr val="0032A0"/>
                </a:solidFill>
                <a:latin typeface="Aptos" pitchFamily="34" charset="0"/>
                <a:ea typeface="Aptos" pitchFamily="34" charset="-122"/>
                <a:cs typeface="Aptos" pitchFamily="34" charset="-120"/>
              </a:rPr>
              <a:t>Rs. 4.99</a:t>
            </a:r>
            <a:endParaRPr lang="en-US" sz="1000" dirty="0"/>
          </a:p>
        </p:txBody>
      </p:sp>
      <p:sp>
        <p:nvSpPr>
          <p:cNvPr id="23" name="Shape 21"/>
          <p:cNvSpPr/>
          <p:nvPr/>
        </p:nvSpPr>
        <p:spPr>
          <a:xfrm>
            <a:off x="1947672" y="4022657"/>
            <a:ext cx="128016" cy="128016"/>
          </a:xfrm>
          <a:prstGeom prst="ellipse">
            <a:avLst/>
          </a:prstGeom>
          <a:solidFill>
            <a:srgbClr val="041E47"/>
          </a:solidFill>
          <a:ln w="12700">
            <a:solidFill>
              <a:srgbClr val="FFFFFF"/>
            </a:solidFill>
            <a:prstDash val="solid"/>
          </a:ln>
        </p:spPr>
      </p:sp>
      <p:sp>
        <p:nvSpPr>
          <p:cNvPr id="24" name="Text 22"/>
          <p:cNvSpPr/>
          <p:nvPr/>
        </p:nvSpPr>
        <p:spPr>
          <a:xfrm>
            <a:off x="1143000" y="4214681"/>
            <a:ext cx="1737360" cy="219456"/>
          </a:xfrm>
          <a:prstGeom prst="rect">
            <a:avLst/>
          </a:prstGeom>
          <a:noFill/>
          <a:ln/>
        </p:spPr>
        <p:txBody>
          <a:bodyPr wrap="square" lIns="0" tIns="0" rIns="0" bIns="0" rtlCol="0" anchor="ctr"/>
          <a:lstStyle/>
          <a:p>
            <a:pPr marL="0" indent="0" algn="ctr">
              <a:buNone/>
            </a:pPr>
            <a:r>
              <a:rPr lang="en-US" sz="1000" b="1" dirty="0">
                <a:solidFill>
                  <a:srgbClr val="041E47"/>
                </a:solidFill>
                <a:latin typeface="Aptos" pitchFamily="34" charset="0"/>
                <a:ea typeface="Aptos" pitchFamily="34" charset="-122"/>
                <a:cs typeface="Aptos" pitchFamily="34" charset="-120"/>
              </a:rPr>
              <a:t>CASK Rs. 4.66</a:t>
            </a:r>
            <a:endParaRPr lang="en-US" sz="1000" dirty="0"/>
          </a:p>
        </p:txBody>
      </p:sp>
      <p:sp>
        <p:nvSpPr>
          <p:cNvPr id="25" name="Shape 23"/>
          <p:cNvSpPr/>
          <p:nvPr/>
        </p:nvSpPr>
        <p:spPr>
          <a:xfrm>
            <a:off x="4828032" y="2635582"/>
            <a:ext cx="128016" cy="128016"/>
          </a:xfrm>
          <a:prstGeom prst="ellipse">
            <a:avLst/>
          </a:prstGeom>
          <a:solidFill>
            <a:srgbClr val="041E47"/>
          </a:solidFill>
          <a:ln w="12700">
            <a:solidFill>
              <a:srgbClr val="FFFFFF"/>
            </a:solidFill>
            <a:prstDash val="solid"/>
          </a:ln>
        </p:spPr>
      </p:sp>
      <p:sp>
        <p:nvSpPr>
          <p:cNvPr id="26" name="Text 24"/>
          <p:cNvSpPr/>
          <p:nvPr/>
        </p:nvSpPr>
        <p:spPr>
          <a:xfrm>
            <a:off x="4023360" y="2827606"/>
            <a:ext cx="1737360" cy="219456"/>
          </a:xfrm>
          <a:prstGeom prst="rect">
            <a:avLst/>
          </a:prstGeom>
          <a:noFill/>
          <a:ln/>
        </p:spPr>
        <p:txBody>
          <a:bodyPr wrap="square" lIns="0" tIns="0" rIns="0" bIns="0" rtlCol="0" anchor="ctr"/>
          <a:lstStyle/>
          <a:p>
            <a:pPr marL="0" indent="0" algn="ctr">
              <a:buNone/>
            </a:pPr>
            <a:r>
              <a:rPr lang="en-US" sz="1000" b="1" dirty="0">
                <a:solidFill>
                  <a:srgbClr val="041E47"/>
                </a:solidFill>
                <a:latin typeface="Aptos" pitchFamily="34" charset="0"/>
                <a:ea typeface="Aptos" pitchFamily="34" charset="-122"/>
                <a:cs typeface="Aptos" pitchFamily="34" charset="-120"/>
              </a:rPr>
              <a:t>Rs. 5.00</a:t>
            </a:r>
            <a:endParaRPr lang="en-US" sz="1000" dirty="0"/>
          </a:p>
        </p:txBody>
      </p:sp>
      <p:sp>
        <p:nvSpPr>
          <p:cNvPr id="27" name="Shape 25"/>
          <p:cNvSpPr/>
          <p:nvPr/>
        </p:nvSpPr>
        <p:spPr>
          <a:xfrm>
            <a:off x="1234440" y="4535424"/>
            <a:ext cx="4389120" cy="5486"/>
          </a:xfrm>
          <a:prstGeom prst="rect">
            <a:avLst/>
          </a:prstGeom>
          <a:solidFill>
            <a:srgbClr val="C9D8F2"/>
          </a:solidFill>
          <a:ln/>
        </p:spPr>
      </p:sp>
      <p:sp>
        <p:nvSpPr>
          <p:cNvPr id="28" name="Text 26"/>
          <p:cNvSpPr/>
          <p:nvPr/>
        </p:nvSpPr>
        <p:spPr>
          <a:xfrm>
            <a:off x="1234440" y="4590288"/>
            <a:ext cx="1554480" cy="219456"/>
          </a:xfrm>
          <a:prstGeom prst="rect">
            <a:avLst/>
          </a:prstGeom>
          <a:noFill/>
          <a:ln/>
        </p:spPr>
        <p:txBody>
          <a:bodyPr wrap="square" lIns="0" tIns="0" rIns="0" bIns="0" rtlCol="0" anchor="ctr"/>
          <a:lstStyle/>
          <a:p>
            <a:pPr marL="0" indent="0" algn="ctr">
              <a:buNone/>
            </a:pPr>
            <a:r>
              <a:rPr lang="en-US" sz="1000" dirty="0">
                <a:solidFill>
                  <a:srgbClr val="46577A"/>
                </a:solidFill>
                <a:latin typeface="Aptos" pitchFamily="34" charset="0"/>
                <a:ea typeface="Aptos" pitchFamily="34" charset="-122"/>
                <a:cs typeface="Aptos" pitchFamily="34" charset="-120"/>
              </a:rPr>
              <a:t>FY2024-25</a:t>
            </a:r>
            <a:endParaRPr lang="en-US" sz="1000" dirty="0"/>
          </a:p>
        </p:txBody>
      </p:sp>
      <p:sp>
        <p:nvSpPr>
          <p:cNvPr id="29" name="Text 27"/>
          <p:cNvSpPr/>
          <p:nvPr/>
        </p:nvSpPr>
        <p:spPr>
          <a:xfrm>
            <a:off x="4114800" y="4590288"/>
            <a:ext cx="1554480" cy="219456"/>
          </a:xfrm>
          <a:prstGeom prst="rect">
            <a:avLst/>
          </a:prstGeom>
          <a:noFill/>
          <a:ln/>
        </p:spPr>
        <p:txBody>
          <a:bodyPr wrap="square" lIns="0" tIns="0" rIns="0" bIns="0" rtlCol="0" anchor="ctr"/>
          <a:lstStyle/>
          <a:p>
            <a:pPr marL="0" indent="0" algn="ctr">
              <a:buNone/>
            </a:pPr>
            <a:r>
              <a:rPr lang="en-US" sz="1000" dirty="0">
                <a:solidFill>
                  <a:srgbClr val="46577A"/>
                </a:solidFill>
                <a:latin typeface="Aptos" pitchFamily="34" charset="0"/>
                <a:ea typeface="Aptos" pitchFamily="34" charset="-122"/>
                <a:cs typeface="Aptos" pitchFamily="34" charset="-120"/>
              </a:rPr>
              <a:t>FY2025-26</a:t>
            </a:r>
            <a:endParaRPr lang="en-US" sz="1000" dirty="0"/>
          </a:p>
        </p:txBody>
      </p:sp>
      <p:sp>
        <p:nvSpPr>
          <p:cNvPr id="30" name="Text 28"/>
          <p:cNvSpPr/>
          <p:nvPr/>
        </p:nvSpPr>
        <p:spPr>
          <a:xfrm>
            <a:off x="502920" y="4828032"/>
            <a:ext cx="4937760" cy="201168"/>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Axis truncated to Rs. 4.55-Rs. 5.20 so the crossing is legible.</a:t>
            </a:r>
            <a:endParaRPr lang="en-US" sz="800" dirty="0"/>
          </a:p>
        </p:txBody>
      </p:sp>
      <p:sp>
        <p:nvSpPr>
          <p:cNvPr id="31" name="Shape 29"/>
          <p:cNvSpPr/>
          <p:nvPr/>
        </p:nvSpPr>
        <p:spPr>
          <a:xfrm>
            <a:off x="6172200" y="1444752"/>
            <a:ext cx="5486" cy="4206240"/>
          </a:xfrm>
          <a:prstGeom prst="rect">
            <a:avLst/>
          </a:prstGeom>
          <a:solidFill>
            <a:srgbClr val="C9D8F2"/>
          </a:solidFill>
          <a:ln/>
        </p:spPr>
      </p:sp>
      <p:sp>
        <p:nvSpPr>
          <p:cNvPr id="32" name="Text 30"/>
          <p:cNvSpPr/>
          <p:nvPr/>
        </p:nvSpPr>
        <p:spPr>
          <a:xfrm>
            <a:off x="6419088" y="1426464"/>
            <a:ext cx="5257800" cy="786384"/>
          </a:xfrm>
          <a:prstGeom prst="rect">
            <a:avLst/>
          </a:prstGeom>
          <a:noFill/>
          <a:ln/>
        </p:spPr>
        <p:txBody>
          <a:bodyPr wrap="none" lIns="0" tIns="0" rIns="0" bIns="0" rtlCol="0" anchor="ctr"/>
          <a:lstStyle/>
          <a:p>
            <a:pPr marL="0" indent="0">
              <a:buNone/>
            </a:pPr>
            <a:r>
              <a:rPr lang="en-US" sz="4000" b="1" dirty="0">
                <a:solidFill>
                  <a:srgbClr val="C43F2E"/>
                </a:solidFill>
                <a:latin typeface="Aptos Display" pitchFamily="34" charset="0"/>
                <a:ea typeface="Aptos Display" pitchFamily="34" charset="-122"/>
                <a:cs typeface="Aptos Display" pitchFamily="34" charset="-120"/>
              </a:rPr>
              <a:t>-Rs. 0.01</a:t>
            </a:r>
            <a:endParaRPr lang="en-US" sz="4000" dirty="0"/>
          </a:p>
        </p:txBody>
      </p:sp>
      <p:sp>
        <p:nvSpPr>
          <p:cNvPr id="33" name="Text 31"/>
          <p:cNvSpPr/>
          <p:nvPr/>
        </p:nvSpPr>
        <p:spPr>
          <a:xfrm>
            <a:off x="6419088" y="2286000"/>
            <a:ext cx="5257800" cy="457200"/>
          </a:xfrm>
          <a:prstGeom prst="rect">
            <a:avLst/>
          </a:prstGeom>
          <a:noFill/>
          <a:ln/>
        </p:spPr>
        <p:txBody>
          <a:bodyPr wrap="square" lIns="0" tIns="0" rIns="0" bIns="0" rtlCol="0" anchor="t"/>
          <a:lstStyle/>
          <a:p>
            <a:pPr marL="0" indent="0" algn="l">
              <a:lnSpc>
                <a:spcPct val="112000"/>
              </a:lnSpc>
              <a:buNone/>
            </a:pPr>
            <a:r>
              <a:rPr lang="en-US" sz="1100" dirty="0">
                <a:solidFill>
                  <a:srgbClr val="46577A"/>
                </a:solidFill>
                <a:latin typeface="Aptos" pitchFamily="34" charset="0"/>
                <a:ea typeface="Aptos" pitchFamily="34" charset="-122"/>
                <a:cs typeface="Aptos" pitchFamily="34" charset="-120"/>
              </a:rPr>
              <a:t>RASK-CASK spread, FY2026 - from +Rs. 0.48/ASK in FY2025, a swing of ~Rs. 0.49/ASK</a:t>
            </a:r>
            <a:endParaRPr lang="en-US" sz="1100" dirty="0"/>
          </a:p>
        </p:txBody>
      </p:sp>
      <p:sp>
        <p:nvSpPr>
          <p:cNvPr id="34" name="Text 32"/>
          <p:cNvSpPr/>
          <p:nvPr/>
        </p:nvSpPr>
        <p:spPr>
          <a:xfrm>
            <a:off x="6419088" y="2798064"/>
            <a:ext cx="1463040" cy="292608"/>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RASK</a:t>
            </a:r>
            <a:endParaRPr lang="en-US" sz="1100" dirty="0"/>
          </a:p>
        </p:txBody>
      </p:sp>
      <p:sp>
        <p:nvSpPr>
          <p:cNvPr id="35" name="Text 33"/>
          <p:cNvSpPr/>
          <p:nvPr/>
        </p:nvSpPr>
        <p:spPr>
          <a:xfrm>
            <a:off x="7882128" y="2798064"/>
            <a:ext cx="1463040" cy="292608"/>
          </a:xfrm>
          <a:prstGeom prst="rect">
            <a:avLst/>
          </a:prstGeom>
          <a:noFill/>
          <a:ln/>
        </p:spPr>
        <p:txBody>
          <a:bodyPr wrap="square" lIns="0" tIns="0" rIns="0" bIns="0" rtlCol="0" anchor="ctr"/>
          <a:lstStyle/>
          <a:p>
            <a:pPr marL="0" indent="0">
              <a:buNone/>
            </a:pPr>
            <a:r>
              <a:rPr lang="en-US" sz="1400" b="1" dirty="0">
                <a:solidFill>
                  <a:srgbClr val="041E47"/>
                </a:solidFill>
                <a:latin typeface="Aptos Display" pitchFamily="34" charset="0"/>
                <a:ea typeface="Aptos Display" pitchFamily="34" charset="-122"/>
                <a:cs typeface="Aptos Display" pitchFamily="34" charset="-120"/>
              </a:rPr>
              <a:t>Rs. 4.99</a:t>
            </a:r>
            <a:endParaRPr lang="en-US" sz="1400" dirty="0"/>
          </a:p>
        </p:txBody>
      </p:sp>
      <p:sp>
        <p:nvSpPr>
          <p:cNvPr id="36" name="Text 34"/>
          <p:cNvSpPr/>
          <p:nvPr/>
        </p:nvSpPr>
        <p:spPr>
          <a:xfrm>
            <a:off x="9345168" y="2798064"/>
            <a:ext cx="1188720" cy="292608"/>
          </a:xfrm>
          <a:prstGeom prst="rect">
            <a:avLst/>
          </a:prstGeom>
          <a:noFill/>
          <a:ln/>
        </p:spPr>
        <p:txBody>
          <a:bodyPr wrap="square" lIns="0" tIns="0" rIns="0" bIns="0" rtlCol="0" anchor="ctr"/>
          <a:lstStyle/>
          <a:p>
            <a:pPr marL="0" indent="0">
              <a:buNone/>
            </a:pPr>
            <a:r>
              <a:rPr lang="en-US" sz="1100" b="1" dirty="0">
                <a:solidFill>
                  <a:srgbClr val="C43F2E"/>
                </a:solidFill>
                <a:latin typeface="Aptos" pitchFamily="34" charset="0"/>
                <a:ea typeface="Aptos" pitchFamily="34" charset="-122"/>
                <a:cs typeface="Aptos" pitchFamily="34" charset="-120"/>
              </a:rPr>
              <a:t>-3.0%</a:t>
            </a:r>
            <a:endParaRPr lang="en-US" sz="1100" dirty="0"/>
          </a:p>
        </p:txBody>
      </p:sp>
      <p:sp>
        <p:nvSpPr>
          <p:cNvPr id="37" name="Shape 35"/>
          <p:cNvSpPr/>
          <p:nvPr/>
        </p:nvSpPr>
        <p:spPr>
          <a:xfrm>
            <a:off x="6419088" y="3127248"/>
            <a:ext cx="5257800" cy="5486"/>
          </a:xfrm>
          <a:prstGeom prst="rect">
            <a:avLst/>
          </a:prstGeom>
          <a:solidFill>
            <a:srgbClr val="C9D8F2"/>
          </a:solidFill>
          <a:ln/>
        </p:spPr>
      </p:sp>
      <p:sp>
        <p:nvSpPr>
          <p:cNvPr id="38" name="Text 36"/>
          <p:cNvSpPr/>
          <p:nvPr/>
        </p:nvSpPr>
        <p:spPr>
          <a:xfrm>
            <a:off x="6419088" y="3163824"/>
            <a:ext cx="1463040" cy="292608"/>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CASK</a:t>
            </a:r>
            <a:endParaRPr lang="en-US" sz="1100" dirty="0"/>
          </a:p>
        </p:txBody>
      </p:sp>
      <p:sp>
        <p:nvSpPr>
          <p:cNvPr id="39" name="Text 37"/>
          <p:cNvSpPr/>
          <p:nvPr/>
        </p:nvSpPr>
        <p:spPr>
          <a:xfrm>
            <a:off x="7882128" y="3163824"/>
            <a:ext cx="1463040" cy="292608"/>
          </a:xfrm>
          <a:prstGeom prst="rect">
            <a:avLst/>
          </a:prstGeom>
          <a:noFill/>
          <a:ln/>
        </p:spPr>
        <p:txBody>
          <a:bodyPr wrap="square" lIns="0" tIns="0" rIns="0" bIns="0" rtlCol="0" anchor="ctr"/>
          <a:lstStyle/>
          <a:p>
            <a:pPr marL="0" indent="0">
              <a:buNone/>
            </a:pPr>
            <a:r>
              <a:rPr lang="en-US" sz="1400" b="1" dirty="0">
                <a:solidFill>
                  <a:srgbClr val="041E47"/>
                </a:solidFill>
                <a:latin typeface="Aptos Display" pitchFamily="34" charset="0"/>
                <a:ea typeface="Aptos Display" pitchFamily="34" charset="-122"/>
                <a:cs typeface="Aptos Display" pitchFamily="34" charset="-120"/>
              </a:rPr>
              <a:t>Rs. 5.00</a:t>
            </a:r>
            <a:endParaRPr lang="en-US" sz="1400" dirty="0"/>
          </a:p>
        </p:txBody>
      </p:sp>
      <p:sp>
        <p:nvSpPr>
          <p:cNvPr id="40" name="Text 38"/>
          <p:cNvSpPr/>
          <p:nvPr/>
        </p:nvSpPr>
        <p:spPr>
          <a:xfrm>
            <a:off x="9345168" y="3163824"/>
            <a:ext cx="1188720" cy="292608"/>
          </a:xfrm>
          <a:prstGeom prst="rect">
            <a:avLst/>
          </a:prstGeom>
          <a:noFill/>
          <a:ln/>
        </p:spPr>
        <p:txBody>
          <a:bodyPr wrap="square" lIns="0" tIns="0" rIns="0" bIns="0" rtlCol="0" anchor="ctr"/>
          <a:lstStyle/>
          <a:p>
            <a:pPr marL="0" indent="0">
              <a:buNone/>
            </a:pPr>
            <a:r>
              <a:rPr lang="en-US" sz="1100" b="1" dirty="0">
                <a:solidFill>
                  <a:srgbClr val="C43F2E"/>
                </a:solidFill>
                <a:latin typeface="Aptos" pitchFamily="34" charset="0"/>
                <a:ea typeface="Aptos" pitchFamily="34" charset="-122"/>
                <a:cs typeface="Aptos" pitchFamily="34" charset="-120"/>
              </a:rPr>
              <a:t>+7.2%</a:t>
            </a:r>
            <a:endParaRPr lang="en-US" sz="1100" dirty="0"/>
          </a:p>
        </p:txBody>
      </p:sp>
      <p:sp>
        <p:nvSpPr>
          <p:cNvPr id="41" name="Shape 39"/>
          <p:cNvSpPr/>
          <p:nvPr/>
        </p:nvSpPr>
        <p:spPr>
          <a:xfrm>
            <a:off x="6419088" y="3493008"/>
            <a:ext cx="5257800" cy="5486"/>
          </a:xfrm>
          <a:prstGeom prst="rect">
            <a:avLst/>
          </a:prstGeom>
          <a:solidFill>
            <a:srgbClr val="C9D8F2"/>
          </a:solidFill>
          <a:ln/>
        </p:spPr>
      </p:sp>
      <p:sp>
        <p:nvSpPr>
          <p:cNvPr id="42" name="Text 40"/>
          <p:cNvSpPr/>
          <p:nvPr/>
        </p:nvSpPr>
        <p:spPr>
          <a:xfrm>
            <a:off x="6419088" y="3529584"/>
            <a:ext cx="1463040" cy="292608"/>
          </a:xfrm>
          <a:prstGeom prst="rect">
            <a:avLst/>
          </a:prstGeom>
          <a:noFill/>
          <a:ln/>
        </p:spPr>
        <p:txBody>
          <a:bodyPr wrap="square" lIns="0" tIns="0" rIns="0" bIns="0" rtlCol="0" anchor="ctr"/>
          <a:lstStyle/>
          <a:p>
            <a:pPr marL="0" indent="0">
              <a:buNone/>
            </a:pPr>
            <a:r>
              <a:rPr lang="en-US" sz="1100" dirty="0">
                <a:solidFill>
                  <a:srgbClr val="46577A"/>
                </a:solidFill>
                <a:latin typeface="Aptos" pitchFamily="34" charset="0"/>
                <a:ea typeface="Aptos" pitchFamily="34" charset="-122"/>
                <a:cs typeface="Aptos" pitchFamily="34" charset="-120"/>
              </a:rPr>
              <a:t>Yield</a:t>
            </a:r>
            <a:endParaRPr lang="en-US" sz="1100" dirty="0"/>
          </a:p>
        </p:txBody>
      </p:sp>
      <p:sp>
        <p:nvSpPr>
          <p:cNvPr id="43" name="Text 41"/>
          <p:cNvSpPr/>
          <p:nvPr/>
        </p:nvSpPr>
        <p:spPr>
          <a:xfrm>
            <a:off x="7882128" y="3529584"/>
            <a:ext cx="1463040" cy="292608"/>
          </a:xfrm>
          <a:prstGeom prst="rect">
            <a:avLst/>
          </a:prstGeom>
          <a:noFill/>
          <a:ln/>
        </p:spPr>
        <p:txBody>
          <a:bodyPr wrap="square" lIns="0" tIns="0" rIns="0" bIns="0" rtlCol="0" anchor="ctr"/>
          <a:lstStyle/>
          <a:p>
            <a:pPr marL="0" indent="0">
              <a:buNone/>
            </a:pPr>
            <a:r>
              <a:rPr lang="en-US" sz="1400" b="1" dirty="0">
                <a:solidFill>
                  <a:srgbClr val="041E47"/>
                </a:solidFill>
                <a:latin typeface="Aptos Display" pitchFamily="34" charset="0"/>
                <a:ea typeface="Aptos Display" pitchFamily="34" charset="-122"/>
                <a:cs typeface="Aptos Display" pitchFamily="34" charset="-120"/>
              </a:rPr>
              <a:t>Rs. 5.06/RPK</a:t>
            </a:r>
            <a:endParaRPr lang="en-US" sz="1400" dirty="0"/>
          </a:p>
        </p:txBody>
      </p:sp>
      <p:sp>
        <p:nvSpPr>
          <p:cNvPr id="44" name="Text 42"/>
          <p:cNvSpPr/>
          <p:nvPr/>
        </p:nvSpPr>
        <p:spPr>
          <a:xfrm>
            <a:off x="9345168" y="3529584"/>
            <a:ext cx="1188720" cy="292608"/>
          </a:xfrm>
          <a:prstGeom prst="rect">
            <a:avLst/>
          </a:prstGeom>
          <a:noFill/>
          <a:ln/>
        </p:spPr>
        <p:txBody>
          <a:bodyPr wrap="square" lIns="0" tIns="0" rIns="0" bIns="0" rtlCol="0" anchor="ctr"/>
          <a:lstStyle/>
          <a:p>
            <a:pPr marL="0" indent="0">
              <a:buNone/>
            </a:pPr>
            <a:r>
              <a:rPr lang="en-US" sz="1100" b="1" dirty="0">
                <a:solidFill>
                  <a:srgbClr val="C43F2E"/>
                </a:solidFill>
                <a:latin typeface="Aptos" pitchFamily="34" charset="0"/>
                <a:ea typeface="Aptos" pitchFamily="34" charset="-122"/>
                <a:cs typeface="Aptos" pitchFamily="34" charset="-120"/>
              </a:rPr>
              <a:t>-1.7%</a:t>
            </a:r>
            <a:endParaRPr lang="en-US" sz="1100" dirty="0"/>
          </a:p>
        </p:txBody>
      </p:sp>
      <p:sp>
        <p:nvSpPr>
          <p:cNvPr id="45" name="Shape 43"/>
          <p:cNvSpPr/>
          <p:nvPr/>
        </p:nvSpPr>
        <p:spPr>
          <a:xfrm>
            <a:off x="6419088" y="3858768"/>
            <a:ext cx="5257800" cy="5486"/>
          </a:xfrm>
          <a:prstGeom prst="rect">
            <a:avLst/>
          </a:prstGeom>
          <a:solidFill>
            <a:srgbClr val="C9D8F2"/>
          </a:solidFill>
          <a:ln/>
        </p:spPr>
      </p:sp>
      <p:sp>
        <p:nvSpPr>
          <p:cNvPr id="46" name="Shape 44"/>
          <p:cNvSpPr/>
          <p:nvPr/>
        </p:nvSpPr>
        <p:spPr>
          <a:xfrm>
            <a:off x="6419088" y="4059936"/>
            <a:ext cx="1044245" cy="173736"/>
          </a:xfrm>
          <a:prstGeom prst="rect">
            <a:avLst/>
          </a:prstGeom>
          <a:solidFill>
            <a:srgbClr val="FFFFFF"/>
          </a:solidFill>
          <a:ln w="9525">
            <a:solidFill>
              <a:srgbClr val="0032A0"/>
            </a:solidFill>
            <a:prstDash val="solid"/>
          </a:ln>
        </p:spPr>
      </p:sp>
      <p:sp>
        <p:nvSpPr>
          <p:cNvPr id="47" name="Text 45"/>
          <p:cNvSpPr/>
          <p:nvPr/>
        </p:nvSpPr>
        <p:spPr>
          <a:xfrm>
            <a:off x="6419088" y="4059936"/>
            <a:ext cx="1044245" cy="173736"/>
          </a:xfrm>
          <a:prstGeom prst="rect">
            <a:avLst/>
          </a:prstGeom>
          <a:noFill/>
          <a:ln/>
        </p:spPr>
        <p:txBody>
          <a:bodyPr wrap="square" lIns="0" tIns="0" rIns="0" bIns="0" rtlCol="0" anchor="ctr"/>
          <a:lstStyle/>
          <a:p>
            <a:pPr marL="0" indent="0" algn="ctr">
              <a:buNone/>
            </a:pPr>
            <a:r>
              <a:rPr lang="en-US" sz="900" b="1" dirty="0">
                <a:solidFill>
                  <a:srgbClr val="0032A0"/>
                </a:solidFill>
                <a:latin typeface="Aptos" pitchFamily="34" charset="0"/>
                <a:ea typeface="Aptos" pitchFamily="34" charset="-122"/>
                <a:cs typeface="Aptos" pitchFamily="34" charset="-120"/>
              </a:rPr>
              <a:t>CALCULATION</a:t>
            </a:r>
            <a:endParaRPr lang="en-US" sz="900" dirty="0"/>
          </a:p>
        </p:txBody>
      </p:sp>
      <p:sp>
        <p:nvSpPr>
          <p:cNvPr id="48" name="Text 46"/>
          <p:cNvSpPr/>
          <p:nvPr/>
        </p:nvSpPr>
        <p:spPr>
          <a:xfrm>
            <a:off x="7589520" y="4041648"/>
            <a:ext cx="4087368" cy="219456"/>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Break-even RASK = CASK</a:t>
            </a:r>
            <a:endParaRPr lang="en-US" sz="1050" dirty="0"/>
          </a:p>
        </p:txBody>
      </p:sp>
      <p:sp>
        <p:nvSpPr>
          <p:cNvPr id="49" name="Text 47"/>
          <p:cNvSpPr/>
          <p:nvPr/>
        </p:nvSpPr>
        <p:spPr>
          <a:xfrm>
            <a:off x="6419088" y="4315968"/>
            <a:ext cx="5257800" cy="402336"/>
          </a:xfrm>
          <a:prstGeom prst="rect">
            <a:avLst/>
          </a:prstGeom>
          <a:noFill/>
          <a:ln/>
        </p:spPr>
        <p:txBody>
          <a:bodyPr wrap="square" lIns="0" tIns="0" rIns="0" bIns="0" rtlCol="0" anchor="t"/>
          <a:lstStyle/>
          <a:p>
            <a:pPr marL="0" indent="0">
              <a:buNone/>
            </a:pPr>
            <a:r>
              <a:rPr lang="en-US" sz="1000" dirty="0">
                <a:solidFill>
                  <a:srgbClr val="46577A"/>
                </a:solidFill>
                <a:latin typeface="Aptos" pitchFamily="34" charset="0"/>
                <a:ea typeface="Aptos" pitchFamily="34" charset="-122"/>
                <a:cs typeface="Aptos" pitchFamily="34" charset="-120"/>
              </a:rPr>
              <a:t>FY2026 break-even Rs. 5.00 vs actual RASK Rs. 4.99 -&gt; gap -Rs. 0.01/ASK (-0.20%)</a:t>
            </a:r>
            <a:endParaRPr lang="en-US" sz="1000" dirty="0"/>
          </a:p>
        </p:txBody>
      </p:sp>
      <p:sp>
        <p:nvSpPr>
          <p:cNvPr id="50" name="Shape 48"/>
          <p:cNvSpPr/>
          <p:nvPr/>
        </p:nvSpPr>
        <p:spPr>
          <a:xfrm>
            <a:off x="6419088" y="4846320"/>
            <a:ext cx="1044245" cy="173736"/>
          </a:xfrm>
          <a:prstGeom prst="rect">
            <a:avLst/>
          </a:prstGeom>
          <a:solidFill>
            <a:srgbClr val="FFFFFF"/>
          </a:solidFill>
          <a:ln w="9525">
            <a:solidFill>
              <a:srgbClr val="0032A0"/>
            </a:solidFill>
            <a:prstDash val="solid"/>
          </a:ln>
        </p:spPr>
      </p:sp>
      <p:sp>
        <p:nvSpPr>
          <p:cNvPr id="51" name="Text 49"/>
          <p:cNvSpPr/>
          <p:nvPr/>
        </p:nvSpPr>
        <p:spPr>
          <a:xfrm>
            <a:off x="6419088" y="4846320"/>
            <a:ext cx="1044245" cy="173736"/>
          </a:xfrm>
          <a:prstGeom prst="rect">
            <a:avLst/>
          </a:prstGeom>
          <a:noFill/>
          <a:ln/>
        </p:spPr>
        <p:txBody>
          <a:bodyPr wrap="square" lIns="0" tIns="0" rIns="0" bIns="0" rtlCol="0" anchor="ctr"/>
          <a:lstStyle/>
          <a:p>
            <a:pPr marL="0" indent="0" algn="ctr">
              <a:buNone/>
            </a:pPr>
            <a:r>
              <a:rPr lang="en-US" sz="900" b="1" dirty="0">
                <a:solidFill>
                  <a:srgbClr val="0032A0"/>
                </a:solidFill>
                <a:latin typeface="Aptos" pitchFamily="34" charset="0"/>
                <a:ea typeface="Aptos" pitchFamily="34" charset="-122"/>
                <a:cs typeface="Aptos" pitchFamily="34" charset="-120"/>
              </a:rPr>
              <a:t>CALCULATION</a:t>
            </a:r>
            <a:endParaRPr lang="en-US" sz="900" dirty="0"/>
          </a:p>
        </p:txBody>
      </p:sp>
      <p:sp>
        <p:nvSpPr>
          <p:cNvPr id="52" name="Text 50"/>
          <p:cNvSpPr/>
          <p:nvPr/>
        </p:nvSpPr>
        <p:spPr>
          <a:xfrm>
            <a:off x="7589520" y="4828032"/>
            <a:ext cx="4087368" cy="219456"/>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RASK coverage = RASK / CASK * 100</a:t>
            </a:r>
            <a:endParaRPr lang="en-US" sz="1050" dirty="0"/>
          </a:p>
        </p:txBody>
      </p:sp>
      <p:sp>
        <p:nvSpPr>
          <p:cNvPr id="53" name="Text 51"/>
          <p:cNvSpPr/>
          <p:nvPr/>
        </p:nvSpPr>
        <p:spPr>
          <a:xfrm>
            <a:off x="6419088" y="5102352"/>
            <a:ext cx="5257800" cy="402336"/>
          </a:xfrm>
          <a:prstGeom prst="rect">
            <a:avLst/>
          </a:prstGeom>
          <a:noFill/>
          <a:ln/>
        </p:spPr>
        <p:txBody>
          <a:bodyPr wrap="square" lIns="0" tIns="0" rIns="0" bIns="0" rtlCol="0" anchor="t"/>
          <a:lstStyle/>
          <a:p>
            <a:pPr marL="0" indent="0">
              <a:buNone/>
            </a:pPr>
            <a:r>
              <a:rPr lang="en-US" sz="1000" dirty="0">
                <a:solidFill>
                  <a:srgbClr val="46577A"/>
                </a:solidFill>
                <a:latin typeface="Aptos" pitchFamily="34" charset="0"/>
                <a:ea typeface="Aptos" pitchFamily="34" charset="-122"/>
                <a:cs typeface="Aptos" pitchFamily="34" charset="-120"/>
              </a:rPr>
              <a:t>110.3% (FY2025)  -&gt;  99.8% (FY2026)</a:t>
            </a:r>
            <a:endParaRPr lang="en-US" sz="1000" dirty="0"/>
          </a:p>
        </p:txBody>
      </p:sp>
      <p:sp>
        <p:nvSpPr>
          <p:cNvPr id="54" name="Shape 52"/>
          <p:cNvSpPr/>
          <p:nvPr/>
        </p:nvSpPr>
        <p:spPr>
          <a:xfrm>
            <a:off x="502920" y="5760720"/>
            <a:ext cx="11185855" cy="402336"/>
          </a:xfrm>
          <a:prstGeom prst="rect">
            <a:avLst/>
          </a:prstGeom>
          <a:solidFill>
            <a:srgbClr val="FFFFFF"/>
          </a:solidFill>
          <a:ln w="9525">
            <a:solidFill>
              <a:srgbClr val="6B7280"/>
            </a:solidFill>
            <a:prstDash val="dash"/>
          </a:ln>
        </p:spPr>
      </p:sp>
      <p:sp>
        <p:nvSpPr>
          <p:cNvPr id="55" name="Shape 53"/>
          <p:cNvSpPr/>
          <p:nvPr/>
        </p:nvSpPr>
        <p:spPr>
          <a:xfrm>
            <a:off x="594360" y="5875020"/>
            <a:ext cx="1344168" cy="173736"/>
          </a:xfrm>
          <a:prstGeom prst="rect">
            <a:avLst/>
          </a:prstGeom>
          <a:solidFill>
            <a:srgbClr val="FFFFFF"/>
          </a:solidFill>
          <a:ln w="9525">
            <a:solidFill>
              <a:srgbClr val="6B7280"/>
            </a:solidFill>
            <a:prstDash val="dash"/>
          </a:ln>
        </p:spPr>
      </p:sp>
      <p:sp>
        <p:nvSpPr>
          <p:cNvPr id="56" name="Text 54"/>
          <p:cNvSpPr/>
          <p:nvPr/>
        </p:nvSpPr>
        <p:spPr>
          <a:xfrm>
            <a:off x="594360" y="5875020"/>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57" name="Text 55"/>
          <p:cNvSpPr/>
          <p:nvPr/>
        </p:nvSpPr>
        <p:spPr>
          <a:xfrm>
            <a:off x="2048256" y="5797296"/>
            <a:ext cx="9530791" cy="329184"/>
          </a:xfrm>
          <a:prstGeom prst="rect">
            <a:avLst/>
          </a:prstGeom>
          <a:noFill/>
          <a:ln/>
        </p:spPr>
        <p:txBody>
          <a:bodyPr wrap="square" lIns="0" tIns="0" rIns="0" bIns="0" rtlCol="0" anchor="ctr"/>
          <a:lstStyle/>
          <a:p>
            <a:r>
              <a:rPr lang="en-IN" sz="1000" b="1" dirty="0"/>
              <a:t>FY2025 CASK comparator varies between Rs. 4.65 and Rs. 4.66 across source extracts; discrepancy retained.</a:t>
            </a:r>
            <a:endParaRPr lang="en-US" sz="950" b="1" dirty="0"/>
          </a:p>
        </p:txBody>
      </p:sp>
      <p:sp>
        <p:nvSpPr>
          <p:cNvPr id="58" name="Shape 56"/>
          <p:cNvSpPr/>
          <p:nvPr/>
        </p:nvSpPr>
        <p:spPr>
          <a:xfrm>
            <a:off x="502920" y="6309360"/>
            <a:ext cx="11185855" cy="5486"/>
          </a:xfrm>
          <a:prstGeom prst="rect">
            <a:avLst/>
          </a:prstGeom>
          <a:solidFill>
            <a:srgbClr val="C9D8F2"/>
          </a:solidFill>
          <a:ln/>
        </p:spPr>
      </p:sp>
      <p:sp>
        <p:nvSpPr>
          <p:cNvPr id="59" name="Text 57"/>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60" name="Text 58"/>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SRC-FY26-002 - SRC-FY26-006 - EVD-FIN-UE-003/004 - CALC-FIN-004 - 10_Validated_Exhibits_Charts Sec. 10.1.1</a:t>
            </a:r>
            <a:endParaRPr lang="en-US" sz="800" dirty="0"/>
          </a:p>
        </p:txBody>
      </p:sp>
      <p:sp>
        <p:nvSpPr>
          <p:cNvPr id="61" name="Shape 59"/>
          <p:cNvSpPr/>
          <p:nvPr/>
        </p:nvSpPr>
        <p:spPr>
          <a:xfrm>
            <a:off x="11484864" y="6364224"/>
            <a:ext cx="201168" cy="201168"/>
          </a:xfrm>
          <a:prstGeom prst="rect">
            <a:avLst/>
          </a:prstGeom>
          <a:solidFill>
            <a:srgbClr val="0032A0"/>
          </a:solidFill>
          <a:ln/>
        </p:spPr>
      </p:sp>
      <p:sp>
        <p:nvSpPr>
          <p:cNvPr id="62" name="Text 60"/>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07 - THE DIAGNOSIS</a:t>
            </a:r>
            <a:endParaRPr lang="en-US" sz="1000" dirty="0"/>
          </a:p>
        </p:txBody>
      </p:sp>
      <p:sp>
        <p:nvSpPr>
          <p:cNvPr id="3" name="Shape 1"/>
          <p:cNvSpPr/>
          <p:nvPr/>
        </p:nvSpPr>
        <p:spPr>
          <a:xfrm>
            <a:off x="502920" y="571500"/>
            <a:ext cx="1463040" cy="45720"/>
          </a:xfrm>
          <a:prstGeom prst="rect">
            <a:avLst/>
          </a:prstGeom>
          <a:solidFill>
            <a:srgbClr val="0032A0"/>
          </a:solidFill>
          <a:ln/>
        </p:spPr>
      </p:sp>
      <p:sp>
        <p:nvSpPr>
          <p:cNvPr id="4" name="Text 2"/>
          <p:cNvSpPr/>
          <p:nvPr/>
        </p:nvSpPr>
        <p:spPr>
          <a:xfrm>
            <a:off x="502920" y="603504"/>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Non-fuel cost, not fuel, drove the FY2026 cost squeeze</a:t>
            </a:r>
            <a:endParaRPr lang="en-US" sz="2250" dirty="0"/>
          </a:p>
        </p:txBody>
      </p:sp>
      <p:sp>
        <p:nvSpPr>
          <p:cNvPr id="5" name="Text 3"/>
          <p:cNvSpPr/>
          <p:nvPr/>
        </p:nvSpPr>
        <p:spPr>
          <a:xfrm>
            <a:off x="502920" y="1444752"/>
            <a:ext cx="64008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CASK DECOMPOSITION - EACH STEP NARROWS THE PROBLEM</a:t>
            </a:r>
            <a:endParaRPr lang="en-US" sz="1000" dirty="0"/>
          </a:p>
        </p:txBody>
      </p:sp>
      <p:sp>
        <p:nvSpPr>
          <p:cNvPr id="6" name="Shape 4"/>
          <p:cNvSpPr/>
          <p:nvPr/>
        </p:nvSpPr>
        <p:spPr>
          <a:xfrm>
            <a:off x="3886200" y="1755648"/>
            <a:ext cx="10973" cy="3054096"/>
          </a:xfrm>
          <a:prstGeom prst="rect">
            <a:avLst/>
          </a:prstGeom>
          <a:solidFill>
            <a:srgbClr val="C9D8F2"/>
          </a:solidFill>
          <a:ln/>
        </p:spPr>
      </p:sp>
      <p:sp>
        <p:nvSpPr>
          <p:cNvPr id="7" name="Text 5"/>
          <p:cNvSpPr/>
          <p:nvPr/>
        </p:nvSpPr>
        <p:spPr>
          <a:xfrm>
            <a:off x="502920" y="1883664"/>
            <a:ext cx="1554480" cy="420624"/>
          </a:xfrm>
          <a:prstGeom prst="rect">
            <a:avLst/>
          </a:prstGeom>
          <a:noFill/>
          <a:ln/>
        </p:spPr>
        <p:txBody>
          <a:bodyPr wrap="square" lIns="0" tIns="0" rIns="0" bIns="0" rtlCol="0" anchor="ctr"/>
          <a:lstStyle/>
          <a:p>
            <a:pPr marL="0" indent="0" algn="r">
              <a:buNone/>
            </a:pPr>
            <a:r>
              <a:rPr lang="en-US" sz="1050" b="1" dirty="0">
                <a:solidFill>
                  <a:srgbClr val="041E47"/>
                </a:solidFill>
                <a:latin typeface="Aptos" pitchFamily="34" charset="0"/>
                <a:ea typeface="Aptos" pitchFamily="34" charset="-122"/>
                <a:cs typeface="Aptos" pitchFamily="34" charset="-120"/>
              </a:rPr>
              <a:t>CASK</a:t>
            </a:r>
            <a:endParaRPr lang="en-US" sz="1050" dirty="0"/>
          </a:p>
        </p:txBody>
      </p:sp>
      <p:sp>
        <p:nvSpPr>
          <p:cNvPr id="8" name="Shape 6"/>
          <p:cNvSpPr/>
          <p:nvPr/>
        </p:nvSpPr>
        <p:spPr>
          <a:xfrm>
            <a:off x="3886200" y="1929384"/>
            <a:ext cx="1020470" cy="329184"/>
          </a:xfrm>
          <a:prstGeom prst="rect">
            <a:avLst/>
          </a:prstGeom>
          <a:solidFill>
            <a:srgbClr val="041E47"/>
          </a:solidFill>
          <a:ln/>
        </p:spPr>
      </p:sp>
      <p:sp>
        <p:nvSpPr>
          <p:cNvPr id="9" name="Text 7"/>
          <p:cNvSpPr/>
          <p:nvPr/>
        </p:nvSpPr>
        <p:spPr>
          <a:xfrm>
            <a:off x="4979822" y="1929384"/>
            <a:ext cx="777240" cy="329184"/>
          </a:xfrm>
          <a:prstGeom prst="rect">
            <a:avLst/>
          </a:prstGeom>
          <a:noFill/>
          <a:ln/>
        </p:spPr>
        <p:txBody>
          <a:bodyPr wrap="square" lIns="0" tIns="0" rIns="0" bIns="0" rtlCol="0" anchor="ctr"/>
          <a:lstStyle/>
          <a:p>
            <a:pPr marL="0" indent="0" algn="l">
              <a:buNone/>
            </a:pPr>
            <a:r>
              <a:rPr lang="en-US" sz="1400" b="1" dirty="0">
                <a:solidFill>
                  <a:srgbClr val="041E47"/>
                </a:solidFill>
                <a:latin typeface="Aptos Display" pitchFamily="34" charset="0"/>
                <a:ea typeface="Aptos Display" pitchFamily="34" charset="-122"/>
                <a:cs typeface="Aptos Display" pitchFamily="34" charset="-120"/>
              </a:rPr>
              <a:t>+7.2%</a:t>
            </a:r>
            <a:endParaRPr lang="en-US" sz="1400" dirty="0"/>
          </a:p>
        </p:txBody>
      </p:sp>
      <p:sp>
        <p:nvSpPr>
          <p:cNvPr id="10" name="Text 8"/>
          <p:cNvSpPr/>
          <p:nvPr/>
        </p:nvSpPr>
        <p:spPr>
          <a:xfrm>
            <a:off x="502920" y="2249424"/>
            <a:ext cx="1554480" cy="201168"/>
          </a:xfrm>
          <a:prstGeom prst="rect">
            <a:avLst/>
          </a:prstGeom>
          <a:noFill/>
          <a:ln/>
        </p:spPr>
        <p:txBody>
          <a:bodyPr wrap="square" lIns="0" tIns="0" rIns="0" bIns="0" rtlCol="0" anchor="ctr"/>
          <a:lstStyle/>
          <a:p>
            <a:pPr marL="0" indent="0" algn="r">
              <a:buNone/>
            </a:pPr>
            <a:r>
              <a:rPr lang="en-US" sz="900" dirty="0">
                <a:solidFill>
                  <a:srgbClr val="6B7280"/>
                </a:solidFill>
                <a:latin typeface="Aptos" pitchFamily="34" charset="0"/>
                <a:ea typeface="Aptos" pitchFamily="34" charset="-122"/>
                <a:cs typeface="Aptos" pitchFamily="34" charset="-120"/>
              </a:rPr>
              <a:t>Rs. 5.00/ASK</a:t>
            </a:r>
            <a:endParaRPr lang="en-US" sz="900" dirty="0"/>
          </a:p>
        </p:txBody>
      </p:sp>
      <p:sp>
        <p:nvSpPr>
          <p:cNvPr id="11" name="Text 9"/>
          <p:cNvSpPr/>
          <p:nvPr/>
        </p:nvSpPr>
        <p:spPr>
          <a:xfrm>
            <a:off x="502920" y="2615184"/>
            <a:ext cx="1554480" cy="420624"/>
          </a:xfrm>
          <a:prstGeom prst="rect">
            <a:avLst/>
          </a:prstGeom>
          <a:noFill/>
          <a:ln/>
        </p:spPr>
        <p:txBody>
          <a:bodyPr wrap="square" lIns="0" tIns="0" rIns="0" bIns="0" rtlCol="0" anchor="ctr"/>
          <a:lstStyle/>
          <a:p>
            <a:pPr marL="0" indent="0" algn="r">
              <a:buNone/>
            </a:pPr>
            <a:r>
              <a:rPr lang="en-US" sz="1050" b="1" dirty="0">
                <a:solidFill>
                  <a:srgbClr val="041E47"/>
                </a:solidFill>
                <a:latin typeface="Aptos" pitchFamily="34" charset="0"/>
                <a:ea typeface="Aptos" pitchFamily="34" charset="-122"/>
                <a:cs typeface="Aptos" pitchFamily="34" charset="-120"/>
              </a:rPr>
              <a:t>Fuel CASK</a:t>
            </a:r>
            <a:endParaRPr lang="en-US" sz="1050" dirty="0"/>
          </a:p>
        </p:txBody>
      </p:sp>
      <p:sp>
        <p:nvSpPr>
          <p:cNvPr id="12" name="Shape 10"/>
          <p:cNvSpPr/>
          <p:nvPr/>
        </p:nvSpPr>
        <p:spPr>
          <a:xfrm>
            <a:off x="2256282" y="2660904"/>
            <a:ext cx="1629918" cy="329184"/>
          </a:xfrm>
          <a:prstGeom prst="rect">
            <a:avLst/>
          </a:prstGeom>
          <a:solidFill>
            <a:srgbClr val="0E8A7A"/>
          </a:solidFill>
          <a:ln/>
        </p:spPr>
      </p:sp>
      <p:sp>
        <p:nvSpPr>
          <p:cNvPr id="13" name="Text 11"/>
          <p:cNvSpPr/>
          <p:nvPr/>
        </p:nvSpPr>
        <p:spPr>
          <a:xfrm>
            <a:off x="2329434" y="2660904"/>
            <a:ext cx="1483614" cy="329184"/>
          </a:xfrm>
          <a:prstGeom prst="rect">
            <a:avLst/>
          </a:prstGeom>
          <a:noFill/>
          <a:ln/>
        </p:spPr>
        <p:txBody>
          <a:bodyPr wrap="square" lIns="0" tIns="0" rIns="0" bIns="0" rtlCol="0" anchor="ctr"/>
          <a:lstStyle/>
          <a:p>
            <a:pPr marL="0" indent="0" algn="l">
              <a:buNone/>
            </a:pPr>
            <a:r>
              <a:rPr lang="en-US" sz="1400" b="1" dirty="0">
                <a:solidFill>
                  <a:srgbClr val="FFFFFF"/>
                </a:solidFill>
                <a:latin typeface="Aptos Display" pitchFamily="34" charset="0"/>
                <a:ea typeface="Aptos Display" pitchFamily="34" charset="-122"/>
                <a:cs typeface="Aptos Display" pitchFamily="34" charset="-120"/>
              </a:rPr>
              <a:t>-11.5%</a:t>
            </a:r>
            <a:endParaRPr lang="en-US" sz="1400" dirty="0"/>
          </a:p>
        </p:txBody>
      </p:sp>
      <p:sp>
        <p:nvSpPr>
          <p:cNvPr id="14" name="Text 12"/>
          <p:cNvSpPr/>
          <p:nvPr/>
        </p:nvSpPr>
        <p:spPr>
          <a:xfrm>
            <a:off x="502920" y="2980944"/>
            <a:ext cx="1554480" cy="201168"/>
          </a:xfrm>
          <a:prstGeom prst="rect">
            <a:avLst/>
          </a:prstGeom>
          <a:noFill/>
          <a:ln/>
        </p:spPr>
        <p:txBody>
          <a:bodyPr wrap="square" lIns="0" tIns="0" rIns="0" bIns="0" rtlCol="0" anchor="ctr"/>
          <a:lstStyle/>
          <a:p>
            <a:pPr marL="0" indent="0" algn="r">
              <a:buNone/>
            </a:pPr>
            <a:r>
              <a:rPr lang="en-US" sz="900" dirty="0">
                <a:solidFill>
                  <a:srgbClr val="6B7280"/>
                </a:solidFill>
                <a:latin typeface="Aptos" pitchFamily="34" charset="0"/>
                <a:ea typeface="Aptos" pitchFamily="34" charset="-122"/>
                <a:cs typeface="Aptos" pitchFamily="34" charset="-120"/>
              </a:rPr>
              <a:t>Rs. 1.47/ASK</a:t>
            </a:r>
            <a:endParaRPr lang="en-US" sz="900" dirty="0"/>
          </a:p>
        </p:txBody>
      </p:sp>
      <p:sp>
        <p:nvSpPr>
          <p:cNvPr id="15" name="Text 13"/>
          <p:cNvSpPr/>
          <p:nvPr/>
        </p:nvSpPr>
        <p:spPr>
          <a:xfrm>
            <a:off x="502920" y="3346704"/>
            <a:ext cx="1554480" cy="420624"/>
          </a:xfrm>
          <a:prstGeom prst="rect">
            <a:avLst/>
          </a:prstGeom>
          <a:noFill/>
          <a:ln/>
        </p:spPr>
        <p:txBody>
          <a:bodyPr wrap="square" lIns="0" tIns="0" rIns="0" bIns="0" rtlCol="0" anchor="ctr"/>
          <a:lstStyle/>
          <a:p>
            <a:pPr marL="0" indent="0" algn="r">
              <a:buNone/>
            </a:pPr>
            <a:r>
              <a:rPr lang="en-US" sz="1050" b="1" dirty="0">
                <a:solidFill>
                  <a:srgbClr val="041E47"/>
                </a:solidFill>
                <a:latin typeface="Aptos" pitchFamily="34" charset="0"/>
                <a:ea typeface="Aptos" pitchFamily="34" charset="-122"/>
                <a:cs typeface="Aptos" pitchFamily="34" charset="-120"/>
              </a:rPr>
              <a:t>CASK ex-fuel</a:t>
            </a:r>
            <a:endParaRPr lang="en-US" sz="1050" dirty="0"/>
          </a:p>
        </p:txBody>
      </p:sp>
      <p:sp>
        <p:nvSpPr>
          <p:cNvPr id="16" name="Shape 14"/>
          <p:cNvSpPr/>
          <p:nvPr/>
        </p:nvSpPr>
        <p:spPr>
          <a:xfrm>
            <a:off x="3886200" y="3392424"/>
            <a:ext cx="2494483" cy="329184"/>
          </a:xfrm>
          <a:prstGeom prst="rect">
            <a:avLst/>
          </a:prstGeom>
          <a:solidFill>
            <a:srgbClr val="C43F2E"/>
          </a:solidFill>
          <a:ln/>
        </p:spPr>
      </p:sp>
      <p:sp>
        <p:nvSpPr>
          <p:cNvPr id="17" name="Text 15"/>
          <p:cNvSpPr/>
          <p:nvPr/>
        </p:nvSpPr>
        <p:spPr>
          <a:xfrm>
            <a:off x="6453835" y="3392424"/>
            <a:ext cx="777240" cy="329184"/>
          </a:xfrm>
          <a:prstGeom prst="rect">
            <a:avLst/>
          </a:prstGeom>
          <a:noFill/>
          <a:ln/>
        </p:spPr>
        <p:txBody>
          <a:bodyPr wrap="square" lIns="0" tIns="0" rIns="0" bIns="0" rtlCol="0" anchor="ctr"/>
          <a:lstStyle/>
          <a:p>
            <a:pPr marL="0" indent="0" algn="l">
              <a:buNone/>
            </a:pPr>
            <a:r>
              <a:rPr lang="en-US" sz="1400" b="1" dirty="0">
                <a:solidFill>
                  <a:srgbClr val="C43F2E"/>
                </a:solidFill>
                <a:latin typeface="Aptos Display" pitchFamily="34" charset="0"/>
                <a:ea typeface="Aptos Display" pitchFamily="34" charset="-122"/>
                <a:cs typeface="Aptos Display" pitchFamily="34" charset="-120"/>
              </a:rPr>
              <a:t>+17.6%</a:t>
            </a:r>
            <a:endParaRPr lang="en-US" sz="1400" dirty="0"/>
          </a:p>
        </p:txBody>
      </p:sp>
      <p:sp>
        <p:nvSpPr>
          <p:cNvPr id="18" name="Text 16"/>
          <p:cNvSpPr/>
          <p:nvPr/>
        </p:nvSpPr>
        <p:spPr>
          <a:xfrm>
            <a:off x="502920" y="3712464"/>
            <a:ext cx="1554480" cy="201168"/>
          </a:xfrm>
          <a:prstGeom prst="rect">
            <a:avLst/>
          </a:prstGeom>
          <a:noFill/>
          <a:ln/>
        </p:spPr>
        <p:txBody>
          <a:bodyPr wrap="square" lIns="0" tIns="0" rIns="0" bIns="0" rtlCol="0" anchor="ctr"/>
          <a:lstStyle/>
          <a:p>
            <a:pPr marL="0" indent="0" algn="r">
              <a:buNone/>
            </a:pPr>
            <a:r>
              <a:rPr lang="en-US" sz="900" dirty="0">
                <a:solidFill>
                  <a:srgbClr val="6B7280"/>
                </a:solidFill>
                <a:latin typeface="Aptos" pitchFamily="34" charset="0"/>
                <a:ea typeface="Aptos" pitchFamily="34" charset="-122"/>
                <a:cs typeface="Aptos" pitchFamily="34" charset="-120"/>
              </a:rPr>
              <a:t>Rs. 3.52/ASK</a:t>
            </a:r>
            <a:endParaRPr lang="en-US" sz="900" dirty="0"/>
          </a:p>
        </p:txBody>
      </p:sp>
      <p:sp>
        <p:nvSpPr>
          <p:cNvPr id="19" name="Text 17"/>
          <p:cNvSpPr/>
          <p:nvPr/>
        </p:nvSpPr>
        <p:spPr>
          <a:xfrm>
            <a:off x="502920" y="4078224"/>
            <a:ext cx="1554480" cy="420624"/>
          </a:xfrm>
          <a:prstGeom prst="rect">
            <a:avLst/>
          </a:prstGeom>
          <a:noFill/>
          <a:ln/>
        </p:spPr>
        <p:txBody>
          <a:bodyPr wrap="square" lIns="0" tIns="0" rIns="0" bIns="0" rtlCol="0" anchor="ctr"/>
          <a:lstStyle/>
          <a:p>
            <a:pPr marL="0" indent="0" algn="r">
              <a:buNone/>
            </a:pPr>
            <a:r>
              <a:rPr lang="en-US" sz="1050" b="1" dirty="0">
                <a:solidFill>
                  <a:srgbClr val="041E47"/>
                </a:solidFill>
                <a:latin typeface="Aptos" pitchFamily="34" charset="0"/>
                <a:ea typeface="Aptos" pitchFamily="34" charset="-122"/>
                <a:cs typeface="Aptos" pitchFamily="34" charset="-120"/>
              </a:rPr>
              <a:t>CASK ex-fuel &amp; FX</a:t>
            </a:r>
            <a:endParaRPr lang="en-US" sz="1050" dirty="0"/>
          </a:p>
        </p:txBody>
      </p:sp>
      <p:sp>
        <p:nvSpPr>
          <p:cNvPr id="20" name="Shape 18"/>
          <p:cNvSpPr/>
          <p:nvPr/>
        </p:nvSpPr>
        <p:spPr>
          <a:xfrm>
            <a:off x="3886200" y="4123944"/>
            <a:ext cx="538582" cy="329184"/>
          </a:xfrm>
          <a:prstGeom prst="rect">
            <a:avLst/>
          </a:prstGeom>
          <a:solidFill>
            <a:srgbClr val="2F6BD8"/>
          </a:solidFill>
          <a:ln/>
        </p:spPr>
      </p:sp>
      <p:sp>
        <p:nvSpPr>
          <p:cNvPr id="21" name="Text 19"/>
          <p:cNvSpPr/>
          <p:nvPr/>
        </p:nvSpPr>
        <p:spPr>
          <a:xfrm>
            <a:off x="4497934" y="4123944"/>
            <a:ext cx="777240" cy="329184"/>
          </a:xfrm>
          <a:prstGeom prst="rect">
            <a:avLst/>
          </a:prstGeom>
          <a:noFill/>
          <a:ln/>
        </p:spPr>
        <p:txBody>
          <a:bodyPr wrap="square" lIns="0" tIns="0" rIns="0" bIns="0" rtlCol="0" anchor="ctr"/>
          <a:lstStyle/>
          <a:p>
            <a:pPr marL="0" indent="0" algn="l">
              <a:buNone/>
            </a:pPr>
            <a:r>
              <a:rPr lang="en-US" sz="1400" b="1" dirty="0">
                <a:solidFill>
                  <a:srgbClr val="2F6BD8"/>
                </a:solidFill>
                <a:latin typeface="Aptos Display" pitchFamily="34" charset="0"/>
                <a:ea typeface="Aptos Display" pitchFamily="34" charset="-122"/>
                <a:cs typeface="Aptos Display" pitchFamily="34" charset="-120"/>
              </a:rPr>
              <a:t>+3.8%</a:t>
            </a:r>
            <a:endParaRPr lang="en-US" sz="1400" dirty="0"/>
          </a:p>
        </p:txBody>
      </p:sp>
      <p:sp>
        <p:nvSpPr>
          <p:cNvPr id="22" name="Text 20"/>
          <p:cNvSpPr/>
          <p:nvPr/>
        </p:nvSpPr>
        <p:spPr>
          <a:xfrm>
            <a:off x="502920" y="4443984"/>
            <a:ext cx="1554480" cy="201168"/>
          </a:xfrm>
          <a:prstGeom prst="rect">
            <a:avLst/>
          </a:prstGeom>
          <a:noFill/>
          <a:ln/>
        </p:spPr>
        <p:txBody>
          <a:bodyPr wrap="square" lIns="0" tIns="0" rIns="0" bIns="0" rtlCol="0" anchor="ctr"/>
          <a:lstStyle/>
          <a:p>
            <a:pPr marL="0" indent="0" algn="r">
              <a:buNone/>
            </a:pPr>
            <a:r>
              <a:rPr lang="en-US" sz="900" dirty="0">
                <a:solidFill>
                  <a:srgbClr val="6B7280"/>
                </a:solidFill>
                <a:latin typeface="Aptos" pitchFamily="34" charset="0"/>
                <a:ea typeface="Aptos" pitchFamily="34" charset="-122"/>
                <a:cs typeface="Aptos" pitchFamily="34" charset="-120"/>
              </a:rPr>
              <a:t>Rs. 3.00/ASK</a:t>
            </a:r>
            <a:endParaRPr lang="en-US" sz="900" dirty="0"/>
          </a:p>
        </p:txBody>
      </p:sp>
      <p:sp>
        <p:nvSpPr>
          <p:cNvPr id="23" name="Shape 21"/>
          <p:cNvSpPr/>
          <p:nvPr/>
        </p:nvSpPr>
        <p:spPr>
          <a:xfrm>
            <a:off x="7297804" y="3567989"/>
            <a:ext cx="10973" cy="731520"/>
          </a:xfrm>
          <a:prstGeom prst="rect">
            <a:avLst/>
          </a:prstGeom>
          <a:solidFill>
            <a:srgbClr val="6B7280"/>
          </a:solidFill>
          <a:ln/>
        </p:spPr>
      </p:sp>
      <p:sp>
        <p:nvSpPr>
          <p:cNvPr id="24" name="Shape 22"/>
          <p:cNvSpPr/>
          <p:nvPr/>
        </p:nvSpPr>
        <p:spPr>
          <a:xfrm>
            <a:off x="7242048" y="3557016"/>
            <a:ext cx="128016" cy="10973"/>
          </a:xfrm>
          <a:prstGeom prst="rect">
            <a:avLst/>
          </a:prstGeom>
          <a:solidFill>
            <a:srgbClr val="6B7280"/>
          </a:solidFill>
          <a:ln/>
        </p:spPr>
      </p:sp>
      <p:sp>
        <p:nvSpPr>
          <p:cNvPr id="25" name="Shape 23"/>
          <p:cNvSpPr/>
          <p:nvPr/>
        </p:nvSpPr>
        <p:spPr>
          <a:xfrm>
            <a:off x="7242048" y="4288536"/>
            <a:ext cx="128016" cy="10973"/>
          </a:xfrm>
          <a:prstGeom prst="rect">
            <a:avLst/>
          </a:prstGeom>
          <a:solidFill>
            <a:srgbClr val="6B7280"/>
          </a:solidFill>
          <a:ln/>
        </p:spPr>
      </p:sp>
      <p:sp>
        <p:nvSpPr>
          <p:cNvPr id="27" name="Text 25"/>
          <p:cNvSpPr/>
          <p:nvPr/>
        </p:nvSpPr>
        <p:spPr>
          <a:xfrm>
            <a:off x="6382512" y="4562856"/>
            <a:ext cx="1737360" cy="384048"/>
          </a:xfrm>
          <a:prstGeom prst="rect">
            <a:avLst/>
          </a:prstGeom>
          <a:noFill/>
          <a:ln/>
        </p:spPr>
        <p:txBody>
          <a:bodyPr wrap="square" lIns="0" tIns="0" rIns="0" bIns="0" rtlCol="0" anchor="ctr"/>
          <a:lstStyle/>
          <a:p>
            <a:pPr marL="0" indent="0" algn="ctr">
              <a:buNone/>
            </a:pPr>
            <a:endParaRPr lang="en-US" sz="850" dirty="0"/>
          </a:p>
        </p:txBody>
      </p:sp>
      <p:sp>
        <p:nvSpPr>
          <p:cNvPr id="28" name="Shape 26"/>
          <p:cNvSpPr/>
          <p:nvPr/>
        </p:nvSpPr>
        <p:spPr>
          <a:xfrm>
            <a:off x="8284464" y="1444752"/>
            <a:ext cx="5486" cy="3364992"/>
          </a:xfrm>
          <a:prstGeom prst="rect">
            <a:avLst/>
          </a:prstGeom>
          <a:solidFill>
            <a:srgbClr val="C9D8F2"/>
          </a:solidFill>
          <a:ln/>
        </p:spPr>
      </p:sp>
      <p:sp>
        <p:nvSpPr>
          <p:cNvPr id="29" name="Text 27"/>
          <p:cNvSpPr/>
          <p:nvPr/>
        </p:nvSpPr>
        <p:spPr>
          <a:xfrm>
            <a:off x="8503920" y="1444752"/>
            <a:ext cx="32004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IN ABSOLUTE TERMS</a:t>
            </a:r>
            <a:endParaRPr lang="en-US" sz="1000" dirty="0"/>
          </a:p>
        </p:txBody>
      </p:sp>
      <p:sp>
        <p:nvSpPr>
          <p:cNvPr id="30" name="Text 28"/>
          <p:cNvSpPr/>
          <p:nvPr/>
        </p:nvSpPr>
        <p:spPr>
          <a:xfrm>
            <a:off x="8503920" y="1755648"/>
            <a:ext cx="3182112" cy="219456"/>
          </a:xfrm>
          <a:prstGeom prst="rect">
            <a:avLst/>
          </a:prstGeom>
          <a:noFill/>
          <a:ln/>
        </p:spPr>
        <p:txBody>
          <a:bodyPr wrap="square" lIns="0" tIns="0" rIns="0" bIns="0" rtlCol="0" anchor="ctr"/>
          <a:lstStyle/>
          <a:p>
            <a:pPr marL="0" indent="0">
              <a:buNone/>
            </a:pPr>
            <a:r>
              <a:rPr lang="en-US" sz="1000" dirty="0">
                <a:solidFill>
                  <a:srgbClr val="46577A"/>
                </a:solidFill>
                <a:latin typeface="Aptos" pitchFamily="34" charset="0"/>
                <a:ea typeface="Aptos" pitchFamily="34" charset="-122"/>
                <a:cs typeface="Aptos" pitchFamily="34" charset="-120"/>
              </a:rPr>
              <a:t>Fuel cost</a:t>
            </a:r>
            <a:endParaRPr lang="en-US" sz="1000" dirty="0"/>
          </a:p>
        </p:txBody>
      </p:sp>
      <p:sp>
        <p:nvSpPr>
          <p:cNvPr id="31" name="Text 29"/>
          <p:cNvSpPr/>
          <p:nvPr/>
        </p:nvSpPr>
        <p:spPr>
          <a:xfrm>
            <a:off x="8503920" y="1956816"/>
            <a:ext cx="2194560" cy="237744"/>
          </a:xfrm>
          <a:prstGeom prst="rect">
            <a:avLst/>
          </a:prstGeom>
          <a:noFill/>
          <a:ln/>
        </p:spPr>
        <p:txBody>
          <a:bodyPr wrap="square" lIns="0" tIns="0" rIns="0" bIns="0" rtlCol="0" anchor="ctr"/>
          <a:lstStyle/>
          <a:p>
            <a:pPr marL="0" indent="0">
              <a:buNone/>
            </a:pPr>
            <a:r>
              <a:rPr lang="en-US" sz="1200" b="1" dirty="0">
                <a:solidFill>
                  <a:srgbClr val="041E47"/>
                </a:solidFill>
                <a:latin typeface="Aptos" pitchFamily="34" charset="0"/>
                <a:ea typeface="Aptos" pitchFamily="34" charset="-122"/>
                <a:cs typeface="Aptos" pitchFamily="34" charset="-120"/>
              </a:rPr>
              <a:t>Rs. 261.973B -&gt; Rs. 253.892B</a:t>
            </a:r>
            <a:endParaRPr lang="en-US" sz="1200" dirty="0"/>
          </a:p>
        </p:txBody>
      </p:sp>
      <p:sp>
        <p:nvSpPr>
          <p:cNvPr id="32" name="Text 30"/>
          <p:cNvSpPr/>
          <p:nvPr/>
        </p:nvSpPr>
        <p:spPr>
          <a:xfrm>
            <a:off x="10698480" y="1956816"/>
            <a:ext cx="987552" cy="237744"/>
          </a:xfrm>
          <a:prstGeom prst="rect">
            <a:avLst/>
          </a:prstGeom>
          <a:noFill/>
          <a:ln/>
        </p:spPr>
        <p:txBody>
          <a:bodyPr wrap="square" lIns="0" tIns="0" rIns="0" bIns="0" rtlCol="0" anchor="ctr"/>
          <a:lstStyle/>
          <a:p>
            <a:pPr marL="0" indent="0" algn="r">
              <a:buNone/>
            </a:pPr>
            <a:r>
              <a:rPr lang="en-US" sz="1100" b="1" dirty="0">
                <a:solidFill>
                  <a:srgbClr val="0E8A7A"/>
                </a:solidFill>
                <a:latin typeface="Aptos" pitchFamily="34" charset="0"/>
                <a:ea typeface="Aptos" pitchFamily="34" charset="-122"/>
                <a:cs typeface="Aptos" pitchFamily="34" charset="-120"/>
              </a:rPr>
              <a:t>-3.1%</a:t>
            </a:r>
            <a:endParaRPr lang="en-US" sz="1100" dirty="0"/>
          </a:p>
        </p:txBody>
      </p:sp>
      <p:sp>
        <p:nvSpPr>
          <p:cNvPr id="33" name="Text 31"/>
          <p:cNvSpPr/>
          <p:nvPr/>
        </p:nvSpPr>
        <p:spPr>
          <a:xfrm>
            <a:off x="8503920" y="2231136"/>
            <a:ext cx="3182112" cy="219456"/>
          </a:xfrm>
          <a:prstGeom prst="rect">
            <a:avLst/>
          </a:prstGeom>
          <a:noFill/>
          <a:ln/>
        </p:spPr>
        <p:txBody>
          <a:bodyPr wrap="square" lIns="0" tIns="0" rIns="0" bIns="0" rtlCol="0" anchor="ctr"/>
          <a:lstStyle/>
          <a:p>
            <a:pPr marL="0" indent="0">
              <a:buNone/>
            </a:pPr>
            <a:r>
              <a:rPr lang="en-US" sz="1000" dirty="0">
                <a:solidFill>
                  <a:srgbClr val="46577A"/>
                </a:solidFill>
                <a:latin typeface="Aptos" pitchFamily="34" charset="0"/>
                <a:ea typeface="Aptos" pitchFamily="34" charset="-122"/>
                <a:cs typeface="Aptos" pitchFamily="34" charset="-120"/>
              </a:rPr>
              <a:t>Non-fuel cost</a:t>
            </a:r>
            <a:endParaRPr lang="en-US" sz="1000" dirty="0"/>
          </a:p>
        </p:txBody>
      </p:sp>
      <p:sp>
        <p:nvSpPr>
          <p:cNvPr id="34" name="Text 32"/>
          <p:cNvSpPr/>
          <p:nvPr/>
        </p:nvSpPr>
        <p:spPr>
          <a:xfrm>
            <a:off x="8503920" y="2432304"/>
            <a:ext cx="2194560" cy="237744"/>
          </a:xfrm>
          <a:prstGeom prst="rect">
            <a:avLst/>
          </a:prstGeom>
          <a:noFill/>
          <a:ln/>
        </p:spPr>
        <p:txBody>
          <a:bodyPr wrap="square" lIns="0" tIns="0" rIns="0" bIns="0" rtlCol="0" anchor="ctr"/>
          <a:lstStyle/>
          <a:p>
            <a:pPr marL="0" indent="0">
              <a:buNone/>
            </a:pPr>
            <a:r>
              <a:rPr lang="en-US" sz="1200" b="1" dirty="0">
                <a:solidFill>
                  <a:srgbClr val="041E47"/>
                </a:solidFill>
                <a:latin typeface="Aptos" pitchFamily="34" charset="0"/>
                <a:ea typeface="Aptos" pitchFamily="34" charset="-122"/>
                <a:cs typeface="Aptos" pitchFamily="34" charset="-120"/>
              </a:rPr>
              <a:t>Rs. 503.075B -&gt; Rs. 642.883B</a:t>
            </a:r>
            <a:endParaRPr lang="en-US" sz="1200" dirty="0"/>
          </a:p>
        </p:txBody>
      </p:sp>
      <p:sp>
        <p:nvSpPr>
          <p:cNvPr id="35" name="Text 33"/>
          <p:cNvSpPr/>
          <p:nvPr/>
        </p:nvSpPr>
        <p:spPr>
          <a:xfrm>
            <a:off x="10698480" y="2432304"/>
            <a:ext cx="987552" cy="237744"/>
          </a:xfrm>
          <a:prstGeom prst="rect">
            <a:avLst/>
          </a:prstGeom>
          <a:noFill/>
          <a:ln/>
        </p:spPr>
        <p:txBody>
          <a:bodyPr wrap="square" lIns="0" tIns="0" rIns="0" bIns="0" rtlCol="0" anchor="ctr"/>
          <a:lstStyle/>
          <a:p>
            <a:pPr marL="0" indent="0" algn="r">
              <a:buNone/>
            </a:pPr>
            <a:r>
              <a:rPr lang="en-US" sz="1100" b="1" dirty="0">
                <a:solidFill>
                  <a:srgbClr val="C43F2E"/>
                </a:solidFill>
                <a:latin typeface="Aptos" pitchFamily="34" charset="0"/>
                <a:ea typeface="Aptos" pitchFamily="34" charset="-122"/>
                <a:cs typeface="Aptos" pitchFamily="34" charset="-120"/>
              </a:rPr>
              <a:t>+27.8%</a:t>
            </a:r>
            <a:endParaRPr lang="en-US" sz="1100" dirty="0"/>
          </a:p>
        </p:txBody>
      </p:sp>
      <p:sp>
        <p:nvSpPr>
          <p:cNvPr id="36" name="Text 34"/>
          <p:cNvSpPr/>
          <p:nvPr/>
        </p:nvSpPr>
        <p:spPr>
          <a:xfrm>
            <a:off x="8503920" y="2615184"/>
            <a:ext cx="2194560" cy="237744"/>
          </a:xfrm>
          <a:prstGeom prst="rect">
            <a:avLst/>
          </a:prstGeom>
          <a:noFill/>
          <a:ln/>
        </p:spPr>
        <p:txBody>
          <a:bodyPr wrap="square" lIns="0" tIns="0" rIns="0" bIns="0" rtlCol="0" anchor="ctr"/>
          <a:lstStyle/>
          <a:p>
            <a:pPr marL="0" indent="0">
              <a:buNone/>
            </a:pPr>
            <a:r>
              <a:rPr lang="en-US" sz="950" dirty="0">
                <a:solidFill>
                  <a:srgbClr val="6B7280"/>
                </a:solidFill>
                <a:latin typeface="Aptos" pitchFamily="34" charset="0"/>
                <a:ea typeface="Aptos" pitchFamily="34" charset="-122"/>
                <a:cs typeface="Aptos" pitchFamily="34" charset="-120"/>
              </a:rPr>
              <a:t>an increase of Rs. 139.808B</a:t>
            </a:r>
            <a:endParaRPr lang="en-US" sz="950" dirty="0"/>
          </a:p>
        </p:txBody>
      </p:sp>
      <p:sp>
        <p:nvSpPr>
          <p:cNvPr id="37" name="Text 35"/>
          <p:cNvSpPr/>
          <p:nvPr/>
        </p:nvSpPr>
        <p:spPr>
          <a:xfrm>
            <a:off x="8503920" y="3182112"/>
            <a:ext cx="3182112" cy="219456"/>
          </a:xfrm>
          <a:prstGeom prst="rect">
            <a:avLst/>
          </a:prstGeom>
          <a:noFill/>
          <a:ln/>
        </p:spPr>
        <p:txBody>
          <a:bodyPr wrap="square" lIns="0" tIns="0" rIns="0" bIns="0" rtlCol="0" anchor="ctr"/>
          <a:lstStyle/>
          <a:p>
            <a:pPr marL="0" indent="0">
              <a:buNone/>
            </a:pPr>
            <a:r>
              <a:rPr lang="en-US" sz="1000" dirty="0">
                <a:solidFill>
                  <a:srgbClr val="46577A"/>
                </a:solidFill>
                <a:latin typeface="Aptos" pitchFamily="34" charset="0"/>
                <a:ea typeface="Aptos" pitchFamily="34" charset="-122"/>
                <a:cs typeface="Aptos" pitchFamily="34" charset="-120"/>
              </a:rPr>
              <a:t>Total expenses</a:t>
            </a:r>
            <a:endParaRPr lang="en-US" sz="1000" dirty="0"/>
          </a:p>
        </p:txBody>
      </p:sp>
      <p:sp>
        <p:nvSpPr>
          <p:cNvPr id="38" name="Text 36"/>
          <p:cNvSpPr/>
          <p:nvPr/>
        </p:nvSpPr>
        <p:spPr>
          <a:xfrm>
            <a:off x="8503920" y="3383280"/>
            <a:ext cx="2194560" cy="237744"/>
          </a:xfrm>
          <a:prstGeom prst="rect">
            <a:avLst/>
          </a:prstGeom>
          <a:noFill/>
          <a:ln/>
        </p:spPr>
        <p:txBody>
          <a:bodyPr wrap="square" lIns="0" tIns="0" rIns="0" bIns="0" rtlCol="0" anchor="ctr"/>
          <a:lstStyle/>
          <a:p>
            <a:pPr marL="0" indent="0">
              <a:buNone/>
            </a:pPr>
            <a:r>
              <a:rPr lang="en-US" sz="1200" b="1" dirty="0">
                <a:solidFill>
                  <a:srgbClr val="041E47"/>
                </a:solidFill>
                <a:latin typeface="Aptos" pitchFamily="34" charset="0"/>
                <a:ea typeface="Aptos" pitchFamily="34" charset="-122"/>
                <a:cs typeface="Aptos" pitchFamily="34" charset="-120"/>
              </a:rPr>
              <a:t>Rs. 896.775B</a:t>
            </a:r>
            <a:endParaRPr lang="en-US" sz="1200" dirty="0"/>
          </a:p>
        </p:txBody>
      </p:sp>
      <p:sp>
        <p:nvSpPr>
          <p:cNvPr id="39" name="Text 37"/>
          <p:cNvSpPr/>
          <p:nvPr/>
        </p:nvSpPr>
        <p:spPr>
          <a:xfrm>
            <a:off x="10698480" y="3383280"/>
            <a:ext cx="987552" cy="237744"/>
          </a:xfrm>
          <a:prstGeom prst="rect">
            <a:avLst/>
          </a:prstGeom>
          <a:noFill/>
          <a:ln/>
        </p:spPr>
        <p:txBody>
          <a:bodyPr wrap="square" lIns="0" tIns="0" rIns="0" bIns="0" rtlCol="0" anchor="ctr"/>
          <a:lstStyle/>
          <a:p>
            <a:pPr marL="0" indent="0" algn="r">
              <a:buNone/>
            </a:pPr>
            <a:r>
              <a:rPr lang="en-US" sz="1100" b="1" dirty="0">
                <a:solidFill>
                  <a:srgbClr val="C43F2E"/>
                </a:solidFill>
                <a:latin typeface="Aptos" pitchFamily="34" charset="0"/>
                <a:ea typeface="Aptos" pitchFamily="34" charset="-122"/>
                <a:cs typeface="Aptos" pitchFamily="34" charset="-120"/>
              </a:rPr>
              <a:t>+17.2%</a:t>
            </a:r>
            <a:endParaRPr lang="en-US" sz="1100" dirty="0"/>
          </a:p>
        </p:txBody>
      </p:sp>
      <p:sp>
        <p:nvSpPr>
          <p:cNvPr id="40" name="Text 38"/>
          <p:cNvSpPr/>
          <p:nvPr/>
        </p:nvSpPr>
        <p:spPr>
          <a:xfrm>
            <a:off x="8503920" y="3657600"/>
            <a:ext cx="3182112" cy="219456"/>
          </a:xfrm>
          <a:prstGeom prst="rect">
            <a:avLst/>
          </a:prstGeom>
          <a:noFill/>
          <a:ln/>
        </p:spPr>
        <p:txBody>
          <a:bodyPr wrap="square" lIns="0" tIns="0" rIns="0" bIns="0" rtlCol="0" anchor="ctr"/>
          <a:lstStyle/>
          <a:p>
            <a:pPr marL="0" indent="0">
              <a:buNone/>
            </a:pPr>
            <a:r>
              <a:rPr lang="en-US" sz="1000" dirty="0">
                <a:solidFill>
                  <a:srgbClr val="46577A"/>
                </a:solidFill>
                <a:latin typeface="Aptos" pitchFamily="34" charset="0"/>
                <a:ea typeface="Aptos" pitchFamily="34" charset="-122"/>
                <a:cs typeface="Aptos" pitchFamily="34" charset="-120"/>
              </a:rPr>
              <a:t>Expense / revenue</a:t>
            </a:r>
            <a:endParaRPr lang="en-US" sz="1000" dirty="0"/>
          </a:p>
        </p:txBody>
      </p:sp>
      <p:sp>
        <p:nvSpPr>
          <p:cNvPr id="41" name="Text 39"/>
          <p:cNvSpPr/>
          <p:nvPr/>
        </p:nvSpPr>
        <p:spPr>
          <a:xfrm>
            <a:off x="8503920" y="3858768"/>
            <a:ext cx="2194560" cy="237744"/>
          </a:xfrm>
          <a:prstGeom prst="rect">
            <a:avLst/>
          </a:prstGeom>
          <a:noFill/>
          <a:ln/>
        </p:spPr>
        <p:txBody>
          <a:bodyPr wrap="square" lIns="0" tIns="0" rIns="0" bIns="0" rtlCol="0" anchor="ctr"/>
          <a:lstStyle/>
          <a:p>
            <a:pPr marL="0" indent="0">
              <a:buNone/>
            </a:pPr>
            <a:r>
              <a:rPr lang="en-US" sz="1200" b="1" dirty="0">
                <a:solidFill>
                  <a:srgbClr val="041E47"/>
                </a:solidFill>
                <a:latin typeface="Aptos" pitchFamily="34" charset="0"/>
                <a:ea typeface="Aptos" pitchFamily="34" charset="-122"/>
                <a:cs typeface="Aptos" pitchFamily="34" charset="-120"/>
              </a:rPr>
              <a:t>94.7% -&gt; 105.6%</a:t>
            </a:r>
            <a:endParaRPr lang="en-US" sz="1200" dirty="0"/>
          </a:p>
        </p:txBody>
      </p:sp>
      <p:sp>
        <p:nvSpPr>
          <p:cNvPr id="42" name="Text 40"/>
          <p:cNvSpPr/>
          <p:nvPr/>
        </p:nvSpPr>
        <p:spPr>
          <a:xfrm>
            <a:off x="10698480" y="3858768"/>
            <a:ext cx="987552" cy="237744"/>
          </a:xfrm>
          <a:prstGeom prst="rect">
            <a:avLst/>
          </a:prstGeom>
          <a:noFill/>
          <a:ln/>
        </p:spPr>
        <p:txBody>
          <a:bodyPr wrap="square" lIns="0" tIns="0" rIns="0" bIns="0" rtlCol="0" anchor="ctr"/>
          <a:lstStyle/>
          <a:p>
            <a:pPr marL="0" indent="0" algn="r">
              <a:buNone/>
            </a:pPr>
            <a:r>
              <a:rPr lang="en-US" sz="1100" b="1" dirty="0">
                <a:solidFill>
                  <a:srgbClr val="C43F2E"/>
                </a:solidFill>
                <a:latin typeface="Aptos" pitchFamily="34" charset="0"/>
                <a:ea typeface="Aptos" pitchFamily="34" charset="-122"/>
                <a:cs typeface="Aptos" pitchFamily="34" charset="-120"/>
              </a:rPr>
              <a:t>+10.87 pp</a:t>
            </a:r>
            <a:endParaRPr lang="en-US" sz="1100" dirty="0"/>
          </a:p>
        </p:txBody>
      </p:sp>
      <p:sp>
        <p:nvSpPr>
          <p:cNvPr id="43" name="Shape 41"/>
          <p:cNvSpPr/>
          <p:nvPr/>
        </p:nvSpPr>
        <p:spPr>
          <a:xfrm>
            <a:off x="8284464" y="4224528"/>
            <a:ext cx="3401568" cy="1481328"/>
          </a:xfrm>
          <a:prstGeom prst="rect">
            <a:avLst/>
          </a:prstGeom>
          <a:solidFill>
            <a:srgbClr val="F4F7FD"/>
          </a:solidFill>
          <a:ln/>
        </p:spPr>
      </p:sp>
      <p:sp>
        <p:nvSpPr>
          <p:cNvPr id="44" name="Shape 42"/>
          <p:cNvSpPr/>
          <p:nvPr/>
        </p:nvSpPr>
        <p:spPr>
          <a:xfrm>
            <a:off x="8449056" y="4334256"/>
            <a:ext cx="894283" cy="173736"/>
          </a:xfrm>
          <a:prstGeom prst="rect">
            <a:avLst/>
          </a:prstGeom>
          <a:solidFill>
            <a:srgbClr val="FFFFFF"/>
          </a:solidFill>
          <a:ln w="9525">
            <a:solidFill>
              <a:srgbClr val="46577A"/>
            </a:solidFill>
            <a:prstDash val="solid"/>
          </a:ln>
        </p:spPr>
      </p:sp>
      <p:sp>
        <p:nvSpPr>
          <p:cNvPr id="45" name="Text 43"/>
          <p:cNvSpPr/>
          <p:nvPr/>
        </p:nvSpPr>
        <p:spPr>
          <a:xfrm>
            <a:off x="8449056" y="4334256"/>
            <a:ext cx="894283" cy="173736"/>
          </a:xfrm>
          <a:prstGeom prst="rect">
            <a:avLst/>
          </a:prstGeom>
          <a:noFill/>
          <a:ln/>
        </p:spPr>
        <p:txBody>
          <a:bodyPr wrap="square" lIns="0" tIns="0" rIns="0" bIns="0" rtlCol="0" anchor="ctr"/>
          <a:lstStyle/>
          <a:p>
            <a:pPr marL="0" indent="0" algn="ctr">
              <a:buNone/>
            </a:pPr>
            <a:r>
              <a:rPr lang="en-US" sz="900" b="1" dirty="0">
                <a:solidFill>
                  <a:srgbClr val="46577A"/>
                </a:solidFill>
                <a:latin typeface="Aptos" pitchFamily="34" charset="0"/>
                <a:ea typeface="Aptos" pitchFamily="34" charset="-122"/>
                <a:cs typeface="Aptos" pitchFamily="34" charset="-120"/>
              </a:rPr>
              <a:t>INFERENCE</a:t>
            </a:r>
            <a:endParaRPr lang="en-US" sz="900" dirty="0"/>
          </a:p>
        </p:txBody>
      </p:sp>
      <p:sp>
        <p:nvSpPr>
          <p:cNvPr id="46" name="Text 44"/>
          <p:cNvSpPr/>
          <p:nvPr/>
        </p:nvSpPr>
        <p:spPr>
          <a:xfrm>
            <a:off x="8449056" y="4572000"/>
            <a:ext cx="3090672" cy="1060704"/>
          </a:xfrm>
          <a:prstGeom prst="rect">
            <a:avLst/>
          </a:prstGeom>
          <a:noFill/>
          <a:ln/>
        </p:spPr>
        <p:txBody>
          <a:bodyPr wrap="square" lIns="0" tIns="0" rIns="0" bIns="0" rtlCol="0" anchor="t"/>
          <a:lstStyle/>
          <a:p>
            <a:pPr marL="0" indent="0">
              <a:buNone/>
            </a:pPr>
            <a:r>
              <a:rPr lang="en-US" sz="950" i="1" dirty="0">
                <a:solidFill>
                  <a:srgbClr val="041E47"/>
                </a:solidFill>
                <a:latin typeface="Aptos" pitchFamily="34" charset="0"/>
                <a:ea typeface="Aptos" pitchFamily="34" charset="-122"/>
                <a:cs typeface="Aptos" pitchFamily="34" charset="-120"/>
              </a:rPr>
              <a:t>"The much smaller +3.8% ex-fuel-ex-FX CASK increase indicates that FX materially affects the reported non-fuel unit-cost picture, but the evidence does not establish how much of the absolute non-fuel expense increase is FX-driven."</a:t>
            </a:r>
            <a:endParaRPr lang="en-US" sz="950" dirty="0"/>
          </a:p>
        </p:txBody>
      </p:sp>
      <p:sp>
        <p:nvSpPr>
          <p:cNvPr id="47" name="Shape 45"/>
          <p:cNvSpPr/>
          <p:nvPr/>
        </p:nvSpPr>
        <p:spPr>
          <a:xfrm>
            <a:off x="502920" y="5797296"/>
            <a:ext cx="7635240" cy="402336"/>
          </a:xfrm>
          <a:prstGeom prst="rect">
            <a:avLst/>
          </a:prstGeom>
          <a:solidFill>
            <a:srgbClr val="FFFFFF"/>
          </a:solidFill>
          <a:ln w="9525">
            <a:solidFill>
              <a:srgbClr val="6B7280"/>
            </a:solidFill>
            <a:prstDash val="dash"/>
          </a:ln>
        </p:spPr>
      </p:sp>
      <p:sp>
        <p:nvSpPr>
          <p:cNvPr id="48" name="Shape 46"/>
          <p:cNvSpPr/>
          <p:nvPr/>
        </p:nvSpPr>
        <p:spPr>
          <a:xfrm>
            <a:off x="594360" y="5911596"/>
            <a:ext cx="1344168" cy="173736"/>
          </a:xfrm>
          <a:prstGeom prst="rect">
            <a:avLst/>
          </a:prstGeom>
          <a:solidFill>
            <a:srgbClr val="FFFFFF"/>
          </a:solidFill>
          <a:ln w="9525">
            <a:solidFill>
              <a:srgbClr val="6B7280"/>
            </a:solidFill>
            <a:prstDash val="dash"/>
          </a:ln>
        </p:spPr>
      </p:sp>
      <p:sp>
        <p:nvSpPr>
          <p:cNvPr id="49" name="Text 47"/>
          <p:cNvSpPr/>
          <p:nvPr/>
        </p:nvSpPr>
        <p:spPr>
          <a:xfrm>
            <a:off x="594360" y="5911596"/>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50" name="Text 48"/>
          <p:cNvSpPr/>
          <p:nvPr/>
        </p:nvSpPr>
        <p:spPr>
          <a:xfrm>
            <a:off x="2048256" y="5833872"/>
            <a:ext cx="5980176" cy="329184"/>
          </a:xfrm>
          <a:prstGeom prst="rect">
            <a:avLst/>
          </a:prstGeom>
          <a:noFill/>
          <a:ln/>
        </p:spPr>
        <p:txBody>
          <a:bodyPr wrap="square" lIns="0" tIns="0" rIns="0" bIns="0" rtlCol="0" anchor="ctr"/>
          <a:lstStyle/>
          <a:p>
            <a:r>
              <a:rPr lang="en-IN" sz="1000" b="1" dirty="0"/>
              <a:t>FX-attributable share of the Rs. 139.808B increase cannot be quantified from available evidence.</a:t>
            </a:r>
            <a:endParaRPr lang="en-US" sz="950" b="1" dirty="0"/>
          </a:p>
        </p:txBody>
      </p:sp>
      <p:sp>
        <p:nvSpPr>
          <p:cNvPr id="51" name="Shape 49"/>
          <p:cNvSpPr/>
          <p:nvPr/>
        </p:nvSpPr>
        <p:spPr>
          <a:xfrm>
            <a:off x="502920" y="6309360"/>
            <a:ext cx="11185855" cy="5486"/>
          </a:xfrm>
          <a:prstGeom prst="rect">
            <a:avLst/>
          </a:prstGeom>
          <a:solidFill>
            <a:srgbClr val="C9D8F2"/>
          </a:solidFill>
          <a:ln/>
        </p:spPr>
      </p:sp>
      <p:sp>
        <p:nvSpPr>
          <p:cNvPr id="52" name="Text 50"/>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53" name="Text 51"/>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SRC-FY26-006 - 03_Financial_Evidence_Unit_Economics - 10_Validated_Exhibits_Charts Sec. 10.1.5</a:t>
            </a:r>
            <a:endParaRPr lang="en-US" sz="800" dirty="0"/>
          </a:p>
        </p:txBody>
      </p:sp>
      <p:sp>
        <p:nvSpPr>
          <p:cNvPr id="54" name="Shape 52"/>
          <p:cNvSpPr/>
          <p:nvPr/>
        </p:nvSpPr>
        <p:spPr>
          <a:xfrm>
            <a:off x="11484864" y="6364224"/>
            <a:ext cx="201168" cy="201168"/>
          </a:xfrm>
          <a:prstGeom prst="rect">
            <a:avLst/>
          </a:prstGeom>
          <a:solidFill>
            <a:srgbClr val="0032A0"/>
          </a:solidFill>
          <a:ln/>
        </p:spPr>
      </p:sp>
      <p:sp>
        <p:nvSpPr>
          <p:cNvPr id="55" name="Text 53"/>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07 - THE DIAGNOSIS</a:t>
            </a:r>
            <a:endParaRPr lang="en-US" sz="1000" dirty="0"/>
          </a:p>
        </p:txBody>
      </p:sp>
      <p:sp>
        <p:nvSpPr>
          <p:cNvPr id="3" name="Shape 1"/>
          <p:cNvSpPr/>
          <p:nvPr/>
        </p:nvSpPr>
        <p:spPr>
          <a:xfrm>
            <a:off x="502920" y="571500"/>
            <a:ext cx="1463040" cy="45720"/>
          </a:xfrm>
          <a:prstGeom prst="rect">
            <a:avLst/>
          </a:prstGeom>
          <a:solidFill>
            <a:srgbClr val="0032A0"/>
          </a:solidFill>
          <a:ln/>
        </p:spPr>
      </p:sp>
      <p:sp>
        <p:nvSpPr>
          <p:cNvPr id="4" name="Text 2"/>
          <p:cNvSpPr/>
          <p:nvPr/>
        </p:nvSpPr>
        <p:spPr>
          <a:xfrm>
            <a:off x="502920" y="603504"/>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The statutory loss overstates the operating deterioration - but does not erase it</a:t>
            </a:r>
            <a:endParaRPr lang="en-US" sz="2250" dirty="0"/>
          </a:p>
        </p:txBody>
      </p:sp>
      <p:sp>
        <p:nvSpPr>
          <p:cNvPr id="5" name="Text 3"/>
          <p:cNvSpPr/>
          <p:nvPr/>
        </p:nvSpPr>
        <p:spPr>
          <a:xfrm>
            <a:off x="502920" y="1444752"/>
            <a:ext cx="54864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REPORTED vs UNDERLYING, Rs. BILLION</a:t>
            </a:r>
            <a:endParaRPr lang="en-US" sz="1000" dirty="0"/>
          </a:p>
        </p:txBody>
      </p:sp>
      <p:sp>
        <p:nvSpPr>
          <p:cNvPr id="6" name="Shape 4"/>
          <p:cNvSpPr/>
          <p:nvPr/>
        </p:nvSpPr>
        <p:spPr>
          <a:xfrm>
            <a:off x="502920" y="4498848"/>
            <a:ext cx="6446520" cy="9144"/>
          </a:xfrm>
          <a:prstGeom prst="rect">
            <a:avLst/>
          </a:prstGeom>
          <a:solidFill>
            <a:srgbClr val="C9D8F2"/>
          </a:solidFill>
          <a:ln/>
        </p:spPr>
      </p:sp>
      <p:sp>
        <p:nvSpPr>
          <p:cNvPr id="7" name="Shape 5"/>
          <p:cNvSpPr/>
          <p:nvPr/>
        </p:nvSpPr>
        <p:spPr>
          <a:xfrm>
            <a:off x="960120" y="3091496"/>
            <a:ext cx="658368" cy="1407352"/>
          </a:xfrm>
          <a:prstGeom prst="rect">
            <a:avLst/>
          </a:prstGeom>
          <a:solidFill>
            <a:srgbClr val="041E47"/>
          </a:solidFill>
          <a:ln/>
        </p:spPr>
      </p:sp>
      <p:sp>
        <p:nvSpPr>
          <p:cNvPr id="8" name="Text 6"/>
          <p:cNvSpPr/>
          <p:nvPr/>
        </p:nvSpPr>
        <p:spPr>
          <a:xfrm>
            <a:off x="649224" y="2853752"/>
            <a:ext cx="1280160" cy="219456"/>
          </a:xfrm>
          <a:prstGeom prst="rect">
            <a:avLst/>
          </a:prstGeom>
          <a:noFill/>
          <a:ln/>
        </p:spPr>
        <p:txBody>
          <a:bodyPr wrap="square" lIns="0" tIns="0" rIns="0" bIns="0" rtlCol="0" anchor="ctr"/>
          <a:lstStyle/>
          <a:p>
            <a:pPr marL="0" indent="0" algn="ctr">
              <a:buNone/>
            </a:pPr>
            <a:r>
              <a:rPr lang="en-US" sz="950" b="1" dirty="0">
                <a:solidFill>
                  <a:srgbClr val="041E47"/>
                </a:solidFill>
                <a:latin typeface="Aptos" pitchFamily="34" charset="0"/>
                <a:ea typeface="Aptos" pitchFamily="34" charset="-122"/>
                <a:cs typeface="Aptos" pitchFamily="34" charset="-120"/>
              </a:rPr>
              <a:t>Rs. 150.892B</a:t>
            </a:r>
            <a:endParaRPr lang="en-US" sz="950" dirty="0"/>
          </a:p>
        </p:txBody>
      </p:sp>
      <p:sp>
        <p:nvSpPr>
          <p:cNvPr id="9" name="Text 7"/>
          <p:cNvSpPr/>
          <p:nvPr/>
        </p:nvSpPr>
        <p:spPr>
          <a:xfrm>
            <a:off x="649224" y="2652584"/>
            <a:ext cx="1280160" cy="201168"/>
          </a:xfrm>
          <a:prstGeom prst="rect">
            <a:avLst/>
          </a:prstGeom>
          <a:noFill/>
          <a:ln/>
        </p:spPr>
        <p:txBody>
          <a:bodyPr wrap="square" lIns="0" tIns="0" rIns="0" bIns="0" rtlCol="0" anchor="ctr"/>
          <a:lstStyle/>
          <a:p>
            <a:pPr marL="0" indent="0" algn="ctr">
              <a:buNone/>
            </a:pPr>
            <a:r>
              <a:rPr lang="en-US" sz="850" dirty="0">
                <a:solidFill>
                  <a:srgbClr val="6B7280"/>
                </a:solidFill>
                <a:latin typeface="Aptos" pitchFamily="34" charset="0"/>
                <a:ea typeface="Aptos" pitchFamily="34" charset="-122"/>
                <a:cs typeface="Aptos" pitchFamily="34" charset="-120"/>
              </a:rPr>
              <a:t>Reported</a:t>
            </a:r>
            <a:endParaRPr lang="en-US" sz="850" dirty="0"/>
          </a:p>
        </p:txBody>
      </p:sp>
      <p:sp>
        <p:nvSpPr>
          <p:cNvPr id="10" name="Shape 8"/>
          <p:cNvSpPr/>
          <p:nvPr/>
        </p:nvSpPr>
        <p:spPr>
          <a:xfrm>
            <a:off x="1746504" y="2336047"/>
            <a:ext cx="658368" cy="2162801"/>
          </a:xfrm>
          <a:prstGeom prst="rect">
            <a:avLst/>
          </a:prstGeom>
          <a:solidFill>
            <a:srgbClr val="0032A0">
              <a:alpha val="14000"/>
            </a:srgbClr>
          </a:solidFill>
          <a:ln w="15875">
            <a:solidFill>
              <a:srgbClr val="0032A0"/>
            </a:solidFill>
            <a:prstDash val="solid"/>
          </a:ln>
        </p:spPr>
      </p:sp>
      <p:sp>
        <p:nvSpPr>
          <p:cNvPr id="11" name="Text 9"/>
          <p:cNvSpPr/>
          <p:nvPr/>
        </p:nvSpPr>
        <p:spPr>
          <a:xfrm>
            <a:off x="1435608" y="2098303"/>
            <a:ext cx="1280160" cy="219456"/>
          </a:xfrm>
          <a:prstGeom prst="rect">
            <a:avLst/>
          </a:prstGeom>
          <a:noFill/>
          <a:ln/>
        </p:spPr>
        <p:txBody>
          <a:bodyPr wrap="square" lIns="0" tIns="0" rIns="0" bIns="0" rtlCol="0" anchor="ctr"/>
          <a:lstStyle/>
          <a:p>
            <a:pPr marL="0" indent="0" algn="ctr">
              <a:buNone/>
            </a:pPr>
            <a:r>
              <a:rPr lang="en-US" sz="950" b="1" dirty="0">
                <a:solidFill>
                  <a:srgbClr val="041E47"/>
                </a:solidFill>
                <a:latin typeface="Aptos" pitchFamily="34" charset="0"/>
                <a:ea typeface="Aptos" pitchFamily="34" charset="-122"/>
                <a:cs typeface="Aptos" pitchFamily="34" charset="-120"/>
              </a:rPr>
              <a:t>Rs. 231.889B</a:t>
            </a:r>
            <a:endParaRPr lang="en-US" sz="950" dirty="0"/>
          </a:p>
        </p:txBody>
      </p:sp>
      <p:sp>
        <p:nvSpPr>
          <p:cNvPr id="12" name="Text 10"/>
          <p:cNvSpPr/>
          <p:nvPr/>
        </p:nvSpPr>
        <p:spPr>
          <a:xfrm>
            <a:off x="1435608" y="1897135"/>
            <a:ext cx="1280160" cy="201168"/>
          </a:xfrm>
          <a:prstGeom prst="rect">
            <a:avLst/>
          </a:prstGeom>
          <a:noFill/>
          <a:ln/>
        </p:spPr>
        <p:txBody>
          <a:bodyPr wrap="square" lIns="0" tIns="0" rIns="0" bIns="0" rtlCol="0" anchor="ctr"/>
          <a:lstStyle/>
          <a:p>
            <a:pPr marL="0" indent="0" algn="ctr">
              <a:buNone/>
            </a:pPr>
            <a:r>
              <a:rPr lang="en-US" sz="850" dirty="0">
                <a:solidFill>
                  <a:srgbClr val="6B7280"/>
                </a:solidFill>
                <a:latin typeface="Aptos" pitchFamily="34" charset="0"/>
                <a:ea typeface="Aptos" pitchFamily="34" charset="-122"/>
                <a:cs typeface="Aptos" pitchFamily="34" charset="-120"/>
              </a:rPr>
              <a:t>ex-FX</a:t>
            </a:r>
            <a:endParaRPr lang="en-US" sz="850" dirty="0"/>
          </a:p>
        </p:txBody>
      </p:sp>
      <p:sp>
        <p:nvSpPr>
          <p:cNvPr id="13" name="Text 11"/>
          <p:cNvSpPr/>
          <p:nvPr/>
        </p:nvSpPr>
        <p:spPr>
          <a:xfrm>
            <a:off x="777240" y="4974336"/>
            <a:ext cx="1755648" cy="237744"/>
          </a:xfrm>
          <a:prstGeom prst="rect">
            <a:avLst/>
          </a:prstGeom>
          <a:noFill/>
          <a:ln/>
        </p:spPr>
        <p:txBody>
          <a:bodyPr wrap="square" lIns="0" tIns="0" rIns="0" bIns="0" rtlCol="0" anchor="ctr"/>
          <a:lstStyle/>
          <a:p>
            <a:pPr marL="0" indent="0" algn="ctr">
              <a:buNone/>
            </a:pPr>
            <a:r>
              <a:rPr lang="en-US" sz="1100" b="1" dirty="0">
                <a:solidFill>
                  <a:srgbClr val="041E47"/>
                </a:solidFill>
                <a:latin typeface="Aptos" pitchFamily="34" charset="0"/>
                <a:ea typeface="Aptos" pitchFamily="34" charset="-122"/>
                <a:cs typeface="Aptos" pitchFamily="34" charset="-120"/>
              </a:rPr>
              <a:t>EBITDAR</a:t>
            </a:r>
            <a:endParaRPr lang="en-US" sz="1100" dirty="0"/>
          </a:p>
        </p:txBody>
      </p:sp>
      <p:sp>
        <p:nvSpPr>
          <p:cNvPr id="14" name="Shape 12"/>
          <p:cNvSpPr/>
          <p:nvPr/>
        </p:nvSpPr>
        <p:spPr>
          <a:xfrm>
            <a:off x="3246120" y="4498848"/>
            <a:ext cx="658368" cy="182853"/>
          </a:xfrm>
          <a:prstGeom prst="rect">
            <a:avLst/>
          </a:prstGeom>
          <a:solidFill>
            <a:srgbClr val="C43F2E"/>
          </a:solidFill>
          <a:ln/>
        </p:spPr>
      </p:sp>
      <p:sp>
        <p:nvSpPr>
          <p:cNvPr id="15" name="Text 13"/>
          <p:cNvSpPr/>
          <p:nvPr/>
        </p:nvSpPr>
        <p:spPr>
          <a:xfrm>
            <a:off x="2935224" y="4699989"/>
            <a:ext cx="1280160" cy="219456"/>
          </a:xfrm>
          <a:prstGeom prst="rect">
            <a:avLst/>
          </a:prstGeom>
          <a:noFill/>
          <a:ln/>
        </p:spPr>
        <p:txBody>
          <a:bodyPr wrap="square" lIns="0" tIns="0" rIns="0" bIns="0" rtlCol="0" anchor="ctr"/>
          <a:lstStyle/>
          <a:p>
            <a:pPr marL="0" indent="0" algn="ctr">
              <a:buNone/>
            </a:pPr>
            <a:r>
              <a:rPr lang="en-US" sz="950" b="1" dirty="0">
                <a:solidFill>
                  <a:srgbClr val="C43F2E"/>
                </a:solidFill>
                <a:latin typeface="Aptos" pitchFamily="34" charset="0"/>
                <a:ea typeface="Aptos" pitchFamily="34" charset="-122"/>
                <a:cs typeface="Aptos" pitchFamily="34" charset="-120"/>
              </a:rPr>
              <a:t>-Rs. 19.605B</a:t>
            </a:r>
            <a:endParaRPr lang="en-US" sz="950" dirty="0"/>
          </a:p>
        </p:txBody>
      </p:sp>
      <p:sp>
        <p:nvSpPr>
          <p:cNvPr id="16" name="Text 14"/>
          <p:cNvSpPr/>
          <p:nvPr/>
        </p:nvSpPr>
        <p:spPr>
          <a:xfrm>
            <a:off x="3063240" y="4974336"/>
            <a:ext cx="969264" cy="237744"/>
          </a:xfrm>
          <a:prstGeom prst="rect">
            <a:avLst/>
          </a:prstGeom>
          <a:noFill/>
          <a:ln/>
        </p:spPr>
        <p:txBody>
          <a:bodyPr wrap="square" lIns="0" tIns="0" rIns="0" bIns="0" rtlCol="0" anchor="ctr"/>
          <a:lstStyle/>
          <a:p>
            <a:pPr marL="0" indent="0" algn="ctr">
              <a:buNone/>
            </a:pPr>
            <a:r>
              <a:rPr lang="en-US" sz="1100" b="1" dirty="0">
                <a:solidFill>
                  <a:srgbClr val="041E47"/>
                </a:solidFill>
                <a:latin typeface="Aptos" pitchFamily="34" charset="0"/>
                <a:ea typeface="Aptos" pitchFamily="34" charset="-122"/>
                <a:cs typeface="Aptos" pitchFamily="34" charset="-120"/>
              </a:rPr>
              <a:t>PBT</a:t>
            </a:r>
            <a:endParaRPr lang="en-US" sz="1100" dirty="0"/>
          </a:p>
        </p:txBody>
      </p:sp>
      <p:sp>
        <p:nvSpPr>
          <p:cNvPr id="17" name="Shape 15"/>
          <p:cNvSpPr/>
          <p:nvPr/>
        </p:nvSpPr>
        <p:spPr>
          <a:xfrm>
            <a:off x="4617720" y="4498848"/>
            <a:ext cx="658368" cy="223248"/>
          </a:xfrm>
          <a:prstGeom prst="rect">
            <a:avLst/>
          </a:prstGeom>
          <a:solidFill>
            <a:srgbClr val="C43F2E"/>
          </a:solidFill>
          <a:ln/>
        </p:spPr>
      </p:sp>
      <p:sp>
        <p:nvSpPr>
          <p:cNvPr id="18" name="Text 16"/>
          <p:cNvSpPr/>
          <p:nvPr/>
        </p:nvSpPr>
        <p:spPr>
          <a:xfrm>
            <a:off x="4306824" y="4740384"/>
            <a:ext cx="1280160" cy="219456"/>
          </a:xfrm>
          <a:prstGeom prst="rect">
            <a:avLst/>
          </a:prstGeom>
          <a:noFill/>
          <a:ln/>
        </p:spPr>
        <p:txBody>
          <a:bodyPr wrap="square" lIns="0" tIns="0" rIns="0" bIns="0" rtlCol="0" anchor="ctr"/>
          <a:lstStyle/>
          <a:p>
            <a:pPr marL="0" indent="0" algn="ctr">
              <a:buNone/>
            </a:pPr>
            <a:r>
              <a:rPr lang="en-US" sz="950" b="1" dirty="0">
                <a:solidFill>
                  <a:srgbClr val="C43F2E"/>
                </a:solidFill>
                <a:latin typeface="Aptos" pitchFamily="34" charset="0"/>
                <a:ea typeface="Aptos" pitchFamily="34" charset="-122"/>
                <a:cs typeface="Aptos" pitchFamily="34" charset="-120"/>
              </a:rPr>
              <a:t>-Rs. 23.936B</a:t>
            </a:r>
            <a:endParaRPr lang="en-US" sz="950" dirty="0"/>
          </a:p>
        </p:txBody>
      </p:sp>
      <p:sp>
        <p:nvSpPr>
          <p:cNvPr id="19" name="Shape 17"/>
          <p:cNvSpPr/>
          <p:nvPr/>
        </p:nvSpPr>
        <p:spPr>
          <a:xfrm>
            <a:off x="5404104" y="3799099"/>
            <a:ext cx="658368" cy="699749"/>
          </a:xfrm>
          <a:prstGeom prst="rect">
            <a:avLst/>
          </a:prstGeom>
          <a:solidFill>
            <a:srgbClr val="0032A0">
              <a:alpha val="14000"/>
            </a:srgbClr>
          </a:solidFill>
          <a:ln w="15875">
            <a:solidFill>
              <a:srgbClr val="0032A0"/>
            </a:solidFill>
            <a:prstDash val="solid"/>
          </a:ln>
        </p:spPr>
      </p:sp>
      <p:sp>
        <p:nvSpPr>
          <p:cNvPr id="20" name="Text 18"/>
          <p:cNvSpPr/>
          <p:nvPr/>
        </p:nvSpPr>
        <p:spPr>
          <a:xfrm>
            <a:off x="5093208" y="3561355"/>
            <a:ext cx="1280160" cy="219456"/>
          </a:xfrm>
          <a:prstGeom prst="rect">
            <a:avLst/>
          </a:prstGeom>
          <a:noFill/>
          <a:ln/>
        </p:spPr>
        <p:txBody>
          <a:bodyPr wrap="square" lIns="0" tIns="0" rIns="0" bIns="0" rtlCol="0" anchor="ctr"/>
          <a:lstStyle/>
          <a:p>
            <a:pPr marL="0" indent="0" algn="ctr">
              <a:buNone/>
            </a:pPr>
            <a:r>
              <a:rPr lang="en-US" sz="950" b="1" dirty="0">
                <a:solidFill>
                  <a:srgbClr val="041E47"/>
                </a:solidFill>
                <a:latin typeface="Aptos" pitchFamily="34" charset="0"/>
                <a:ea typeface="Aptos" pitchFamily="34" charset="-122"/>
                <a:cs typeface="Aptos" pitchFamily="34" charset="-120"/>
              </a:rPr>
              <a:t>Rs. 75.025B</a:t>
            </a:r>
            <a:endParaRPr lang="en-US" sz="950" dirty="0"/>
          </a:p>
        </p:txBody>
      </p:sp>
      <p:sp>
        <p:nvSpPr>
          <p:cNvPr id="21" name="Text 19"/>
          <p:cNvSpPr/>
          <p:nvPr/>
        </p:nvSpPr>
        <p:spPr>
          <a:xfrm>
            <a:off x="5093208" y="3360187"/>
            <a:ext cx="1280160" cy="201168"/>
          </a:xfrm>
          <a:prstGeom prst="rect">
            <a:avLst/>
          </a:prstGeom>
          <a:noFill/>
          <a:ln/>
        </p:spPr>
        <p:txBody>
          <a:bodyPr wrap="square" lIns="0" tIns="0" rIns="0" bIns="0" rtlCol="0" anchor="ctr"/>
          <a:lstStyle/>
          <a:p>
            <a:pPr marL="0" indent="0" algn="ctr">
              <a:buNone/>
            </a:pPr>
            <a:r>
              <a:rPr lang="en-US" sz="850" dirty="0">
                <a:solidFill>
                  <a:srgbClr val="6B7280"/>
                </a:solidFill>
                <a:latin typeface="Aptos" pitchFamily="34" charset="0"/>
                <a:ea typeface="Aptos" pitchFamily="34" charset="-122"/>
                <a:cs typeface="Aptos" pitchFamily="34" charset="-120"/>
              </a:rPr>
              <a:t>ex-FX &amp; exceptional</a:t>
            </a:r>
            <a:endParaRPr lang="en-US" sz="850" dirty="0"/>
          </a:p>
        </p:txBody>
      </p:sp>
      <p:sp>
        <p:nvSpPr>
          <p:cNvPr id="22" name="Text 20"/>
          <p:cNvSpPr/>
          <p:nvPr/>
        </p:nvSpPr>
        <p:spPr>
          <a:xfrm>
            <a:off x="4434840" y="4974336"/>
            <a:ext cx="1755648" cy="237744"/>
          </a:xfrm>
          <a:prstGeom prst="rect">
            <a:avLst/>
          </a:prstGeom>
          <a:noFill/>
          <a:ln/>
        </p:spPr>
        <p:txBody>
          <a:bodyPr wrap="square" lIns="0" tIns="0" rIns="0" bIns="0" rtlCol="0" anchor="ctr"/>
          <a:lstStyle/>
          <a:p>
            <a:pPr marL="0" indent="0" algn="ctr">
              <a:buNone/>
            </a:pPr>
            <a:r>
              <a:rPr lang="en-US" sz="1100" b="1" dirty="0">
                <a:solidFill>
                  <a:srgbClr val="041E47"/>
                </a:solidFill>
                <a:latin typeface="Aptos" pitchFamily="34" charset="0"/>
                <a:ea typeface="Aptos" pitchFamily="34" charset="-122"/>
                <a:cs typeface="Aptos" pitchFamily="34" charset="-120"/>
              </a:rPr>
              <a:t>PAT</a:t>
            </a:r>
            <a:endParaRPr lang="en-US" sz="1100" dirty="0"/>
          </a:p>
        </p:txBody>
      </p:sp>
      <p:sp>
        <p:nvSpPr>
          <p:cNvPr id="23" name="Text 21"/>
          <p:cNvSpPr/>
          <p:nvPr/>
        </p:nvSpPr>
        <p:spPr>
          <a:xfrm>
            <a:off x="502920" y="5266944"/>
            <a:ext cx="6446520" cy="219456"/>
          </a:xfrm>
          <a:prstGeom prst="rect">
            <a:avLst/>
          </a:prstGeom>
          <a:noFill/>
          <a:ln/>
        </p:spPr>
        <p:txBody>
          <a:bodyPr wrap="square" lIns="0" tIns="0" rIns="0" bIns="0" rtlCol="0" anchor="ctr"/>
          <a:lstStyle/>
          <a:p>
            <a:pPr marL="0" indent="0">
              <a:buNone/>
            </a:pPr>
            <a:r>
              <a:rPr lang="en-US" sz="900" dirty="0">
                <a:solidFill>
                  <a:srgbClr val="6B7280"/>
                </a:solidFill>
                <a:latin typeface="Aptos" pitchFamily="34" charset="0"/>
                <a:ea typeface="Aptos" pitchFamily="34" charset="-122"/>
                <a:cs typeface="Aptos" pitchFamily="34" charset="-120"/>
              </a:rPr>
              <a:t>EBITDAR margin 26.3% -&gt; 17.8%   -   PBT -125.8%   -   PAT -133.0%   -   profit ex-FX &amp; exceptional -15.4%</a:t>
            </a:r>
            <a:endParaRPr lang="en-US" sz="900" dirty="0"/>
          </a:p>
        </p:txBody>
      </p:sp>
      <p:sp>
        <p:nvSpPr>
          <p:cNvPr id="24" name="Shape 22"/>
          <p:cNvSpPr/>
          <p:nvPr/>
        </p:nvSpPr>
        <p:spPr>
          <a:xfrm>
            <a:off x="7223760" y="1444752"/>
            <a:ext cx="5486" cy="3675888"/>
          </a:xfrm>
          <a:prstGeom prst="rect">
            <a:avLst/>
          </a:prstGeom>
          <a:solidFill>
            <a:srgbClr val="C9D8F2"/>
          </a:solidFill>
          <a:ln/>
        </p:spPr>
      </p:sp>
      <p:sp>
        <p:nvSpPr>
          <p:cNvPr id="25" name="Text 23"/>
          <p:cNvSpPr/>
          <p:nvPr/>
        </p:nvSpPr>
        <p:spPr>
          <a:xfrm>
            <a:off x="7461504" y="1444752"/>
            <a:ext cx="36576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CASH QUALITY</a:t>
            </a:r>
            <a:endParaRPr lang="en-US" sz="1000" dirty="0"/>
          </a:p>
        </p:txBody>
      </p:sp>
      <p:sp>
        <p:nvSpPr>
          <p:cNvPr id="26" name="Shape 24"/>
          <p:cNvSpPr/>
          <p:nvPr/>
        </p:nvSpPr>
        <p:spPr>
          <a:xfrm>
            <a:off x="7461504" y="1700784"/>
            <a:ext cx="4224528" cy="1554480"/>
          </a:xfrm>
          <a:prstGeom prst="rect">
            <a:avLst/>
          </a:prstGeom>
          <a:solidFill>
            <a:srgbClr val="F4F7FD"/>
          </a:solidFill>
          <a:ln/>
        </p:spPr>
      </p:sp>
      <p:sp>
        <p:nvSpPr>
          <p:cNvPr id="27" name="Text 25"/>
          <p:cNvSpPr/>
          <p:nvPr/>
        </p:nvSpPr>
        <p:spPr>
          <a:xfrm>
            <a:off x="7626096" y="1773936"/>
            <a:ext cx="2011680" cy="256032"/>
          </a:xfrm>
          <a:prstGeom prst="rect">
            <a:avLst/>
          </a:prstGeom>
          <a:noFill/>
          <a:ln/>
        </p:spPr>
        <p:txBody>
          <a:bodyPr wrap="square" lIns="0" tIns="0" rIns="0" bIns="0" rtlCol="0" anchor="ctr"/>
          <a:lstStyle/>
          <a:p>
            <a:pPr marL="0" indent="0">
              <a:buNone/>
            </a:pPr>
            <a:r>
              <a:rPr lang="en-US" sz="1000" dirty="0">
                <a:solidFill>
                  <a:srgbClr val="46577A"/>
                </a:solidFill>
                <a:latin typeface="Aptos" pitchFamily="34" charset="0"/>
                <a:ea typeface="Aptos" pitchFamily="34" charset="-122"/>
                <a:cs typeface="Aptos" pitchFamily="34" charset="-120"/>
              </a:rPr>
              <a:t>Operating cash flow</a:t>
            </a:r>
            <a:endParaRPr lang="en-US" sz="1000" dirty="0"/>
          </a:p>
        </p:txBody>
      </p:sp>
      <p:sp>
        <p:nvSpPr>
          <p:cNvPr id="28" name="Text 26"/>
          <p:cNvSpPr/>
          <p:nvPr/>
        </p:nvSpPr>
        <p:spPr>
          <a:xfrm>
            <a:off x="9637776" y="1773936"/>
            <a:ext cx="1207008" cy="256032"/>
          </a:xfrm>
          <a:prstGeom prst="rect">
            <a:avLst/>
          </a:prstGeom>
          <a:noFill/>
          <a:ln/>
        </p:spPr>
        <p:txBody>
          <a:bodyPr wrap="square" lIns="0" tIns="0" rIns="0" bIns="0" rtlCol="0" anchor="ctr"/>
          <a:lstStyle/>
          <a:p>
            <a:pPr marL="0" indent="0" algn="r">
              <a:buNone/>
            </a:pPr>
            <a:r>
              <a:rPr lang="en-US" sz="1100" b="1" dirty="0">
                <a:solidFill>
                  <a:srgbClr val="041E47"/>
                </a:solidFill>
                <a:latin typeface="Aptos" pitchFamily="34" charset="0"/>
                <a:ea typeface="Aptos" pitchFamily="34" charset="-122"/>
                <a:cs typeface="Aptos" pitchFamily="34" charset="-120"/>
              </a:rPr>
              <a:t>Rs. 234.699B</a:t>
            </a:r>
            <a:endParaRPr lang="en-US" sz="1100" dirty="0"/>
          </a:p>
        </p:txBody>
      </p:sp>
      <p:sp>
        <p:nvSpPr>
          <p:cNvPr id="29" name="Text 27"/>
          <p:cNvSpPr/>
          <p:nvPr/>
        </p:nvSpPr>
        <p:spPr>
          <a:xfrm>
            <a:off x="10863072" y="1773936"/>
            <a:ext cx="694944" cy="256032"/>
          </a:xfrm>
          <a:prstGeom prst="rect">
            <a:avLst/>
          </a:prstGeom>
          <a:noFill/>
          <a:ln/>
        </p:spPr>
        <p:txBody>
          <a:bodyPr wrap="square" lIns="0" tIns="0" rIns="0" bIns="0" rtlCol="0" anchor="ctr"/>
          <a:lstStyle/>
          <a:p>
            <a:pPr marL="0" indent="0" algn="r">
              <a:buNone/>
            </a:pPr>
            <a:r>
              <a:rPr lang="en-US" sz="950" dirty="0">
                <a:solidFill>
                  <a:srgbClr val="6B7280"/>
                </a:solidFill>
                <a:latin typeface="Aptos" pitchFamily="34" charset="0"/>
                <a:ea typeface="Aptos" pitchFamily="34" charset="-122"/>
                <a:cs typeface="Aptos" pitchFamily="34" charset="-120"/>
              </a:rPr>
              <a:t>-2.8%</a:t>
            </a:r>
            <a:endParaRPr lang="en-US" sz="950" dirty="0"/>
          </a:p>
        </p:txBody>
      </p:sp>
      <p:sp>
        <p:nvSpPr>
          <p:cNvPr id="30" name="Text 28"/>
          <p:cNvSpPr/>
          <p:nvPr/>
        </p:nvSpPr>
        <p:spPr>
          <a:xfrm>
            <a:off x="7626096" y="2066544"/>
            <a:ext cx="2011680" cy="256032"/>
          </a:xfrm>
          <a:prstGeom prst="rect">
            <a:avLst/>
          </a:prstGeom>
          <a:noFill/>
          <a:ln/>
        </p:spPr>
        <p:txBody>
          <a:bodyPr wrap="square" lIns="0" tIns="0" rIns="0" bIns="0" rtlCol="0" anchor="ctr"/>
          <a:lstStyle/>
          <a:p>
            <a:pPr marL="0" indent="0">
              <a:buNone/>
            </a:pPr>
            <a:r>
              <a:rPr lang="en-US" sz="1000" dirty="0">
                <a:solidFill>
                  <a:srgbClr val="46577A"/>
                </a:solidFill>
                <a:latin typeface="Aptos" pitchFamily="34" charset="0"/>
                <a:ea typeface="Aptos" pitchFamily="34" charset="-122"/>
                <a:cs typeface="Aptos" pitchFamily="34" charset="-120"/>
              </a:rPr>
              <a:t>Free cash flow</a:t>
            </a:r>
            <a:endParaRPr lang="en-US" sz="1000" dirty="0"/>
          </a:p>
        </p:txBody>
      </p:sp>
      <p:sp>
        <p:nvSpPr>
          <p:cNvPr id="31" name="Text 29"/>
          <p:cNvSpPr/>
          <p:nvPr/>
        </p:nvSpPr>
        <p:spPr>
          <a:xfrm>
            <a:off x="9637776" y="2066544"/>
            <a:ext cx="1207008" cy="256032"/>
          </a:xfrm>
          <a:prstGeom prst="rect">
            <a:avLst/>
          </a:prstGeom>
          <a:noFill/>
          <a:ln/>
        </p:spPr>
        <p:txBody>
          <a:bodyPr wrap="square" lIns="0" tIns="0" rIns="0" bIns="0" rtlCol="0" anchor="ctr"/>
          <a:lstStyle/>
          <a:p>
            <a:pPr marL="0" indent="0" algn="r">
              <a:buNone/>
            </a:pPr>
            <a:r>
              <a:rPr lang="en-US" sz="1100" b="1" dirty="0">
                <a:solidFill>
                  <a:srgbClr val="041E47"/>
                </a:solidFill>
                <a:latin typeface="Aptos" pitchFamily="34" charset="0"/>
                <a:ea typeface="Aptos" pitchFamily="34" charset="-122"/>
                <a:cs typeface="Aptos" pitchFamily="34" charset="-120"/>
              </a:rPr>
              <a:t>Rs. 211.981B</a:t>
            </a:r>
            <a:endParaRPr lang="en-US" sz="1100" dirty="0"/>
          </a:p>
        </p:txBody>
      </p:sp>
      <p:sp>
        <p:nvSpPr>
          <p:cNvPr id="32" name="Text 30"/>
          <p:cNvSpPr/>
          <p:nvPr/>
        </p:nvSpPr>
        <p:spPr>
          <a:xfrm>
            <a:off x="10863072" y="2066544"/>
            <a:ext cx="694944" cy="256032"/>
          </a:xfrm>
          <a:prstGeom prst="rect">
            <a:avLst/>
          </a:prstGeom>
          <a:noFill/>
          <a:ln/>
        </p:spPr>
        <p:txBody>
          <a:bodyPr wrap="square" lIns="0" tIns="0" rIns="0" bIns="0" rtlCol="0" anchor="ctr"/>
          <a:lstStyle/>
          <a:p>
            <a:pPr marL="0" indent="0" algn="r">
              <a:buNone/>
            </a:pPr>
            <a:endParaRPr lang="en-US" sz="950" dirty="0"/>
          </a:p>
        </p:txBody>
      </p:sp>
      <p:sp>
        <p:nvSpPr>
          <p:cNvPr id="33" name="Text 31"/>
          <p:cNvSpPr/>
          <p:nvPr/>
        </p:nvSpPr>
        <p:spPr>
          <a:xfrm>
            <a:off x="7626096" y="2359152"/>
            <a:ext cx="2011680" cy="256032"/>
          </a:xfrm>
          <a:prstGeom prst="rect">
            <a:avLst/>
          </a:prstGeom>
          <a:noFill/>
          <a:ln/>
        </p:spPr>
        <p:txBody>
          <a:bodyPr wrap="square" lIns="0" tIns="0" rIns="0" bIns="0" rtlCol="0" anchor="ctr"/>
          <a:lstStyle/>
          <a:p>
            <a:pPr marL="0" indent="0">
              <a:buNone/>
            </a:pPr>
            <a:r>
              <a:rPr lang="en-US" sz="1000" dirty="0">
                <a:solidFill>
                  <a:srgbClr val="46577A"/>
                </a:solidFill>
                <a:latin typeface="Aptos" pitchFamily="34" charset="0"/>
                <a:ea typeface="Aptos" pitchFamily="34" charset="-122"/>
                <a:cs typeface="Aptos" pitchFamily="34" charset="-120"/>
              </a:rPr>
              <a:t>OCF / EBITDAR</a:t>
            </a:r>
            <a:endParaRPr lang="en-US" sz="1000" dirty="0"/>
          </a:p>
        </p:txBody>
      </p:sp>
      <p:sp>
        <p:nvSpPr>
          <p:cNvPr id="34" name="Text 32"/>
          <p:cNvSpPr/>
          <p:nvPr/>
        </p:nvSpPr>
        <p:spPr>
          <a:xfrm>
            <a:off x="9637776" y="2359152"/>
            <a:ext cx="1207008" cy="256032"/>
          </a:xfrm>
          <a:prstGeom prst="rect">
            <a:avLst/>
          </a:prstGeom>
          <a:noFill/>
          <a:ln/>
        </p:spPr>
        <p:txBody>
          <a:bodyPr wrap="square" lIns="0" tIns="0" rIns="0" bIns="0" rtlCol="0" anchor="ctr"/>
          <a:lstStyle/>
          <a:p>
            <a:pPr marL="0" indent="0" algn="r">
              <a:buNone/>
            </a:pPr>
            <a:r>
              <a:rPr lang="en-US" sz="1100" b="1" dirty="0">
                <a:solidFill>
                  <a:srgbClr val="041E47"/>
                </a:solidFill>
                <a:latin typeface="Aptos" pitchFamily="34" charset="0"/>
                <a:ea typeface="Aptos" pitchFamily="34" charset="-122"/>
                <a:cs typeface="Aptos" pitchFamily="34" charset="-120"/>
              </a:rPr>
              <a:t>1.56x</a:t>
            </a:r>
            <a:endParaRPr lang="en-US" sz="1100" dirty="0"/>
          </a:p>
        </p:txBody>
      </p:sp>
      <p:sp>
        <p:nvSpPr>
          <p:cNvPr id="35" name="Text 33"/>
          <p:cNvSpPr/>
          <p:nvPr/>
        </p:nvSpPr>
        <p:spPr>
          <a:xfrm>
            <a:off x="10863072" y="2359152"/>
            <a:ext cx="694944" cy="256032"/>
          </a:xfrm>
          <a:prstGeom prst="rect">
            <a:avLst/>
          </a:prstGeom>
          <a:noFill/>
          <a:ln/>
        </p:spPr>
        <p:txBody>
          <a:bodyPr wrap="square" lIns="0" tIns="0" rIns="0" bIns="0" rtlCol="0" anchor="ctr"/>
          <a:lstStyle/>
          <a:p>
            <a:pPr marL="0" indent="0" algn="r">
              <a:buNone/>
            </a:pPr>
            <a:endParaRPr lang="en-US" sz="950" dirty="0"/>
          </a:p>
        </p:txBody>
      </p:sp>
      <p:sp>
        <p:nvSpPr>
          <p:cNvPr id="36" name="Text 34"/>
          <p:cNvSpPr/>
          <p:nvPr/>
        </p:nvSpPr>
        <p:spPr>
          <a:xfrm>
            <a:off x="7626096" y="2651760"/>
            <a:ext cx="2011680" cy="256032"/>
          </a:xfrm>
          <a:prstGeom prst="rect">
            <a:avLst/>
          </a:prstGeom>
          <a:noFill/>
          <a:ln/>
        </p:spPr>
        <p:txBody>
          <a:bodyPr wrap="square" lIns="0" tIns="0" rIns="0" bIns="0" rtlCol="0" anchor="ctr"/>
          <a:lstStyle/>
          <a:p>
            <a:pPr marL="0" indent="0">
              <a:buNone/>
            </a:pPr>
            <a:r>
              <a:rPr lang="en-US" sz="1000" dirty="0">
                <a:solidFill>
                  <a:srgbClr val="46577A"/>
                </a:solidFill>
                <a:latin typeface="Aptos" pitchFamily="34" charset="0"/>
                <a:ea typeface="Aptos" pitchFamily="34" charset="-122"/>
                <a:cs typeface="Aptos" pitchFamily="34" charset="-120"/>
              </a:rPr>
              <a:t>FCF / EBITDAR</a:t>
            </a:r>
            <a:endParaRPr lang="en-US" sz="1000" dirty="0"/>
          </a:p>
        </p:txBody>
      </p:sp>
      <p:sp>
        <p:nvSpPr>
          <p:cNvPr id="37" name="Text 35"/>
          <p:cNvSpPr/>
          <p:nvPr/>
        </p:nvSpPr>
        <p:spPr>
          <a:xfrm>
            <a:off x="9637776" y="2651760"/>
            <a:ext cx="1207008" cy="256032"/>
          </a:xfrm>
          <a:prstGeom prst="rect">
            <a:avLst/>
          </a:prstGeom>
          <a:noFill/>
          <a:ln/>
        </p:spPr>
        <p:txBody>
          <a:bodyPr wrap="square" lIns="0" tIns="0" rIns="0" bIns="0" rtlCol="0" anchor="ctr"/>
          <a:lstStyle/>
          <a:p>
            <a:pPr marL="0" indent="0" algn="r">
              <a:buNone/>
            </a:pPr>
            <a:r>
              <a:rPr lang="en-US" sz="1100" b="1" dirty="0">
                <a:solidFill>
                  <a:srgbClr val="041E47"/>
                </a:solidFill>
                <a:latin typeface="Aptos" pitchFamily="34" charset="0"/>
                <a:ea typeface="Aptos" pitchFamily="34" charset="-122"/>
                <a:cs typeface="Aptos" pitchFamily="34" charset="-120"/>
              </a:rPr>
              <a:t>1.41x</a:t>
            </a:r>
            <a:endParaRPr lang="en-US" sz="1100" dirty="0"/>
          </a:p>
        </p:txBody>
      </p:sp>
      <p:sp>
        <p:nvSpPr>
          <p:cNvPr id="38" name="Text 36"/>
          <p:cNvSpPr/>
          <p:nvPr/>
        </p:nvSpPr>
        <p:spPr>
          <a:xfrm>
            <a:off x="10863072" y="2651760"/>
            <a:ext cx="694944" cy="256032"/>
          </a:xfrm>
          <a:prstGeom prst="rect">
            <a:avLst/>
          </a:prstGeom>
          <a:noFill/>
          <a:ln/>
        </p:spPr>
        <p:txBody>
          <a:bodyPr wrap="square" lIns="0" tIns="0" rIns="0" bIns="0" rtlCol="0" anchor="ctr"/>
          <a:lstStyle/>
          <a:p>
            <a:pPr marL="0" indent="0" algn="r">
              <a:buNone/>
            </a:pPr>
            <a:endParaRPr lang="en-US" sz="950" dirty="0"/>
          </a:p>
        </p:txBody>
      </p:sp>
      <p:sp>
        <p:nvSpPr>
          <p:cNvPr id="39" name="Text 37"/>
          <p:cNvSpPr/>
          <p:nvPr/>
        </p:nvSpPr>
        <p:spPr>
          <a:xfrm>
            <a:off x="7626096" y="2944368"/>
            <a:ext cx="2011680" cy="256032"/>
          </a:xfrm>
          <a:prstGeom prst="rect">
            <a:avLst/>
          </a:prstGeom>
          <a:noFill/>
          <a:ln/>
        </p:spPr>
        <p:txBody>
          <a:bodyPr wrap="square" lIns="0" tIns="0" rIns="0" bIns="0" rtlCol="0" anchor="ctr"/>
          <a:lstStyle/>
          <a:p>
            <a:pPr marL="0" indent="0">
              <a:buNone/>
            </a:pPr>
            <a:r>
              <a:rPr lang="en-US" sz="1000" dirty="0">
                <a:solidFill>
                  <a:srgbClr val="46577A"/>
                </a:solidFill>
                <a:latin typeface="Aptos" pitchFamily="34" charset="0"/>
                <a:ea typeface="Aptos" pitchFamily="34" charset="-122"/>
                <a:cs typeface="Aptos" pitchFamily="34" charset="-120"/>
              </a:rPr>
              <a:t>Lease cash outflow</a:t>
            </a:r>
            <a:endParaRPr lang="en-US" sz="1000" dirty="0"/>
          </a:p>
        </p:txBody>
      </p:sp>
      <p:sp>
        <p:nvSpPr>
          <p:cNvPr id="40" name="Text 38"/>
          <p:cNvSpPr/>
          <p:nvPr/>
        </p:nvSpPr>
        <p:spPr>
          <a:xfrm>
            <a:off x="9637776" y="2944368"/>
            <a:ext cx="1207008" cy="256032"/>
          </a:xfrm>
          <a:prstGeom prst="rect">
            <a:avLst/>
          </a:prstGeom>
          <a:noFill/>
          <a:ln/>
        </p:spPr>
        <p:txBody>
          <a:bodyPr wrap="square" lIns="0" tIns="0" rIns="0" bIns="0" rtlCol="0" anchor="ctr"/>
          <a:lstStyle/>
          <a:p>
            <a:pPr marL="0" indent="0" algn="r">
              <a:buNone/>
            </a:pPr>
            <a:r>
              <a:rPr lang="en-US" sz="1100" b="1" dirty="0">
                <a:solidFill>
                  <a:srgbClr val="041E47"/>
                </a:solidFill>
                <a:latin typeface="Aptos" pitchFamily="34" charset="0"/>
                <a:ea typeface="Aptos" pitchFamily="34" charset="-122"/>
                <a:cs typeface="Aptos" pitchFamily="34" charset="-120"/>
              </a:rPr>
              <a:t>Rs. 209.031B</a:t>
            </a:r>
            <a:endParaRPr lang="en-US" sz="1100" dirty="0"/>
          </a:p>
        </p:txBody>
      </p:sp>
      <p:sp>
        <p:nvSpPr>
          <p:cNvPr id="41" name="Text 39"/>
          <p:cNvSpPr/>
          <p:nvPr/>
        </p:nvSpPr>
        <p:spPr>
          <a:xfrm>
            <a:off x="10863072" y="2944368"/>
            <a:ext cx="694944" cy="256032"/>
          </a:xfrm>
          <a:prstGeom prst="rect">
            <a:avLst/>
          </a:prstGeom>
          <a:noFill/>
          <a:ln/>
        </p:spPr>
        <p:txBody>
          <a:bodyPr wrap="square" lIns="0" tIns="0" rIns="0" bIns="0" rtlCol="0" anchor="ctr"/>
          <a:lstStyle/>
          <a:p>
            <a:pPr marL="0" indent="0" algn="r">
              <a:buNone/>
            </a:pPr>
            <a:endParaRPr lang="en-US" sz="950" dirty="0"/>
          </a:p>
        </p:txBody>
      </p:sp>
      <p:sp>
        <p:nvSpPr>
          <p:cNvPr id="42" name="Shape 40"/>
          <p:cNvSpPr/>
          <p:nvPr/>
        </p:nvSpPr>
        <p:spPr>
          <a:xfrm>
            <a:off x="7461504" y="3419856"/>
            <a:ext cx="894283" cy="173736"/>
          </a:xfrm>
          <a:prstGeom prst="rect">
            <a:avLst/>
          </a:prstGeom>
          <a:solidFill>
            <a:srgbClr val="FFFFFF"/>
          </a:solidFill>
          <a:ln w="9525">
            <a:solidFill>
              <a:srgbClr val="46577A"/>
            </a:solidFill>
            <a:prstDash val="solid"/>
          </a:ln>
        </p:spPr>
      </p:sp>
      <p:sp>
        <p:nvSpPr>
          <p:cNvPr id="43" name="Text 41"/>
          <p:cNvSpPr/>
          <p:nvPr/>
        </p:nvSpPr>
        <p:spPr>
          <a:xfrm>
            <a:off x="7461504" y="3419856"/>
            <a:ext cx="894283" cy="173736"/>
          </a:xfrm>
          <a:prstGeom prst="rect">
            <a:avLst/>
          </a:prstGeom>
          <a:noFill/>
          <a:ln/>
        </p:spPr>
        <p:txBody>
          <a:bodyPr wrap="square" lIns="0" tIns="0" rIns="0" bIns="0" rtlCol="0" anchor="ctr"/>
          <a:lstStyle/>
          <a:p>
            <a:pPr marL="0" indent="0" algn="ctr">
              <a:buNone/>
            </a:pPr>
            <a:r>
              <a:rPr lang="en-US" sz="900" b="1" dirty="0">
                <a:solidFill>
                  <a:srgbClr val="46577A"/>
                </a:solidFill>
                <a:latin typeface="Aptos" pitchFamily="34" charset="0"/>
                <a:ea typeface="Aptos" pitchFamily="34" charset="-122"/>
                <a:cs typeface="Aptos" pitchFamily="34" charset="-120"/>
              </a:rPr>
              <a:t>INFERENCE</a:t>
            </a:r>
            <a:endParaRPr lang="en-US" sz="900" dirty="0"/>
          </a:p>
        </p:txBody>
      </p:sp>
      <p:sp>
        <p:nvSpPr>
          <p:cNvPr id="44" name="Text 42"/>
          <p:cNvSpPr/>
          <p:nvPr/>
        </p:nvSpPr>
        <p:spPr>
          <a:xfrm>
            <a:off x="7461504" y="3675888"/>
            <a:ext cx="4224528" cy="713232"/>
          </a:xfrm>
          <a:prstGeom prst="rect">
            <a:avLst/>
          </a:prstGeom>
          <a:noFill/>
          <a:ln/>
        </p:spPr>
        <p:txBody>
          <a:bodyPr wrap="square" lIns="0" tIns="0" rIns="0" bIns="0" rtlCol="0" anchor="t"/>
          <a:lstStyle/>
          <a:p>
            <a:pPr marL="0" indent="0">
              <a:buNone/>
            </a:pPr>
            <a:r>
              <a:rPr lang="en-US" sz="1000" dirty="0">
                <a:solidFill>
                  <a:srgbClr val="46577A"/>
                </a:solidFill>
                <a:latin typeface="Aptos" pitchFamily="34" charset="0"/>
                <a:ea typeface="Aptos" pitchFamily="34" charset="-122"/>
                <a:cs typeface="Aptos" pitchFamily="34" charset="-120"/>
              </a:rPr>
              <a:t>FX movements, not operating deterioration alone, account for the majority of the headline EBITDAR decline. But EBITDAR ex-FX growth of 1.4% still trails revenue growth of 5.1%, so some non-FX margin pressure remains.</a:t>
            </a:r>
            <a:endParaRPr lang="en-US" sz="1000" dirty="0"/>
          </a:p>
        </p:txBody>
      </p:sp>
      <p:sp>
        <p:nvSpPr>
          <p:cNvPr id="45" name="Shape 43"/>
          <p:cNvSpPr/>
          <p:nvPr/>
        </p:nvSpPr>
        <p:spPr>
          <a:xfrm>
            <a:off x="7461504" y="4498848"/>
            <a:ext cx="1044245" cy="173736"/>
          </a:xfrm>
          <a:prstGeom prst="rect">
            <a:avLst/>
          </a:prstGeom>
          <a:solidFill>
            <a:srgbClr val="FFFFFF"/>
          </a:solidFill>
          <a:ln w="9525">
            <a:solidFill>
              <a:srgbClr val="0032A0"/>
            </a:solidFill>
            <a:prstDash val="solid"/>
          </a:ln>
        </p:spPr>
      </p:sp>
      <p:sp>
        <p:nvSpPr>
          <p:cNvPr id="46" name="Text 44"/>
          <p:cNvSpPr/>
          <p:nvPr/>
        </p:nvSpPr>
        <p:spPr>
          <a:xfrm>
            <a:off x="7461504" y="4498848"/>
            <a:ext cx="1044245" cy="173736"/>
          </a:xfrm>
          <a:prstGeom prst="rect">
            <a:avLst/>
          </a:prstGeom>
          <a:noFill/>
          <a:ln/>
        </p:spPr>
        <p:txBody>
          <a:bodyPr wrap="square" lIns="0" tIns="0" rIns="0" bIns="0" rtlCol="0" anchor="ctr"/>
          <a:lstStyle/>
          <a:p>
            <a:pPr marL="0" indent="0" algn="ctr">
              <a:buNone/>
            </a:pPr>
            <a:r>
              <a:rPr lang="en-US" sz="900" b="1" dirty="0">
                <a:solidFill>
                  <a:srgbClr val="0032A0"/>
                </a:solidFill>
                <a:latin typeface="Aptos" pitchFamily="34" charset="0"/>
                <a:ea typeface="Aptos" pitchFamily="34" charset="-122"/>
                <a:cs typeface="Aptos" pitchFamily="34" charset="-120"/>
              </a:rPr>
              <a:t>CALCULATION</a:t>
            </a:r>
            <a:endParaRPr lang="en-US" sz="900" dirty="0"/>
          </a:p>
        </p:txBody>
      </p:sp>
      <p:sp>
        <p:nvSpPr>
          <p:cNvPr id="47" name="Text 45"/>
          <p:cNvSpPr/>
          <p:nvPr/>
        </p:nvSpPr>
        <p:spPr>
          <a:xfrm>
            <a:off x="7461504" y="4754880"/>
            <a:ext cx="4224528" cy="402336"/>
          </a:xfrm>
          <a:prstGeom prst="rect">
            <a:avLst/>
          </a:prstGeom>
          <a:noFill/>
          <a:ln/>
        </p:spPr>
        <p:txBody>
          <a:bodyPr wrap="square" lIns="0" tIns="0" rIns="0" bIns="0" rtlCol="0" anchor="t"/>
          <a:lstStyle/>
          <a:p>
            <a:pPr marL="0" indent="0">
              <a:buNone/>
            </a:pPr>
            <a:r>
              <a:rPr lang="en-US" sz="1000" dirty="0">
                <a:solidFill>
                  <a:srgbClr val="46577A"/>
                </a:solidFill>
                <a:latin typeface="Aptos" pitchFamily="34" charset="0"/>
                <a:ea typeface="Aptos" pitchFamily="34" charset="-122"/>
                <a:cs typeface="Aptos" pitchFamily="34" charset="-120"/>
              </a:rPr>
              <a:t>FCF exceeded reported PAT by ~Rs. 235.917B, reflecting non-cash and non-operating adjustments.</a:t>
            </a:r>
            <a:endParaRPr lang="en-US" sz="1000" dirty="0"/>
          </a:p>
        </p:txBody>
      </p:sp>
      <p:sp>
        <p:nvSpPr>
          <p:cNvPr id="48" name="Shape 46"/>
          <p:cNvSpPr/>
          <p:nvPr/>
        </p:nvSpPr>
        <p:spPr>
          <a:xfrm>
            <a:off x="502920" y="5687568"/>
            <a:ext cx="11185855" cy="475488"/>
          </a:xfrm>
          <a:prstGeom prst="rect">
            <a:avLst/>
          </a:prstGeom>
          <a:solidFill>
            <a:srgbClr val="FFFFFF"/>
          </a:solidFill>
          <a:ln w="9525">
            <a:solidFill>
              <a:srgbClr val="6B7280"/>
            </a:solidFill>
            <a:prstDash val="dash"/>
          </a:ln>
        </p:spPr>
      </p:sp>
      <p:sp>
        <p:nvSpPr>
          <p:cNvPr id="49" name="Shape 47"/>
          <p:cNvSpPr/>
          <p:nvPr/>
        </p:nvSpPr>
        <p:spPr>
          <a:xfrm>
            <a:off x="594360" y="5838444"/>
            <a:ext cx="1344168" cy="173736"/>
          </a:xfrm>
          <a:prstGeom prst="rect">
            <a:avLst/>
          </a:prstGeom>
          <a:solidFill>
            <a:srgbClr val="FFFFFF"/>
          </a:solidFill>
          <a:ln w="9525">
            <a:solidFill>
              <a:srgbClr val="6B7280"/>
            </a:solidFill>
            <a:prstDash val="dash"/>
          </a:ln>
        </p:spPr>
      </p:sp>
      <p:sp>
        <p:nvSpPr>
          <p:cNvPr id="50" name="Text 48"/>
          <p:cNvSpPr/>
          <p:nvPr/>
        </p:nvSpPr>
        <p:spPr>
          <a:xfrm>
            <a:off x="594360" y="5838444"/>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51" name="Text 49"/>
          <p:cNvSpPr/>
          <p:nvPr/>
        </p:nvSpPr>
        <p:spPr>
          <a:xfrm>
            <a:off x="2048256" y="5724144"/>
            <a:ext cx="9530791" cy="402336"/>
          </a:xfrm>
          <a:prstGeom prst="rect">
            <a:avLst/>
          </a:prstGeom>
          <a:noFill/>
          <a:ln/>
        </p:spPr>
        <p:txBody>
          <a:bodyPr wrap="square" lIns="0" tIns="0" rIns="0" bIns="0" rtlCol="0" anchor="ctr"/>
          <a:lstStyle/>
          <a:p>
            <a:r>
              <a:rPr lang="en-IN" sz="1000" b="1" dirty="0"/>
              <a:t>EBITDAR is not equivalent to cash available for lease servicing.</a:t>
            </a:r>
            <a:endParaRPr lang="en-US" sz="950" b="1" dirty="0"/>
          </a:p>
        </p:txBody>
      </p:sp>
      <p:sp>
        <p:nvSpPr>
          <p:cNvPr id="52" name="Shape 50"/>
          <p:cNvSpPr/>
          <p:nvPr/>
        </p:nvSpPr>
        <p:spPr>
          <a:xfrm>
            <a:off x="502920" y="6309360"/>
            <a:ext cx="11185855" cy="5486"/>
          </a:xfrm>
          <a:prstGeom prst="rect">
            <a:avLst/>
          </a:prstGeom>
          <a:solidFill>
            <a:srgbClr val="C9D8F2"/>
          </a:solidFill>
          <a:ln/>
        </p:spPr>
      </p:sp>
      <p:sp>
        <p:nvSpPr>
          <p:cNvPr id="53" name="Text 51"/>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54" name="Text 52"/>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SRC-FY26-006 - 03_Financial_Evidence_Cash_Flow - 03_Financial_Evidence_Financial_Calculations - Appendix C</a:t>
            </a:r>
            <a:endParaRPr lang="en-US" sz="800" dirty="0"/>
          </a:p>
        </p:txBody>
      </p:sp>
      <p:sp>
        <p:nvSpPr>
          <p:cNvPr id="55" name="Shape 53"/>
          <p:cNvSpPr/>
          <p:nvPr/>
        </p:nvSpPr>
        <p:spPr>
          <a:xfrm>
            <a:off x="11484864" y="6364224"/>
            <a:ext cx="201168" cy="201168"/>
          </a:xfrm>
          <a:prstGeom prst="rect">
            <a:avLst/>
          </a:prstGeom>
          <a:solidFill>
            <a:srgbClr val="0032A0"/>
          </a:solidFill>
          <a:ln/>
        </p:spPr>
      </p:sp>
      <p:sp>
        <p:nvSpPr>
          <p:cNvPr id="56" name="Text 54"/>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07 - THE DIAGNOSIS</a:t>
            </a:r>
            <a:endParaRPr lang="en-US" sz="1000" dirty="0"/>
          </a:p>
        </p:txBody>
      </p:sp>
      <p:sp>
        <p:nvSpPr>
          <p:cNvPr id="3" name="Shape 1"/>
          <p:cNvSpPr/>
          <p:nvPr/>
        </p:nvSpPr>
        <p:spPr>
          <a:xfrm>
            <a:off x="502920" y="571500"/>
            <a:ext cx="1463040" cy="45720"/>
          </a:xfrm>
          <a:prstGeom prst="rect">
            <a:avLst/>
          </a:prstGeom>
          <a:solidFill>
            <a:srgbClr val="0032A0"/>
          </a:solidFill>
          <a:ln/>
        </p:spPr>
      </p:sp>
      <p:sp>
        <p:nvSpPr>
          <p:cNvPr id="4" name="Text 2"/>
          <p:cNvSpPr/>
          <p:nvPr/>
        </p:nvSpPr>
        <p:spPr>
          <a:xfrm>
            <a:off x="502920" y="603504"/>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A lease-financed fleet turns unabsorbed capacity straight into fixed cost</a:t>
            </a:r>
            <a:endParaRPr lang="en-US" sz="2250" dirty="0"/>
          </a:p>
        </p:txBody>
      </p:sp>
      <p:sp>
        <p:nvSpPr>
          <p:cNvPr id="5" name="Text 3"/>
          <p:cNvSpPr/>
          <p:nvPr/>
        </p:nvSpPr>
        <p:spPr>
          <a:xfrm>
            <a:off x="502920" y="1444752"/>
            <a:ext cx="64008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FLEET OWNERSHIP - 441 AIRCRAFT, 31 MARCH 2026</a:t>
            </a:r>
            <a:endParaRPr lang="en-US" sz="1000" dirty="0"/>
          </a:p>
        </p:txBody>
      </p:sp>
      <p:sp>
        <p:nvSpPr>
          <p:cNvPr id="6" name="Shape 4"/>
          <p:cNvSpPr/>
          <p:nvPr/>
        </p:nvSpPr>
        <p:spPr>
          <a:xfrm>
            <a:off x="502920" y="1737360"/>
            <a:ext cx="5198501" cy="566928"/>
          </a:xfrm>
          <a:prstGeom prst="rect">
            <a:avLst/>
          </a:prstGeom>
          <a:solidFill>
            <a:srgbClr val="041E47"/>
          </a:solidFill>
          <a:ln w="12700">
            <a:solidFill>
              <a:srgbClr val="FFFFFF"/>
            </a:solidFill>
            <a:prstDash val="solid"/>
          </a:ln>
        </p:spPr>
      </p:sp>
      <p:sp>
        <p:nvSpPr>
          <p:cNvPr id="7" name="Text 5"/>
          <p:cNvSpPr/>
          <p:nvPr/>
        </p:nvSpPr>
        <p:spPr>
          <a:xfrm>
            <a:off x="502920" y="1773936"/>
            <a:ext cx="5198501"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Operating lease</a:t>
            </a:r>
            <a:endParaRPr lang="en-US" sz="1000" dirty="0"/>
          </a:p>
        </p:txBody>
      </p:sp>
      <p:sp>
        <p:nvSpPr>
          <p:cNvPr id="8" name="Text 6"/>
          <p:cNvSpPr/>
          <p:nvPr/>
        </p:nvSpPr>
        <p:spPr>
          <a:xfrm>
            <a:off x="502920" y="2011680"/>
            <a:ext cx="5198501" cy="237744"/>
          </a:xfrm>
          <a:prstGeom prst="rect">
            <a:avLst/>
          </a:prstGeom>
          <a:noFill/>
          <a:ln/>
        </p:spPr>
        <p:txBody>
          <a:bodyPr wrap="square" lIns="0" tIns="0" rIns="0" bIns="0" rtlCol="0" anchor="ctr"/>
          <a:lstStyle/>
          <a:p>
            <a:pPr marL="0" indent="0" algn="ctr">
              <a:buNone/>
            </a:pPr>
            <a:r>
              <a:rPr lang="en-US" sz="900" dirty="0">
                <a:solidFill>
                  <a:srgbClr val="FFFFFF"/>
                </a:solidFill>
                <a:latin typeface="Aptos" pitchFamily="34" charset="0"/>
                <a:ea typeface="Aptos" pitchFamily="34" charset="-122"/>
                <a:cs typeface="Aptos" pitchFamily="34" charset="-120"/>
              </a:rPr>
              <a:t>332 aircraft - 75.3%</a:t>
            </a:r>
            <a:endParaRPr lang="en-US" sz="900" dirty="0"/>
          </a:p>
        </p:txBody>
      </p:sp>
      <p:sp>
        <p:nvSpPr>
          <p:cNvPr id="9" name="Shape 7"/>
          <p:cNvSpPr/>
          <p:nvPr/>
        </p:nvSpPr>
        <p:spPr>
          <a:xfrm>
            <a:off x="5701421" y="1737360"/>
            <a:ext cx="828446" cy="566928"/>
          </a:xfrm>
          <a:prstGeom prst="rect">
            <a:avLst/>
          </a:prstGeom>
          <a:solidFill>
            <a:srgbClr val="2F6BD8"/>
          </a:solidFill>
          <a:ln w="12700">
            <a:solidFill>
              <a:srgbClr val="FFFFFF"/>
            </a:solidFill>
            <a:prstDash val="solid"/>
          </a:ln>
        </p:spPr>
      </p:sp>
      <p:sp>
        <p:nvSpPr>
          <p:cNvPr id="10" name="Shape 8"/>
          <p:cNvSpPr/>
          <p:nvPr/>
        </p:nvSpPr>
        <p:spPr>
          <a:xfrm>
            <a:off x="6529868" y="1737360"/>
            <a:ext cx="566105" cy="566928"/>
          </a:xfrm>
          <a:prstGeom prst="rect">
            <a:avLst/>
          </a:prstGeom>
          <a:solidFill>
            <a:srgbClr val="7FA3E8"/>
          </a:solidFill>
          <a:ln w="12700">
            <a:solidFill>
              <a:srgbClr val="FFFFFF"/>
            </a:solidFill>
            <a:prstDash val="solid"/>
          </a:ln>
        </p:spPr>
      </p:sp>
      <p:sp>
        <p:nvSpPr>
          <p:cNvPr id="11" name="Shape 9"/>
          <p:cNvSpPr/>
          <p:nvPr/>
        </p:nvSpPr>
        <p:spPr>
          <a:xfrm>
            <a:off x="7095973" y="1737360"/>
            <a:ext cx="310667" cy="566928"/>
          </a:xfrm>
          <a:prstGeom prst="rect">
            <a:avLst/>
          </a:prstGeom>
          <a:solidFill>
            <a:srgbClr val="DCE7FA"/>
          </a:solidFill>
          <a:ln w="12700">
            <a:solidFill>
              <a:srgbClr val="FFFFFF"/>
            </a:solidFill>
            <a:prstDash val="solid"/>
          </a:ln>
        </p:spPr>
      </p:sp>
      <p:sp>
        <p:nvSpPr>
          <p:cNvPr id="12" name="Text 10"/>
          <p:cNvSpPr/>
          <p:nvPr/>
        </p:nvSpPr>
        <p:spPr>
          <a:xfrm>
            <a:off x="3200400" y="2340864"/>
            <a:ext cx="420624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Finance lease 53 (12.0%)   -   Owned 36 (8.2%)   -   Damp lease 20 (4.5%)</a:t>
            </a:r>
            <a:endParaRPr lang="en-US" sz="850" dirty="0"/>
          </a:p>
        </p:txBody>
      </p:sp>
      <p:sp>
        <p:nvSpPr>
          <p:cNvPr id="13" name="Text 11"/>
          <p:cNvSpPr/>
          <p:nvPr/>
        </p:nvSpPr>
        <p:spPr>
          <a:xfrm>
            <a:off x="502920" y="2688336"/>
            <a:ext cx="64008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DEBT STRUCTURE - Rs. 777.492B TOTAL REPORTED DEBT</a:t>
            </a:r>
            <a:endParaRPr lang="en-US" sz="1000" dirty="0"/>
          </a:p>
        </p:txBody>
      </p:sp>
      <p:sp>
        <p:nvSpPr>
          <p:cNvPr id="14" name="Shape 12"/>
          <p:cNvSpPr/>
          <p:nvPr/>
        </p:nvSpPr>
        <p:spPr>
          <a:xfrm>
            <a:off x="502920" y="2980944"/>
            <a:ext cx="4749759" cy="566928"/>
          </a:xfrm>
          <a:prstGeom prst="rect">
            <a:avLst/>
          </a:prstGeom>
          <a:solidFill>
            <a:srgbClr val="041E47"/>
          </a:solidFill>
          <a:ln w="12700">
            <a:solidFill>
              <a:srgbClr val="FFFFFF"/>
            </a:solidFill>
            <a:prstDash val="solid"/>
          </a:ln>
        </p:spPr>
      </p:sp>
      <p:sp>
        <p:nvSpPr>
          <p:cNvPr id="15" name="Text 13"/>
          <p:cNvSpPr/>
          <p:nvPr/>
        </p:nvSpPr>
        <p:spPr>
          <a:xfrm>
            <a:off x="557784" y="2980944"/>
            <a:ext cx="4640031" cy="566928"/>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Capitalised operating lease liability  Rs. 534.608B  -  68.8%</a:t>
            </a:r>
            <a:endParaRPr lang="en-US" sz="950" dirty="0"/>
          </a:p>
        </p:txBody>
      </p:sp>
      <p:sp>
        <p:nvSpPr>
          <p:cNvPr id="16" name="Shape 14"/>
          <p:cNvSpPr/>
          <p:nvPr/>
        </p:nvSpPr>
        <p:spPr>
          <a:xfrm>
            <a:off x="5252679" y="2980944"/>
            <a:ext cx="2153961" cy="566928"/>
          </a:xfrm>
          <a:prstGeom prst="rect">
            <a:avLst/>
          </a:prstGeom>
          <a:solidFill>
            <a:srgbClr val="DCE7FA"/>
          </a:solidFill>
          <a:ln w="12700">
            <a:solidFill>
              <a:srgbClr val="FFFFFF"/>
            </a:solidFill>
            <a:prstDash val="solid"/>
          </a:ln>
        </p:spPr>
      </p:sp>
      <p:sp>
        <p:nvSpPr>
          <p:cNvPr id="17" name="Text 15"/>
          <p:cNvSpPr/>
          <p:nvPr/>
        </p:nvSpPr>
        <p:spPr>
          <a:xfrm>
            <a:off x="5307543" y="2980944"/>
            <a:ext cx="2044233" cy="566928"/>
          </a:xfrm>
          <a:prstGeom prst="rect">
            <a:avLst/>
          </a:prstGeom>
          <a:noFill/>
          <a:ln/>
        </p:spPr>
        <p:txBody>
          <a:bodyPr wrap="square" lIns="0" tIns="0" rIns="0" bIns="0" rtlCol="0" anchor="ctr"/>
          <a:lstStyle/>
          <a:p>
            <a:pPr marL="0" indent="0" algn="ctr">
              <a:buNone/>
            </a:pPr>
            <a:r>
              <a:rPr lang="en-US" sz="950" b="1" dirty="0">
                <a:solidFill>
                  <a:srgbClr val="041E47"/>
                </a:solidFill>
                <a:latin typeface="Aptos" pitchFamily="34" charset="0"/>
                <a:ea typeface="Aptos" pitchFamily="34" charset="-122"/>
                <a:cs typeface="Aptos" pitchFamily="34" charset="-120"/>
              </a:rPr>
              <a:t>Other debt  Rs. 242.884B  -  31.2%</a:t>
            </a:r>
            <a:endParaRPr lang="en-US" sz="950" dirty="0"/>
          </a:p>
        </p:txBody>
      </p:sp>
      <p:sp>
        <p:nvSpPr>
          <p:cNvPr id="18" name="Text 16"/>
          <p:cNvSpPr/>
          <p:nvPr/>
        </p:nvSpPr>
        <p:spPr>
          <a:xfrm>
            <a:off x="7699248" y="1444752"/>
            <a:ext cx="393192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LEVERAGE</a:t>
            </a:r>
            <a:endParaRPr lang="en-US" sz="1000" dirty="0"/>
          </a:p>
        </p:txBody>
      </p:sp>
      <p:sp>
        <p:nvSpPr>
          <p:cNvPr id="19" name="Text 17"/>
          <p:cNvSpPr/>
          <p:nvPr/>
        </p:nvSpPr>
        <p:spPr>
          <a:xfrm>
            <a:off x="7699248" y="1700784"/>
            <a:ext cx="1874520" cy="566928"/>
          </a:xfrm>
          <a:prstGeom prst="rect">
            <a:avLst/>
          </a:prstGeom>
          <a:noFill/>
          <a:ln/>
        </p:spPr>
        <p:txBody>
          <a:bodyPr wrap="square" lIns="0" tIns="0" rIns="0" bIns="0" rtlCol="0" anchor="ctr"/>
          <a:lstStyle/>
          <a:p>
            <a:pPr marL="0" indent="0" algn="l">
              <a:buNone/>
            </a:pPr>
            <a:r>
              <a:rPr lang="en-US" sz="3000" b="1" dirty="0">
                <a:solidFill>
                  <a:srgbClr val="0032A0"/>
                </a:solidFill>
                <a:latin typeface="Aptos Display" pitchFamily="34" charset="0"/>
                <a:ea typeface="Aptos Display" pitchFamily="34" charset="-122"/>
                <a:cs typeface="Aptos Display" pitchFamily="34" charset="-120"/>
              </a:rPr>
              <a:t>2.79x</a:t>
            </a:r>
            <a:endParaRPr lang="en-US" sz="3000" dirty="0"/>
          </a:p>
        </p:txBody>
      </p:sp>
      <p:sp>
        <p:nvSpPr>
          <p:cNvPr id="20" name="Text 18"/>
          <p:cNvSpPr/>
          <p:nvPr/>
        </p:nvSpPr>
        <p:spPr>
          <a:xfrm>
            <a:off x="7699248" y="2249424"/>
            <a:ext cx="1874520" cy="402336"/>
          </a:xfrm>
          <a:prstGeom prst="rect">
            <a:avLst/>
          </a:prstGeom>
          <a:noFill/>
          <a:ln/>
        </p:spPr>
        <p:txBody>
          <a:bodyPr wrap="square" lIns="0" tIns="0" rIns="0" bIns="0" rtlCol="0" anchor="t"/>
          <a:lstStyle/>
          <a:p>
            <a:pPr marL="0" indent="0" algn="l">
              <a:buNone/>
            </a:pPr>
            <a:r>
              <a:rPr lang="en-US" sz="900" dirty="0">
                <a:solidFill>
                  <a:srgbClr val="46577A"/>
                </a:solidFill>
                <a:latin typeface="Aptos" pitchFamily="34" charset="0"/>
                <a:ea typeface="Aptos" pitchFamily="34" charset="-122"/>
                <a:cs typeface="Aptos" pitchFamily="34" charset="-120"/>
              </a:rPr>
              <a:t>NET DEBT / EQUITY, FY2026</a:t>
            </a:r>
            <a:endParaRPr lang="en-US" sz="900" dirty="0"/>
          </a:p>
        </p:txBody>
      </p:sp>
      <p:sp>
        <p:nvSpPr>
          <p:cNvPr id="21" name="Text 19"/>
          <p:cNvSpPr/>
          <p:nvPr/>
        </p:nvSpPr>
        <p:spPr>
          <a:xfrm>
            <a:off x="9802368" y="1700784"/>
            <a:ext cx="1883664" cy="566928"/>
          </a:xfrm>
          <a:prstGeom prst="rect">
            <a:avLst/>
          </a:prstGeom>
          <a:noFill/>
          <a:ln/>
        </p:spPr>
        <p:txBody>
          <a:bodyPr wrap="square" lIns="0" tIns="0" rIns="0" bIns="0" rtlCol="0" anchor="ctr"/>
          <a:lstStyle/>
          <a:p>
            <a:pPr marL="0" indent="0" algn="l">
              <a:buNone/>
            </a:pPr>
            <a:r>
              <a:rPr lang="en-US" sz="3000" b="1" dirty="0">
                <a:solidFill>
                  <a:srgbClr val="0032A0"/>
                </a:solidFill>
                <a:latin typeface="Aptos Display" pitchFamily="34" charset="0"/>
                <a:ea typeface="Aptos Display" pitchFamily="34" charset="-122"/>
                <a:cs typeface="Aptos Display" pitchFamily="34" charset="-120"/>
              </a:rPr>
              <a:t>94.86%</a:t>
            </a:r>
            <a:endParaRPr lang="en-US" sz="3000" dirty="0"/>
          </a:p>
        </p:txBody>
      </p:sp>
      <p:sp>
        <p:nvSpPr>
          <p:cNvPr id="22" name="Text 20"/>
          <p:cNvSpPr/>
          <p:nvPr/>
        </p:nvSpPr>
        <p:spPr>
          <a:xfrm>
            <a:off x="9802368" y="2249424"/>
            <a:ext cx="1883664" cy="402336"/>
          </a:xfrm>
          <a:prstGeom prst="rect">
            <a:avLst/>
          </a:prstGeom>
          <a:noFill/>
          <a:ln/>
        </p:spPr>
        <p:txBody>
          <a:bodyPr wrap="square" lIns="0" tIns="0" rIns="0" bIns="0" rtlCol="0" anchor="t"/>
          <a:lstStyle/>
          <a:p>
            <a:pPr marL="0" indent="0" algn="l">
              <a:buNone/>
            </a:pPr>
            <a:r>
              <a:rPr lang="en-US" sz="900" dirty="0">
                <a:solidFill>
                  <a:srgbClr val="46577A"/>
                </a:solidFill>
                <a:latin typeface="Aptos" pitchFamily="34" charset="0"/>
                <a:ea typeface="Aptos" pitchFamily="34" charset="-122"/>
                <a:cs typeface="Aptos" pitchFamily="34" charset="-120"/>
              </a:rPr>
              <a:t>LIABILITIES TO ASSETS</a:t>
            </a:r>
            <a:endParaRPr lang="en-US" sz="900" dirty="0"/>
          </a:p>
          <a:p>
            <a:pPr marL="0" indent="0" algn="l">
              <a:buNone/>
            </a:pPr>
            <a:r>
              <a:rPr lang="en-US" sz="900" dirty="0">
                <a:solidFill>
                  <a:srgbClr val="46577A"/>
                </a:solidFill>
                <a:latin typeface="Aptos" pitchFamily="34" charset="0"/>
                <a:ea typeface="Aptos" pitchFamily="34" charset="-122"/>
                <a:cs typeface="Aptos" pitchFamily="34" charset="-120"/>
              </a:rPr>
              <a:t>from 91.91%  -  +2.95 pp</a:t>
            </a:r>
            <a:endParaRPr lang="en-US" sz="900" dirty="0"/>
          </a:p>
        </p:txBody>
      </p:sp>
      <p:sp>
        <p:nvSpPr>
          <p:cNvPr id="23" name="Shape 21"/>
          <p:cNvSpPr/>
          <p:nvPr/>
        </p:nvSpPr>
        <p:spPr>
          <a:xfrm>
            <a:off x="7699248" y="2761488"/>
            <a:ext cx="3986784" cy="804672"/>
          </a:xfrm>
          <a:prstGeom prst="rect">
            <a:avLst/>
          </a:prstGeom>
          <a:solidFill>
            <a:srgbClr val="F4F7FD"/>
          </a:solidFill>
          <a:ln/>
        </p:spPr>
      </p:sp>
      <p:sp>
        <p:nvSpPr>
          <p:cNvPr id="24" name="Text 22"/>
          <p:cNvSpPr/>
          <p:nvPr/>
        </p:nvSpPr>
        <p:spPr>
          <a:xfrm>
            <a:off x="7863840" y="2761488"/>
            <a:ext cx="3657600" cy="804672"/>
          </a:xfrm>
          <a:prstGeom prst="rect">
            <a:avLst/>
          </a:prstGeom>
          <a:noFill/>
          <a:ln/>
        </p:spPr>
        <p:txBody>
          <a:bodyPr wrap="square" lIns="0" tIns="0" rIns="0" bIns="0" rtlCol="0" anchor="ctr"/>
          <a:lstStyle/>
          <a:p>
            <a:pPr marL="0" indent="0">
              <a:buNone/>
            </a:pPr>
            <a:r>
              <a:rPr lang="en-US" sz="1150" b="1" dirty="0">
                <a:solidFill>
                  <a:srgbClr val="041E47"/>
                </a:solidFill>
                <a:latin typeface="Aptos" pitchFamily="34" charset="0"/>
                <a:ea typeface="Aptos" pitchFamily="34" charset="-122"/>
                <a:cs typeface="Aptos" pitchFamily="34" charset="-120"/>
              </a:rPr>
              <a:t>~87% of the fleet is leased - operating or finance lease.</a:t>
            </a:r>
            <a:endParaRPr lang="en-US" sz="1150" dirty="0"/>
          </a:p>
        </p:txBody>
      </p:sp>
      <p:sp>
        <p:nvSpPr>
          <p:cNvPr id="25" name="Text 23"/>
          <p:cNvSpPr/>
          <p:nvPr/>
        </p:nvSpPr>
        <p:spPr>
          <a:xfrm>
            <a:off x="502920" y="3803904"/>
            <a:ext cx="45720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THE MECHANISM</a:t>
            </a:r>
            <a:endParaRPr lang="en-US" sz="1000" dirty="0"/>
          </a:p>
        </p:txBody>
      </p:sp>
      <p:sp>
        <p:nvSpPr>
          <p:cNvPr id="26" name="Shape 24"/>
          <p:cNvSpPr/>
          <p:nvPr/>
        </p:nvSpPr>
        <p:spPr>
          <a:xfrm>
            <a:off x="502920" y="4078224"/>
            <a:ext cx="1920240" cy="512064"/>
          </a:xfrm>
          <a:prstGeom prst="roundRect">
            <a:avLst>
              <a:gd name="adj" fmla="val 8929"/>
            </a:avLst>
          </a:prstGeom>
          <a:solidFill>
            <a:srgbClr val="DCE7FA"/>
          </a:solidFill>
          <a:ln w="9525">
            <a:solidFill>
              <a:srgbClr val="2F6BD8"/>
            </a:solidFill>
            <a:prstDash val="solid"/>
          </a:ln>
        </p:spPr>
      </p:sp>
      <p:sp>
        <p:nvSpPr>
          <p:cNvPr id="27" name="Text 25"/>
          <p:cNvSpPr/>
          <p:nvPr/>
        </p:nvSpPr>
        <p:spPr>
          <a:xfrm>
            <a:off x="557784" y="4078224"/>
            <a:ext cx="1810512" cy="512064"/>
          </a:xfrm>
          <a:prstGeom prst="rect">
            <a:avLst/>
          </a:prstGeom>
          <a:noFill/>
          <a:ln/>
        </p:spPr>
        <p:txBody>
          <a:bodyPr wrap="square" lIns="0" tIns="0" rIns="0" bIns="0" rtlCol="0" anchor="ctr"/>
          <a:lstStyle/>
          <a:p>
            <a:pPr marL="0" indent="0" algn="ctr">
              <a:buNone/>
            </a:pPr>
            <a:r>
              <a:rPr lang="en-US" sz="950" b="1" dirty="0">
                <a:solidFill>
                  <a:srgbClr val="041E47"/>
                </a:solidFill>
                <a:latin typeface="Aptos" pitchFamily="34" charset="0"/>
                <a:ea typeface="Aptos" pitchFamily="34" charset="-122"/>
                <a:cs typeface="Aptos" pitchFamily="34" charset="-120"/>
              </a:rPr>
              <a:t>Leased fleet</a:t>
            </a:r>
            <a:endParaRPr lang="en-US" sz="950" dirty="0"/>
          </a:p>
        </p:txBody>
      </p:sp>
      <p:sp>
        <p:nvSpPr>
          <p:cNvPr id="28" name="Shape 26"/>
          <p:cNvSpPr/>
          <p:nvPr/>
        </p:nvSpPr>
        <p:spPr>
          <a:xfrm rot="5400000">
            <a:off x="2468880" y="4279392"/>
            <a:ext cx="109728" cy="128016"/>
          </a:xfrm>
          <a:prstGeom prst="triangle">
            <a:avLst/>
          </a:prstGeom>
          <a:solidFill>
            <a:srgbClr val="2F6BD8"/>
          </a:solidFill>
          <a:ln/>
        </p:spPr>
      </p:sp>
      <p:sp>
        <p:nvSpPr>
          <p:cNvPr id="29" name="Shape 27"/>
          <p:cNvSpPr/>
          <p:nvPr/>
        </p:nvSpPr>
        <p:spPr>
          <a:xfrm>
            <a:off x="2624328" y="4078224"/>
            <a:ext cx="2788920" cy="512064"/>
          </a:xfrm>
          <a:prstGeom prst="roundRect">
            <a:avLst>
              <a:gd name="adj" fmla="val 8929"/>
            </a:avLst>
          </a:prstGeom>
          <a:solidFill>
            <a:srgbClr val="DCE7FA"/>
          </a:solidFill>
          <a:ln w="9525">
            <a:solidFill>
              <a:srgbClr val="2F6BD8"/>
            </a:solidFill>
            <a:prstDash val="solid"/>
          </a:ln>
        </p:spPr>
      </p:sp>
      <p:sp>
        <p:nvSpPr>
          <p:cNvPr id="30" name="Text 28"/>
          <p:cNvSpPr/>
          <p:nvPr/>
        </p:nvSpPr>
        <p:spPr>
          <a:xfrm>
            <a:off x="2679192" y="4078224"/>
            <a:ext cx="2679192" cy="512064"/>
          </a:xfrm>
          <a:prstGeom prst="rect">
            <a:avLst/>
          </a:prstGeom>
          <a:noFill/>
          <a:ln/>
        </p:spPr>
        <p:txBody>
          <a:bodyPr wrap="square" lIns="0" tIns="0" rIns="0" bIns="0" rtlCol="0" anchor="ctr"/>
          <a:lstStyle/>
          <a:p>
            <a:pPr marL="0" indent="0" algn="ctr">
              <a:buNone/>
            </a:pPr>
            <a:r>
              <a:rPr lang="en-US" sz="950" b="1" dirty="0">
                <a:solidFill>
                  <a:srgbClr val="041E47"/>
                </a:solidFill>
                <a:latin typeface="Aptos" pitchFamily="34" charset="0"/>
                <a:ea typeface="Aptos" pitchFamily="34" charset="-122"/>
                <a:cs typeface="Aptos" pitchFamily="34" charset="-120"/>
              </a:rPr>
              <a:t>Recurring fixed lease obligation</a:t>
            </a:r>
            <a:endParaRPr lang="en-US" sz="950" dirty="0"/>
          </a:p>
        </p:txBody>
      </p:sp>
      <p:sp>
        <p:nvSpPr>
          <p:cNvPr id="31" name="Shape 29"/>
          <p:cNvSpPr/>
          <p:nvPr/>
        </p:nvSpPr>
        <p:spPr>
          <a:xfrm rot="5400000">
            <a:off x="5458968" y="4279392"/>
            <a:ext cx="109728" cy="128016"/>
          </a:xfrm>
          <a:prstGeom prst="triangle">
            <a:avLst/>
          </a:prstGeom>
          <a:solidFill>
            <a:srgbClr val="2F6BD8"/>
          </a:solidFill>
          <a:ln/>
        </p:spPr>
      </p:sp>
      <p:sp>
        <p:nvSpPr>
          <p:cNvPr id="32" name="Shape 30"/>
          <p:cNvSpPr/>
          <p:nvPr/>
        </p:nvSpPr>
        <p:spPr>
          <a:xfrm>
            <a:off x="5614416" y="4078224"/>
            <a:ext cx="2788920" cy="512064"/>
          </a:xfrm>
          <a:prstGeom prst="roundRect">
            <a:avLst>
              <a:gd name="adj" fmla="val 8929"/>
            </a:avLst>
          </a:prstGeom>
          <a:solidFill>
            <a:srgbClr val="DCE7FA"/>
          </a:solidFill>
          <a:ln w="9525">
            <a:solidFill>
              <a:srgbClr val="2F6BD8"/>
            </a:solidFill>
            <a:prstDash val="solid"/>
          </a:ln>
        </p:spPr>
      </p:sp>
      <p:sp>
        <p:nvSpPr>
          <p:cNvPr id="33" name="Text 31"/>
          <p:cNvSpPr/>
          <p:nvPr/>
        </p:nvSpPr>
        <p:spPr>
          <a:xfrm>
            <a:off x="5669280" y="4078224"/>
            <a:ext cx="2679192" cy="512064"/>
          </a:xfrm>
          <a:prstGeom prst="rect">
            <a:avLst/>
          </a:prstGeom>
          <a:noFill/>
          <a:ln/>
        </p:spPr>
        <p:txBody>
          <a:bodyPr wrap="square" lIns="0" tIns="0" rIns="0" bIns="0" rtlCol="0" anchor="ctr"/>
          <a:lstStyle/>
          <a:p>
            <a:pPr marL="0" indent="0" algn="ctr">
              <a:buNone/>
            </a:pPr>
            <a:r>
              <a:rPr lang="en-US" sz="950" b="1" dirty="0">
                <a:solidFill>
                  <a:srgbClr val="041E47"/>
                </a:solidFill>
                <a:latin typeface="Aptos" pitchFamily="34" charset="0"/>
                <a:ea typeface="Aptos" pitchFamily="34" charset="-122"/>
                <a:cs typeface="Aptos" pitchFamily="34" charset="-120"/>
              </a:rPr>
              <a:t>Utilisation risk, not capex risk</a:t>
            </a:r>
            <a:endParaRPr lang="en-US" sz="950" dirty="0"/>
          </a:p>
        </p:txBody>
      </p:sp>
      <p:sp>
        <p:nvSpPr>
          <p:cNvPr id="34" name="Shape 32"/>
          <p:cNvSpPr/>
          <p:nvPr/>
        </p:nvSpPr>
        <p:spPr>
          <a:xfrm rot="5400000">
            <a:off x="8449056" y="4279392"/>
            <a:ext cx="109728" cy="128016"/>
          </a:xfrm>
          <a:prstGeom prst="triangle">
            <a:avLst/>
          </a:prstGeom>
          <a:solidFill>
            <a:srgbClr val="2F6BD8"/>
          </a:solidFill>
          <a:ln/>
        </p:spPr>
      </p:sp>
      <p:sp>
        <p:nvSpPr>
          <p:cNvPr id="35" name="Shape 33"/>
          <p:cNvSpPr/>
          <p:nvPr/>
        </p:nvSpPr>
        <p:spPr>
          <a:xfrm>
            <a:off x="8604504" y="4078224"/>
            <a:ext cx="3337560" cy="512064"/>
          </a:xfrm>
          <a:prstGeom prst="roundRect">
            <a:avLst>
              <a:gd name="adj" fmla="val 8929"/>
            </a:avLst>
          </a:prstGeom>
          <a:solidFill>
            <a:srgbClr val="041E47"/>
          </a:solidFill>
          <a:ln w="9525">
            <a:solidFill>
              <a:srgbClr val="041E47"/>
            </a:solidFill>
            <a:prstDash val="solid"/>
          </a:ln>
        </p:spPr>
      </p:sp>
      <p:sp>
        <p:nvSpPr>
          <p:cNvPr id="36" name="Text 34"/>
          <p:cNvSpPr/>
          <p:nvPr/>
        </p:nvSpPr>
        <p:spPr>
          <a:xfrm>
            <a:off x="8659368" y="4078224"/>
            <a:ext cx="3227832" cy="512064"/>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Capacity that does not sell is cost that does not stop</a:t>
            </a:r>
            <a:endParaRPr lang="en-US" sz="950" dirty="0"/>
          </a:p>
        </p:txBody>
      </p:sp>
      <p:sp>
        <p:nvSpPr>
          <p:cNvPr id="37" name="Shape 35"/>
          <p:cNvSpPr/>
          <p:nvPr/>
        </p:nvSpPr>
        <p:spPr>
          <a:xfrm>
            <a:off x="502920" y="4754880"/>
            <a:ext cx="36576" cy="438912"/>
          </a:xfrm>
          <a:prstGeom prst="rect">
            <a:avLst/>
          </a:prstGeom>
          <a:solidFill>
            <a:srgbClr val="D98A00"/>
          </a:solidFill>
          <a:ln/>
        </p:spPr>
      </p:sp>
      <p:sp>
        <p:nvSpPr>
          <p:cNvPr id="38" name="Text 36"/>
          <p:cNvSpPr/>
          <p:nvPr/>
        </p:nvSpPr>
        <p:spPr>
          <a:xfrm>
            <a:off x="685800" y="4736592"/>
            <a:ext cx="11018520" cy="475488"/>
          </a:xfrm>
          <a:prstGeom prst="rect">
            <a:avLst/>
          </a:prstGeom>
          <a:noFill/>
          <a:ln/>
        </p:spPr>
        <p:txBody>
          <a:bodyPr wrap="square" lIns="0" tIns="0" rIns="0" bIns="0" rtlCol="0" anchor="ctr"/>
          <a:lstStyle/>
          <a:p>
            <a:pPr marL="0" indent="0">
              <a:buNone/>
            </a:pPr>
            <a:r>
              <a:rPr lang="en-US" sz="1050" dirty="0">
                <a:solidFill>
                  <a:srgbClr val="041E47"/>
                </a:solidFill>
                <a:latin typeface="Aptos" pitchFamily="34" charset="0"/>
                <a:ea typeface="Aptos" pitchFamily="34" charset="-122"/>
                <a:cs typeface="Aptos" pitchFamily="34" charset="-120"/>
              </a:rPr>
              <a:t>Aircraft delivery schedules and lease commitments make ALT-1 "largely within management's operational control, subject to existing fleet orders, lease commitments and competitive constraints" - not fully discretionary.</a:t>
            </a:r>
            <a:endParaRPr lang="en-US" sz="1050" dirty="0"/>
          </a:p>
        </p:txBody>
      </p:sp>
      <p:sp>
        <p:nvSpPr>
          <p:cNvPr id="39" name="Shape 37"/>
          <p:cNvSpPr/>
          <p:nvPr/>
        </p:nvSpPr>
        <p:spPr>
          <a:xfrm>
            <a:off x="502920" y="5340096"/>
            <a:ext cx="5532120" cy="566928"/>
          </a:xfrm>
          <a:prstGeom prst="rect">
            <a:avLst/>
          </a:prstGeom>
          <a:solidFill>
            <a:srgbClr val="FFFFFF"/>
          </a:solidFill>
          <a:ln w="9525">
            <a:solidFill>
              <a:srgbClr val="6B7280"/>
            </a:solidFill>
            <a:prstDash val="dash"/>
          </a:ln>
        </p:spPr>
      </p:sp>
      <p:sp>
        <p:nvSpPr>
          <p:cNvPr id="40" name="Shape 38"/>
          <p:cNvSpPr/>
          <p:nvPr/>
        </p:nvSpPr>
        <p:spPr>
          <a:xfrm>
            <a:off x="594360" y="5536692"/>
            <a:ext cx="1344168" cy="173736"/>
          </a:xfrm>
          <a:prstGeom prst="rect">
            <a:avLst/>
          </a:prstGeom>
          <a:solidFill>
            <a:srgbClr val="FFFFFF"/>
          </a:solidFill>
          <a:ln w="9525">
            <a:solidFill>
              <a:srgbClr val="6B7280"/>
            </a:solidFill>
            <a:prstDash val="dash"/>
          </a:ln>
        </p:spPr>
      </p:sp>
      <p:sp>
        <p:nvSpPr>
          <p:cNvPr id="41" name="Text 39"/>
          <p:cNvSpPr/>
          <p:nvPr/>
        </p:nvSpPr>
        <p:spPr>
          <a:xfrm>
            <a:off x="594360" y="5536692"/>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42" name="Text 40"/>
          <p:cNvSpPr/>
          <p:nvPr/>
        </p:nvSpPr>
        <p:spPr>
          <a:xfrm>
            <a:off x="2048256" y="5376672"/>
            <a:ext cx="3877056" cy="493776"/>
          </a:xfrm>
          <a:prstGeom prst="rect">
            <a:avLst/>
          </a:prstGeom>
          <a:noFill/>
          <a:ln/>
        </p:spPr>
        <p:txBody>
          <a:bodyPr wrap="square" lIns="0" tIns="0" rIns="0" bIns="0" rtlCol="0" anchor="ctr"/>
          <a:lstStyle/>
          <a:p>
            <a:pPr marL="0" indent="0">
              <a:buNone/>
            </a:pPr>
            <a:r>
              <a:rPr lang="en-US" sz="950" dirty="0">
                <a:solidFill>
                  <a:srgbClr val="6B7280"/>
                </a:solidFill>
                <a:latin typeface="Aptos" pitchFamily="34" charset="0"/>
                <a:ea typeface="Aptos" pitchFamily="34" charset="-122"/>
                <a:cs typeface="Aptos" pitchFamily="34" charset="-120"/>
              </a:rPr>
              <a:t>Total lease liabilities inclusive of finance leases (Rs. 650.098B) and the capitalised operating lease liability (Rs. 534.608B) are not reconciled in the evidence base.</a:t>
            </a:r>
            <a:endParaRPr lang="en-US" sz="950" dirty="0"/>
          </a:p>
        </p:txBody>
      </p:sp>
      <p:sp>
        <p:nvSpPr>
          <p:cNvPr id="43" name="Shape 41"/>
          <p:cNvSpPr/>
          <p:nvPr/>
        </p:nvSpPr>
        <p:spPr>
          <a:xfrm>
            <a:off x="6309360" y="5340096"/>
            <a:ext cx="5376672" cy="566928"/>
          </a:xfrm>
          <a:prstGeom prst="rect">
            <a:avLst/>
          </a:prstGeom>
          <a:solidFill>
            <a:srgbClr val="FFFFFF"/>
          </a:solidFill>
          <a:ln w="9525">
            <a:solidFill>
              <a:srgbClr val="0032A0"/>
            </a:solidFill>
            <a:prstDash val="solid"/>
          </a:ln>
        </p:spPr>
      </p:sp>
      <p:sp>
        <p:nvSpPr>
          <p:cNvPr id="44" name="Shape 42"/>
          <p:cNvSpPr/>
          <p:nvPr/>
        </p:nvSpPr>
        <p:spPr>
          <a:xfrm>
            <a:off x="6437376" y="5486400"/>
            <a:ext cx="1044245" cy="173736"/>
          </a:xfrm>
          <a:prstGeom prst="rect">
            <a:avLst/>
          </a:prstGeom>
          <a:solidFill>
            <a:srgbClr val="FFFFFF"/>
          </a:solidFill>
          <a:ln w="9525">
            <a:solidFill>
              <a:srgbClr val="0032A0"/>
            </a:solidFill>
            <a:prstDash val="solid"/>
          </a:ln>
        </p:spPr>
      </p:sp>
      <p:sp>
        <p:nvSpPr>
          <p:cNvPr id="45" name="Text 43"/>
          <p:cNvSpPr/>
          <p:nvPr/>
        </p:nvSpPr>
        <p:spPr>
          <a:xfrm>
            <a:off x="6437376" y="5486400"/>
            <a:ext cx="1044245" cy="173736"/>
          </a:xfrm>
          <a:prstGeom prst="rect">
            <a:avLst/>
          </a:prstGeom>
          <a:noFill/>
          <a:ln/>
        </p:spPr>
        <p:txBody>
          <a:bodyPr wrap="square" lIns="0" tIns="0" rIns="0" bIns="0" rtlCol="0" anchor="ctr"/>
          <a:lstStyle/>
          <a:p>
            <a:pPr marL="0" indent="0" algn="ctr">
              <a:buNone/>
            </a:pPr>
            <a:r>
              <a:rPr lang="en-US" sz="900" b="1" dirty="0">
                <a:solidFill>
                  <a:srgbClr val="0032A0"/>
                </a:solidFill>
                <a:latin typeface="Aptos" pitchFamily="34" charset="0"/>
                <a:ea typeface="Aptos" pitchFamily="34" charset="-122"/>
                <a:cs typeface="Aptos" pitchFamily="34" charset="-120"/>
              </a:rPr>
              <a:t>CALCULATION</a:t>
            </a:r>
            <a:endParaRPr lang="en-US" sz="900" dirty="0"/>
          </a:p>
        </p:txBody>
      </p:sp>
      <p:sp>
        <p:nvSpPr>
          <p:cNvPr id="46" name="Text 44"/>
          <p:cNvSpPr/>
          <p:nvPr/>
        </p:nvSpPr>
        <p:spPr>
          <a:xfrm>
            <a:off x="7591349" y="5340096"/>
            <a:ext cx="4058107" cy="457200"/>
          </a:xfrm>
          <a:prstGeom prst="rect">
            <a:avLst/>
          </a:prstGeom>
          <a:noFill/>
          <a:ln/>
        </p:spPr>
        <p:txBody>
          <a:bodyPr wrap="square" lIns="0" tIns="0" rIns="0" bIns="0" rtlCol="0" anchor="ctr"/>
          <a:lstStyle/>
          <a:p>
            <a:r>
              <a:rPr lang="en-IN" sz="1000" dirty="0"/>
              <a:t>Lease-liability definitions are not fully reconciled in the evidence base.</a:t>
            </a:r>
            <a:endParaRPr lang="en-US" sz="950" dirty="0"/>
          </a:p>
        </p:txBody>
      </p:sp>
      <p:sp>
        <p:nvSpPr>
          <p:cNvPr id="47" name="Shape 45"/>
          <p:cNvSpPr/>
          <p:nvPr/>
        </p:nvSpPr>
        <p:spPr>
          <a:xfrm>
            <a:off x="502920" y="6309360"/>
            <a:ext cx="11185855" cy="5486"/>
          </a:xfrm>
          <a:prstGeom prst="rect">
            <a:avLst/>
          </a:prstGeom>
          <a:solidFill>
            <a:srgbClr val="C9D8F2"/>
          </a:solidFill>
          <a:ln/>
        </p:spPr>
      </p:sp>
      <p:sp>
        <p:nvSpPr>
          <p:cNvPr id="48" name="Text 46"/>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49" name="Text 47"/>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EVD-OPS-FLEET-005 - SRC-OPS-FLEET-004 - 03_Financial_Evidence_Balance_Sheet</a:t>
            </a:r>
            <a:endParaRPr lang="en-US" sz="800" dirty="0"/>
          </a:p>
        </p:txBody>
      </p:sp>
      <p:sp>
        <p:nvSpPr>
          <p:cNvPr id="50" name="Shape 48"/>
          <p:cNvSpPr/>
          <p:nvPr/>
        </p:nvSpPr>
        <p:spPr>
          <a:xfrm>
            <a:off x="11484864" y="6364224"/>
            <a:ext cx="201168" cy="201168"/>
          </a:xfrm>
          <a:prstGeom prst="rect">
            <a:avLst/>
          </a:prstGeom>
          <a:solidFill>
            <a:srgbClr val="0032A0"/>
          </a:solidFill>
          <a:ln/>
        </p:spPr>
      </p:sp>
      <p:sp>
        <p:nvSpPr>
          <p:cNvPr id="51" name="Text 49"/>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08 - WHERE THE LEVERS LIVE</a:t>
            </a:r>
            <a:endParaRPr lang="en-US" sz="1000" dirty="0"/>
          </a:p>
        </p:txBody>
      </p:sp>
      <p:sp>
        <p:nvSpPr>
          <p:cNvPr id="3" name="Shape 1"/>
          <p:cNvSpPr/>
          <p:nvPr/>
        </p:nvSpPr>
        <p:spPr>
          <a:xfrm>
            <a:off x="502919" y="571500"/>
            <a:ext cx="1682719" cy="45719"/>
          </a:xfrm>
          <a:prstGeom prst="rect">
            <a:avLst/>
          </a:prstGeom>
          <a:solidFill>
            <a:srgbClr val="0032A0"/>
          </a:solidFill>
          <a:ln/>
        </p:spPr>
      </p:sp>
      <p:sp>
        <p:nvSpPr>
          <p:cNvPr id="4" name="Text 2"/>
          <p:cNvSpPr/>
          <p:nvPr/>
        </p:nvSpPr>
        <p:spPr>
          <a:xfrm>
            <a:off x="502920" y="649224"/>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The network framework is sound; the route-level data underneath it is the study's binding constraint</a:t>
            </a:r>
            <a:endParaRPr lang="en-US" sz="2250" dirty="0"/>
          </a:p>
        </p:txBody>
      </p:sp>
      <p:sp>
        <p:nvSpPr>
          <p:cNvPr id="5" name="Text 3"/>
          <p:cNvSpPr/>
          <p:nvPr/>
        </p:nvSpPr>
        <p:spPr>
          <a:xfrm>
            <a:off x="502920" y="1444752"/>
            <a:ext cx="54864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ROUTE-ALLOCATION DECISION FRAMEWORK</a:t>
            </a:r>
            <a:endParaRPr lang="en-US" sz="1000" dirty="0"/>
          </a:p>
        </p:txBody>
      </p:sp>
      <p:sp>
        <p:nvSpPr>
          <p:cNvPr id="6" name="Shape 4"/>
          <p:cNvSpPr/>
          <p:nvPr/>
        </p:nvSpPr>
        <p:spPr>
          <a:xfrm>
            <a:off x="1389888" y="1847088"/>
            <a:ext cx="1453896" cy="1453896"/>
          </a:xfrm>
          <a:prstGeom prst="rect">
            <a:avLst/>
          </a:prstGeom>
          <a:solidFill>
            <a:srgbClr val="DCE7FA"/>
          </a:solidFill>
          <a:ln w="19050">
            <a:solidFill>
              <a:srgbClr val="FFFFFF"/>
            </a:solidFill>
            <a:prstDash val="solid"/>
          </a:ln>
        </p:spPr>
      </p:sp>
      <p:sp>
        <p:nvSpPr>
          <p:cNvPr id="7" name="Text 5"/>
          <p:cNvSpPr/>
          <p:nvPr/>
        </p:nvSpPr>
        <p:spPr>
          <a:xfrm>
            <a:off x="1463040" y="1938528"/>
            <a:ext cx="1307592" cy="310896"/>
          </a:xfrm>
          <a:prstGeom prst="rect">
            <a:avLst/>
          </a:prstGeom>
          <a:noFill/>
          <a:ln/>
        </p:spPr>
        <p:txBody>
          <a:bodyPr wrap="square" lIns="0" tIns="0" rIns="0" bIns="0" rtlCol="0" anchor="ctr"/>
          <a:lstStyle/>
          <a:p>
            <a:pPr marL="0" indent="0" algn="ctr">
              <a:buNone/>
            </a:pPr>
            <a:r>
              <a:rPr lang="en-US" sz="850" dirty="0">
                <a:solidFill>
                  <a:srgbClr val="6B7280"/>
                </a:solidFill>
                <a:latin typeface="Aptos" pitchFamily="34" charset="0"/>
                <a:ea typeface="Aptos" pitchFamily="34" charset="-122"/>
                <a:cs typeface="Aptos" pitchFamily="34" charset="-120"/>
              </a:rPr>
              <a:t>High yield - low load factor</a:t>
            </a:r>
            <a:endParaRPr lang="en-US" sz="850" dirty="0"/>
          </a:p>
        </p:txBody>
      </p:sp>
      <p:sp>
        <p:nvSpPr>
          <p:cNvPr id="8" name="Text 6"/>
          <p:cNvSpPr/>
          <p:nvPr/>
        </p:nvSpPr>
        <p:spPr>
          <a:xfrm>
            <a:off x="1463040" y="2249424"/>
            <a:ext cx="1307592" cy="658368"/>
          </a:xfrm>
          <a:prstGeom prst="rect">
            <a:avLst/>
          </a:prstGeom>
          <a:noFill/>
          <a:ln/>
        </p:spPr>
        <p:txBody>
          <a:bodyPr wrap="square" lIns="0" tIns="0" rIns="0" bIns="0" rtlCol="0" anchor="t"/>
          <a:lstStyle/>
          <a:p>
            <a:pPr marL="0" indent="0" algn="ctr">
              <a:buNone/>
            </a:pPr>
            <a:r>
              <a:rPr lang="en-US" sz="1050" b="1" dirty="0">
                <a:solidFill>
                  <a:srgbClr val="041E47"/>
                </a:solidFill>
                <a:latin typeface="Aptos" pitchFamily="34" charset="0"/>
                <a:ea typeface="Aptos" pitchFamily="34" charset="-122"/>
                <a:cs typeface="Aptos" pitchFamily="34" charset="-120"/>
              </a:rPr>
              <a:t>Optimise frequency,</a:t>
            </a:r>
            <a:endParaRPr lang="en-US" sz="1050" dirty="0"/>
          </a:p>
          <a:p>
            <a:pPr marL="0" indent="0" algn="ctr">
              <a:buNone/>
            </a:pPr>
            <a:r>
              <a:rPr lang="en-US" sz="1050" b="1" dirty="0">
                <a:solidFill>
                  <a:srgbClr val="041E47"/>
                </a:solidFill>
                <a:latin typeface="Aptos" pitchFamily="34" charset="0"/>
                <a:ea typeface="Aptos" pitchFamily="34" charset="-122"/>
                <a:cs typeface="Aptos" pitchFamily="34" charset="-120"/>
              </a:rPr>
              <a:t>timing and distribution</a:t>
            </a:r>
            <a:endParaRPr lang="en-US" sz="1050" dirty="0"/>
          </a:p>
        </p:txBody>
      </p:sp>
      <p:sp>
        <p:nvSpPr>
          <p:cNvPr id="9" name="Shape 7"/>
          <p:cNvSpPr/>
          <p:nvPr/>
        </p:nvSpPr>
        <p:spPr>
          <a:xfrm>
            <a:off x="2843784" y="1847088"/>
            <a:ext cx="1453896" cy="1453896"/>
          </a:xfrm>
          <a:prstGeom prst="rect">
            <a:avLst/>
          </a:prstGeom>
          <a:solidFill>
            <a:srgbClr val="2F6BD8"/>
          </a:solidFill>
          <a:ln w="19050">
            <a:solidFill>
              <a:srgbClr val="FFFFFF"/>
            </a:solidFill>
            <a:prstDash val="solid"/>
          </a:ln>
        </p:spPr>
      </p:sp>
      <p:sp>
        <p:nvSpPr>
          <p:cNvPr id="10" name="Text 8"/>
          <p:cNvSpPr/>
          <p:nvPr/>
        </p:nvSpPr>
        <p:spPr>
          <a:xfrm>
            <a:off x="2916936" y="1938528"/>
            <a:ext cx="1307592" cy="310896"/>
          </a:xfrm>
          <a:prstGeom prst="rect">
            <a:avLst/>
          </a:prstGeom>
          <a:noFill/>
          <a:ln/>
        </p:spPr>
        <p:txBody>
          <a:bodyPr wrap="square" lIns="0" tIns="0" rIns="0" bIns="0" rtlCol="0" anchor="ctr"/>
          <a:lstStyle/>
          <a:p>
            <a:pPr marL="0" indent="0" algn="ctr">
              <a:buNone/>
            </a:pPr>
            <a:r>
              <a:rPr lang="en-US" sz="850" dirty="0">
                <a:solidFill>
                  <a:srgbClr val="D7E3F8"/>
                </a:solidFill>
                <a:latin typeface="Aptos" pitchFamily="34" charset="0"/>
                <a:ea typeface="Aptos" pitchFamily="34" charset="-122"/>
                <a:cs typeface="Aptos" pitchFamily="34" charset="-120"/>
              </a:rPr>
              <a:t>High yield - high load factor</a:t>
            </a:r>
            <a:endParaRPr lang="en-US" sz="850" dirty="0"/>
          </a:p>
        </p:txBody>
      </p:sp>
      <p:sp>
        <p:nvSpPr>
          <p:cNvPr id="11" name="Text 9"/>
          <p:cNvSpPr/>
          <p:nvPr/>
        </p:nvSpPr>
        <p:spPr>
          <a:xfrm>
            <a:off x="2916936" y="2249424"/>
            <a:ext cx="1307592" cy="658368"/>
          </a:xfrm>
          <a:prstGeom prst="rect">
            <a:avLst/>
          </a:prstGeom>
          <a:noFill/>
          <a:ln/>
        </p:spPr>
        <p:txBody>
          <a:bodyPr wrap="square" lIns="0" tIns="0" rIns="0" bIns="0" rtlCol="0" anchor="t"/>
          <a:lstStyle/>
          <a:p>
            <a:pPr marL="0" indent="0" algn="ctr">
              <a:buNone/>
            </a:pPr>
            <a:r>
              <a:rPr lang="en-US" sz="1050" b="1" dirty="0">
                <a:solidFill>
                  <a:srgbClr val="FFFFFF"/>
                </a:solidFill>
                <a:latin typeface="Aptos" pitchFamily="34" charset="0"/>
                <a:ea typeface="Aptos" pitchFamily="34" charset="-122"/>
                <a:cs typeface="Aptos" pitchFamily="34" charset="-120"/>
              </a:rPr>
              <a:t>Protect; selectively</a:t>
            </a:r>
            <a:endParaRPr lang="en-US" sz="1050" dirty="0"/>
          </a:p>
          <a:p>
            <a:pPr marL="0" indent="0" algn="ctr">
              <a:buNone/>
            </a:pPr>
            <a:r>
              <a:rPr lang="en-US" sz="1050" b="1" dirty="0">
                <a:solidFill>
                  <a:srgbClr val="FFFFFF"/>
                </a:solidFill>
                <a:latin typeface="Aptos" pitchFamily="34" charset="0"/>
                <a:ea typeface="Aptos" pitchFamily="34" charset="-122"/>
                <a:cs typeface="Aptos" pitchFamily="34" charset="-120"/>
              </a:rPr>
              <a:t>add capacity</a:t>
            </a:r>
            <a:endParaRPr lang="en-US" sz="1050" dirty="0"/>
          </a:p>
        </p:txBody>
      </p:sp>
      <p:sp>
        <p:nvSpPr>
          <p:cNvPr id="12" name="Shape 10"/>
          <p:cNvSpPr/>
          <p:nvPr/>
        </p:nvSpPr>
        <p:spPr>
          <a:xfrm>
            <a:off x="1389888" y="3300984"/>
            <a:ext cx="1453896" cy="1453896"/>
          </a:xfrm>
          <a:prstGeom prst="rect">
            <a:avLst/>
          </a:prstGeom>
          <a:solidFill>
            <a:srgbClr val="F4F7FD"/>
          </a:solidFill>
          <a:ln w="19050">
            <a:solidFill>
              <a:srgbClr val="FFFFFF"/>
            </a:solidFill>
            <a:prstDash val="solid"/>
          </a:ln>
        </p:spPr>
      </p:sp>
      <p:sp>
        <p:nvSpPr>
          <p:cNvPr id="13" name="Text 11"/>
          <p:cNvSpPr/>
          <p:nvPr/>
        </p:nvSpPr>
        <p:spPr>
          <a:xfrm>
            <a:off x="1463040" y="3392424"/>
            <a:ext cx="1307592" cy="310896"/>
          </a:xfrm>
          <a:prstGeom prst="rect">
            <a:avLst/>
          </a:prstGeom>
          <a:noFill/>
          <a:ln/>
        </p:spPr>
        <p:txBody>
          <a:bodyPr wrap="square" lIns="0" tIns="0" rIns="0" bIns="0" rtlCol="0" anchor="ctr"/>
          <a:lstStyle/>
          <a:p>
            <a:pPr marL="0" indent="0" algn="ctr">
              <a:buNone/>
            </a:pPr>
            <a:r>
              <a:rPr lang="en-US" sz="850" dirty="0">
                <a:solidFill>
                  <a:srgbClr val="6B7280"/>
                </a:solidFill>
                <a:latin typeface="Aptos" pitchFamily="34" charset="0"/>
                <a:ea typeface="Aptos" pitchFamily="34" charset="-122"/>
                <a:cs typeface="Aptos" pitchFamily="34" charset="-120"/>
              </a:rPr>
              <a:t>Low yield - low load factor</a:t>
            </a:r>
            <a:endParaRPr lang="en-US" sz="850" dirty="0"/>
          </a:p>
        </p:txBody>
      </p:sp>
      <p:sp>
        <p:nvSpPr>
          <p:cNvPr id="14" name="Text 12"/>
          <p:cNvSpPr/>
          <p:nvPr/>
        </p:nvSpPr>
        <p:spPr>
          <a:xfrm>
            <a:off x="1463040" y="3703320"/>
            <a:ext cx="1307592" cy="658368"/>
          </a:xfrm>
          <a:prstGeom prst="rect">
            <a:avLst/>
          </a:prstGeom>
          <a:noFill/>
          <a:ln/>
        </p:spPr>
        <p:txBody>
          <a:bodyPr wrap="square" lIns="0" tIns="0" rIns="0" bIns="0" rtlCol="0" anchor="t"/>
          <a:lstStyle/>
          <a:p>
            <a:pPr marL="0" indent="0" algn="ctr">
              <a:buNone/>
            </a:pPr>
            <a:r>
              <a:rPr lang="en-US" sz="1050" b="1" dirty="0">
                <a:solidFill>
                  <a:srgbClr val="041E47"/>
                </a:solidFill>
                <a:latin typeface="Aptos" pitchFamily="34" charset="0"/>
                <a:ea typeface="Aptos" pitchFamily="34" charset="-122"/>
                <a:cs typeface="Aptos" pitchFamily="34" charset="-120"/>
              </a:rPr>
              <a:t>Reduce, suspend,</a:t>
            </a:r>
            <a:endParaRPr lang="en-US" sz="1050" dirty="0"/>
          </a:p>
          <a:p>
            <a:pPr marL="0" indent="0" algn="ctr">
              <a:buNone/>
            </a:pPr>
            <a:r>
              <a:rPr lang="en-US" sz="1050" b="1" dirty="0">
                <a:solidFill>
                  <a:srgbClr val="041E47"/>
                </a:solidFill>
                <a:latin typeface="Aptos" pitchFamily="34" charset="0"/>
                <a:ea typeface="Aptos" pitchFamily="34" charset="-122"/>
                <a:cs typeface="Aptos" pitchFamily="34" charset="-120"/>
              </a:rPr>
              <a:t>redeploy</a:t>
            </a:r>
            <a:endParaRPr lang="en-US" sz="1050" dirty="0"/>
          </a:p>
        </p:txBody>
      </p:sp>
      <p:sp>
        <p:nvSpPr>
          <p:cNvPr id="15" name="Shape 13"/>
          <p:cNvSpPr/>
          <p:nvPr/>
        </p:nvSpPr>
        <p:spPr>
          <a:xfrm>
            <a:off x="2843784" y="3300984"/>
            <a:ext cx="1453896" cy="1453896"/>
          </a:xfrm>
          <a:prstGeom prst="rect">
            <a:avLst/>
          </a:prstGeom>
          <a:solidFill>
            <a:srgbClr val="7FA3E8"/>
          </a:solidFill>
          <a:ln w="19050">
            <a:solidFill>
              <a:srgbClr val="FFFFFF"/>
            </a:solidFill>
            <a:prstDash val="solid"/>
          </a:ln>
        </p:spPr>
      </p:sp>
      <p:sp>
        <p:nvSpPr>
          <p:cNvPr id="16" name="Text 14"/>
          <p:cNvSpPr/>
          <p:nvPr/>
        </p:nvSpPr>
        <p:spPr>
          <a:xfrm>
            <a:off x="2916936" y="3392424"/>
            <a:ext cx="1307592" cy="310896"/>
          </a:xfrm>
          <a:prstGeom prst="rect">
            <a:avLst/>
          </a:prstGeom>
          <a:noFill/>
          <a:ln/>
        </p:spPr>
        <p:txBody>
          <a:bodyPr wrap="square" lIns="0" tIns="0" rIns="0" bIns="0" rtlCol="0" anchor="ctr"/>
          <a:lstStyle/>
          <a:p>
            <a:pPr marL="0" indent="0" algn="ctr">
              <a:buNone/>
            </a:pPr>
            <a:r>
              <a:rPr lang="en-US" sz="850" dirty="0">
                <a:solidFill>
                  <a:srgbClr val="6B7280"/>
                </a:solidFill>
                <a:latin typeface="Aptos" pitchFamily="34" charset="0"/>
                <a:ea typeface="Aptos" pitchFamily="34" charset="-122"/>
                <a:cs typeface="Aptos" pitchFamily="34" charset="-120"/>
              </a:rPr>
              <a:t>Low yield - high load factor</a:t>
            </a:r>
            <a:endParaRPr lang="en-US" sz="850" dirty="0"/>
          </a:p>
        </p:txBody>
      </p:sp>
      <p:sp>
        <p:nvSpPr>
          <p:cNvPr id="17" name="Text 15"/>
          <p:cNvSpPr/>
          <p:nvPr/>
        </p:nvSpPr>
        <p:spPr>
          <a:xfrm>
            <a:off x="2916936" y="3703320"/>
            <a:ext cx="1307592" cy="658368"/>
          </a:xfrm>
          <a:prstGeom prst="rect">
            <a:avLst/>
          </a:prstGeom>
          <a:noFill/>
          <a:ln/>
        </p:spPr>
        <p:txBody>
          <a:bodyPr wrap="square" lIns="0" tIns="0" rIns="0" bIns="0" rtlCol="0" anchor="t"/>
          <a:lstStyle/>
          <a:p>
            <a:pPr marL="0" indent="0" algn="ctr">
              <a:buNone/>
            </a:pPr>
            <a:r>
              <a:rPr lang="en-US" sz="1050" b="1" dirty="0">
                <a:solidFill>
                  <a:srgbClr val="041E47"/>
                </a:solidFill>
                <a:latin typeface="Aptos" pitchFamily="34" charset="0"/>
                <a:ea typeface="Aptos" pitchFamily="34" charset="-122"/>
                <a:cs typeface="Aptos" pitchFamily="34" charset="-120"/>
              </a:rPr>
              <a:t>Reprice; improve</a:t>
            </a:r>
            <a:endParaRPr lang="en-US" sz="1050" dirty="0"/>
          </a:p>
          <a:p>
            <a:pPr marL="0" indent="0" algn="ctr">
              <a:buNone/>
            </a:pPr>
            <a:r>
              <a:rPr lang="en-US" sz="1050" b="1" dirty="0">
                <a:solidFill>
                  <a:srgbClr val="041E47"/>
                </a:solidFill>
                <a:latin typeface="Aptos" pitchFamily="34" charset="0"/>
                <a:ea typeface="Aptos" pitchFamily="34" charset="-122"/>
                <a:cs typeface="Aptos" pitchFamily="34" charset="-120"/>
              </a:rPr>
              <a:t>monetisation</a:t>
            </a:r>
            <a:endParaRPr lang="en-US" sz="1050" dirty="0"/>
          </a:p>
        </p:txBody>
      </p:sp>
      <p:sp>
        <p:nvSpPr>
          <p:cNvPr id="18" name="Shape 16"/>
          <p:cNvSpPr/>
          <p:nvPr/>
        </p:nvSpPr>
        <p:spPr>
          <a:xfrm>
            <a:off x="502920" y="5084064"/>
            <a:ext cx="5532120" cy="566928"/>
          </a:xfrm>
          <a:prstGeom prst="rect">
            <a:avLst/>
          </a:prstGeom>
          <a:solidFill>
            <a:srgbClr val="FFFFFF"/>
          </a:solidFill>
          <a:ln w="12700">
            <a:solidFill>
              <a:srgbClr val="6B7280"/>
            </a:solidFill>
            <a:prstDash val="dash"/>
          </a:ln>
        </p:spPr>
      </p:sp>
      <p:sp>
        <p:nvSpPr>
          <p:cNvPr id="19" name="Text 17"/>
          <p:cNvSpPr/>
          <p:nvPr/>
        </p:nvSpPr>
        <p:spPr>
          <a:xfrm>
            <a:off x="649224" y="5138928"/>
            <a:ext cx="5257800" cy="201168"/>
          </a:xfrm>
          <a:prstGeom prst="rect">
            <a:avLst/>
          </a:prstGeom>
          <a:noFill/>
          <a:ln/>
        </p:spPr>
        <p:txBody>
          <a:bodyPr wrap="square" lIns="0" tIns="0" rIns="0" bIns="0" rtlCol="0" anchor="ctr"/>
          <a:lstStyle/>
          <a:p>
            <a:pPr marL="0" indent="0">
              <a:buNone/>
            </a:pPr>
            <a:r>
              <a:rPr lang="en-US" sz="900" b="1" dirty="0">
                <a:solidFill>
                  <a:srgbClr val="6B7280"/>
                </a:solidFill>
                <a:latin typeface="Aptos" pitchFamily="34" charset="0"/>
                <a:ea typeface="Aptos" pitchFamily="34" charset="-122"/>
                <a:cs typeface="Aptos" pitchFamily="34" charset="-120"/>
              </a:rPr>
              <a:t>NO INDIGO ROUTE IS PLOTTED IN THIS MATRIX</a:t>
            </a:r>
            <a:endParaRPr lang="en-US" sz="900" dirty="0"/>
          </a:p>
        </p:txBody>
      </p:sp>
      <p:sp>
        <p:nvSpPr>
          <p:cNvPr id="20" name="Text 18"/>
          <p:cNvSpPr/>
          <p:nvPr/>
        </p:nvSpPr>
        <p:spPr>
          <a:xfrm>
            <a:off x="649224" y="5340096"/>
            <a:ext cx="5257800" cy="219456"/>
          </a:xfrm>
          <a:prstGeom prst="rect">
            <a:avLst/>
          </a:prstGeom>
          <a:noFill/>
          <a:ln/>
        </p:spPr>
        <p:txBody>
          <a:bodyPr wrap="square" lIns="0" tIns="0" rIns="0" bIns="0" rtlCol="0" anchor="ctr"/>
          <a:lstStyle/>
          <a:p>
            <a:pPr marL="0" indent="0">
              <a:buNone/>
            </a:pPr>
            <a:r>
              <a:rPr lang="en-US" sz="900" dirty="0">
                <a:solidFill>
                  <a:srgbClr val="6B7280"/>
                </a:solidFill>
                <a:latin typeface="Aptos" pitchFamily="34" charset="0"/>
                <a:ea typeface="Aptos" pitchFamily="34" charset="-122"/>
                <a:cs typeface="Aptos" pitchFamily="34" charset="-120"/>
              </a:rPr>
              <a:t>Route-level RASK, CASK, yield and contribution are not established.</a:t>
            </a:r>
            <a:endParaRPr lang="en-US" sz="900" dirty="0"/>
          </a:p>
        </p:txBody>
      </p:sp>
      <p:sp>
        <p:nvSpPr>
          <p:cNvPr id="21" name="Text 19"/>
          <p:cNvSpPr/>
          <p:nvPr/>
        </p:nvSpPr>
        <p:spPr>
          <a:xfrm>
            <a:off x="502920" y="1938528"/>
            <a:ext cx="777240" cy="457200"/>
          </a:xfrm>
          <a:prstGeom prst="rect">
            <a:avLst/>
          </a:prstGeom>
          <a:noFill/>
          <a:ln/>
        </p:spPr>
        <p:txBody>
          <a:bodyPr wrap="square" lIns="0" tIns="0" rIns="0" bIns="0" rtlCol="0" anchor="t"/>
          <a:lstStyle/>
          <a:p>
            <a:pPr marL="0" indent="0" algn="r">
              <a:buNone/>
            </a:pPr>
            <a:r>
              <a:rPr lang="en-US" sz="850" b="1" dirty="0">
                <a:solidFill>
                  <a:srgbClr val="46577A"/>
                </a:solidFill>
                <a:latin typeface="Aptos" pitchFamily="34" charset="0"/>
                <a:ea typeface="Aptos" pitchFamily="34" charset="-122"/>
                <a:cs typeface="Aptos" pitchFamily="34" charset="-120"/>
              </a:rPr>
              <a:t>HIGH</a:t>
            </a:r>
            <a:endParaRPr lang="en-US" sz="850" dirty="0"/>
          </a:p>
          <a:p>
            <a:pPr marL="0" indent="0" algn="r">
              <a:buNone/>
            </a:pPr>
            <a:r>
              <a:rPr lang="en-US" sz="850" b="1" dirty="0">
                <a:solidFill>
                  <a:srgbClr val="46577A"/>
                </a:solidFill>
                <a:latin typeface="Aptos" pitchFamily="34" charset="0"/>
                <a:ea typeface="Aptos" pitchFamily="34" charset="-122"/>
                <a:cs typeface="Aptos" pitchFamily="34" charset="-120"/>
              </a:rPr>
              <a:t>YIELD</a:t>
            </a:r>
            <a:endParaRPr lang="en-US" sz="850" dirty="0"/>
          </a:p>
        </p:txBody>
      </p:sp>
      <p:sp>
        <p:nvSpPr>
          <p:cNvPr id="22" name="Text 20"/>
          <p:cNvSpPr/>
          <p:nvPr/>
        </p:nvSpPr>
        <p:spPr>
          <a:xfrm>
            <a:off x="502920" y="4206240"/>
            <a:ext cx="777240" cy="457200"/>
          </a:xfrm>
          <a:prstGeom prst="rect">
            <a:avLst/>
          </a:prstGeom>
          <a:noFill/>
          <a:ln/>
        </p:spPr>
        <p:txBody>
          <a:bodyPr wrap="square" lIns="0" tIns="0" rIns="0" bIns="0" rtlCol="0" anchor="b"/>
          <a:lstStyle/>
          <a:p>
            <a:pPr marL="0" indent="0" algn="r">
              <a:buNone/>
            </a:pPr>
            <a:r>
              <a:rPr lang="en-US" sz="850" b="1" dirty="0">
                <a:solidFill>
                  <a:srgbClr val="46577A"/>
                </a:solidFill>
                <a:latin typeface="Aptos" pitchFamily="34" charset="0"/>
                <a:ea typeface="Aptos" pitchFamily="34" charset="-122"/>
                <a:cs typeface="Aptos" pitchFamily="34" charset="-120"/>
              </a:rPr>
              <a:t>LOW</a:t>
            </a:r>
            <a:endParaRPr lang="en-US" sz="850" dirty="0"/>
          </a:p>
          <a:p>
            <a:pPr marL="0" indent="0" algn="r">
              <a:buNone/>
            </a:pPr>
            <a:r>
              <a:rPr lang="en-US" sz="850" b="1" dirty="0">
                <a:solidFill>
                  <a:srgbClr val="46577A"/>
                </a:solidFill>
                <a:latin typeface="Aptos" pitchFamily="34" charset="0"/>
                <a:ea typeface="Aptos" pitchFamily="34" charset="-122"/>
                <a:cs typeface="Aptos" pitchFamily="34" charset="-120"/>
              </a:rPr>
              <a:t>YIELD</a:t>
            </a:r>
            <a:endParaRPr lang="en-US" sz="850" dirty="0"/>
          </a:p>
        </p:txBody>
      </p:sp>
      <p:sp>
        <p:nvSpPr>
          <p:cNvPr id="23" name="Text 21"/>
          <p:cNvSpPr/>
          <p:nvPr/>
        </p:nvSpPr>
        <p:spPr>
          <a:xfrm>
            <a:off x="1389888" y="4809744"/>
            <a:ext cx="1453896" cy="219456"/>
          </a:xfrm>
          <a:prstGeom prst="rect">
            <a:avLst/>
          </a:prstGeom>
          <a:noFill/>
          <a:ln/>
        </p:spPr>
        <p:txBody>
          <a:bodyPr wrap="square" lIns="0" tIns="0" rIns="0" bIns="0" rtlCol="0" anchor="ctr"/>
          <a:lstStyle/>
          <a:p>
            <a:pPr marL="0" indent="0" algn="ctr">
              <a:buNone/>
            </a:pPr>
            <a:r>
              <a:rPr lang="en-US" sz="850" b="1" dirty="0">
                <a:solidFill>
                  <a:srgbClr val="46577A"/>
                </a:solidFill>
                <a:latin typeface="Aptos" pitchFamily="34" charset="0"/>
                <a:ea typeface="Aptos" pitchFamily="34" charset="-122"/>
                <a:cs typeface="Aptos" pitchFamily="34" charset="-120"/>
              </a:rPr>
              <a:t>LOW LOAD FACTOR</a:t>
            </a:r>
            <a:endParaRPr lang="en-US" sz="850" dirty="0"/>
          </a:p>
        </p:txBody>
      </p:sp>
      <p:sp>
        <p:nvSpPr>
          <p:cNvPr id="24" name="Text 22"/>
          <p:cNvSpPr/>
          <p:nvPr/>
        </p:nvSpPr>
        <p:spPr>
          <a:xfrm>
            <a:off x="2843784" y="4809744"/>
            <a:ext cx="1453896" cy="219456"/>
          </a:xfrm>
          <a:prstGeom prst="rect">
            <a:avLst/>
          </a:prstGeom>
          <a:noFill/>
          <a:ln/>
        </p:spPr>
        <p:txBody>
          <a:bodyPr wrap="square" lIns="0" tIns="0" rIns="0" bIns="0" rtlCol="0" anchor="ctr"/>
          <a:lstStyle/>
          <a:p>
            <a:pPr marL="0" indent="0" algn="ctr">
              <a:buNone/>
            </a:pPr>
            <a:r>
              <a:rPr lang="en-US" sz="850" b="1" dirty="0">
                <a:solidFill>
                  <a:srgbClr val="46577A"/>
                </a:solidFill>
                <a:latin typeface="Aptos" pitchFamily="34" charset="0"/>
                <a:ea typeface="Aptos" pitchFamily="34" charset="-122"/>
                <a:cs typeface="Aptos" pitchFamily="34" charset="-120"/>
              </a:rPr>
              <a:t>HIGH LOAD FACTOR</a:t>
            </a:r>
            <a:endParaRPr lang="en-US" sz="850" dirty="0"/>
          </a:p>
        </p:txBody>
      </p:sp>
      <p:sp>
        <p:nvSpPr>
          <p:cNvPr id="25" name="Shape 23"/>
          <p:cNvSpPr/>
          <p:nvPr/>
        </p:nvSpPr>
        <p:spPr>
          <a:xfrm>
            <a:off x="6053328" y="1444752"/>
            <a:ext cx="5486" cy="3675888"/>
          </a:xfrm>
          <a:prstGeom prst="rect">
            <a:avLst/>
          </a:prstGeom>
          <a:solidFill>
            <a:srgbClr val="C9D8F2"/>
          </a:solidFill>
          <a:ln/>
        </p:spPr>
      </p:sp>
      <p:sp>
        <p:nvSpPr>
          <p:cNvPr id="26" name="Text 24"/>
          <p:cNvSpPr/>
          <p:nvPr/>
        </p:nvSpPr>
        <p:spPr>
          <a:xfrm>
            <a:off x="6309360" y="1444752"/>
            <a:ext cx="539496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NOIDA INTERNATIONAL AIRPORT - THE LIVE TEST CASE</a:t>
            </a:r>
            <a:endParaRPr lang="en-US" sz="1000" dirty="0"/>
          </a:p>
        </p:txBody>
      </p:sp>
      <p:sp>
        <p:nvSpPr>
          <p:cNvPr id="27" name="Shape 25"/>
          <p:cNvSpPr/>
          <p:nvPr/>
        </p:nvSpPr>
        <p:spPr>
          <a:xfrm>
            <a:off x="6309360" y="1737360"/>
            <a:ext cx="519379" cy="173736"/>
          </a:xfrm>
          <a:prstGeom prst="rect">
            <a:avLst/>
          </a:prstGeom>
          <a:solidFill>
            <a:srgbClr val="041E47"/>
          </a:solidFill>
          <a:ln/>
        </p:spPr>
      </p:sp>
      <p:sp>
        <p:nvSpPr>
          <p:cNvPr id="28" name="Text 26"/>
          <p:cNvSpPr/>
          <p:nvPr/>
        </p:nvSpPr>
        <p:spPr>
          <a:xfrm>
            <a:off x="6309360" y="1737360"/>
            <a:ext cx="519379"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FACT</a:t>
            </a:r>
            <a:endParaRPr lang="en-US" sz="900" dirty="0"/>
          </a:p>
        </p:txBody>
      </p:sp>
      <p:sp>
        <p:nvSpPr>
          <p:cNvPr id="29" name="Text 27"/>
          <p:cNvSpPr/>
          <p:nvPr/>
        </p:nvSpPr>
        <p:spPr>
          <a:xfrm>
            <a:off x="6938467" y="1700784"/>
            <a:ext cx="4747565" cy="402336"/>
          </a:xfrm>
          <a:prstGeom prst="rect">
            <a:avLst/>
          </a:prstGeom>
          <a:noFill/>
          <a:ln/>
        </p:spPr>
        <p:txBody>
          <a:bodyPr wrap="square" lIns="0" tIns="0" rIns="0" bIns="0" rtlCol="0" anchor="t"/>
          <a:lstStyle/>
          <a:p>
            <a:pPr marL="0" indent="0">
              <a:buNone/>
            </a:pPr>
            <a:r>
              <a:rPr lang="en-US" sz="1050" dirty="0">
                <a:solidFill>
                  <a:srgbClr val="041E47"/>
                </a:solidFill>
                <a:latin typeface="Aptos" pitchFamily="34" charset="0"/>
                <a:ea typeface="Aptos" pitchFamily="34" charset="-122"/>
                <a:cs typeface="Aptos" pitchFamily="34" charset="-120"/>
              </a:rPr>
              <a:t>15 June 2026 - IndiGo becomes the first airline to operate at NIA, connecting 16+ destinations across India.</a:t>
            </a:r>
            <a:endParaRPr lang="en-US" sz="1050" dirty="0"/>
          </a:p>
        </p:txBody>
      </p:sp>
      <p:sp>
        <p:nvSpPr>
          <p:cNvPr id="30" name="Shape 28"/>
          <p:cNvSpPr/>
          <p:nvPr/>
        </p:nvSpPr>
        <p:spPr>
          <a:xfrm>
            <a:off x="6309360" y="2212848"/>
            <a:ext cx="5376672" cy="402336"/>
          </a:xfrm>
          <a:prstGeom prst="rect">
            <a:avLst/>
          </a:prstGeom>
          <a:solidFill>
            <a:srgbClr val="041E47"/>
          </a:solidFill>
          <a:ln/>
        </p:spPr>
      </p:sp>
      <p:sp>
        <p:nvSpPr>
          <p:cNvPr id="31" name="Text 29"/>
          <p:cNvSpPr/>
          <p:nvPr/>
        </p:nvSpPr>
        <p:spPr>
          <a:xfrm>
            <a:off x="6309360" y="2212848"/>
            <a:ext cx="5376672"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Net incremental revenue  =  Noida incremental revenue  -  Delhi revenue lost</a:t>
            </a:r>
            <a:endParaRPr lang="en-US" sz="1100" dirty="0"/>
          </a:p>
        </p:txBody>
      </p:sp>
      <p:sp>
        <p:nvSpPr>
          <p:cNvPr id="32" name="Text 30"/>
          <p:cNvSpPr/>
          <p:nvPr/>
        </p:nvSpPr>
        <p:spPr>
          <a:xfrm>
            <a:off x="6309360" y="2724912"/>
            <a:ext cx="5394960" cy="201168"/>
          </a:xfrm>
          <a:prstGeom prst="rect">
            <a:avLst/>
          </a:prstGeom>
          <a:noFill/>
          <a:ln/>
        </p:spPr>
        <p:txBody>
          <a:bodyPr wrap="square" lIns="0" tIns="0" rIns="0" bIns="0" rtlCol="0" anchor="ctr"/>
          <a:lstStyle/>
          <a:p>
            <a:pPr marL="0" indent="0" algn="l">
              <a:buNone/>
            </a:pPr>
            <a:r>
              <a:rPr lang="en-US" sz="900" b="1" kern="0" spc="110" dirty="0">
                <a:solidFill>
                  <a:srgbClr val="46577A"/>
                </a:solidFill>
                <a:latin typeface="Aptos" pitchFamily="34" charset="0"/>
                <a:ea typeface="Aptos" pitchFamily="34" charset="-122"/>
                <a:cs typeface="Aptos" pitchFamily="34" charset="-120"/>
              </a:rPr>
              <a:t>FIVE COMPONENTS TO MEASURE FROM DAY ONE - ALL CURRENTLY UNMEASURED</a:t>
            </a:r>
            <a:endParaRPr lang="en-US" sz="900" dirty="0"/>
          </a:p>
        </p:txBody>
      </p:sp>
      <p:sp>
        <p:nvSpPr>
          <p:cNvPr id="33" name="Shape 31"/>
          <p:cNvSpPr/>
          <p:nvPr/>
        </p:nvSpPr>
        <p:spPr>
          <a:xfrm>
            <a:off x="6309360" y="2999232"/>
            <a:ext cx="237744" cy="292608"/>
          </a:xfrm>
          <a:prstGeom prst="rect">
            <a:avLst/>
          </a:prstGeom>
          <a:solidFill>
            <a:srgbClr val="0E8A7A"/>
          </a:solidFill>
          <a:ln/>
        </p:spPr>
      </p:sp>
      <p:sp>
        <p:nvSpPr>
          <p:cNvPr id="34" name="Text 32"/>
          <p:cNvSpPr/>
          <p:nvPr/>
        </p:nvSpPr>
        <p:spPr>
          <a:xfrm>
            <a:off x="6309360" y="2999232"/>
            <a:ext cx="237744"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a:t>
            </a:r>
            <a:endParaRPr lang="en-US" sz="1300" dirty="0"/>
          </a:p>
        </p:txBody>
      </p:sp>
      <p:sp>
        <p:nvSpPr>
          <p:cNvPr id="35" name="Text 33"/>
          <p:cNvSpPr/>
          <p:nvPr/>
        </p:nvSpPr>
        <p:spPr>
          <a:xfrm>
            <a:off x="6638544" y="2999232"/>
            <a:ext cx="2103120" cy="292608"/>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New NIA demand</a:t>
            </a:r>
            <a:endParaRPr lang="en-US" sz="1000" dirty="0"/>
          </a:p>
        </p:txBody>
      </p:sp>
      <p:sp>
        <p:nvSpPr>
          <p:cNvPr id="36" name="Text 34"/>
          <p:cNvSpPr/>
          <p:nvPr/>
        </p:nvSpPr>
        <p:spPr>
          <a:xfrm>
            <a:off x="8741664" y="2999232"/>
            <a:ext cx="1920240" cy="292608"/>
          </a:xfrm>
          <a:prstGeom prst="rect">
            <a:avLst/>
          </a:prstGeom>
          <a:noFill/>
          <a:ln/>
        </p:spPr>
        <p:txBody>
          <a:bodyPr wrap="square" lIns="0" tIns="0" rIns="0" bIns="0" rtlCol="0" anchor="ctr"/>
          <a:lstStyle/>
          <a:p>
            <a:pPr marL="0" indent="0">
              <a:buNone/>
            </a:pPr>
            <a:r>
              <a:rPr lang="en-US" sz="900" dirty="0">
                <a:solidFill>
                  <a:srgbClr val="46577A"/>
                </a:solidFill>
                <a:latin typeface="Aptos" pitchFamily="34" charset="0"/>
                <a:ea typeface="Aptos" pitchFamily="34" charset="-122"/>
                <a:cs typeface="Aptos" pitchFamily="34" charset="-120"/>
              </a:rPr>
              <a:t>passengers genuinely new to IndiGo</a:t>
            </a:r>
            <a:endParaRPr lang="en-US" sz="900" dirty="0"/>
          </a:p>
        </p:txBody>
      </p:sp>
      <p:sp>
        <p:nvSpPr>
          <p:cNvPr id="37" name="Shape 35"/>
          <p:cNvSpPr/>
          <p:nvPr/>
        </p:nvSpPr>
        <p:spPr>
          <a:xfrm>
            <a:off x="10716768" y="3049524"/>
            <a:ext cx="969264" cy="192024"/>
          </a:xfrm>
          <a:prstGeom prst="rect">
            <a:avLst/>
          </a:prstGeom>
          <a:solidFill>
            <a:srgbClr val="FFFFFF"/>
          </a:solidFill>
          <a:ln w="9525">
            <a:solidFill>
              <a:srgbClr val="6B7280"/>
            </a:solidFill>
            <a:prstDash val="dash"/>
          </a:ln>
        </p:spPr>
      </p:sp>
      <p:sp>
        <p:nvSpPr>
          <p:cNvPr id="38" name="Text 36"/>
          <p:cNvSpPr/>
          <p:nvPr/>
        </p:nvSpPr>
        <p:spPr>
          <a:xfrm>
            <a:off x="10716768" y="3049524"/>
            <a:ext cx="969264" cy="192024"/>
          </a:xfrm>
          <a:prstGeom prst="rect">
            <a:avLst/>
          </a:prstGeom>
          <a:noFill/>
          <a:ln/>
        </p:spPr>
        <p:txBody>
          <a:bodyPr wrap="square" lIns="0" tIns="0" rIns="0" bIns="0" rtlCol="0" anchor="ctr"/>
          <a:lstStyle/>
          <a:p>
            <a:pPr marL="0" indent="0" algn="ctr">
              <a:buNone/>
            </a:pPr>
            <a:r>
              <a:rPr lang="en-US" sz="700" b="1" dirty="0">
                <a:solidFill>
                  <a:srgbClr val="6B7280"/>
                </a:solidFill>
                <a:latin typeface="Aptos" pitchFamily="34" charset="0"/>
                <a:ea typeface="Aptos" pitchFamily="34" charset="-122"/>
                <a:cs typeface="Aptos" pitchFamily="34" charset="-120"/>
              </a:rPr>
              <a:t>NOT MEASURED</a:t>
            </a:r>
            <a:endParaRPr lang="en-US" sz="700" dirty="0"/>
          </a:p>
        </p:txBody>
      </p:sp>
      <p:sp>
        <p:nvSpPr>
          <p:cNvPr id="39" name="Shape 37"/>
          <p:cNvSpPr/>
          <p:nvPr/>
        </p:nvSpPr>
        <p:spPr>
          <a:xfrm>
            <a:off x="6309360" y="3383280"/>
            <a:ext cx="237744" cy="292608"/>
          </a:xfrm>
          <a:prstGeom prst="rect">
            <a:avLst/>
          </a:prstGeom>
          <a:solidFill>
            <a:srgbClr val="C43F2E"/>
          </a:solidFill>
          <a:ln/>
        </p:spPr>
      </p:sp>
      <p:sp>
        <p:nvSpPr>
          <p:cNvPr id="40" name="Text 38"/>
          <p:cNvSpPr/>
          <p:nvPr/>
        </p:nvSpPr>
        <p:spPr>
          <a:xfrm>
            <a:off x="6309360" y="3383280"/>
            <a:ext cx="237744"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a:t>
            </a:r>
            <a:endParaRPr lang="en-US" sz="1300" dirty="0"/>
          </a:p>
        </p:txBody>
      </p:sp>
      <p:sp>
        <p:nvSpPr>
          <p:cNvPr id="41" name="Text 39"/>
          <p:cNvSpPr/>
          <p:nvPr/>
        </p:nvSpPr>
        <p:spPr>
          <a:xfrm>
            <a:off x="6638544" y="3383280"/>
            <a:ext cx="2103120" cy="292608"/>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Delhi traffic shift</a:t>
            </a:r>
            <a:endParaRPr lang="en-US" sz="1000" dirty="0"/>
          </a:p>
        </p:txBody>
      </p:sp>
      <p:sp>
        <p:nvSpPr>
          <p:cNvPr id="42" name="Text 40"/>
          <p:cNvSpPr/>
          <p:nvPr/>
        </p:nvSpPr>
        <p:spPr>
          <a:xfrm>
            <a:off x="8741664" y="3383280"/>
            <a:ext cx="1920240" cy="292608"/>
          </a:xfrm>
          <a:prstGeom prst="rect">
            <a:avLst/>
          </a:prstGeom>
          <a:noFill/>
          <a:ln/>
        </p:spPr>
        <p:txBody>
          <a:bodyPr wrap="square" lIns="0" tIns="0" rIns="0" bIns="0" rtlCol="0" anchor="ctr"/>
          <a:lstStyle/>
          <a:p>
            <a:pPr marL="0" indent="0">
              <a:buNone/>
            </a:pPr>
            <a:r>
              <a:rPr lang="en-US" sz="900" dirty="0">
                <a:solidFill>
                  <a:srgbClr val="46577A"/>
                </a:solidFill>
                <a:latin typeface="Aptos" pitchFamily="34" charset="0"/>
                <a:ea typeface="Aptos" pitchFamily="34" charset="-122"/>
                <a:cs typeface="Aptos" pitchFamily="34" charset="-120"/>
              </a:rPr>
              <a:t>cannibalisation of existing Delhi traffic</a:t>
            </a:r>
            <a:endParaRPr lang="en-US" sz="900" dirty="0"/>
          </a:p>
        </p:txBody>
      </p:sp>
      <p:sp>
        <p:nvSpPr>
          <p:cNvPr id="43" name="Shape 41"/>
          <p:cNvSpPr/>
          <p:nvPr/>
        </p:nvSpPr>
        <p:spPr>
          <a:xfrm>
            <a:off x="10716768" y="3433572"/>
            <a:ext cx="969264" cy="192024"/>
          </a:xfrm>
          <a:prstGeom prst="rect">
            <a:avLst/>
          </a:prstGeom>
          <a:solidFill>
            <a:srgbClr val="FFFFFF"/>
          </a:solidFill>
          <a:ln w="9525">
            <a:solidFill>
              <a:srgbClr val="6B7280"/>
            </a:solidFill>
            <a:prstDash val="dash"/>
          </a:ln>
        </p:spPr>
      </p:sp>
      <p:sp>
        <p:nvSpPr>
          <p:cNvPr id="44" name="Text 42"/>
          <p:cNvSpPr/>
          <p:nvPr/>
        </p:nvSpPr>
        <p:spPr>
          <a:xfrm>
            <a:off x="10716768" y="3433572"/>
            <a:ext cx="969264" cy="192024"/>
          </a:xfrm>
          <a:prstGeom prst="rect">
            <a:avLst/>
          </a:prstGeom>
          <a:noFill/>
          <a:ln/>
        </p:spPr>
        <p:txBody>
          <a:bodyPr wrap="square" lIns="0" tIns="0" rIns="0" bIns="0" rtlCol="0" anchor="ctr"/>
          <a:lstStyle/>
          <a:p>
            <a:pPr marL="0" indent="0" algn="ctr">
              <a:buNone/>
            </a:pPr>
            <a:r>
              <a:rPr lang="en-US" sz="700" b="1" dirty="0">
                <a:solidFill>
                  <a:srgbClr val="6B7280"/>
                </a:solidFill>
                <a:latin typeface="Aptos" pitchFamily="34" charset="0"/>
                <a:ea typeface="Aptos" pitchFamily="34" charset="-122"/>
                <a:cs typeface="Aptos" pitchFamily="34" charset="-120"/>
              </a:rPr>
              <a:t>NOT MEASURED</a:t>
            </a:r>
            <a:endParaRPr lang="en-US" sz="700" dirty="0"/>
          </a:p>
        </p:txBody>
      </p:sp>
      <p:sp>
        <p:nvSpPr>
          <p:cNvPr id="45" name="Shape 43"/>
          <p:cNvSpPr/>
          <p:nvPr/>
        </p:nvSpPr>
        <p:spPr>
          <a:xfrm>
            <a:off x="6309360" y="3767328"/>
            <a:ext cx="237744" cy="292608"/>
          </a:xfrm>
          <a:prstGeom prst="rect">
            <a:avLst/>
          </a:prstGeom>
          <a:solidFill>
            <a:srgbClr val="0E8A7A"/>
          </a:solidFill>
          <a:ln/>
        </p:spPr>
      </p:sp>
      <p:sp>
        <p:nvSpPr>
          <p:cNvPr id="46" name="Text 44"/>
          <p:cNvSpPr/>
          <p:nvPr/>
        </p:nvSpPr>
        <p:spPr>
          <a:xfrm>
            <a:off x="6309360" y="3767328"/>
            <a:ext cx="237744"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a:t>
            </a:r>
            <a:endParaRPr lang="en-US" sz="1300" dirty="0"/>
          </a:p>
        </p:txBody>
      </p:sp>
      <p:sp>
        <p:nvSpPr>
          <p:cNvPr id="47" name="Text 45"/>
          <p:cNvSpPr/>
          <p:nvPr/>
        </p:nvSpPr>
        <p:spPr>
          <a:xfrm>
            <a:off x="6638544" y="3767328"/>
            <a:ext cx="2103120" cy="292608"/>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New connections</a:t>
            </a:r>
            <a:endParaRPr lang="en-US" sz="1000" dirty="0"/>
          </a:p>
        </p:txBody>
      </p:sp>
      <p:sp>
        <p:nvSpPr>
          <p:cNvPr id="48" name="Text 46"/>
          <p:cNvSpPr/>
          <p:nvPr/>
        </p:nvSpPr>
        <p:spPr>
          <a:xfrm>
            <a:off x="8741664" y="3767328"/>
            <a:ext cx="1920240" cy="292608"/>
          </a:xfrm>
          <a:prstGeom prst="rect">
            <a:avLst/>
          </a:prstGeom>
          <a:noFill/>
          <a:ln/>
        </p:spPr>
        <p:txBody>
          <a:bodyPr wrap="square" lIns="0" tIns="0" rIns="0" bIns="0" rtlCol="0" anchor="ctr"/>
          <a:lstStyle/>
          <a:p>
            <a:pPr marL="0" indent="0">
              <a:buNone/>
            </a:pPr>
            <a:r>
              <a:rPr lang="en-US" sz="900" dirty="0">
                <a:solidFill>
                  <a:srgbClr val="46577A"/>
                </a:solidFill>
                <a:latin typeface="Aptos" pitchFamily="34" charset="0"/>
                <a:ea typeface="Aptos" pitchFamily="34" charset="-122"/>
                <a:cs typeface="Aptos" pitchFamily="34" charset="-120"/>
              </a:rPr>
              <a:t>additional connecting traffic created</a:t>
            </a:r>
            <a:endParaRPr lang="en-US" sz="900" dirty="0"/>
          </a:p>
        </p:txBody>
      </p:sp>
      <p:sp>
        <p:nvSpPr>
          <p:cNvPr id="49" name="Shape 47"/>
          <p:cNvSpPr/>
          <p:nvPr/>
        </p:nvSpPr>
        <p:spPr>
          <a:xfrm>
            <a:off x="10716768" y="3817620"/>
            <a:ext cx="969264" cy="192024"/>
          </a:xfrm>
          <a:prstGeom prst="rect">
            <a:avLst/>
          </a:prstGeom>
          <a:solidFill>
            <a:srgbClr val="FFFFFF"/>
          </a:solidFill>
          <a:ln w="9525">
            <a:solidFill>
              <a:srgbClr val="6B7280"/>
            </a:solidFill>
            <a:prstDash val="dash"/>
          </a:ln>
        </p:spPr>
      </p:sp>
      <p:sp>
        <p:nvSpPr>
          <p:cNvPr id="50" name="Text 48"/>
          <p:cNvSpPr/>
          <p:nvPr/>
        </p:nvSpPr>
        <p:spPr>
          <a:xfrm>
            <a:off x="10716768" y="3817620"/>
            <a:ext cx="969264" cy="192024"/>
          </a:xfrm>
          <a:prstGeom prst="rect">
            <a:avLst/>
          </a:prstGeom>
          <a:noFill/>
          <a:ln/>
        </p:spPr>
        <p:txBody>
          <a:bodyPr wrap="square" lIns="0" tIns="0" rIns="0" bIns="0" rtlCol="0" anchor="ctr"/>
          <a:lstStyle/>
          <a:p>
            <a:pPr marL="0" indent="0" algn="ctr">
              <a:buNone/>
            </a:pPr>
            <a:r>
              <a:rPr lang="en-US" sz="700" b="1" dirty="0">
                <a:solidFill>
                  <a:srgbClr val="6B7280"/>
                </a:solidFill>
                <a:latin typeface="Aptos" pitchFamily="34" charset="0"/>
                <a:ea typeface="Aptos" pitchFamily="34" charset="-122"/>
                <a:cs typeface="Aptos" pitchFamily="34" charset="-120"/>
              </a:rPr>
              <a:t>NOT MEASURED</a:t>
            </a:r>
            <a:endParaRPr lang="en-US" sz="700" dirty="0"/>
          </a:p>
        </p:txBody>
      </p:sp>
      <p:sp>
        <p:nvSpPr>
          <p:cNvPr id="51" name="Shape 49"/>
          <p:cNvSpPr/>
          <p:nvPr/>
        </p:nvSpPr>
        <p:spPr>
          <a:xfrm>
            <a:off x="6309360" y="4151376"/>
            <a:ext cx="237744" cy="292608"/>
          </a:xfrm>
          <a:prstGeom prst="rect">
            <a:avLst/>
          </a:prstGeom>
          <a:solidFill>
            <a:srgbClr val="0E8A7A"/>
          </a:solidFill>
          <a:ln/>
        </p:spPr>
      </p:sp>
      <p:sp>
        <p:nvSpPr>
          <p:cNvPr id="52" name="Text 50"/>
          <p:cNvSpPr/>
          <p:nvPr/>
        </p:nvSpPr>
        <p:spPr>
          <a:xfrm>
            <a:off x="6309360" y="4151376"/>
            <a:ext cx="237744"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a:t>
            </a:r>
            <a:endParaRPr lang="en-US" sz="1300" dirty="0"/>
          </a:p>
        </p:txBody>
      </p:sp>
      <p:sp>
        <p:nvSpPr>
          <p:cNvPr id="53" name="Text 51"/>
          <p:cNvSpPr/>
          <p:nvPr/>
        </p:nvSpPr>
        <p:spPr>
          <a:xfrm>
            <a:off x="6638544" y="4151376"/>
            <a:ext cx="2103120" cy="292608"/>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Delhi capacity released</a:t>
            </a:r>
            <a:endParaRPr lang="en-US" sz="1000" dirty="0"/>
          </a:p>
        </p:txBody>
      </p:sp>
      <p:sp>
        <p:nvSpPr>
          <p:cNvPr id="54" name="Text 52"/>
          <p:cNvSpPr/>
          <p:nvPr/>
        </p:nvSpPr>
        <p:spPr>
          <a:xfrm>
            <a:off x="8741664" y="4151376"/>
            <a:ext cx="1920240" cy="292608"/>
          </a:xfrm>
          <a:prstGeom prst="rect">
            <a:avLst/>
          </a:prstGeom>
          <a:noFill/>
          <a:ln/>
        </p:spPr>
        <p:txBody>
          <a:bodyPr wrap="square" lIns="0" tIns="0" rIns="0" bIns="0" rtlCol="0" anchor="ctr"/>
          <a:lstStyle/>
          <a:p>
            <a:pPr marL="0" indent="0">
              <a:buNone/>
            </a:pPr>
            <a:r>
              <a:rPr lang="en-US" sz="900" dirty="0">
                <a:solidFill>
                  <a:srgbClr val="46577A"/>
                </a:solidFill>
                <a:latin typeface="Aptos" pitchFamily="34" charset="0"/>
                <a:ea typeface="Aptos" pitchFamily="34" charset="-122"/>
                <a:cs typeface="Aptos" pitchFamily="34" charset="-120"/>
              </a:rPr>
              <a:t>opportunity value, if redeployed profitably</a:t>
            </a:r>
            <a:endParaRPr lang="en-US" sz="900" dirty="0"/>
          </a:p>
        </p:txBody>
      </p:sp>
      <p:sp>
        <p:nvSpPr>
          <p:cNvPr id="55" name="Shape 53"/>
          <p:cNvSpPr/>
          <p:nvPr/>
        </p:nvSpPr>
        <p:spPr>
          <a:xfrm>
            <a:off x="10716768" y="4201668"/>
            <a:ext cx="969264" cy="192024"/>
          </a:xfrm>
          <a:prstGeom prst="rect">
            <a:avLst/>
          </a:prstGeom>
          <a:solidFill>
            <a:srgbClr val="FFFFFF"/>
          </a:solidFill>
          <a:ln w="9525">
            <a:solidFill>
              <a:srgbClr val="6B7280"/>
            </a:solidFill>
            <a:prstDash val="dash"/>
          </a:ln>
        </p:spPr>
      </p:sp>
      <p:sp>
        <p:nvSpPr>
          <p:cNvPr id="56" name="Text 54"/>
          <p:cNvSpPr/>
          <p:nvPr/>
        </p:nvSpPr>
        <p:spPr>
          <a:xfrm>
            <a:off x="10716768" y="4201668"/>
            <a:ext cx="969264" cy="192024"/>
          </a:xfrm>
          <a:prstGeom prst="rect">
            <a:avLst/>
          </a:prstGeom>
          <a:noFill/>
          <a:ln/>
        </p:spPr>
        <p:txBody>
          <a:bodyPr wrap="square" lIns="0" tIns="0" rIns="0" bIns="0" rtlCol="0" anchor="ctr"/>
          <a:lstStyle/>
          <a:p>
            <a:pPr marL="0" indent="0" algn="ctr">
              <a:buNone/>
            </a:pPr>
            <a:r>
              <a:rPr lang="en-US" sz="700" b="1" dirty="0">
                <a:solidFill>
                  <a:srgbClr val="6B7280"/>
                </a:solidFill>
                <a:latin typeface="Aptos" pitchFamily="34" charset="0"/>
                <a:ea typeface="Aptos" pitchFamily="34" charset="-122"/>
                <a:cs typeface="Aptos" pitchFamily="34" charset="-120"/>
              </a:rPr>
              <a:t>NOT MEASURED</a:t>
            </a:r>
            <a:endParaRPr lang="en-US" sz="700" dirty="0"/>
          </a:p>
        </p:txBody>
      </p:sp>
      <p:sp>
        <p:nvSpPr>
          <p:cNvPr id="57" name="Shape 55"/>
          <p:cNvSpPr/>
          <p:nvPr/>
        </p:nvSpPr>
        <p:spPr>
          <a:xfrm>
            <a:off x="6309360" y="4535424"/>
            <a:ext cx="237744" cy="292608"/>
          </a:xfrm>
          <a:prstGeom prst="rect">
            <a:avLst/>
          </a:prstGeom>
          <a:solidFill>
            <a:srgbClr val="C43F2E"/>
          </a:solidFill>
          <a:ln/>
        </p:spPr>
      </p:sp>
      <p:sp>
        <p:nvSpPr>
          <p:cNvPr id="58" name="Text 56"/>
          <p:cNvSpPr/>
          <p:nvPr/>
        </p:nvSpPr>
        <p:spPr>
          <a:xfrm>
            <a:off x="6309360" y="4535424"/>
            <a:ext cx="237744"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a:t>
            </a:r>
            <a:endParaRPr lang="en-US" sz="1300" dirty="0"/>
          </a:p>
        </p:txBody>
      </p:sp>
      <p:sp>
        <p:nvSpPr>
          <p:cNvPr id="59" name="Text 57"/>
          <p:cNvSpPr/>
          <p:nvPr/>
        </p:nvSpPr>
        <p:spPr>
          <a:xfrm>
            <a:off x="6638544" y="4535424"/>
            <a:ext cx="2103120" cy="292608"/>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Incremental operating cost</a:t>
            </a:r>
            <a:endParaRPr lang="en-US" sz="1000" dirty="0"/>
          </a:p>
        </p:txBody>
      </p:sp>
      <p:sp>
        <p:nvSpPr>
          <p:cNvPr id="60" name="Text 58"/>
          <p:cNvSpPr/>
          <p:nvPr/>
        </p:nvSpPr>
        <p:spPr>
          <a:xfrm>
            <a:off x="8741664" y="4535424"/>
            <a:ext cx="1920240" cy="292608"/>
          </a:xfrm>
          <a:prstGeom prst="rect">
            <a:avLst/>
          </a:prstGeom>
          <a:noFill/>
          <a:ln/>
        </p:spPr>
        <p:txBody>
          <a:bodyPr wrap="square" lIns="0" tIns="0" rIns="0" bIns="0" rtlCol="0" anchor="ctr"/>
          <a:lstStyle/>
          <a:p>
            <a:pPr marL="0" indent="0">
              <a:buNone/>
            </a:pPr>
            <a:r>
              <a:rPr lang="en-US" sz="900" dirty="0">
                <a:solidFill>
                  <a:srgbClr val="46577A"/>
                </a:solidFill>
                <a:latin typeface="Aptos" pitchFamily="34" charset="0"/>
                <a:ea typeface="Aptos" pitchFamily="34" charset="-122"/>
                <a:cs typeface="Aptos" pitchFamily="34" charset="-120"/>
              </a:rPr>
              <a:t>cost of running the Noida operation</a:t>
            </a:r>
            <a:endParaRPr lang="en-US" sz="900" dirty="0"/>
          </a:p>
        </p:txBody>
      </p:sp>
      <p:sp>
        <p:nvSpPr>
          <p:cNvPr id="61" name="Shape 59"/>
          <p:cNvSpPr/>
          <p:nvPr/>
        </p:nvSpPr>
        <p:spPr>
          <a:xfrm>
            <a:off x="10716768" y="4585716"/>
            <a:ext cx="969264" cy="192024"/>
          </a:xfrm>
          <a:prstGeom prst="rect">
            <a:avLst/>
          </a:prstGeom>
          <a:solidFill>
            <a:srgbClr val="FFFFFF"/>
          </a:solidFill>
          <a:ln w="9525">
            <a:solidFill>
              <a:srgbClr val="6B7280"/>
            </a:solidFill>
            <a:prstDash val="dash"/>
          </a:ln>
        </p:spPr>
      </p:sp>
      <p:sp>
        <p:nvSpPr>
          <p:cNvPr id="62" name="Text 60"/>
          <p:cNvSpPr/>
          <p:nvPr/>
        </p:nvSpPr>
        <p:spPr>
          <a:xfrm>
            <a:off x="10716768" y="4585716"/>
            <a:ext cx="969264" cy="192024"/>
          </a:xfrm>
          <a:prstGeom prst="rect">
            <a:avLst/>
          </a:prstGeom>
          <a:noFill/>
          <a:ln/>
        </p:spPr>
        <p:txBody>
          <a:bodyPr wrap="square" lIns="0" tIns="0" rIns="0" bIns="0" rtlCol="0" anchor="ctr"/>
          <a:lstStyle/>
          <a:p>
            <a:pPr marL="0" indent="0" algn="ctr">
              <a:buNone/>
            </a:pPr>
            <a:r>
              <a:rPr lang="en-US" sz="700" b="1" dirty="0">
                <a:solidFill>
                  <a:srgbClr val="6B7280"/>
                </a:solidFill>
                <a:latin typeface="Aptos" pitchFamily="34" charset="0"/>
                <a:ea typeface="Aptos" pitchFamily="34" charset="-122"/>
                <a:cs typeface="Aptos" pitchFamily="34" charset="-120"/>
              </a:rPr>
              <a:t>NOT MEASURED</a:t>
            </a:r>
            <a:endParaRPr lang="en-US" sz="700" dirty="0"/>
          </a:p>
        </p:txBody>
      </p:sp>
      <p:sp>
        <p:nvSpPr>
          <p:cNvPr id="63" name="Shape 61"/>
          <p:cNvSpPr/>
          <p:nvPr/>
        </p:nvSpPr>
        <p:spPr>
          <a:xfrm>
            <a:off x="6309360" y="4974336"/>
            <a:ext cx="5376672" cy="603504"/>
          </a:xfrm>
          <a:prstGeom prst="rect">
            <a:avLst/>
          </a:prstGeom>
          <a:solidFill>
            <a:srgbClr val="FFFFFF"/>
          </a:solidFill>
          <a:ln w="9525">
            <a:solidFill>
              <a:srgbClr val="D98A00"/>
            </a:solidFill>
            <a:prstDash val="dash"/>
          </a:ln>
        </p:spPr>
      </p:sp>
      <p:sp>
        <p:nvSpPr>
          <p:cNvPr id="64" name="Shape 62"/>
          <p:cNvSpPr/>
          <p:nvPr/>
        </p:nvSpPr>
        <p:spPr>
          <a:xfrm>
            <a:off x="6400800" y="5189220"/>
            <a:ext cx="969264" cy="173736"/>
          </a:xfrm>
          <a:prstGeom prst="rect">
            <a:avLst/>
          </a:prstGeom>
          <a:solidFill>
            <a:srgbClr val="FFFFFF"/>
          </a:solidFill>
          <a:ln w="9525">
            <a:solidFill>
              <a:srgbClr val="D98A00"/>
            </a:solidFill>
            <a:prstDash val="solid"/>
          </a:ln>
        </p:spPr>
      </p:sp>
      <p:sp>
        <p:nvSpPr>
          <p:cNvPr id="65" name="Text 63"/>
          <p:cNvSpPr/>
          <p:nvPr/>
        </p:nvSpPr>
        <p:spPr>
          <a:xfrm>
            <a:off x="6400800" y="5189220"/>
            <a:ext cx="969264" cy="173736"/>
          </a:xfrm>
          <a:prstGeom prst="rect">
            <a:avLst/>
          </a:prstGeom>
          <a:noFill/>
          <a:ln/>
        </p:spPr>
        <p:txBody>
          <a:bodyPr wrap="square" lIns="0" tIns="0" rIns="0" bIns="0" rtlCol="0" anchor="ctr"/>
          <a:lstStyle/>
          <a:p>
            <a:pPr marL="0" indent="0" algn="ctr">
              <a:buNone/>
            </a:pPr>
            <a:r>
              <a:rPr lang="en-US" sz="900" b="1" dirty="0">
                <a:solidFill>
                  <a:srgbClr val="D98A00"/>
                </a:solidFill>
                <a:latin typeface="Aptos" pitchFamily="34" charset="0"/>
                <a:ea typeface="Aptos" pitchFamily="34" charset="-122"/>
                <a:cs typeface="Aptos" pitchFamily="34" charset="-120"/>
              </a:rPr>
              <a:t>HYPOTHESIS</a:t>
            </a:r>
            <a:endParaRPr lang="en-US" sz="900" dirty="0"/>
          </a:p>
        </p:txBody>
      </p:sp>
      <p:sp>
        <p:nvSpPr>
          <p:cNvPr id="66" name="Text 64"/>
          <p:cNvSpPr/>
          <p:nvPr/>
        </p:nvSpPr>
        <p:spPr>
          <a:xfrm>
            <a:off x="7479792" y="5010912"/>
            <a:ext cx="4096512" cy="530352"/>
          </a:xfrm>
          <a:prstGeom prst="rect">
            <a:avLst/>
          </a:prstGeom>
          <a:noFill/>
          <a:ln/>
        </p:spPr>
        <p:txBody>
          <a:bodyPr wrap="square" lIns="0" tIns="0" rIns="0" bIns="0" rtlCol="0" anchor="ctr"/>
          <a:lstStyle/>
          <a:p>
            <a:pPr marL="0" indent="0">
              <a:buNone/>
            </a:pPr>
            <a:r>
              <a:rPr lang="en-US" sz="950" dirty="0">
                <a:solidFill>
                  <a:srgbClr val="6B7280"/>
                </a:solidFill>
                <a:latin typeface="Aptos" pitchFamily="34" charset="0"/>
                <a:ea typeface="Aptos" pitchFamily="34" charset="-122"/>
                <a:cs typeface="Aptos" pitchFamily="34" charset="-120"/>
              </a:rPr>
              <a:t>That Noida can become an effective secondary NCR hub without materially cannibalising Delhi traffic is an open hypothesis (RQ-OPS-NET-015). No passenger forecast, revenue projection or cannibalisation percentage has been supplied.</a:t>
            </a:r>
            <a:endParaRPr lang="en-US" sz="950" dirty="0"/>
          </a:p>
        </p:txBody>
      </p:sp>
      <p:sp>
        <p:nvSpPr>
          <p:cNvPr id="67" name="Shape 65"/>
          <p:cNvSpPr/>
          <p:nvPr/>
        </p:nvSpPr>
        <p:spPr>
          <a:xfrm>
            <a:off x="502920" y="5705856"/>
            <a:ext cx="5532120" cy="512064"/>
          </a:xfrm>
          <a:prstGeom prst="rect">
            <a:avLst/>
          </a:prstGeom>
          <a:solidFill>
            <a:srgbClr val="F4F7FD"/>
          </a:solidFill>
          <a:ln/>
        </p:spPr>
      </p:sp>
      <p:sp>
        <p:nvSpPr>
          <p:cNvPr id="68" name="Text 66"/>
          <p:cNvSpPr/>
          <p:nvPr/>
        </p:nvSpPr>
        <p:spPr>
          <a:xfrm>
            <a:off x="630936" y="5705856"/>
            <a:ext cx="5321808" cy="256032"/>
          </a:xfrm>
          <a:prstGeom prst="rect">
            <a:avLst/>
          </a:prstGeom>
          <a:noFill/>
          <a:ln/>
        </p:spPr>
        <p:txBody>
          <a:bodyPr wrap="square" lIns="0" tIns="0" rIns="0" bIns="0" rtlCol="0" anchor="ctr"/>
          <a:lstStyle/>
          <a:p>
            <a:pPr marL="0" indent="0">
              <a:buNone/>
            </a:pPr>
            <a:r>
              <a:rPr lang="en-US" sz="950" b="1" dirty="0">
                <a:solidFill>
                  <a:srgbClr val="041E47"/>
                </a:solidFill>
                <a:latin typeface="Aptos" pitchFamily="34" charset="0"/>
                <a:ea typeface="Aptos" pitchFamily="34" charset="-122"/>
                <a:cs typeface="Aptos" pitchFamily="34" charset="-120"/>
              </a:rPr>
              <a:t>True route value  =  standalone economics  +  connecting revenue  +  network contribution</a:t>
            </a:r>
            <a:endParaRPr lang="en-US" sz="950" dirty="0"/>
          </a:p>
        </p:txBody>
      </p:sp>
      <p:sp>
        <p:nvSpPr>
          <p:cNvPr id="69" name="Text 67"/>
          <p:cNvSpPr/>
          <p:nvPr/>
        </p:nvSpPr>
        <p:spPr>
          <a:xfrm>
            <a:off x="630936" y="5943600"/>
            <a:ext cx="5303520" cy="256032"/>
          </a:xfrm>
          <a:prstGeom prst="rect">
            <a:avLst/>
          </a:prstGeom>
          <a:noFill/>
          <a:ln/>
        </p:spPr>
        <p:txBody>
          <a:bodyPr wrap="square" lIns="0" tIns="0" rIns="0" bIns="0" rtlCol="0" anchor="ctr"/>
          <a:lstStyle/>
          <a:p>
            <a:pPr marL="0" indent="0">
              <a:buNone/>
            </a:pPr>
            <a:r>
              <a:rPr lang="en-US" sz="850" dirty="0">
                <a:solidFill>
                  <a:srgbClr val="46577A"/>
                </a:solidFill>
                <a:latin typeface="Aptos" pitchFamily="34" charset="0"/>
                <a:ea typeface="Aptos" pitchFamily="34" charset="-122"/>
                <a:cs typeface="Aptos" pitchFamily="34" charset="-120"/>
              </a:rPr>
              <a:t>Evidence anchor: Delhi-Istanbul provides onward connectivity to 50+ international destinations through the Turkish Airlines partnership.</a:t>
            </a:r>
            <a:endParaRPr lang="en-US" sz="850" dirty="0"/>
          </a:p>
        </p:txBody>
      </p:sp>
      <p:sp>
        <p:nvSpPr>
          <p:cNvPr id="70" name="Shape 68"/>
          <p:cNvSpPr/>
          <p:nvPr/>
        </p:nvSpPr>
        <p:spPr>
          <a:xfrm>
            <a:off x="6309360" y="5687568"/>
            <a:ext cx="32004" cy="402336"/>
          </a:xfrm>
          <a:prstGeom prst="rect">
            <a:avLst/>
          </a:prstGeom>
          <a:solidFill>
            <a:srgbClr val="0032A0"/>
          </a:solidFill>
          <a:ln/>
        </p:spPr>
      </p:sp>
      <p:sp>
        <p:nvSpPr>
          <p:cNvPr id="71" name="Text 69"/>
          <p:cNvSpPr/>
          <p:nvPr/>
        </p:nvSpPr>
        <p:spPr>
          <a:xfrm>
            <a:off x="6473952" y="5650992"/>
            <a:ext cx="5212080" cy="475488"/>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Closing the route-level profitability gap is the single highest-value evidence investment identified in this study - it is Phase 2 of the roadmap, not a Phase 3 nice-to-have.</a:t>
            </a:r>
            <a:endParaRPr lang="en-US" sz="1000" dirty="0"/>
          </a:p>
        </p:txBody>
      </p:sp>
      <p:sp>
        <p:nvSpPr>
          <p:cNvPr id="72" name="Shape 70"/>
          <p:cNvSpPr/>
          <p:nvPr/>
        </p:nvSpPr>
        <p:spPr>
          <a:xfrm>
            <a:off x="502920" y="6309360"/>
            <a:ext cx="11185855" cy="5486"/>
          </a:xfrm>
          <a:prstGeom prst="rect">
            <a:avLst/>
          </a:prstGeom>
          <a:solidFill>
            <a:srgbClr val="C9D8F2"/>
          </a:solidFill>
          <a:ln/>
        </p:spPr>
      </p:sp>
      <p:sp>
        <p:nvSpPr>
          <p:cNvPr id="73" name="Text 71"/>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74" name="Text 72"/>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03_Financial_Evidence_Unit_Economics - 10_Validated_Exhibits_Matrices - SRC-NET-2026-002/003 - EVD-OPS-NET-003 - GAP-002</a:t>
            </a:r>
            <a:endParaRPr lang="en-US" sz="800" dirty="0"/>
          </a:p>
        </p:txBody>
      </p:sp>
      <p:sp>
        <p:nvSpPr>
          <p:cNvPr id="75" name="Shape 73"/>
          <p:cNvSpPr/>
          <p:nvPr/>
        </p:nvSpPr>
        <p:spPr>
          <a:xfrm>
            <a:off x="11484864" y="6364224"/>
            <a:ext cx="201168" cy="201168"/>
          </a:xfrm>
          <a:prstGeom prst="rect">
            <a:avLst/>
          </a:prstGeom>
          <a:solidFill>
            <a:srgbClr val="0032A0"/>
          </a:solidFill>
          <a:ln/>
        </p:spPr>
      </p:sp>
      <p:sp>
        <p:nvSpPr>
          <p:cNvPr id="76" name="Text 74"/>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08 - WHERE THE LEVERS LIVE</a:t>
            </a:r>
            <a:endParaRPr lang="en-US" sz="1000" dirty="0"/>
          </a:p>
        </p:txBody>
      </p:sp>
      <p:sp>
        <p:nvSpPr>
          <p:cNvPr id="3" name="Shape 1"/>
          <p:cNvSpPr/>
          <p:nvPr/>
        </p:nvSpPr>
        <p:spPr>
          <a:xfrm>
            <a:off x="502919" y="571500"/>
            <a:ext cx="1700783" cy="45719"/>
          </a:xfrm>
          <a:prstGeom prst="rect">
            <a:avLst/>
          </a:prstGeom>
          <a:solidFill>
            <a:srgbClr val="0032A0"/>
          </a:solidFill>
          <a:ln/>
        </p:spPr>
      </p:sp>
      <p:sp>
        <p:nvSpPr>
          <p:cNvPr id="4" name="Text 2"/>
          <p:cNvSpPr/>
          <p:nvPr/>
        </p:nvSpPr>
        <p:spPr>
          <a:xfrm>
            <a:off x="502920" y="640861"/>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Both immediate levers are already inside management's control - one on revenue, one on cost</a:t>
            </a:r>
            <a:endParaRPr lang="en-US" sz="2250" dirty="0"/>
          </a:p>
        </p:txBody>
      </p:sp>
      <p:sp>
        <p:nvSpPr>
          <p:cNvPr id="5" name="Shape 3"/>
          <p:cNvSpPr/>
          <p:nvPr/>
        </p:nvSpPr>
        <p:spPr>
          <a:xfrm>
            <a:off x="6144768" y="1444752"/>
            <a:ext cx="5486" cy="3657600"/>
          </a:xfrm>
          <a:prstGeom prst="rect">
            <a:avLst/>
          </a:prstGeom>
          <a:solidFill>
            <a:srgbClr val="C9D8F2"/>
          </a:solidFill>
          <a:ln/>
        </p:spPr>
      </p:sp>
      <p:sp>
        <p:nvSpPr>
          <p:cNvPr id="6" name="Shape 4"/>
          <p:cNvSpPr/>
          <p:nvPr/>
        </p:nvSpPr>
        <p:spPr>
          <a:xfrm>
            <a:off x="502920" y="1444752"/>
            <a:ext cx="5394960" cy="310896"/>
          </a:xfrm>
          <a:prstGeom prst="rect">
            <a:avLst/>
          </a:prstGeom>
          <a:solidFill>
            <a:srgbClr val="0032A0"/>
          </a:solidFill>
          <a:ln/>
        </p:spPr>
      </p:sp>
      <p:sp>
        <p:nvSpPr>
          <p:cNvPr id="7" name="Text 5"/>
          <p:cNvSpPr/>
          <p:nvPr/>
        </p:nvSpPr>
        <p:spPr>
          <a:xfrm>
            <a:off x="630936" y="1444752"/>
            <a:ext cx="3657600" cy="310896"/>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LEVER A - UNIT-REVENUE IMPROVEMENT</a:t>
            </a:r>
            <a:endParaRPr lang="en-US" sz="950" dirty="0"/>
          </a:p>
        </p:txBody>
      </p:sp>
      <p:sp>
        <p:nvSpPr>
          <p:cNvPr id="8" name="Text 6"/>
          <p:cNvSpPr/>
          <p:nvPr/>
        </p:nvSpPr>
        <p:spPr>
          <a:xfrm>
            <a:off x="4288536" y="1444752"/>
            <a:ext cx="1481328" cy="310896"/>
          </a:xfrm>
          <a:prstGeom prst="rect">
            <a:avLst/>
          </a:prstGeom>
          <a:noFill/>
          <a:ln/>
        </p:spPr>
        <p:txBody>
          <a:bodyPr wrap="square" lIns="0" tIns="0" rIns="0" bIns="0" rtlCol="0" anchor="ctr"/>
          <a:lstStyle/>
          <a:p>
            <a:pPr marL="0" indent="0" algn="r">
              <a:buNone/>
            </a:pPr>
            <a:r>
              <a:rPr lang="en-US" sz="950" b="1" dirty="0">
                <a:solidFill>
                  <a:srgbClr val="AFC6F0"/>
                </a:solidFill>
                <a:latin typeface="Aptos" pitchFamily="34" charset="0"/>
                <a:ea typeface="Aptos" pitchFamily="34" charset="-122"/>
                <a:cs typeface="Aptos" pitchFamily="34" charset="-120"/>
              </a:rPr>
              <a:t>ALT-3 basis - 72.8%</a:t>
            </a:r>
            <a:endParaRPr lang="en-US" sz="950" dirty="0"/>
          </a:p>
        </p:txBody>
      </p:sp>
      <p:sp>
        <p:nvSpPr>
          <p:cNvPr id="9" name="Text 7"/>
          <p:cNvSpPr/>
          <p:nvPr/>
        </p:nvSpPr>
        <p:spPr>
          <a:xfrm>
            <a:off x="502920" y="1865376"/>
            <a:ext cx="5394960" cy="201168"/>
          </a:xfrm>
          <a:prstGeom prst="rect">
            <a:avLst/>
          </a:prstGeom>
          <a:noFill/>
          <a:ln/>
        </p:spPr>
        <p:txBody>
          <a:bodyPr wrap="square" lIns="0" tIns="0" rIns="0" bIns="0" rtlCol="0" anchor="ctr"/>
          <a:lstStyle/>
          <a:p>
            <a:pPr marL="0" indent="0" algn="l">
              <a:buNone/>
            </a:pPr>
            <a:r>
              <a:rPr lang="en-US" sz="900" b="1" kern="0" spc="110" dirty="0">
                <a:solidFill>
                  <a:srgbClr val="46577A"/>
                </a:solidFill>
                <a:latin typeface="Aptos" pitchFamily="34" charset="0"/>
                <a:ea typeface="Aptos" pitchFamily="34" charset="-122"/>
                <a:cs typeface="Aptos" pitchFamily="34" charset="-120"/>
              </a:rPr>
              <a:t>REVENUE PER PASSENGER - Rs. 6,886 (FY2026)</a:t>
            </a:r>
            <a:endParaRPr lang="en-US" sz="900" dirty="0"/>
          </a:p>
        </p:txBody>
      </p:sp>
      <p:sp>
        <p:nvSpPr>
          <p:cNvPr id="10" name="Shape 8"/>
          <p:cNvSpPr/>
          <p:nvPr/>
        </p:nvSpPr>
        <p:spPr>
          <a:xfrm>
            <a:off x="502920" y="2121408"/>
            <a:ext cx="4677430" cy="512064"/>
          </a:xfrm>
          <a:prstGeom prst="rect">
            <a:avLst/>
          </a:prstGeom>
          <a:solidFill>
            <a:srgbClr val="041E47"/>
          </a:solidFill>
          <a:ln w="12700">
            <a:solidFill>
              <a:srgbClr val="FFFFFF"/>
            </a:solidFill>
            <a:prstDash val="solid"/>
          </a:ln>
        </p:spPr>
      </p:sp>
      <p:sp>
        <p:nvSpPr>
          <p:cNvPr id="11" name="Text 9"/>
          <p:cNvSpPr/>
          <p:nvPr/>
        </p:nvSpPr>
        <p:spPr>
          <a:xfrm>
            <a:off x="502920" y="2121408"/>
            <a:ext cx="4677430"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Display" pitchFamily="34" charset="0"/>
                <a:ea typeface="Aptos Display" pitchFamily="34" charset="-122"/>
                <a:cs typeface="Aptos Display" pitchFamily="34" charset="-120"/>
              </a:rPr>
              <a:t>Rs. 5,967</a:t>
            </a:r>
            <a:endParaRPr lang="en-US" sz="1500" dirty="0"/>
          </a:p>
        </p:txBody>
      </p:sp>
      <p:sp>
        <p:nvSpPr>
          <p:cNvPr id="12" name="Shape 10"/>
          <p:cNvSpPr/>
          <p:nvPr/>
        </p:nvSpPr>
        <p:spPr>
          <a:xfrm>
            <a:off x="5180350" y="2121408"/>
            <a:ext cx="577261" cy="512064"/>
          </a:xfrm>
          <a:prstGeom prst="rect">
            <a:avLst/>
          </a:prstGeom>
          <a:solidFill>
            <a:srgbClr val="2F6BD8"/>
          </a:solidFill>
          <a:ln w="12700">
            <a:solidFill>
              <a:srgbClr val="FFFFFF"/>
            </a:solidFill>
            <a:prstDash val="solid"/>
          </a:ln>
        </p:spPr>
      </p:sp>
      <p:sp>
        <p:nvSpPr>
          <p:cNvPr id="13" name="Text 11"/>
          <p:cNvSpPr/>
          <p:nvPr/>
        </p:nvSpPr>
        <p:spPr>
          <a:xfrm>
            <a:off x="5180350" y="2121408"/>
            <a:ext cx="577261" cy="512064"/>
          </a:xfrm>
          <a:prstGeom prst="rect">
            <a:avLst/>
          </a:prstGeom>
          <a:noFill/>
          <a:ln/>
        </p:spPr>
        <p:txBody>
          <a:bodyPr wrap="square" lIns="0" tIns="0" rIns="0" bIns="0" rtlCol="0" anchor="ctr"/>
          <a:lstStyle/>
          <a:p>
            <a:pPr marL="0" indent="0" algn="ctr">
              <a:buNone/>
            </a:pPr>
            <a:r>
              <a:rPr lang="en-US" sz="1100" b="1" dirty="0">
                <a:solidFill>
                  <a:srgbClr val="FFFFFF"/>
                </a:solidFill>
                <a:latin typeface="Aptos Display" pitchFamily="34" charset="0"/>
                <a:ea typeface="Aptos Display" pitchFamily="34" charset="-122"/>
                <a:cs typeface="Aptos Display" pitchFamily="34" charset="-120"/>
              </a:rPr>
              <a:t>Rs. 737</a:t>
            </a:r>
            <a:endParaRPr lang="en-US" sz="1100" dirty="0"/>
          </a:p>
        </p:txBody>
      </p:sp>
      <p:sp>
        <p:nvSpPr>
          <p:cNvPr id="14" name="Shape 12"/>
          <p:cNvSpPr/>
          <p:nvPr/>
        </p:nvSpPr>
        <p:spPr>
          <a:xfrm>
            <a:off x="5757611" y="2121408"/>
            <a:ext cx="140269" cy="512064"/>
          </a:xfrm>
          <a:prstGeom prst="rect">
            <a:avLst/>
          </a:prstGeom>
          <a:solidFill>
            <a:srgbClr val="DCE7FA"/>
          </a:solidFill>
          <a:ln w="12700">
            <a:solidFill>
              <a:srgbClr val="FFFFFF"/>
            </a:solidFill>
            <a:prstDash val="solid"/>
          </a:ln>
        </p:spPr>
      </p:sp>
      <p:sp>
        <p:nvSpPr>
          <p:cNvPr id="15" name="Text 13"/>
          <p:cNvSpPr/>
          <p:nvPr/>
        </p:nvSpPr>
        <p:spPr>
          <a:xfrm>
            <a:off x="502920" y="2670048"/>
            <a:ext cx="2377440" cy="201168"/>
          </a:xfrm>
          <a:prstGeom prst="rect">
            <a:avLst/>
          </a:prstGeom>
          <a:noFill/>
          <a:ln/>
        </p:spPr>
        <p:txBody>
          <a:bodyPr wrap="square" lIns="0" tIns="0" rIns="0" bIns="0" rtlCol="0" anchor="ctr"/>
          <a:lstStyle/>
          <a:p>
            <a:pPr marL="0" indent="0">
              <a:buNone/>
            </a:pPr>
            <a:r>
              <a:rPr lang="en-US" sz="900" dirty="0">
                <a:solidFill>
                  <a:srgbClr val="6B7280"/>
                </a:solidFill>
                <a:latin typeface="Aptos" pitchFamily="34" charset="0"/>
                <a:ea typeface="Aptos" pitchFamily="34" charset="-122"/>
                <a:cs typeface="Aptos" pitchFamily="34" charset="-120"/>
              </a:rPr>
              <a:t>Passenger ticket 86.7%</a:t>
            </a:r>
            <a:endParaRPr lang="en-US" sz="900" dirty="0"/>
          </a:p>
        </p:txBody>
      </p:sp>
      <p:sp>
        <p:nvSpPr>
          <p:cNvPr id="16" name="Text 14"/>
          <p:cNvSpPr/>
          <p:nvPr/>
        </p:nvSpPr>
        <p:spPr>
          <a:xfrm>
            <a:off x="2880360" y="2670048"/>
            <a:ext cx="1737360" cy="201168"/>
          </a:xfrm>
          <a:prstGeom prst="rect">
            <a:avLst/>
          </a:prstGeom>
          <a:noFill/>
          <a:ln/>
        </p:spPr>
        <p:txBody>
          <a:bodyPr wrap="square" lIns="0" tIns="0" rIns="0" bIns="0" rtlCol="0" anchor="ctr"/>
          <a:lstStyle/>
          <a:p>
            <a:pPr marL="0" indent="0" algn="ctr">
              <a:buNone/>
            </a:pPr>
            <a:r>
              <a:rPr lang="en-US" sz="900" dirty="0">
                <a:solidFill>
                  <a:srgbClr val="6B7280"/>
                </a:solidFill>
                <a:latin typeface="Aptos" pitchFamily="34" charset="0"/>
                <a:ea typeface="Aptos" pitchFamily="34" charset="-122"/>
                <a:cs typeface="Aptos" pitchFamily="34" charset="-120"/>
              </a:rPr>
              <a:t>Ancillary 10.7%</a:t>
            </a:r>
            <a:endParaRPr lang="en-US" sz="900" dirty="0"/>
          </a:p>
        </p:txBody>
      </p:sp>
      <p:sp>
        <p:nvSpPr>
          <p:cNvPr id="17" name="Text 15"/>
          <p:cNvSpPr/>
          <p:nvPr/>
        </p:nvSpPr>
        <p:spPr>
          <a:xfrm>
            <a:off x="4617720" y="2670048"/>
            <a:ext cx="1280160" cy="201168"/>
          </a:xfrm>
          <a:prstGeom prst="rect">
            <a:avLst/>
          </a:prstGeom>
          <a:noFill/>
          <a:ln/>
        </p:spPr>
        <p:txBody>
          <a:bodyPr wrap="square" lIns="0" tIns="0" rIns="0" bIns="0" rtlCol="0" anchor="ctr"/>
          <a:lstStyle/>
          <a:p>
            <a:pPr marL="0" indent="0" algn="r">
              <a:buNone/>
            </a:pPr>
            <a:r>
              <a:rPr lang="en-US" sz="900" dirty="0">
                <a:solidFill>
                  <a:srgbClr val="6B7280"/>
                </a:solidFill>
                <a:latin typeface="Aptos" pitchFamily="34" charset="0"/>
                <a:ea typeface="Aptos" pitchFamily="34" charset="-122"/>
                <a:cs typeface="Aptos" pitchFamily="34" charset="-120"/>
              </a:rPr>
              <a:t>Other 2.6%</a:t>
            </a:r>
            <a:endParaRPr lang="en-US" sz="900" dirty="0"/>
          </a:p>
        </p:txBody>
      </p:sp>
      <p:sp>
        <p:nvSpPr>
          <p:cNvPr id="18" name="Text 16"/>
          <p:cNvSpPr/>
          <p:nvPr/>
        </p:nvSpPr>
        <p:spPr>
          <a:xfrm>
            <a:off x="502920" y="2962656"/>
            <a:ext cx="5394960" cy="201168"/>
          </a:xfrm>
          <a:prstGeom prst="rect">
            <a:avLst/>
          </a:prstGeom>
          <a:noFill/>
          <a:ln/>
        </p:spPr>
        <p:txBody>
          <a:bodyPr wrap="square" lIns="0" tIns="0" rIns="0" bIns="0" rtlCol="0" anchor="ctr"/>
          <a:lstStyle/>
          <a:p>
            <a:pPr marL="0" indent="0" algn="l">
              <a:buNone/>
            </a:pPr>
            <a:r>
              <a:rPr lang="en-US" sz="900" b="1" kern="0" spc="110" dirty="0">
                <a:solidFill>
                  <a:srgbClr val="46577A"/>
                </a:solidFill>
                <a:latin typeface="Aptos" pitchFamily="34" charset="0"/>
                <a:ea typeface="Aptos" pitchFamily="34" charset="-122"/>
                <a:cs typeface="Aptos" pitchFamily="34" charset="-120"/>
              </a:rPr>
              <a:t>MECHANISMS</a:t>
            </a:r>
            <a:endParaRPr lang="en-US" sz="900" dirty="0"/>
          </a:p>
        </p:txBody>
      </p:sp>
      <p:sp>
        <p:nvSpPr>
          <p:cNvPr id="19" name="Text 17"/>
          <p:cNvSpPr/>
          <p:nvPr/>
        </p:nvSpPr>
        <p:spPr>
          <a:xfrm>
            <a:off x="502920" y="3182112"/>
            <a:ext cx="5394960" cy="658368"/>
          </a:xfrm>
          <a:prstGeom prst="rect">
            <a:avLst/>
          </a:prstGeom>
          <a:noFill/>
          <a:ln/>
        </p:spPr>
        <p:txBody>
          <a:bodyPr wrap="square" lIns="0" tIns="0" rIns="0" bIns="0" rtlCol="0" anchor="t"/>
          <a:lstStyle/>
          <a:p>
            <a:pPr marL="0" indent="0" algn="l">
              <a:lnSpc>
                <a:spcPct val="112000"/>
              </a:lnSpc>
              <a:buNone/>
            </a:pPr>
            <a:r>
              <a:rPr lang="en-US" sz="1050" dirty="0">
                <a:solidFill>
                  <a:srgbClr val="041E47"/>
                </a:solidFill>
                <a:latin typeface="Aptos" pitchFamily="34" charset="0"/>
                <a:ea typeface="Aptos" pitchFamily="34" charset="-122"/>
                <a:cs typeface="Aptos" pitchFamily="34" charset="-120"/>
              </a:rPr>
              <a:t>Dynamic pricing  -  revenue management  -  ancillary bundles (baggage, seats, F&amp;B, IndiGoStretch)  -  premiumisation  -  loyalty / BluChip  -  corporate travel  -  cargo  -  interline and codeshare partnerships</a:t>
            </a:r>
            <a:endParaRPr lang="en-US" sz="1050" dirty="0"/>
          </a:p>
        </p:txBody>
      </p:sp>
      <p:sp>
        <p:nvSpPr>
          <p:cNvPr id="20" name="Text 18"/>
          <p:cNvSpPr/>
          <p:nvPr/>
        </p:nvSpPr>
        <p:spPr>
          <a:xfrm>
            <a:off x="502920" y="3895344"/>
            <a:ext cx="5394960" cy="201168"/>
          </a:xfrm>
          <a:prstGeom prst="rect">
            <a:avLst/>
          </a:prstGeom>
          <a:noFill/>
          <a:ln/>
        </p:spPr>
        <p:txBody>
          <a:bodyPr wrap="square" lIns="0" tIns="0" rIns="0" bIns="0" rtlCol="0" anchor="ctr"/>
          <a:lstStyle/>
          <a:p>
            <a:pPr marL="0" indent="0" algn="l">
              <a:buNone/>
            </a:pPr>
            <a:r>
              <a:rPr lang="en-US" sz="900" b="1" kern="0" spc="110" dirty="0">
                <a:solidFill>
                  <a:srgbClr val="46577A"/>
                </a:solidFill>
                <a:latin typeface="Aptos" pitchFamily="34" charset="0"/>
                <a:ea typeface="Aptos" pitchFamily="34" charset="-122"/>
                <a:cs typeface="Aptos" pitchFamily="34" charset="-120"/>
              </a:rPr>
              <a:t>SENSITIVITY - CONSTANT-ASK ARITHMETIC, NOT A FORECAST</a:t>
            </a:r>
            <a:endParaRPr lang="en-US" sz="900" dirty="0"/>
          </a:p>
        </p:txBody>
      </p:sp>
      <p:sp>
        <p:nvSpPr>
          <p:cNvPr id="21" name="Shape 19"/>
          <p:cNvSpPr/>
          <p:nvPr/>
        </p:nvSpPr>
        <p:spPr>
          <a:xfrm>
            <a:off x="502920" y="4133088"/>
            <a:ext cx="1700784" cy="749808"/>
          </a:xfrm>
          <a:prstGeom prst="rect">
            <a:avLst/>
          </a:prstGeom>
          <a:solidFill>
            <a:srgbClr val="F4F7FD"/>
          </a:solidFill>
          <a:ln/>
        </p:spPr>
      </p:sp>
      <p:sp>
        <p:nvSpPr>
          <p:cNvPr id="22" name="Text 20"/>
          <p:cNvSpPr/>
          <p:nvPr/>
        </p:nvSpPr>
        <p:spPr>
          <a:xfrm>
            <a:off x="594360" y="4169664"/>
            <a:ext cx="1517904" cy="256032"/>
          </a:xfrm>
          <a:prstGeom prst="rect">
            <a:avLst/>
          </a:prstGeom>
          <a:noFill/>
          <a:ln/>
        </p:spPr>
        <p:txBody>
          <a:bodyPr wrap="square" lIns="0" tIns="0" rIns="0" bIns="0" rtlCol="0" anchor="ctr"/>
          <a:lstStyle/>
          <a:p>
            <a:pPr marL="0" indent="0">
              <a:buNone/>
            </a:pPr>
            <a:r>
              <a:rPr lang="en-US" sz="1400" b="1" dirty="0">
                <a:solidFill>
                  <a:srgbClr val="0032A0"/>
                </a:solidFill>
                <a:latin typeface="Aptos Display" pitchFamily="34" charset="0"/>
                <a:ea typeface="Aptos Display" pitchFamily="34" charset="-122"/>
                <a:cs typeface="Aptos Display" pitchFamily="34" charset="-120"/>
              </a:rPr>
              <a:t>+Rs. 100</a:t>
            </a:r>
            <a:endParaRPr lang="en-US" sz="1400" dirty="0"/>
          </a:p>
        </p:txBody>
      </p:sp>
      <p:sp>
        <p:nvSpPr>
          <p:cNvPr id="23" name="Text 21"/>
          <p:cNvSpPr/>
          <p:nvPr/>
        </p:nvSpPr>
        <p:spPr>
          <a:xfrm>
            <a:off x="594360" y="4407408"/>
            <a:ext cx="1517904" cy="164592"/>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per passenger</a:t>
            </a:r>
            <a:endParaRPr lang="en-US" sz="800" dirty="0"/>
          </a:p>
        </p:txBody>
      </p:sp>
      <p:sp>
        <p:nvSpPr>
          <p:cNvPr id="24" name="Text 22"/>
          <p:cNvSpPr/>
          <p:nvPr/>
        </p:nvSpPr>
        <p:spPr>
          <a:xfrm>
            <a:off x="594360" y="4590288"/>
            <a:ext cx="1517904" cy="219456"/>
          </a:xfrm>
          <a:prstGeom prst="rect">
            <a:avLst/>
          </a:prstGeom>
          <a:noFill/>
          <a:ln/>
        </p:spPr>
        <p:txBody>
          <a:bodyPr wrap="square" lIns="0" tIns="0" rIns="0" bIns="0" rtlCol="0" anchor="ctr"/>
          <a:lstStyle/>
          <a:p>
            <a:pPr marL="0" indent="0">
              <a:buNone/>
            </a:pPr>
            <a:r>
              <a:rPr lang="en-US" sz="900" b="1" dirty="0">
                <a:solidFill>
                  <a:srgbClr val="041E47"/>
                </a:solidFill>
                <a:latin typeface="Aptos" pitchFamily="34" charset="0"/>
                <a:ea typeface="Aptos" pitchFamily="34" charset="-122"/>
                <a:cs typeface="Aptos" pitchFamily="34" charset="-120"/>
              </a:rPr>
              <a:t>Rs. 12.340B  -&gt;  Rs. 0.072/ASK</a:t>
            </a:r>
            <a:endParaRPr lang="en-US" sz="900" dirty="0"/>
          </a:p>
        </p:txBody>
      </p:sp>
      <p:sp>
        <p:nvSpPr>
          <p:cNvPr id="25" name="Shape 23"/>
          <p:cNvSpPr/>
          <p:nvPr/>
        </p:nvSpPr>
        <p:spPr>
          <a:xfrm>
            <a:off x="2331720" y="4133088"/>
            <a:ext cx="1700784" cy="749808"/>
          </a:xfrm>
          <a:prstGeom prst="rect">
            <a:avLst/>
          </a:prstGeom>
          <a:solidFill>
            <a:srgbClr val="F4F7FD"/>
          </a:solidFill>
          <a:ln/>
        </p:spPr>
      </p:sp>
      <p:sp>
        <p:nvSpPr>
          <p:cNvPr id="26" name="Text 24"/>
          <p:cNvSpPr/>
          <p:nvPr/>
        </p:nvSpPr>
        <p:spPr>
          <a:xfrm>
            <a:off x="2423160" y="4169664"/>
            <a:ext cx="1517904" cy="256032"/>
          </a:xfrm>
          <a:prstGeom prst="rect">
            <a:avLst/>
          </a:prstGeom>
          <a:noFill/>
          <a:ln/>
        </p:spPr>
        <p:txBody>
          <a:bodyPr wrap="square" lIns="0" tIns="0" rIns="0" bIns="0" rtlCol="0" anchor="ctr"/>
          <a:lstStyle/>
          <a:p>
            <a:pPr marL="0" indent="0">
              <a:buNone/>
            </a:pPr>
            <a:r>
              <a:rPr lang="en-US" sz="1400" b="1" dirty="0">
                <a:solidFill>
                  <a:srgbClr val="0032A0"/>
                </a:solidFill>
                <a:latin typeface="Aptos Display" pitchFamily="34" charset="0"/>
                <a:ea typeface="Aptos Display" pitchFamily="34" charset="-122"/>
                <a:cs typeface="Aptos Display" pitchFamily="34" charset="-120"/>
              </a:rPr>
              <a:t>+Rs. 200</a:t>
            </a:r>
            <a:endParaRPr lang="en-US" sz="1400" dirty="0"/>
          </a:p>
        </p:txBody>
      </p:sp>
      <p:sp>
        <p:nvSpPr>
          <p:cNvPr id="27" name="Text 25"/>
          <p:cNvSpPr/>
          <p:nvPr/>
        </p:nvSpPr>
        <p:spPr>
          <a:xfrm>
            <a:off x="2423160" y="4407408"/>
            <a:ext cx="1517904" cy="164592"/>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per passenger</a:t>
            </a:r>
            <a:endParaRPr lang="en-US" sz="800" dirty="0"/>
          </a:p>
        </p:txBody>
      </p:sp>
      <p:sp>
        <p:nvSpPr>
          <p:cNvPr id="28" name="Text 26"/>
          <p:cNvSpPr/>
          <p:nvPr/>
        </p:nvSpPr>
        <p:spPr>
          <a:xfrm>
            <a:off x="2423160" y="4590288"/>
            <a:ext cx="1517904" cy="219456"/>
          </a:xfrm>
          <a:prstGeom prst="rect">
            <a:avLst/>
          </a:prstGeom>
          <a:noFill/>
          <a:ln/>
        </p:spPr>
        <p:txBody>
          <a:bodyPr wrap="square" lIns="0" tIns="0" rIns="0" bIns="0" rtlCol="0" anchor="ctr"/>
          <a:lstStyle/>
          <a:p>
            <a:pPr marL="0" indent="0">
              <a:buNone/>
            </a:pPr>
            <a:r>
              <a:rPr lang="en-US" sz="900" b="1" dirty="0">
                <a:solidFill>
                  <a:srgbClr val="041E47"/>
                </a:solidFill>
                <a:latin typeface="Aptos" pitchFamily="34" charset="0"/>
                <a:ea typeface="Aptos" pitchFamily="34" charset="-122"/>
                <a:cs typeface="Aptos" pitchFamily="34" charset="-120"/>
              </a:rPr>
              <a:t>Rs. 24.680B  -&gt;  Rs. 0.143/ASK</a:t>
            </a:r>
            <a:endParaRPr lang="en-US" sz="900" dirty="0"/>
          </a:p>
        </p:txBody>
      </p:sp>
      <p:sp>
        <p:nvSpPr>
          <p:cNvPr id="29" name="Shape 27"/>
          <p:cNvSpPr/>
          <p:nvPr/>
        </p:nvSpPr>
        <p:spPr>
          <a:xfrm>
            <a:off x="4160520" y="4133088"/>
            <a:ext cx="1700784" cy="749808"/>
          </a:xfrm>
          <a:prstGeom prst="rect">
            <a:avLst/>
          </a:prstGeom>
          <a:solidFill>
            <a:srgbClr val="F4F7FD"/>
          </a:solidFill>
          <a:ln/>
        </p:spPr>
      </p:sp>
      <p:sp>
        <p:nvSpPr>
          <p:cNvPr id="30" name="Text 28"/>
          <p:cNvSpPr/>
          <p:nvPr/>
        </p:nvSpPr>
        <p:spPr>
          <a:xfrm>
            <a:off x="4251960" y="4169664"/>
            <a:ext cx="1517904" cy="256032"/>
          </a:xfrm>
          <a:prstGeom prst="rect">
            <a:avLst/>
          </a:prstGeom>
          <a:noFill/>
          <a:ln/>
        </p:spPr>
        <p:txBody>
          <a:bodyPr wrap="square" lIns="0" tIns="0" rIns="0" bIns="0" rtlCol="0" anchor="ctr"/>
          <a:lstStyle/>
          <a:p>
            <a:pPr marL="0" indent="0">
              <a:buNone/>
            </a:pPr>
            <a:r>
              <a:rPr lang="en-US" sz="1400" b="1" dirty="0">
                <a:solidFill>
                  <a:srgbClr val="0032A0"/>
                </a:solidFill>
                <a:latin typeface="Aptos Display" pitchFamily="34" charset="0"/>
                <a:ea typeface="Aptos Display" pitchFamily="34" charset="-122"/>
                <a:cs typeface="Aptos Display" pitchFamily="34" charset="-120"/>
              </a:rPr>
              <a:t>+Rs. 300</a:t>
            </a:r>
            <a:endParaRPr lang="en-US" sz="1400" dirty="0"/>
          </a:p>
        </p:txBody>
      </p:sp>
      <p:sp>
        <p:nvSpPr>
          <p:cNvPr id="31" name="Text 29"/>
          <p:cNvSpPr/>
          <p:nvPr/>
        </p:nvSpPr>
        <p:spPr>
          <a:xfrm>
            <a:off x="4251960" y="4407408"/>
            <a:ext cx="1517904" cy="164592"/>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per passenger</a:t>
            </a:r>
            <a:endParaRPr lang="en-US" sz="800" dirty="0"/>
          </a:p>
        </p:txBody>
      </p:sp>
      <p:sp>
        <p:nvSpPr>
          <p:cNvPr id="32" name="Text 30"/>
          <p:cNvSpPr/>
          <p:nvPr/>
        </p:nvSpPr>
        <p:spPr>
          <a:xfrm>
            <a:off x="4251960" y="4590288"/>
            <a:ext cx="1517904" cy="219456"/>
          </a:xfrm>
          <a:prstGeom prst="rect">
            <a:avLst/>
          </a:prstGeom>
          <a:noFill/>
          <a:ln/>
        </p:spPr>
        <p:txBody>
          <a:bodyPr wrap="square" lIns="0" tIns="0" rIns="0" bIns="0" rtlCol="0" anchor="ctr"/>
          <a:lstStyle/>
          <a:p>
            <a:pPr marL="0" indent="0">
              <a:buNone/>
            </a:pPr>
            <a:r>
              <a:rPr lang="en-US" sz="900" b="1" dirty="0">
                <a:solidFill>
                  <a:srgbClr val="041E47"/>
                </a:solidFill>
                <a:latin typeface="Aptos" pitchFamily="34" charset="0"/>
                <a:ea typeface="Aptos" pitchFamily="34" charset="-122"/>
                <a:cs typeface="Aptos" pitchFamily="34" charset="-120"/>
              </a:rPr>
              <a:t>Rs. 37.020B  -&gt;  Rs. 0.215/ASK</a:t>
            </a:r>
            <a:endParaRPr lang="en-US" sz="900" dirty="0"/>
          </a:p>
        </p:txBody>
      </p:sp>
      <p:sp>
        <p:nvSpPr>
          <p:cNvPr id="33" name="Shape 31"/>
          <p:cNvSpPr/>
          <p:nvPr/>
        </p:nvSpPr>
        <p:spPr>
          <a:xfrm>
            <a:off x="502920" y="4974336"/>
            <a:ext cx="1344168" cy="173736"/>
          </a:xfrm>
          <a:prstGeom prst="rect">
            <a:avLst/>
          </a:prstGeom>
          <a:solidFill>
            <a:srgbClr val="FFFFFF"/>
          </a:solidFill>
          <a:ln w="9525">
            <a:solidFill>
              <a:srgbClr val="6B7280"/>
            </a:solidFill>
            <a:prstDash val="dash"/>
          </a:ln>
        </p:spPr>
      </p:sp>
      <p:sp>
        <p:nvSpPr>
          <p:cNvPr id="34" name="Text 32"/>
          <p:cNvSpPr/>
          <p:nvPr/>
        </p:nvSpPr>
        <p:spPr>
          <a:xfrm>
            <a:off x="502920" y="4974336"/>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35" name="Text 33"/>
          <p:cNvSpPr/>
          <p:nvPr/>
        </p:nvSpPr>
        <p:spPr>
          <a:xfrm>
            <a:off x="1938528" y="4956048"/>
            <a:ext cx="3959352" cy="384048"/>
          </a:xfrm>
          <a:prstGeom prst="rect">
            <a:avLst/>
          </a:prstGeom>
          <a:noFill/>
          <a:ln/>
        </p:spPr>
        <p:txBody>
          <a:bodyPr wrap="square" lIns="0" tIns="0" rIns="0" bIns="0" rtlCol="0" anchor="t"/>
          <a:lstStyle/>
          <a:p>
            <a:pPr marL="0" indent="0">
              <a:buNone/>
            </a:pPr>
            <a:r>
              <a:rPr lang="en-US" sz="900" dirty="0">
                <a:solidFill>
                  <a:srgbClr val="46577A"/>
                </a:solidFill>
                <a:latin typeface="Aptos" pitchFamily="34" charset="0"/>
                <a:ea typeface="Aptos" pitchFamily="34" charset="-122"/>
                <a:cs typeface="Aptos" pitchFamily="34" charset="-120"/>
              </a:rPr>
              <a:t>Scenario arithmetic, not a forecast. Incremental revenue is not incremental profit, and no validated demand elasticity exists.</a:t>
            </a:r>
            <a:endParaRPr lang="en-US" sz="900" dirty="0"/>
          </a:p>
        </p:txBody>
      </p:sp>
      <p:sp>
        <p:nvSpPr>
          <p:cNvPr id="36" name="Shape 34"/>
          <p:cNvSpPr/>
          <p:nvPr/>
        </p:nvSpPr>
        <p:spPr>
          <a:xfrm>
            <a:off x="6382512" y="1444752"/>
            <a:ext cx="5303520" cy="310896"/>
          </a:xfrm>
          <a:prstGeom prst="rect">
            <a:avLst/>
          </a:prstGeom>
          <a:solidFill>
            <a:srgbClr val="041E47"/>
          </a:solidFill>
          <a:ln/>
        </p:spPr>
      </p:sp>
      <p:sp>
        <p:nvSpPr>
          <p:cNvPr id="37" name="Text 35"/>
          <p:cNvSpPr/>
          <p:nvPr/>
        </p:nvSpPr>
        <p:spPr>
          <a:xfrm>
            <a:off x="6510528" y="1444752"/>
            <a:ext cx="3566160" cy="310896"/>
          </a:xfrm>
          <a:prstGeom prst="rect">
            <a:avLst/>
          </a:prstGeom>
          <a:noFill/>
          <a:ln/>
        </p:spPr>
        <p:txBody>
          <a:bodyPr wrap="square" lIns="0" tIns="0" rIns="0" bIns="0" rtlCol="0" anchor="ctr"/>
          <a:lstStyle/>
          <a:p>
            <a:pPr marL="0" indent="0">
              <a:buNone/>
            </a:pPr>
            <a:r>
              <a:rPr lang="en-US" sz="950" b="1" dirty="0">
                <a:solidFill>
                  <a:srgbClr val="FFFFFF"/>
                </a:solidFill>
                <a:latin typeface="Aptos" pitchFamily="34" charset="0"/>
                <a:ea typeface="Aptos" pitchFamily="34" charset="-122"/>
                <a:cs typeface="Aptos" pitchFamily="34" charset="-120"/>
              </a:rPr>
              <a:t>LEVER B - ADDRESSABLE COST PRODUCTIVITY</a:t>
            </a:r>
            <a:endParaRPr lang="en-US" sz="950" dirty="0"/>
          </a:p>
        </p:txBody>
      </p:sp>
      <p:sp>
        <p:nvSpPr>
          <p:cNvPr id="38" name="Text 36"/>
          <p:cNvSpPr/>
          <p:nvPr/>
        </p:nvSpPr>
        <p:spPr>
          <a:xfrm>
            <a:off x="10076688" y="1444752"/>
            <a:ext cx="1481328" cy="310896"/>
          </a:xfrm>
          <a:prstGeom prst="rect">
            <a:avLst/>
          </a:prstGeom>
          <a:noFill/>
          <a:ln/>
        </p:spPr>
        <p:txBody>
          <a:bodyPr wrap="square" lIns="0" tIns="0" rIns="0" bIns="0" rtlCol="0" anchor="ctr"/>
          <a:lstStyle/>
          <a:p>
            <a:pPr marL="0" indent="0" algn="r">
              <a:buNone/>
            </a:pPr>
            <a:r>
              <a:rPr lang="en-US" sz="950" b="1" dirty="0">
                <a:solidFill>
                  <a:srgbClr val="AFC6F0"/>
                </a:solidFill>
                <a:latin typeface="Aptos" pitchFamily="34" charset="0"/>
                <a:ea typeface="Aptos" pitchFamily="34" charset="-122"/>
                <a:cs typeface="Aptos" pitchFamily="34" charset="-120"/>
              </a:rPr>
              <a:t>ALT-4 basis - 68.8%</a:t>
            </a:r>
            <a:endParaRPr lang="en-US" sz="950" dirty="0"/>
          </a:p>
        </p:txBody>
      </p:sp>
      <p:sp>
        <p:nvSpPr>
          <p:cNvPr id="39" name="Text 37"/>
          <p:cNvSpPr/>
          <p:nvPr/>
        </p:nvSpPr>
        <p:spPr>
          <a:xfrm>
            <a:off x="6382512" y="1865376"/>
            <a:ext cx="5303520" cy="201168"/>
          </a:xfrm>
          <a:prstGeom prst="rect">
            <a:avLst/>
          </a:prstGeom>
          <a:noFill/>
          <a:ln/>
        </p:spPr>
        <p:txBody>
          <a:bodyPr wrap="square" lIns="0" tIns="0" rIns="0" bIns="0" rtlCol="0" anchor="ctr"/>
          <a:lstStyle/>
          <a:p>
            <a:pPr marL="0" indent="0" algn="l">
              <a:buNone/>
            </a:pPr>
            <a:r>
              <a:rPr lang="en-US" sz="900" b="1" kern="0" spc="110" dirty="0">
                <a:solidFill>
                  <a:srgbClr val="46577A"/>
                </a:solidFill>
                <a:latin typeface="Aptos" pitchFamily="34" charset="0"/>
                <a:ea typeface="Aptos" pitchFamily="34" charset="-122"/>
                <a:cs typeface="Aptos" pitchFamily="34" charset="-120"/>
              </a:rPr>
              <a:t>THE ADDRESSABLE TARGET</a:t>
            </a:r>
            <a:endParaRPr lang="en-US" sz="900" dirty="0"/>
          </a:p>
        </p:txBody>
      </p:sp>
      <p:sp>
        <p:nvSpPr>
          <p:cNvPr id="40" name="Text 38"/>
          <p:cNvSpPr/>
          <p:nvPr/>
        </p:nvSpPr>
        <p:spPr>
          <a:xfrm>
            <a:off x="6382512" y="2048256"/>
            <a:ext cx="1737360" cy="585216"/>
          </a:xfrm>
          <a:prstGeom prst="rect">
            <a:avLst/>
          </a:prstGeom>
          <a:noFill/>
          <a:ln/>
        </p:spPr>
        <p:txBody>
          <a:bodyPr wrap="square" lIns="0" tIns="0" rIns="0" bIns="0" rtlCol="0" anchor="ctr"/>
          <a:lstStyle/>
          <a:p>
            <a:pPr marL="0" indent="0">
              <a:buNone/>
            </a:pPr>
            <a:r>
              <a:rPr lang="en-US" sz="3400" b="1" dirty="0">
                <a:solidFill>
                  <a:srgbClr val="2F6BD8"/>
                </a:solidFill>
                <a:latin typeface="Aptos Display" pitchFamily="34" charset="0"/>
                <a:ea typeface="Aptos Display" pitchFamily="34" charset="-122"/>
                <a:cs typeface="Aptos Display" pitchFamily="34" charset="-120"/>
              </a:rPr>
              <a:t>+3.8%</a:t>
            </a:r>
            <a:endParaRPr lang="en-US" sz="3400" dirty="0"/>
          </a:p>
        </p:txBody>
      </p:sp>
      <p:sp>
        <p:nvSpPr>
          <p:cNvPr id="41" name="Text 39"/>
          <p:cNvSpPr/>
          <p:nvPr/>
        </p:nvSpPr>
        <p:spPr>
          <a:xfrm>
            <a:off x="8156448" y="2029968"/>
            <a:ext cx="3529584" cy="621792"/>
          </a:xfrm>
          <a:prstGeom prst="rect">
            <a:avLst/>
          </a:prstGeom>
          <a:noFill/>
          <a:ln/>
        </p:spPr>
        <p:txBody>
          <a:bodyPr wrap="square" lIns="0" tIns="0" rIns="0" bIns="0" rtlCol="0" anchor="t"/>
          <a:lstStyle/>
          <a:p>
            <a:pPr marL="0" indent="0" algn="l">
              <a:lnSpc>
                <a:spcPct val="112000"/>
              </a:lnSpc>
              <a:buNone/>
            </a:pPr>
            <a:r>
              <a:rPr lang="en-US" sz="1000" dirty="0">
                <a:solidFill>
                  <a:srgbClr val="46577A"/>
                </a:solidFill>
                <a:latin typeface="Aptos" pitchFamily="34" charset="0"/>
                <a:ea typeface="Aptos" pitchFamily="34" charset="-122"/>
                <a:cs typeface="Aptos" pitchFamily="34" charset="-120"/>
              </a:rPr>
              <a:t>CASK ex-fuel-ex-FX - the addressable slice, distinct from the +17.6% ex-fuel headline. This, not the headline, is what a cost-productivity programme can act on.</a:t>
            </a:r>
            <a:endParaRPr lang="en-US" sz="1000" dirty="0"/>
          </a:p>
        </p:txBody>
      </p:sp>
      <p:sp>
        <p:nvSpPr>
          <p:cNvPr id="42" name="Text 40"/>
          <p:cNvSpPr/>
          <p:nvPr/>
        </p:nvSpPr>
        <p:spPr>
          <a:xfrm>
            <a:off x="6382512" y="2743200"/>
            <a:ext cx="5303520" cy="201168"/>
          </a:xfrm>
          <a:prstGeom prst="rect">
            <a:avLst/>
          </a:prstGeom>
          <a:noFill/>
          <a:ln/>
        </p:spPr>
        <p:txBody>
          <a:bodyPr wrap="square" lIns="0" tIns="0" rIns="0" bIns="0" rtlCol="0" anchor="ctr"/>
          <a:lstStyle/>
          <a:p>
            <a:pPr marL="0" indent="0" algn="l">
              <a:buNone/>
            </a:pPr>
            <a:r>
              <a:rPr lang="en-US" sz="900" b="1" kern="0" spc="110" dirty="0">
                <a:solidFill>
                  <a:srgbClr val="46577A"/>
                </a:solidFill>
                <a:latin typeface="Aptos" pitchFamily="34" charset="0"/>
                <a:ea typeface="Aptos" pitchFamily="34" charset="-122"/>
                <a:cs typeface="Aptos" pitchFamily="34" charset="-120"/>
              </a:rPr>
              <a:t>MECHANISMS</a:t>
            </a:r>
            <a:endParaRPr lang="en-US" sz="900" dirty="0"/>
          </a:p>
        </p:txBody>
      </p:sp>
      <p:sp>
        <p:nvSpPr>
          <p:cNvPr id="43" name="Text 41"/>
          <p:cNvSpPr/>
          <p:nvPr/>
        </p:nvSpPr>
        <p:spPr>
          <a:xfrm>
            <a:off x="6382512" y="2962656"/>
            <a:ext cx="5303520" cy="438912"/>
          </a:xfrm>
          <a:prstGeom prst="rect">
            <a:avLst/>
          </a:prstGeom>
          <a:noFill/>
          <a:ln/>
        </p:spPr>
        <p:txBody>
          <a:bodyPr wrap="square" lIns="0" tIns="0" rIns="0" bIns="0" rtlCol="0" anchor="t"/>
          <a:lstStyle/>
          <a:p>
            <a:pPr marL="0" indent="0" algn="l">
              <a:lnSpc>
                <a:spcPct val="112000"/>
              </a:lnSpc>
              <a:buNone/>
            </a:pPr>
            <a:r>
              <a:rPr lang="en-US" sz="1050" dirty="0">
                <a:solidFill>
                  <a:srgbClr val="041E47"/>
                </a:solidFill>
                <a:latin typeface="Aptos" pitchFamily="34" charset="0"/>
                <a:ea typeface="Aptos" pitchFamily="34" charset="-122"/>
                <a:cs typeface="Aptos" pitchFamily="34" charset="-120"/>
              </a:rPr>
              <a:t>Procurement  -  crew productivity  -  airport-cost optimisation  -  ground-handling automation  -  verified AI-assisted operations</a:t>
            </a:r>
            <a:endParaRPr lang="en-US" sz="1050" dirty="0"/>
          </a:p>
        </p:txBody>
      </p:sp>
      <p:sp>
        <p:nvSpPr>
          <p:cNvPr id="44" name="Shape 42"/>
          <p:cNvSpPr/>
          <p:nvPr/>
        </p:nvSpPr>
        <p:spPr>
          <a:xfrm>
            <a:off x="6382512" y="3474720"/>
            <a:ext cx="5303520" cy="932688"/>
          </a:xfrm>
          <a:prstGeom prst="rect">
            <a:avLst/>
          </a:prstGeom>
          <a:solidFill>
            <a:srgbClr val="FFFFFF"/>
          </a:solidFill>
          <a:ln w="19050">
            <a:solidFill>
              <a:srgbClr val="0032A0"/>
            </a:solidFill>
            <a:prstDash val="solid"/>
          </a:ln>
        </p:spPr>
      </p:sp>
      <p:sp>
        <p:nvSpPr>
          <p:cNvPr id="45" name="Shape 43"/>
          <p:cNvSpPr/>
          <p:nvPr/>
        </p:nvSpPr>
        <p:spPr>
          <a:xfrm>
            <a:off x="6528816" y="3584448"/>
            <a:ext cx="519379" cy="173736"/>
          </a:xfrm>
          <a:prstGeom prst="rect">
            <a:avLst/>
          </a:prstGeom>
          <a:solidFill>
            <a:srgbClr val="041E47"/>
          </a:solidFill>
          <a:ln/>
        </p:spPr>
      </p:sp>
      <p:sp>
        <p:nvSpPr>
          <p:cNvPr id="46" name="Text 44"/>
          <p:cNvSpPr/>
          <p:nvPr/>
        </p:nvSpPr>
        <p:spPr>
          <a:xfrm>
            <a:off x="6528816" y="3584448"/>
            <a:ext cx="519379"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FACT</a:t>
            </a:r>
            <a:endParaRPr lang="en-US" sz="900" dirty="0"/>
          </a:p>
        </p:txBody>
      </p:sp>
      <p:sp>
        <p:nvSpPr>
          <p:cNvPr id="47" name="Text 45"/>
          <p:cNvSpPr/>
          <p:nvPr/>
        </p:nvSpPr>
        <p:spPr>
          <a:xfrm>
            <a:off x="7187184" y="3566160"/>
            <a:ext cx="4352544" cy="219456"/>
          </a:xfrm>
          <a:prstGeom prst="rect">
            <a:avLst/>
          </a:prstGeom>
          <a:noFill/>
          <a:ln/>
        </p:spPr>
        <p:txBody>
          <a:bodyPr wrap="square" lIns="0" tIns="0" rIns="0" bIns="0" rtlCol="0" anchor="ctr"/>
          <a:lstStyle/>
          <a:p>
            <a:pPr marL="0" indent="0">
              <a:buNone/>
            </a:pPr>
            <a:r>
              <a:rPr lang="en-US" sz="1050" b="1" dirty="0">
                <a:solidFill>
                  <a:srgbClr val="0032A0"/>
                </a:solidFill>
                <a:latin typeface="Aptos" pitchFamily="34" charset="0"/>
                <a:ea typeface="Aptos" pitchFamily="34" charset="-122"/>
                <a:cs typeface="Aptos" pitchFamily="34" charset="-120"/>
              </a:rPr>
              <a:t>CONFIRMED - 6Eskai</a:t>
            </a:r>
            <a:endParaRPr lang="en-US" sz="1050" dirty="0"/>
          </a:p>
        </p:txBody>
      </p:sp>
      <p:sp>
        <p:nvSpPr>
          <p:cNvPr id="48" name="Text 46"/>
          <p:cNvSpPr/>
          <p:nvPr/>
        </p:nvSpPr>
        <p:spPr>
          <a:xfrm>
            <a:off x="6528816" y="3840480"/>
            <a:ext cx="5010912" cy="493776"/>
          </a:xfrm>
          <a:prstGeom prst="rect">
            <a:avLst/>
          </a:prstGeom>
          <a:noFill/>
          <a:ln/>
        </p:spPr>
        <p:txBody>
          <a:bodyPr wrap="square" lIns="0" tIns="0" rIns="0" bIns="0" rtlCol="0" anchor="t"/>
          <a:lstStyle/>
          <a:p>
            <a:pPr marL="0" indent="0">
              <a:buNone/>
            </a:pPr>
            <a:r>
              <a:rPr lang="en-US" sz="1000" dirty="0">
                <a:solidFill>
                  <a:srgbClr val="041E47"/>
                </a:solidFill>
                <a:latin typeface="Aptos" pitchFamily="34" charset="0"/>
                <a:ea typeface="Aptos" pitchFamily="34" charset="-122"/>
                <a:cs typeface="Aptos" pitchFamily="34" charset="-120"/>
              </a:rPr>
              <a:t>Handles &gt;92% of customer queries autonomously and has generated &gt;US$12 million in revenue; extended enterprise-wide. Deflects cost and generates revenue.</a:t>
            </a:r>
            <a:endParaRPr lang="en-US" sz="1000" dirty="0"/>
          </a:p>
        </p:txBody>
      </p:sp>
      <p:sp>
        <p:nvSpPr>
          <p:cNvPr id="49" name="Shape 47"/>
          <p:cNvSpPr/>
          <p:nvPr/>
        </p:nvSpPr>
        <p:spPr>
          <a:xfrm>
            <a:off x="6382512" y="4498848"/>
            <a:ext cx="5303520" cy="786384"/>
          </a:xfrm>
          <a:prstGeom prst="rect">
            <a:avLst/>
          </a:prstGeom>
          <a:solidFill>
            <a:srgbClr val="FFFFFF"/>
          </a:solidFill>
          <a:ln w="15875">
            <a:solidFill>
              <a:srgbClr val="6B7280"/>
            </a:solidFill>
            <a:prstDash val="dash"/>
          </a:ln>
        </p:spPr>
      </p:sp>
      <p:sp>
        <p:nvSpPr>
          <p:cNvPr id="50" name="Shape 48"/>
          <p:cNvSpPr/>
          <p:nvPr/>
        </p:nvSpPr>
        <p:spPr>
          <a:xfrm>
            <a:off x="6528816" y="4608576"/>
            <a:ext cx="969264" cy="173736"/>
          </a:xfrm>
          <a:prstGeom prst="rect">
            <a:avLst/>
          </a:prstGeom>
          <a:solidFill>
            <a:srgbClr val="FFFFFF"/>
          </a:solidFill>
          <a:ln w="9525">
            <a:solidFill>
              <a:srgbClr val="D98A00"/>
            </a:solidFill>
            <a:prstDash val="solid"/>
          </a:ln>
        </p:spPr>
      </p:sp>
      <p:sp>
        <p:nvSpPr>
          <p:cNvPr id="51" name="Text 49"/>
          <p:cNvSpPr/>
          <p:nvPr/>
        </p:nvSpPr>
        <p:spPr>
          <a:xfrm>
            <a:off x="6528816" y="4608576"/>
            <a:ext cx="969264" cy="173736"/>
          </a:xfrm>
          <a:prstGeom prst="rect">
            <a:avLst/>
          </a:prstGeom>
          <a:noFill/>
          <a:ln/>
        </p:spPr>
        <p:txBody>
          <a:bodyPr wrap="square" lIns="0" tIns="0" rIns="0" bIns="0" rtlCol="0" anchor="ctr"/>
          <a:lstStyle/>
          <a:p>
            <a:pPr marL="0" indent="0" algn="ctr">
              <a:buNone/>
            </a:pPr>
            <a:r>
              <a:rPr lang="en-US" sz="900" b="1" dirty="0">
                <a:solidFill>
                  <a:srgbClr val="D98A00"/>
                </a:solidFill>
                <a:latin typeface="Aptos" pitchFamily="34" charset="0"/>
                <a:ea typeface="Aptos" pitchFamily="34" charset="-122"/>
                <a:cs typeface="Aptos" pitchFamily="34" charset="-120"/>
              </a:rPr>
              <a:t>HYPOTHESIS</a:t>
            </a:r>
            <a:endParaRPr lang="en-US" sz="900" dirty="0"/>
          </a:p>
        </p:txBody>
      </p:sp>
      <p:sp>
        <p:nvSpPr>
          <p:cNvPr id="52" name="Text 50"/>
          <p:cNvSpPr/>
          <p:nvPr/>
        </p:nvSpPr>
        <p:spPr>
          <a:xfrm>
            <a:off x="7699248" y="4590288"/>
            <a:ext cx="3840480" cy="219456"/>
          </a:xfrm>
          <a:prstGeom prst="rect">
            <a:avLst/>
          </a:prstGeom>
          <a:noFill/>
          <a:ln/>
        </p:spPr>
        <p:txBody>
          <a:bodyPr wrap="square" lIns="0" tIns="0" rIns="0" bIns="0" rtlCol="0" anchor="ctr"/>
          <a:lstStyle/>
          <a:p>
            <a:pPr marL="0" indent="0">
              <a:buNone/>
            </a:pPr>
            <a:r>
              <a:rPr lang="en-US" sz="1050" b="1" dirty="0">
                <a:solidFill>
                  <a:srgbClr val="6B7280"/>
                </a:solidFill>
                <a:latin typeface="Aptos" pitchFamily="34" charset="0"/>
                <a:ea typeface="Aptos" pitchFamily="34" charset="-122"/>
                <a:cs typeface="Aptos" pitchFamily="34" charset="-120"/>
              </a:rPr>
              <a:t>CONCEPTUAL - not deployed</a:t>
            </a:r>
            <a:endParaRPr lang="en-US" sz="1050" dirty="0"/>
          </a:p>
        </p:txBody>
      </p:sp>
      <p:sp>
        <p:nvSpPr>
          <p:cNvPr id="53" name="Text 51"/>
          <p:cNvSpPr/>
          <p:nvPr/>
        </p:nvSpPr>
        <p:spPr>
          <a:xfrm>
            <a:off x="6528816" y="4846320"/>
            <a:ext cx="5010912" cy="384048"/>
          </a:xfrm>
          <a:prstGeom prst="rect">
            <a:avLst/>
          </a:prstGeom>
          <a:noFill/>
          <a:ln/>
        </p:spPr>
        <p:txBody>
          <a:bodyPr wrap="square" lIns="0" tIns="0" rIns="0" bIns="0" rtlCol="0" anchor="t"/>
          <a:lstStyle/>
          <a:p>
            <a:pPr marL="0" indent="0">
              <a:buNone/>
            </a:pPr>
            <a:r>
              <a:rPr lang="en-US" sz="1000" dirty="0">
                <a:solidFill>
                  <a:srgbClr val="6B7280"/>
                </a:solidFill>
                <a:latin typeface="Aptos" pitchFamily="34" charset="0"/>
                <a:ea typeface="Aptos" pitchFamily="34" charset="-122"/>
                <a:cs typeface="Aptos" pitchFamily="34" charset="-120"/>
              </a:rPr>
              <a:t>Predictive maintenance  -  aircraft digital twin  -  AI-based network and fleet optimisation. Not assumed into Lever B.</a:t>
            </a:r>
            <a:endParaRPr lang="en-US" sz="1000" dirty="0"/>
          </a:p>
        </p:txBody>
      </p:sp>
      <p:sp>
        <p:nvSpPr>
          <p:cNvPr id="54" name="Shape 52"/>
          <p:cNvSpPr/>
          <p:nvPr/>
        </p:nvSpPr>
        <p:spPr>
          <a:xfrm>
            <a:off x="502920" y="5468112"/>
            <a:ext cx="11185855" cy="713232"/>
          </a:xfrm>
          <a:prstGeom prst="rect">
            <a:avLst/>
          </a:prstGeom>
          <a:solidFill>
            <a:srgbClr val="F4F7FD"/>
          </a:solidFill>
          <a:ln/>
        </p:spPr>
      </p:sp>
      <p:sp>
        <p:nvSpPr>
          <p:cNvPr id="55" name="Text 53"/>
          <p:cNvSpPr/>
          <p:nvPr/>
        </p:nvSpPr>
        <p:spPr>
          <a:xfrm>
            <a:off x="667512" y="5541264"/>
            <a:ext cx="6035040" cy="201168"/>
          </a:xfrm>
          <a:prstGeom prst="rect">
            <a:avLst/>
          </a:prstGeom>
          <a:noFill/>
          <a:ln/>
        </p:spPr>
        <p:txBody>
          <a:bodyPr wrap="square" lIns="0" tIns="0" rIns="0" bIns="0" rtlCol="0" anchor="ctr"/>
          <a:lstStyle/>
          <a:p>
            <a:pPr marL="0" indent="0" algn="l">
              <a:buNone/>
            </a:pPr>
            <a:r>
              <a:rPr lang="en-US" sz="900" b="1" kern="0" spc="110" dirty="0">
                <a:solidFill>
                  <a:srgbClr val="46577A"/>
                </a:solidFill>
                <a:latin typeface="Aptos" pitchFamily="34" charset="0"/>
                <a:ea typeface="Aptos" pitchFamily="34" charset="-122"/>
                <a:cs typeface="Aptos" pitchFamily="34" charset="-120"/>
              </a:rPr>
              <a:t>WHAT BOTH LEVERS TOGETHER COULD MEAN - ARITHMETIC, NOT A FORECAST</a:t>
            </a:r>
            <a:endParaRPr lang="en-US" sz="900" dirty="0"/>
          </a:p>
        </p:txBody>
      </p:sp>
      <p:sp>
        <p:nvSpPr>
          <p:cNvPr id="56" name="Text 54"/>
          <p:cNvSpPr/>
          <p:nvPr/>
        </p:nvSpPr>
        <p:spPr>
          <a:xfrm>
            <a:off x="667512" y="5742432"/>
            <a:ext cx="5120640" cy="219456"/>
          </a:xfrm>
          <a:prstGeom prst="rect">
            <a:avLst/>
          </a:prstGeom>
          <a:noFill/>
          <a:ln/>
        </p:spPr>
        <p:txBody>
          <a:bodyPr wrap="square" lIns="0" tIns="0" rIns="0" bIns="0" rtlCol="0" anchor="ctr"/>
          <a:lstStyle/>
          <a:p>
            <a:pPr marL="0" indent="0">
              <a:buNone/>
            </a:pPr>
            <a:r>
              <a:rPr lang="en-US" sz="1000" dirty="0">
                <a:solidFill>
                  <a:srgbClr val="041E47"/>
                </a:solidFill>
                <a:latin typeface="Aptos" pitchFamily="34" charset="0"/>
                <a:ea typeface="Aptos" pitchFamily="34" charset="-122"/>
                <a:cs typeface="Aptos" pitchFamily="34" charset="-120"/>
              </a:rPr>
              <a:t>+Rs. 200 revenue and -Rs. 200 cost per passenger  =  Rs. 400 * 123.4M  ~  Rs. 49.36B</a:t>
            </a:r>
            <a:endParaRPr lang="en-US" sz="1000" dirty="0"/>
          </a:p>
        </p:txBody>
      </p:sp>
      <p:sp>
        <p:nvSpPr>
          <p:cNvPr id="57" name="Text 55"/>
          <p:cNvSpPr/>
          <p:nvPr/>
        </p:nvSpPr>
        <p:spPr>
          <a:xfrm>
            <a:off x="667512" y="5943600"/>
            <a:ext cx="6949440" cy="219456"/>
          </a:xfrm>
          <a:prstGeom prst="rect">
            <a:avLst/>
          </a:prstGeom>
          <a:noFill/>
          <a:ln/>
        </p:spPr>
        <p:txBody>
          <a:bodyPr wrap="square" lIns="0" tIns="0" rIns="0" bIns="0" rtlCol="0" anchor="ctr"/>
          <a:lstStyle/>
          <a:p>
            <a:pPr marL="0" indent="0">
              <a:buNone/>
            </a:pPr>
            <a:r>
              <a:rPr lang="en-US" sz="1000" dirty="0">
                <a:solidFill>
                  <a:srgbClr val="041E47"/>
                </a:solidFill>
                <a:latin typeface="Aptos" pitchFamily="34" charset="0"/>
                <a:ea typeface="Aptos" pitchFamily="34" charset="-122"/>
                <a:cs typeface="Aptos" pitchFamily="34" charset="-120"/>
              </a:rPr>
              <a:t>+Rs. 250 revenue and -Rs. 250 cost per passenger  =  Rs. 500 * 123.4M  ~  Rs. 61.70B  ~  7.26% of FY2026 operating revenue</a:t>
            </a:r>
            <a:endParaRPr lang="en-US" sz="1000" dirty="0"/>
          </a:p>
        </p:txBody>
      </p:sp>
      <p:sp>
        <p:nvSpPr>
          <p:cNvPr id="58" name="Shape 56"/>
          <p:cNvSpPr/>
          <p:nvPr/>
        </p:nvSpPr>
        <p:spPr>
          <a:xfrm>
            <a:off x="7498080" y="5742432"/>
            <a:ext cx="1344168" cy="173736"/>
          </a:xfrm>
          <a:prstGeom prst="rect">
            <a:avLst/>
          </a:prstGeom>
          <a:solidFill>
            <a:srgbClr val="FFFFFF"/>
          </a:solidFill>
          <a:ln w="9525">
            <a:solidFill>
              <a:srgbClr val="6B7280"/>
            </a:solidFill>
            <a:prstDash val="dash"/>
          </a:ln>
        </p:spPr>
      </p:sp>
      <p:sp>
        <p:nvSpPr>
          <p:cNvPr id="59" name="Text 57"/>
          <p:cNvSpPr/>
          <p:nvPr/>
        </p:nvSpPr>
        <p:spPr>
          <a:xfrm>
            <a:off x="7498080" y="5742432"/>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60" name="Text 58"/>
          <p:cNvSpPr/>
          <p:nvPr/>
        </p:nvSpPr>
        <p:spPr>
          <a:xfrm>
            <a:off x="8933688" y="5724144"/>
            <a:ext cx="2752344" cy="402336"/>
          </a:xfrm>
          <a:prstGeom prst="rect">
            <a:avLst/>
          </a:prstGeom>
          <a:noFill/>
          <a:ln/>
        </p:spPr>
        <p:txBody>
          <a:bodyPr wrap="square" lIns="0" tIns="0" rIns="0" bIns="0" rtlCol="0" anchor="t"/>
          <a:lstStyle/>
          <a:p>
            <a:r>
              <a:rPr lang="en-IN" sz="900" b="1" dirty="0"/>
              <a:t>Scenario arithmetic, not a forecast; demand elasticity is not validated.</a:t>
            </a:r>
            <a:endParaRPr lang="en-US" sz="900" b="1" dirty="0"/>
          </a:p>
        </p:txBody>
      </p:sp>
      <p:sp>
        <p:nvSpPr>
          <p:cNvPr id="61" name="Shape 59"/>
          <p:cNvSpPr/>
          <p:nvPr/>
        </p:nvSpPr>
        <p:spPr>
          <a:xfrm>
            <a:off x="502920" y="6309360"/>
            <a:ext cx="11185855" cy="5486"/>
          </a:xfrm>
          <a:prstGeom prst="rect">
            <a:avLst/>
          </a:prstGeom>
          <a:solidFill>
            <a:srgbClr val="C9D8F2"/>
          </a:solidFill>
          <a:ln/>
        </p:spPr>
      </p:sp>
      <p:sp>
        <p:nvSpPr>
          <p:cNvPr id="62" name="Text 60"/>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63" name="Text 61"/>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10_Validated_Exhibits_Diagrams/Charts - 09_Calculations_Financial_Calculations - SRC-FY26-006 - EVD-TECH-AI-004</a:t>
            </a:r>
            <a:endParaRPr lang="en-US" sz="800" dirty="0"/>
          </a:p>
        </p:txBody>
      </p:sp>
      <p:sp>
        <p:nvSpPr>
          <p:cNvPr id="64" name="Shape 62"/>
          <p:cNvSpPr/>
          <p:nvPr/>
        </p:nvSpPr>
        <p:spPr>
          <a:xfrm>
            <a:off x="11484864" y="6364224"/>
            <a:ext cx="201168" cy="201168"/>
          </a:xfrm>
          <a:prstGeom prst="rect">
            <a:avLst/>
          </a:prstGeom>
          <a:solidFill>
            <a:srgbClr val="0032A0"/>
          </a:solidFill>
          <a:ln/>
        </p:spPr>
      </p:sp>
      <p:sp>
        <p:nvSpPr>
          <p:cNvPr id="65" name="Text 63"/>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08 - WHERE THE LEVERS LIVE</a:t>
            </a:r>
            <a:endParaRPr lang="en-US" sz="1000" dirty="0"/>
          </a:p>
        </p:txBody>
      </p:sp>
      <p:sp>
        <p:nvSpPr>
          <p:cNvPr id="3" name="Shape 1"/>
          <p:cNvSpPr/>
          <p:nvPr/>
        </p:nvSpPr>
        <p:spPr>
          <a:xfrm>
            <a:off x="502920" y="571500"/>
            <a:ext cx="1699446" cy="45719"/>
          </a:xfrm>
          <a:prstGeom prst="rect">
            <a:avLst/>
          </a:prstGeom>
          <a:solidFill>
            <a:srgbClr val="0032A0"/>
          </a:solidFill>
          <a:ln/>
        </p:spPr>
      </p:sp>
      <p:sp>
        <p:nvSpPr>
          <p:cNvPr id="4" name="Text 2"/>
          <p:cNvSpPr/>
          <p:nvPr/>
        </p:nvSpPr>
        <p:spPr>
          <a:xfrm>
            <a:off x="502920" y="665683"/>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External forces reach unit economics through six traceable channels - and rarely arrive one at a time</a:t>
            </a:r>
            <a:endParaRPr lang="en-US" sz="2250" dirty="0"/>
          </a:p>
        </p:txBody>
      </p:sp>
      <p:sp>
        <p:nvSpPr>
          <p:cNvPr id="5" name="Text 3"/>
          <p:cNvSpPr/>
          <p:nvPr/>
        </p:nvSpPr>
        <p:spPr>
          <a:xfrm>
            <a:off x="1024128" y="1463040"/>
            <a:ext cx="1280160" cy="201168"/>
          </a:xfrm>
          <a:prstGeom prst="rect">
            <a:avLst/>
          </a:prstGeom>
          <a:noFill/>
          <a:ln/>
        </p:spPr>
        <p:txBody>
          <a:bodyPr wrap="square" lIns="0" tIns="0" rIns="0" bIns="0" rtlCol="0" anchor="ctr"/>
          <a:lstStyle/>
          <a:p>
            <a:pPr marL="0" indent="0" algn="l">
              <a:buNone/>
            </a:pPr>
            <a:r>
              <a:rPr lang="en-US" sz="850" b="1" kern="0" spc="110" dirty="0">
                <a:solidFill>
                  <a:srgbClr val="46577A"/>
                </a:solidFill>
                <a:latin typeface="Aptos" pitchFamily="34" charset="0"/>
                <a:ea typeface="Aptos" pitchFamily="34" charset="-122"/>
                <a:cs typeface="Aptos" pitchFamily="34" charset="-120"/>
              </a:rPr>
              <a:t>FACTOR</a:t>
            </a:r>
            <a:endParaRPr lang="en-US" sz="850" dirty="0"/>
          </a:p>
        </p:txBody>
      </p:sp>
      <p:sp>
        <p:nvSpPr>
          <p:cNvPr id="6" name="Text 4"/>
          <p:cNvSpPr/>
          <p:nvPr/>
        </p:nvSpPr>
        <p:spPr>
          <a:xfrm>
            <a:off x="2395728" y="1463040"/>
            <a:ext cx="3840480" cy="201168"/>
          </a:xfrm>
          <a:prstGeom prst="rect">
            <a:avLst/>
          </a:prstGeom>
          <a:noFill/>
          <a:ln/>
        </p:spPr>
        <p:txBody>
          <a:bodyPr wrap="square" lIns="0" tIns="0" rIns="0" bIns="0" rtlCol="0" anchor="ctr"/>
          <a:lstStyle/>
          <a:p>
            <a:pPr marL="0" indent="0" algn="l">
              <a:buNone/>
            </a:pPr>
            <a:r>
              <a:rPr lang="en-US" sz="850" b="1" kern="0" spc="110" dirty="0">
                <a:solidFill>
                  <a:srgbClr val="46577A"/>
                </a:solidFill>
                <a:latin typeface="Aptos" pitchFamily="34" charset="0"/>
                <a:ea typeface="Aptos" pitchFamily="34" charset="-122"/>
                <a:cs typeface="Aptos" pitchFamily="34" charset="-120"/>
              </a:rPr>
              <a:t>TRANSMISSION CHANNEL AND INDIGO IMPACT</a:t>
            </a:r>
            <a:endParaRPr lang="en-US" sz="850" dirty="0"/>
          </a:p>
        </p:txBody>
      </p:sp>
      <p:sp>
        <p:nvSpPr>
          <p:cNvPr id="7" name="Text 5"/>
          <p:cNvSpPr/>
          <p:nvPr/>
        </p:nvSpPr>
        <p:spPr>
          <a:xfrm>
            <a:off x="6382512" y="1463040"/>
            <a:ext cx="2011680" cy="201168"/>
          </a:xfrm>
          <a:prstGeom prst="rect">
            <a:avLst/>
          </a:prstGeom>
          <a:noFill/>
          <a:ln/>
        </p:spPr>
        <p:txBody>
          <a:bodyPr wrap="square" lIns="0" tIns="0" rIns="0" bIns="0" rtlCol="0" anchor="ctr"/>
          <a:lstStyle/>
          <a:p>
            <a:pPr marL="0" indent="0" algn="l">
              <a:buNone/>
            </a:pPr>
            <a:r>
              <a:rPr lang="en-US" sz="850" b="1" kern="0" spc="110" dirty="0">
                <a:solidFill>
                  <a:srgbClr val="46577A"/>
                </a:solidFill>
                <a:latin typeface="Aptos" pitchFamily="34" charset="0"/>
                <a:ea typeface="Aptos" pitchFamily="34" charset="-122"/>
                <a:cs typeface="Aptos" pitchFamily="34" charset="-120"/>
              </a:rPr>
              <a:t>MONITORING KPI</a:t>
            </a:r>
            <a:endParaRPr lang="en-US" sz="850" dirty="0"/>
          </a:p>
        </p:txBody>
      </p:sp>
      <p:sp>
        <p:nvSpPr>
          <p:cNvPr id="8" name="Shape 6"/>
          <p:cNvSpPr/>
          <p:nvPr/>
        </p:nvSpPr>
        <p:spPr>
          <a:xfrm>
            <a:off x="502920" y="1682496"/>
            <a:ext cx="8503920" cy="5486"/>
          </a:xfrm>
          <a:prstGeom prst="rect">
            <a:avLst/>
          </a:prstGeom>
          <a:solidFill>
            <a:srgbClr val="C9D8F2"/>
          </a:solidFill>
          <a:ln/>
        </p:spPr>
      </p:sp>
      <p:sp>
        <p:nvSpPr>
          <p:cNvPr id="9" name="Shape 7"/>
          <p:cNvSpPr/>
          <p:nvPr/>
        </p:nvSpPr>
        <p:spPr>
          <a:xfrm>
            <a:off x="502920" y="1828800"/>
            <a:ext cx="402336" cy="402336"/>
          </a:xfrm>
          <a:prstGeom prst="rect">
            <a:avLst/>
          </a:prstGeom>
          <a:solidFill>
            <a:srgbClr val="041E47"/>
          </a:solidFill>
          <a:ln/>
        </p:spPr>
      </p:sp>
      <p:sp>
        <p:nvSpPr>
          <p:cNvPr id="10" name="Text 8"/>
          <p:cNvSpPr/>
          <p:nvPr/>
        </p:nvSpPr>
        <p:spPr>
          <a:xfrm>
            <a:off x="502920" y="1828800"/>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Display" pitchFamily="34" charset="0"/>
                <a:ea typeface="Aptos Display" pitchFamily="34" charset="-122"/>
                <a:cs typeface="Aptos Display" pitchFamily="34" charset="-120"/>
              </a:rPr>
              <a:t>P</a:t>
            </a:r>
            <a:endParaRPr lang="en-US" sz="1600" dirty="0"/>
          </a:p>
        </p:txBody>
      </p:sp>
      <p:sp>
        <p:nvSpPr>
          <p:cNvPr id="11" name="Text 9"/>
          <p:cNvSpPr/>
          <p:nvPr/>
        </p:nvSpPr>
        <p:spPr>
          <a:xfrm>
            <a:off x="1024128" y="1773936"/>
            <a:ext cx="1298448" cy="566928"/>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Political</a:t>
            </a:r>
            <a:endParaRPr lang="en-US" sz="1050" dirty="0"/>
          </a:p>
        </p:txBody>
      </p:sp>
      <p:sp>
        <p:nvSpPr>
          <p:cNvPr id="12" name="Text 10"/>
          <p:cNvSpPr/>
          <p:nvPr/>
        </p:nvSpPr>
        <p:spPr>
          <a:xfrm>
            <a:off x="2395728" y="1773936"/>
            <a:ext cx="3877056" cy="566928"/>
          </a:xfrm>
          <a:prstGeom prst="rect">
            <a:avLst/>
          </a:prstGeom>
          <a:noFill/>
          <a:ln/>
        </p:spPr>
        <p:txBody>
          <a:bodyPr wrap="square" lIns="0" tIns="0" rIns="0" bIns="0" rtlCol="0" anchor="ctr"/>
          <a:lstStyle/>
          <a:p>
            <a:pPr marL="0" indent="0">
              <a:lnSpc>
                <a:spcPct val="106000"/>
              </a:lnSpc>
              <a:buNone/>
            </a:pPr>
            <a:r>
              <a:rPr lang="en-US" sz="1000" dirty="0">
                <a:solidFill>
                  <a:srgbClr val="46577A"/>
                </a:solidFill>
                <a:latin typeface="Aptos" pitchFamily="34" charset="0"/>
                <a:ea typeface="Aptos" pitchFamily="34" charset="-122"/>
                <a:cs typeface="Aptos" pitchFamily="34" charset="-120"/>
              </a:rPr>
              <a:t>Bilateral traffic rights and airport policy -&gt; permitted international capacity; NIA catchment. Gates where capacity can be deployed; creates NCR opportunity with cannibalisation risk.</a:t>
            </a:r>
            <a:endParaRPr lang="en-US" sz="1000" dirty="0"/>
          </a:p>
        </p:txBody>
      </p:sp>
      <p:sp>
        <p:nvSpPr>
          <p:cNvPr id="13" name="Shape 11"/>
          <p:cNvSpPr/>
          <p:nvPr/>
        </p:nvSpPr>
        <p:spPr>
          <a:xfrm>
            <a:off x="6291072" y="1792224"/>
            <a:ext cx="2212848" cy="530352"/>
          </a:xfrm>
          <a:prstGeom prst="rect">
            <a:avLst/>
          </a:prstGeom>
          <a:solidFill>
            <a:srgbClr val="F4F7FD"/>
          </a:solidFill>
          <a:ln/>
        </p:spPr>
      </p:sp>
      <p:sp>
        <p:nvSpPr>
          <p:cNvPr id="14" name="Text 12"/>
          <p:cNvSpPr/>
          <p:nvPr/>
        </p:nvSpPr>
        <p:spPr>
          <a:xfrm>
            <a:off x="6382512" y="1773936"/>
            <a:ext cx="2029968" cy="566928"/>
          </a:xfrm>
          <a:prstGeom prst="rect">
            <a:avLst/>
          </a:prstGeom>
          <a:noFill/>
          <a:ln/>
        </p:spPr>
        <p:txBody>
          <a:bodyPr wrap="square" lIns="0" tIns="0" rIns="0" bIns="0" rtlCol="0" anchor="ctr"/>
          <a:lstStyle/>
          <a:p>
            <a:pPr marL="0" indent="0">
              <a:lnSpc>
                <a:spcPct val="106000"/>
              </a:lnSpc>
              <a:buNone/>
            </a:pPr>
            <a:r>
              <a:rPr lang="en-US" sz="950" dirty="0">
                <a:solidFill>
                  <a:srgbClr val="041E47"/>
                </a:solidFill>
                <a:latin typeface="Aptos" pitchFamily="34" charset="0"/>
                <a:ea typeface="Aptos" pitchFamily="34" charset="-122"/>
                <a:cs typeface="Aptos" pitchFamily="34" charset="-120"/>
              </a:rPr>
              <a:t>Bilateral changes; NIA incremental-demand split</a:t>
            </a:r>
            <a:endParaRPr lang="en-US" sz="950" dirty="0"/>
          </a:p>
        </p:txBody>
      </p:sp>
      <p:sp>
        <p:nvSpPr>
          <p:cNvPr id="15" name="Shape 13"/>
          <p:cNvSpPr/>
          <p:nvPr/>
        </p:nvSpPr>
        <p:spPr>
          <a:xfrm>
            <a:off x="502920" y="2395728"/>
            <a:ext cx="8503920" cy="5486"/>
          </a:xfrm>
          <a:prstGeom prst="rect">
            <a:avLst/>
          </a:prstGeom>
          <a:solidFill>
            <a:srgbClr val="C9D8F2"/>
          </a:solidFill>
          <a:ln/>
        </p:spPr>
      </p:sp>
      <p:sp>
        <p:nvSpPr>
          <p:cNvPr id="16" name="Shape 14"/>
          <p:cNvSpPr/>
          <p:nvPr/>
        </p:nvSpPr>
        <p:spPr>
          <a:xfrm>
            <a:off x="502920" y="2505456"/>
            <a:ext cx="402336" cy="402336"/>
          </a:xfrm>
          <a:prstGeom prst="rect">
            <a:avLst/>
          </a:prstGeom>
          <a:solidFill>
            <a:srgbClr val="0032A0"/>
          </a:solidFill>
          <a:ln/>
        </p:spPr>
      </p:sp>
      <p:sp>
        <p:nvSpPr>
          <p:cNvPr id="17" name="Text 15"/>
          <p:cNvSpPr/>
          <p:nvPr/>
        </p:nvSpPr>
        <p:spPr>
          <a:xfrm>
            <a:off x="502920" y="2505456"/>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Display" pitchFamily="34" charset="0"/>
                <a:ea typeface="Aptos Display" pitchFamily="34" charset="-122"/>
                <a:cs typeface="Aptos Display" pitchFamily="34" charset="-120"/>
              </a:rPr>
              <a:t>E</a:t>
            </a:r>
            <a:endParaRPr lang="en-US" sz="1600" dirty="0"/>
          </a:p>
        </p:txBody>
      </p:sp>
      <p:sp>
        <p:nvSpPr>
          <p:cNvPr id="18" name="Text 16"/>
          <p:cNvSpPr/>
          <p:nvPr/>
        </p:nvSpPr>
        <p:spPr>
          <a:xfrm>
            <a:off x="1024128" y="2450592"/>
            <a:ext cx="1298448" cy="566928"/>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Economic</a:t>
            </a:r>
            <a:endParaRPr lang="en-US" sz="1050" dirty="0"/>
          </a:p>
        </p:txBody>
      </p:sp>
      <p:sp>
        <p:nvSpPr>
          <p:cNvPr id="19" name="Text 17"/>
          <p:cNvSpPr/>
          <p:nvPr/>
        </p:nvSpPr>
        <p:spPr>
          <a:xfrm>
            <a:off x="2395728" y="2450592"/>
            <a:ext cx="3877056" cy="566928"/>
          </a:xfrm>
          <a:prstGeom prst="rect">
            <a:avLst/>
          </a:prstGeom>
          <a:noFill/>
          <a:ln/>
        </p:spPr>
        <p:txBody>
          <a:bodyPr wrap="square" lIns="0" tIns="0" rIns="0" bIns="0" rtlCol="0" anchor="ctr"/>
          <a:lstStyle/>
          <a:p>
            <a:pPr marL="0" indent="0">
              <a:lnSpc>
                <a:spcPct val="106000"/>
              </a:lnSpc>
              <a:buNone/>
            </a:pPr>
            <a:r>
              <a:rPr lang="en-US" sz="1000" dirty="0">
                <a:solidFill>
                  <a:srgbClr val="46577A"/>
                </a:solidFill>
                <a:latin typeface="Aptos" pitchFamily="34" charset="0"/>
                <a:ea typeface="Aptos" pitchFamily="34" charset="-122"/>
                <a:cs typeface="Aptos" pitchFamily="34" charset="-120"/>
              </a:rPr>
              <a:t>Fuel price -&gt; ATF cost -&gt; fuel CASK. Rupee depreciation -&gt; dollar-linked leases, maintenance and overseas charges. FY2026 fuel CASK fell 11.5%, but FX materially affects the non-fuel picture.</a:t>
            </a:r>
            <a:endParaRPr lang="en-US" sz="1000" dirty="0"/>
          </a:p>
        </p:txBody>
      </p:sp>
      <p:sp>
        <p:nvSpPr>
          <p:cNvPr id="20" name="Shape 18"/>
          <p:cNvSpPr/>
          <p:nvPr/>
        </p:nvSpPr>
        <p:spPr>
          <a:xfrm>
            <a:off x="6291072" y="2468880"/>
            <a:ext cx="2212848" cy="530352"/>
          </a:xfrm>
          <a:prstGeom prst="rect">
            <a:avLst/>
          </a:prstGeom>
          <a:solidFill>
            <a:srgbClr val="F4F7FD"/>
          </a:solidFill>
          <a:ln/>
        </p:spPr>
      </p:sp>
      <p:sp>
        <p:nvSpPr>
          <p:cNvPr id="21" name="Text 19"/>
          <p:cNvSpPr/>
          <p:nvPr/>
        </p:nvSpPr>
        <p:spPr>
          <a:xfrm>
            <a:off x="6382512" y="2450592"/>
            <a:ext cx="2029968" cy="566928"/>
          </a:xfrm>
          <a:prstGeom prst="rect">
            <a:avLst/>
          </a:prstGeom>
          <a:noFill/>
          <a:ln/>
        </p:spPr>
        <p:txBody>
          <a:bodyPr wrap="square" lIns="0" tIns="0" rIns="0" bIns="0" rtlCol="0" anchor="ctr"/>
          <a:lstStyle/>
          <a:p>
            <a:pPr marL="0" indent="0">
              <a:lnSpc>
                <a:spcPct val="106000"/>
              </a:lnSpc>
              <a:buNone/>
            </a:pPr>
            <a:r>
              <a:rPr lang="en-US" sz="950" dirty="0">
                <a:solidFill>
                  <a:srgbClr val="041E47"/>
                </a:solidFill>
                <a:latin typeface="Aptos" pitchFamily="34" charset="0"/>
                <a:ea typeface="Aptos" pitchFamily="34" charset="-122"/>
                <a:cs typeface="Aptos" pitchFamily="34" charset="-120"/>
              </a:rPr>
              <a:t>Fuel CASK; USD/INR; CASK ex-fuel vs ex-fuel-ex-FX gap</a:t>
            </a:r>
            <a:endParaRPr lang="en-US" sz="950" dirty="0"/>
          </a:p>
        </p:txBody>
      </p:sp>
      <p:sp>
        <p:nvSpPr>
          <p:cNvPr id="22" name="Shape 20"/>
          <p:cNvSpPr/>
          <p:nvPr/>
        </p:nvSpPr>
        <p:spPr>
          <a:xfrm>
            <a:off x="502920" y="3072384"/>
            <a:ext cx="8503920" cy="5486"/>
          </a:xfrm>
          <a:prstGeom prst="rect">
            <a:avLst/>
          </a:prstGeom>
          <a:solidFill>
            <a:srgbClr val="C9D8F2"/>
          </a:solidFill>
          <a:ln/>
        </p:spPr>
      </p:sp>
      <p:sp>
        <p:nvSpPr>
          <p:cNvPr id="23" name="Shape 21"/>
          <p:cNvSpPr/>
          <p:nvPr/>
        </p:nvSpPr>
        <p:spPr>
          <a:xfrm>
            <a:off x="502920" y="3182112"/>
            <a:ext cx="402336" cy="402336"/>
          </a:xfrm>
          <a:prstGeom prst="rect">
            <a:avLst/>
          </a:prstGeom>
          <a:solidFill>
            <a:srgbClr val="2F6BD8"/>
          </a:solidFill>
          <a:ln/>
        </p:spPr>
      </p:sp>
      <p:sp>
        <p:nvSpPr>
          <p:cNvPr id="24" name="Text 22"/>
          <p:cNvSpPr/>
          <p:nvPr/>
        </p:nvSpPr>
        <p:spPr>
          <a:xfrm>
            <a:off x="502920" y="318211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Display" pitchFamily="34" charset="0"/>
                <a:ea typeface="Aptos Display" pitchFamily="34" charset="-122"/>
                <a:cs typeface="Aptos Display" pitchFamily="34" charset="-120"/>
              </a:rPr>
              <a:t>S</a:t>
            </a:r>
            <a:endParaRPr lang="en-US" sz="1600" dirty="0"/>
          </a:p>
        </p:txBody>
      </p:sp>
      <p:sp>
        <p:nvSpPr>
          <p:cNvPr id="25" name="Text 23"/>
          <p:cNvSpPr/>
          <p:nvPr/>
        </p:nvSpPr>
        <p:spPr>
          <a:xfrm>
            <a:off x="1024128" y="3127248"/>
            <a:ext cx="1298448" cy="566928"/>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Social</a:t>
            </a:r>
            <a:endParaRPr lang="en-US" sz="1050" dirty="0"/>
          </a:p>
        </p:txBody>
      </p:sp>
      <p:sp>
        <p:nvSpPr>
          <p:cNvPr id="26" name="Text 24"/>
          <p:cNvSpPr/>
          <p:nvPr/>
        </p:nvSpPr>
        <p:spPr>
          <a:xfrm>
            <a:off x="2395728" y="3127248"/>
            <a:ext cx="3877056" cy="566928"/>
          </a:xfrm>
          <a:prstGeom prst="rect">
            <a:avLst/>
          </a:prstGeom>
          <a:noFill/>
          <a:ln/>
        </p:spPr>
        <p:txBody>
          <a:bodyPr wrap="square" lIns="0" tIns="0" rIns="0" bIns="0" rtlCol="0" anchor="ctr"/>
          <a:lstStyle/>
          <a:p>
            <a:pPr marL="0" indent="0">
              <a:lnSpc>
                <a:spcPct val="106000"/>
              </a:lnSpc>
              <a:buNone/>
            </a:pPr>
            <a:r>
              <a:rPr lang="en-US" sz="1000" dirty="0">
                <a:solidFill>
                  <a:srgbClr val="46577A"/>
                </a:solidFill>
                <a:latin typeface="Aptos" pitchFamily="34" charset="0"/>
                <a:ea typeface="Aptos" pitchFamily="34" charset="-122"/>
                <a:cs typeface="Aptos" pitchFamily="34" charset="-120"/>
              </a:rPr>
              <a:t>Rising travel aspiration: first-time flyer -&gt; frequent -&gt; short-haul international. Price sensitivity means pricing moves are not volume-neutral.</a:t>
            </a:r>
            <a:endParaRPr lang="en-US" sz="1000" dirty="0"/>
          </a:p>
        </p:txBody>
      </p:sp>
      <p:sp>
        <p:nvSpPr>
          <p:cNvPr id="27" name="Shape 25"/>
          <p:cNvSpPr/>
          <p:nvPr/>
        </p:nvSpPr>
        <p:spPr>
          <a:xfrm>
            <a:off x="6291072" y="3145536"/>
            <a:ext cx="2212848" cy="530352"/>
          </a:xfrm>
          <a:prstGeom prst="rect">
            <a:avLst/>
          </a:prstGeom>
          <a:solidFill>
            <a:srgbClr val="F4F7FD"/>
          </a:solidFill>
          <a:ln/>
        </p:spPr>
      </p:sp>
      <p:sp>
        <p:nvSpPr>
          <p:cNvPr id="28" name="Text 26"/>
          <p:cNvSpPr/>
          <p:nvPr/>
        </p:nvSpPr>
        <p:spPr>
          <a:xfrm>
            <a:off x="6382512" y="3127248"/>
            <a:ext cx="2029968" cy="566928"/>
          </a:xfrm>
          <a:prstGeom prst="rect">
            <a:avLst/>
          </a:prstGeom>
          <a:noFill/>
          <a:ln/>
        </p:spPr>
        <p:txBody>
          <a:bodyPr wrap="square" lIns="0" tIns="0" rIns="0" bIns="0" rtlCol="0" anchor="ctr"/>
          <a:lstStyle/>
          <a:p>
            <a:pPr marL="0" indent="0">
              <a:lnSpc>
                <a:spcPct val="106000"/>
              </a:lnSpc>
              <a:buNone/>
            </a:pPr>
            <a:r>
              <a:rPr lang="en-US" sz="950" dirty="0">
                <a:solidFill>
                  <a:srgbClr val="041E47"/>
                </a:solidFill>
                <a:latin typeface="Aptos" pitchFamily="34" charset="0"/>
                <a:ea typeface="Aptos" pitchFamily="34" charset="-122"/>
                <a:cs typeface="Aptos" pitchFamily="34" charset="-120"/>
              </a:rPr>
              <a:t>Passenger growth; load-factor response to fare changes</a:t>
            </a:r>
            <a:endParaRPr lang="en-US" sz="950" dirty="0"/>
          </a:p>
        </p:txBody>
      </p:sp>
      <p:sp>
        <p:nvSpPr>
          <p:cNvPr id="29" name="Shape 27"/>
          <p:cNvSpPr/>
          <p:nvPr/>
        </p:nvSpPr>
        <p:spPr>
          <a:xfrm>
            <a:off x="502920" y="3749040"/>
            <a:ext cx="8503920" cy="5486"/>
          </a:xfrm>
          <a:prstGeom prst="rect">
            <a:avLst/>
          </a:prstGeom>
          <a:solidFill>
            <a:srgbClr val="C9D8F2"/>
          </a:solidFill>
          <a:ln/>
        </p:spPr>
      </p:sp>
      <p:sp>
        <p:nvSpPr>
          <p:cNvPr id="30" name="Shape 28"/>
          <p:cNvSpPr/>
          <p:nvPr/>
        </p:nvSpPr>
        <p:spPr>
          <a:xfrm>
            <a:off x="502920" y="3858768"/>
            <a:ext cx="402336" cy="402336"/>
          </a:xfrm>
          <a:prstGeom prst="rect">
            <a:avLst/>
          </a:prstGeom>
          <a:solidFill>
            <a:srgbClr val="2F6BD8"/>
          </a:solidFill>
          <a:ln/>
        </p:spPr>
      </p:sp>
      <p:sp>
        <p:nvSpPr>
          <p:cNvPr id="31" name="Text 29"/>
          <p:cNvSpPr/>
          <p:nvPr/>
        </p:nvSpPr>
        <p:spPr>
          <a:xfrm>
            <a:off x="502920" y="3858768"/>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Display" pitchFamily="34" charset="0"/>
                <a:ea typeface="Aptos Display" pitchFamily="34" charset="-122"/>
                <a:cs typeface="Aptos Display" pitchFamily="34" charset="-120"/>
              </a:rPr>
              <a:t>T</a:t>
            </a:r>
            <a:endParaRPr lang="en-US" sz="1600" dirty="0"/>
          </a:p>
        </p:txBody>
      </p:sp>
      <p:sp>
        <p:nvSpPr>
          <p:cNvPr id="32" name="Text 30"/>
          <p:cNvSpPr/>
          <p:nvPr/>
        </p:nvSpPr>
        <p:spPr>
          <a:xfrm>
            <a:off x="1024128" y="3803904"/>
            <a:ext cx="1298448" cy="566928"/>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Technological</a:t>
            </a:r>
            <a:endParaRPr lang="en-US" sz="1050" dirty="0"/>
          </a:p>
        </p:txBody>
      </p:sp>
      <p:sp>
        <p:nvSpPr>
          <p:cNvPr id="33" name="Text 31"/>
          <p:cNvSpPr/>
          <p:nvPr/>
        </p:nvSpPr>
        <p:spPr>
          <a:xfrm>
            <a:off x="2395728" y="3803904"/>
            <a:ext cx="3877056" cy="566928"/>
          </a:xfrm>
          <a:prstGeom prst="rect">
            <a:avLst/>
          </a:prstGeom>
          <a:noFill/>
          <a:ln/>
        </p:spPr>
        <p:txBody>
          <a:bodyPr wrap="square" lIns="0" tIns="0" rIns="0" bIns="0" rtlCol="0" anchor="ctr"/>
          <a:lstStyle/>
          <a:p>
            <a:pPr marL="0" indent="0">
              <a:lnSpc>
                <a:spcPct val="106000"/>
              </a:lnSpc>
              <a:buNone/>
            </a:pPr>
            <a:r>
              <a:rPr lang="en-US" sz="1000" dirty="0">
                <a:solidFill>
                  <a:srgbClr val="46577A"/>
                </a:solidFill>
                <a:latin typeface="Aptos" pitchFamily="34" charset="0"/>
                <a:ea typeface="Aptos" pitchFamily="34" charset="-122"/>
                <a:cs typeface="Aptos" pitchFamily="34" charset="-120"/>
              </a:rPr>
              <a:t>AI and digital adoption -&gt; automation and optimisation. Confirmed value in 6Eskai; conceptual upside in optimisation not yet deployed.</a:t>
            </a:r>
            <a:endParaRPr lang="en-US" sz="1000" dirty="0"/>
          </a:p>
        </p:txBody>
      </p:sp>
      <p:sp>
        <p:nvSpPr>
          <p:cNvPr id="34" name="Shape 32"/>
          <p:cNvSpPr/>
          <p:nvPr/>
        </p:nvSpPr>
        <p:spPr>
          <a:xfrm>
            <a:off x="6291072" y="3822192"/>
            <a:ext cx="2212848" cy="530352"/>
          </a:xfrm>
          <a:prstGeom prst="rect">
            <a:avLst/>
          </a:prstGeom>
          <a:solidFill>
            <a:srgbClr val="F4F7FD"/>
          </a:solidFill>
          <a:ln/>
        </p:spPr>
      </p:sp>
      <p:sp>
        <p:nvSpPr>
          <p:cNvPr id="35" name="Text 33"/>
          <p:cNvSpPr/>
          <p:nvPr/>
        </p:nvSpPr>
        <p:spPr>
          <a:xfrm>
            <a:off x="6382512" y="3803904"/>
            <a:ext cx="2029968" cy="566928"/>
          </a:xfrm>
          <a:prstGeom prst="rect">
            <a:avLst/>
          </a:prstGeom>
          <a:noFill/>
          <a:ln/>
        </p:spPr>
        <p:txBody>
          <a:bodyPr wrap="square" lIns="0" tIns="0" rIns="0" bIns="0" rtlCol="0" anchor="ctr"/>
          <a:lstStyle/>
          <a:p>
            <a:pPr>
              <a:lnSpc>
                <a:spcPct val="106000"/>
              </a:lnSpc>
            </a:pPr>
            <a:r>
              <a:rPr lang="en-US" sz="950" dirty="0">
                <a:solidFill>
                  <a:srgbClr val="041E47"/>
                </a:solidFill>
                <a:latin typeface="Aptos" pitchFamily="34" charset="0"/>
                <a:ea typeface="Aptos" pitchFamily="34" charset="-122"/>
                <a:cs typeface="Aptos" pitchFamily="34" charset="-120"/>
              </a:rPr>
              <a:t>6Eskai automation rate, accuracy, </a:t>
            </a:r>
            <a:r>
              <a:rPr lang="en-IN" sz="950" dirty="0">
                <a:solidFill>
                  <a:srgbClr val="041E47"/>
                </a:solidFill>
                <a:latin typeface="Aptos" pitchFamily="34" charset="0"/>
              </a:rPr>
              <a:t>6Eskai revenue generated</a:t>
            </a:r>
            <a:endParaRPr lang="en-US" sz="950" dirty="0">
              <a:solidFill>
                <a:srgbClr val="041E47"/>
              </a:solidFill>
              <a:latin typeface="Aptos" pitchFamily="34" charset="0"/>
            </a:endParaRPr>
          </a:p>
        </p:txBody>
      </p:sp>
      <p:sp>
        <p:nvSpPr>
          <p:cNvPr id="36" name="Shape 34"/>
          <p:cNvSpPr/>
          <p:nvPr/>
        </p:nvSpPr>
        <p:spPr>
          <a:xfrm>
            <a:off x="502920" y="4425696"/>
            <a:ext cx="8503920" cy="5486"/>
          </a:xfrm>
          <a:prstGeom prst="rect">
            <a:avLst/>
          </a:prstGeom>
          <a:solidFill>
            <a:srgbClr val="C9D8F2"/>
          </a:solidFill>
          <a:ln/>
        </p:spPr>
      </p:sp>
      <p:sp>
        <p:nvSpPr>
          <p:cNvPr id="37" name="Shape 35"/>
          <p:cNvSpPr/>
          <p:nvPr/>
        </p:nvSpPr>
        <p:spPr>
          <a:xfrm>
            <a:off x="502920" y="4535424"/>
            <a:ext cx="402336" cy="402336"/>
          </a:xfrm>
          <a:prstGeom prst="rect">
            <a:avLst/>
          </a:prstGeom>
          <a:solidFill>
            <a:srgbClr val="7FA3E8"/>
          </a:solidFill>
          <a:ln/>
        </p:spPr>
      </p:sp>
      <p:sp>
        <p:nvSpPr>
          <p:cNvPr id="38" name="Text 36"/>
          <p:cNvSpPr/>
          <p:nvPr/>
        </p:nvSpPr>
        <p:spPr>
          <a:xfrm>
            <a:off x="502920" y="4535424"/>
            <a:ext cx="402336" cy="402336"/>
          </a:xfrm>
          <a:prstGeom prst="rect">
            <a:avLst/>
          </a:prstGeom>
          <a:noFill/>
          <a:ln/>
        </p:spPr>
        <p:txBody>
          <a:bodyPr wrap="square" lIns="0" tIns="0" rIns="0" bIns="0" rtlCol="0" anchor="ctr"/>
          <a:lstStyle/>
          <a:p>
            <a:pPr marL="0" indent="0" algn="ctr">
              <a:buNone/>
            </a:pPr>
            <a:r>
              <a:rPr lang="en-US" sz="1600" b="1" dirty="0">
                <a:solidFill>
                  <a:srgbClr val="041E47"/>
                </a:solidFill>
                <a:latin typeface="Aptos Display" pitchFamily="34" charset="0"/>
                <a:ea typeface="Aptos Display" pitchFamily="34" charset="-122"/>
                <a:cs typeface="Aptos Display" pitchFamily="34" charset="-120"/>
              </a:rPr>
              <a:t>L</a:t>
            </a:r>
            <a:endParaRPr lang="en-US" sz="1600" dirty="0"/>
          </a:p>
        </p:txBody>
      </p:sp>
      <p:sp>
        <p:nvSpPr>
          <p:cNvPr id="39" name="Text 37"/>
          <p:cNvSpPr/>
          <p:nvPr/>
        </p:nvSpPr>
        <p:spPr>
          <a:xfrm>
            <a:off x="1024128" y="4480560"/>
            <a:ext cx="1298448" cy="566928"/>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Legal</a:t>
            </a:r>
            <a:endParaRPr lang="en-US" sz="1050" dirty="0"/>
          </a:p>
        </p:txBody>
      </p:sp>
      <p:sp>
        <p:nvSpPr>
          <p:cNvPr id="40" name="Text 38"/>
          <p:cNvSpPr/>
          <p:nvPr/>
        </p:nvSpPr>
        <p:spPr>
          <a:xfrm>
            <a:off x="2395728" y="4480560"/>
            <a:ext cx="3877056" cy="566928"/>
          </a:xfrm>
          <a:prstGeom prst="rect">
            <a:avLst/>
          </a:prstGeom>
          <a:noFill/>
          <a:ln/>
        </p:spPr>
        <p:txBody>
          <a:bodyPr wrap="square" lIns="0" tIns="0" rIns="0" bIns="0" rtlCol="0" anchor="ctr"/>
          <a:lstStyle/>
          <a:p>
            <a:pPr marL="0" indent="0">
              <a:lnSpc>
                <a:spcPct val="106000"/>
              </a:lnSpc>
              <a:buNone/>
            </a:pPr>
            <a:r>
              <a:rPr lang="en-US" sz="1000" dirty="0">
                <a:solidFill>
                  <a:srgbClr val="46577A"/>
                </a:solidFill>
                <a:latin typeface="Aptos" pitchFamily="34" charset="0"/>
                <a:ea typeface="Aptos" pitchFamily="34" charset="-122"/>
                <a:cs typeface="Aptos" pitchFamily="34" charset="-120"/>
              </a:rPr>
              <a:t>Passenger-protection rules, data-protection obligations and market-concentration scrutiny above 60% domestic share.</a:t>
            </a:r>
            <a:endParaRPr lang="en-US" sz="1000" dirty="0"/>
          </a:p>
        </p:txBody>
      </p:sp>
      <p:sp>
        <p:nvSpPr>
          <p:cNvPr id="41" name="Shape 39"/>
          <p:cNvSpPr/>
          <p:nvPr/>
        </p:nvSpPr>
        <p:spPr>
          <a:xfrm>
            <a:off x="6291072" y="4498848"/>
            <a:ext cx="2212848" cy="530352"/>
          </a:xfrm>
          <a:prstGeom prst="rect">
            <a:avLst/>
          </a:prstGeom>
          <a:solidFill>
            <a:srgbClr val="F4F7FD"/>
          </a:solidFill>
          <a:ln/>
        </p:spPr>
      </p:sp>
      <p:sp>
        <p:nvSpPr>
          <p:cNvPr id="42" name="Text 40"/>
          <p:cNvSpPr/>
          <p:nvPr/>
        </p:nvSpPr>
        <p:spPr>
          <a:xfrm>
            <a:off x="6382512" y="4480560"/>
            <a:ext cx="2029968" cy="566928"/>
          </a:xfrm>
          <a:prstGeom prst="rect">
            <a:avLst/>
          </a:prstGeom>
          <a:noFill/>
          <a:ln/>
        </p:spPr>
        <p:txBody>
          <a:bodyPr wrap="square" lIns="0" tIns="0" rIns="0" bIns="0" rtlCol="0" anchor="ctr"/>
          <a:lstStyle/>
          <a:p>
            <a:pPr marL="0" indent="0">
              <a:lnSpc>
                <a:spcPct val="106000"/>
              </a:lnSpc>
              <a:buNone/>
            </a:pPr>
            <a:r>
              <a:rPr lang="en-US" sz="950" dirty="0">
                <a:solidFill>
                  <a:srgbClr val="041E47"/>
                </a:solidFill>
                <a:latin typeface="Aptos" pitchFamily="34" charset="0"/>
                <a:ea typeface="Aptos" pitchFamily="34" charset="-122"/>
                <a:cs typeface="Aptos" pitchFamily="34" charset="-120"/>
              </a:rPr>
              <a:t>Compliance status; regulatory commentary</a:t>
            </a:r>
            <a:endParaRPr lang="en-US" sz="950" dirty="0"/>
          </a:p>
        </p:txBody>
      </p:sp>
      <p:sp>
        <p:nvSpPr>
          <p:cNvPr id="43" name="Shape 41"/>
          <p:cNvSpPr/>
          <p:nvPr/>
        </p:nvSpPr>
        <p:spPr>
          <a:xfrm>
            <a:off x="502920" y="5102352"/>
            <a:ext cx="8503920" cy="5486"/>
          </a:xfrm>
          <a:prstGeom prst="rect">
            <a:avLst/>
          </a:prstGeom>
          <a:solidFill>
            <a:srgbClr val="C9D8F2"/>
          </a:solidFill>
          <a:ln/>
        </p:spPr>
      </p:sp>
      <p:sp>
        <p:nvSpPr>
          <p:cNvPr id="44" name="Shape 42"/>
          <p:cNvSpPr/>
          <p:nvPr/>
        </p:nvSpPr>
        <p:spPr>
          <a:xfrm>
            <a:off x="502920" y="5212080"/>
            <a:ext cx="402336" cy="402336"/>
          </a:xfrm>
          <a:prstGeom prst="rect">
            <a:avLst/>
          </a:prstGeom>
          <a:solidFill>
            <a:srgbClr val="7FA3E8"/>
          </a:solidFill>
          <a:ln/>
        </p:spPr>
      </p:sp>
      <p:sp>
        <p:nvSpPr>
          <p:cNvPr id="45" name="Text 43"/>
          <p:cNvSpPr/>
          <p:nvPr/>
        </p:nvSpPr>
        <p:spPr>
          <a:xfrm>
            <a:off x="502920" y="5212080"/>
            <a:ext cx="402336" cy="402336"/>
          </a:xfrm>
          <a:prstGeom prst="rect">
            <a:avLst/>
          </a:prstGeom>
          <a:noFill/>
          <a:ln/>
        </p:spPr>
        <p:txBody>
          <a:bodyPr wrap="square" lIns="0" tIns="0" rIns="0" bIns="0" rtlCol="0" anchor="ctr"/>
          <a:lstStyle/>
          <a:p>
            <a:pPr marL="0" indent="0" algn="ctr">
              <a:buNone/>
            </a:pPr>
            <a:r>
              <a:rPr lang="en-US" sz="1600" b="1" dirty="0">
                <a:solidFill>
                  <a:srgbClr val="041E47"/>
                </a:solidFill>
                <a:latin typeface="Aptos Display" pitchFamily="34" charset="0"/>
                <a:ea typeface="Aptos Display" pitchFamily="34" charset="-122"/>
                <a:cs typeface="Aptos Display" pitchFamily="34" charset="-120"/>
              </a:rPr>
              <a:t>E</a:t>
            </a:r>
            <a:endParaRPr lang="en-US" sz="1600" dirty="0"/>
          </a:p>
        </p:txBody>
      </p:sp>
      <p:sp>
        <p:nvSpPr>
          <p:cNvPr id="46" name="Text 44"/>
          <p:cNvSpPr/>
          <p:nvPr/>
        </p:nvSpPr>
        <p:spPr>
          <a:xfrm>
            <a:off x="1024128" y="5157216"/>
            <a:ext cx="1298448" cy="566928"/>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Environmental</a:t>
            </a:r>
            <a:endParaRPr lang="en-US" sz="1050" dirty="0"/>
          </a:p>
        </p:txBody>
      </p:sp>
      <p:sp>
        <p:nvSpPr>
          <p:cNvPr id="47" name="Text 45"/>
          <p:cNvSpPr/>
          <p:nvPr/>
        </p:nvSpPr>
        <p:spPr>
          <a:xfrm>
            <a:off x="2395728" y="5157216"/>
            <a:ext cx="3877056" cy="566928"/>
          </a:xfrm>
          <a:prstGeom prst="rect">
            <a:avLst/>
          </a:prstGeom>
          <a:noFill/>
          <a:ln/>
        </p:spPr>
        <p:txBody>
          <a:bodyPr wrap="square" lIns="0" tIns="0" rIns="0" bIns="0" rtlCol="0" anchor="ctr"/>
          <a:lstStyle/>
          <a:p>
            <a:pPr marL="0" indent="0">
              <a:lnSpc>
                <a:spcPct val="106000"/>
              </a:lnSpc>
              <a:buNone/>
            </a:pPr>
            <a:r>
              <a:rPr lang="en-US" sz="1000" dirty="0">
                <a:solidFill>
                  <a:srgbClr val="46577A"/>
                </a:solidFill>
                <a:latin typeface="Aptos" pitchFamily="34" charset="0"/>
                <a:ea typeface="Aptos" pitchFamily="34" charset="-122"/>
                <a:cs typeface="Aptos" pitchFamily="34" charset="-120"/>
              </a:rPr>
              <a:t>Emissions and fuel-efficiency requirements -&gt; fleet-technology and flight-optimisation decisions (NEO/XLR composition, AI flight optimisation).</a:t>
            </a:r>
            <a:endParaRPr lang="en-US" sz="1000" dirty="0"/>
          </a:p>
        </p:txBody>
      </p:sp>
      <p:sp>
        <p:nvSpPr>
          <p:cNvPr id="48" name="Shape 46"/>
          <p:cNvSpPr/>
          <p:nvPr/>
        </p:nvSpPr>
        <p:spPr>
          <a:xfrm>
            <a:off x="6291072" y="5175504"/>
            <a:ext cx="2212848" cy="530352"/>
          </a:xfrm>
          <a:prstGeom prst="rect">
            <a:avLst/>
          </a:prstGeom>
          <a:solidFill>
            <a:srgbClr val="F4F7FD"/>
          </a:solidFill>
          <a:ln/>
        </p:spPr>
      </p:sp>
      <p:sp>
        <p:nvSpPr>
          <p:cNvPr id="49" name="Text 47"/>
          <p:cNvSpPr/>
          <p:nvPr/>
        </p:nvSpPr>
        <p:spPr>
          <a:xfrm>
            <a:off x="6382512" y="5157216"/>
            <a:ext cx="2029968" cy="566928"/>
          </a:xfrm>
          <a:prstGeom prst="rect">
            <a:avLst/>
          </a:prstGeom>
          <a:noFill/>
          <a:ln/>
        </p:spPr>
        <p:txBody>
          <a:bodyPr wrap="square" lIns="0" tIns="0" rIns="0" bIns="0" rtlCol="0" anchor="ctr"/>
          <a:lstStyle/>
          <a:p>
            <a:pPr marL="0" indent="0">
              <a:lnSpc>
                <a:spcPct val="106000"/>
              </a:lnSpc>
              <a:buNone/>
            </a:pPr>
            <a:r>
              <a:rPr lang="en-US" sz="950" dirty="0">
                <a:solidFill>
                  <a:srgbClr val="041E47"/>
                </a:solidFill>
                <a:latin typeface="Aptos" pitchFamily="34" charset="0"/>
                <a:ea typeface="Aptos" pitchFamily="34" charset="-122"/>
                <a:cs typeface="Aptos" pitchFamily="34" charset="-120"/>
              </a:rPr>
              <a:t>Not quantified - recorded as an evidence gap</a:t>
            </a:r>
            <a:endParaRPr lang="en-US" sz="950" dirty="0"/>
          </a:p>
        </p:txBody>
      </p:sp>
      <p:sp>
        <p:nvSpPr>
          <p:cNvPr id="50" name="Shape 48"/>
          <p:cNvSpPr/>
          <p:nvPr/>
        </p:nvSpPr>
        <p:spPr>
          <a:xfrm>
            <a:off x="502920" y="5779008"/>
            <a:ext cx="8503920" cy="5486"/>
          </a:xfrm>
          <a:prstGeom prst="rect">
            <a:avLst/>
          </a:prstGeom>
          <a:solidFill>
            <a:srgbClr val="C9D8F2"/>
          </a:solidFill>
          <a:ln/>
        </p:spPr>
      </p:sp>
      <p:sp>
        <p:nvSpPr>
          <p:cNvPr id="51" name="Shape 49"/>
          <p:cNvSpPr/>
          <p:nvPr/>
        </p:nvSpPr>
        <p:spPr>
          <a:xfrm>
            <a:off x="8887968" y="1444752"/>
            <a:ext cx="5486" cy="4389120"/>
          </a:xfrm>
          <a:prstGeom prst="rect">
            <a:avLst/>
          </a:prstGeom>
          <a:solidFill>
            <a:srgbClr val="C9D8F2"/>
          </a:solidFill>
          <a:ln/>
        </p:spPr>
      </p:sp>
      <p:sp>
        <p:nvSpPr>
          <p:cNvPr id="52" name="Text 50"/>
          <p:cNvSpPr/>
          <p:nvPr/>
        </p:nvSpPr>
        <p:spPr>
          <a:xfrm>
            <a:off x="9125712" y="1444752"/>
            <a:ext cx="256032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SHOCKS PROPAGATE</a:t>
            </a:r>
            <a:endParaRPr lang="en-US" sz="1000" dirty="0"/>
          </a:p>
        </p:txBody>
      </p:sp>
      <p:sp>
        <p:nvSpPr>
          <p:cNvPr id="53" name="Shape 51"/>
          <p:cNvSpPr/>
          <p:nvPr/>
        </p:nvSpPr>
        <p:spPr>
          <a:xfrm>
            <a:off x="9418320" y="2084832"/>
            <a:ext cx="1865376" cy="1865376"/>
          </a:xfrm>
          <a:prstGeom prst="ellipse">
            <a:avLst/>
          </a:prstGeom>
          <a:ln w="15875">
            <a:solidFill>
              <a:srgbClr val="D98A00"/>
            </a:solidFill>
            <a:prstDash val="dash"/>
          </a:ln>
        </p:spPr>
      </p:sp>
      <p:sp>
        <p:nvSpPr>
          <p:cNvPr id="54" name="Shape 52"/>
          <p:cNvSpPr/>
          <p:nvPr/>
        </p:nvSpPr>
        <p:spPr>
          <a:xfrm>
            <a:off x="9875520" y="2651760"/>
            <a:ext cx="950976" cy="731520"/>
          </a:xfrm>
          <a:prstGeom prst="ellipse">
            <a:avLst/>
          </a:prstGeom>
          <a:solidFill>
            <a:srgbClr val="D98A00"/>
          </a:solidFill>
          <a:ln/>
        </p:spPr>
      </p:sp>
      <p:sp>
        <p:nvSpPr>
          <p:cNvPr id="55" name="Text 53"/>
          <p:cNvSpPr/>
          <p:nvPr/>
        </p:nvSpPr>
        <p:spPr>
          <a:xfrm>
            <a:off x="9875520" y="2651760"/>
            <a:ext cx="950976" cy="731520"/>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FUEL</a:t>
            </a:r>
            <a:endParaRPr lang="en-US" sz="950" dirty="0"/>
          </a:p>
          <a:p>
            <a:pPr marL="0" indent="0" algn="ctr">
              <a:buNone/>
            </a:pPr>
            <a:r>
              <a:rPr lang="en-US" sz="950" b="1" dirty="0">
                <a:solidFill>
                  <a:srgbClr val="FFFFFF"/>
                </a:solidFill>
                <a:latin typeface="Aptos" pitchFamily="34" charset="0"/>
                <a:ea typeface="Aptos" pitchFamily="34" charset="-122"/>
                <a:cs typeface="Aptos" pitchFamily="34" charset="-120"/>
              </a:rPr>
              <a:t>SHOCK</a:t>
            </a:r>
            <a:endParaRPr lang="en-US" sz="950" dirty="0"/>
          </a:p>
        </p:txBody>
      </p:sp>
      <p:sp>
        <p:nvSpPr>
          <p:cNvPr id="56" name="Shape 54"/>
          <p:cNvSpPr/>
          <p:nvPr/>
        </p:nvSpPr>
        <p:spPr>
          <a:xfrm>
            <a:off x="10195560" y="1929384"/>
            <a:ext cx="310896" cy="310896"/>
          </a:xfrm>
          <a:prstGeom prst="ellipse">
            <a:avLst/>
          </a:prstGeom>
          <a:solidFill>
            <a:srgbClr val="FFFFFF"/>
          </a:solidFill>
          <a:ln w="12700">
            <a:solidFill>
              <a:srgbClr val="D98A00"/>
            </a:solidFill>
            <a:prstDash val="solid"/>
          </a:ln>
        </p:spPr>
      </p:sp>
      <p:sp>
        <p:nvSpPr>
          <p:cNvPr id="57" name="Text 55"/>
          <p:cNvSpPr/>
          <p:nvPr/>
        </p:nvSpPr>
        <p:spPr>
          <a:xfrm>
            <a:off x="10195560" y="1929384"/>
            <a:ext cx="310896" cy="310896"/>
          </a:xfrm>
          <a:prstGeom prst="rect">
            <a:avLst/>
          </a:prstGeom>
          <a:noFill/>
          <a:ln/>
        </p:spPr>
        <p:txBody>
          <a:bodyPr wrap="square" lIns="0" tIns="0" rIns="0" bIns="0" rtlCol="0" anchor="ctr"/>
          <a:lstStyle/>
          <a:p>
            <a:pPr marL="0" indent="0" algn="ctr">
              <a:buNone/>
            </a:pPr>
            <a:r>
              <a:rPr lang="en-US" sz="900" b="1" dirty="0">
                <a:solidFill>
                  <a:srgbClr val="D98A00"/>
                </a:solidFill>
                <a:latin typeface="Aptos" pitchFamily="34" charset="0"/>
                <a:ea typeface="Aptos" pitchFamily="34" charset="-122"/>
                <a:cs typeface="Aptos" pitchFamily="34" charset="-120"/>
              </a:rPr>
              <a:t>P</a:t>
            </a:r>
            <a:endParaRPr lang="en-US" sz="900" dirty="0"/>
          </a:p>
        </p:txBody>
      </p:sp>
      <p:sp>
        <p:nvSpPr>
          <p:cNvPr id="58" name="Shape 56"/>
          <p:cNvSpPr/>
          <p:nvPr/>
        </p:nvSpPr>
        <p:spPr>
          <a:xfrm>
            <a:off x="11003292" y="2395728"/>
            <a:ext cx="310896" cy="310896"/>
          </a:xfrm>
          <a:prstGeom prst="ellipse">
            <a:avLst/>
          </a:prstGeom>
          <a:solidFill>
            <a:srgbClr val="FFFFFF"/>
          </a:solidFill>
          <a:ln w="12700">
            <a:solidFill>
              <a:srgbClr val="D98A00"/>
            </a:solidFill>
            <a:prstDash val="solid"/>
          </a:ln>
        </p:spPr>
      </p:sp>
      <p:sp>
        <p:nvSpPr>
          <p:cNvPr id="59" name="Text 57"/>
          <p:cNvSpPr/>
          <p:nvPr/>
        </p:nvSpPr>
        <p:spPr>
          <a:xfrm>
            <a:off x="11003292" y="2395728"/>
            <a:ext cx="310896" cy="310896"/>
          </a:xfrm>
          <a:prstGeom prst="rect">
            <a:avLst/>
          </a:prstGeom>
          <a:noFill/>
          <a:ln/>
        </p:spPr>
        <p:txBody>
          <a:bodyPr wrap="square" lIns="0" tIns="0" rIns="0" bIns="0" rtlCol="0" anchor="ctr"/>
          <a:lstStyle/>
          <a:p>
            <a:pPr marL="0" indent="0" algn="ctr">
              <a:buNone/>
            </a:pPr>
            <a:r>
              <a:rPr lang="en-US" sz="900" b="1" dirty="0">
                <a:solidFill>
                  <a:srgbClr val="D98A00"/>
                </a:solidFill>
                <a:latin typeface="Aptos" pitchFamily="34" charset="0"/>
                <a:ea typeface="Aptos" pitchFamily="34" charset="-122"/>
                <a:cs typeface="Aptos" pitchFamily="34" charset="-120"/>
              </a:rPr>
              <a:t>E</a:t>
            </a:r>
            <a:endParaRPr lang="en-US" sz="900" dirty="0"/>
          </a:p>
        </p:txBody>
      </p:sp>
      <p:sp>
        <p:nvSpPr>
          <p:cNvPr id="60" name="Shape 58"/>
          <p:cNvSpPr/>
          <p:nvPr/>
        </p:nvSpPr>
        <p:spPr>
          <a:xfrm>
            <a:off x="11003292" y="3328416"/>
            <a:ext cx="310896" cy="310896"/>
          </a:xfrm>
          <a:prstGeom prst="ellipse">
            <a:avLst/>
          </a:prstGeom>
          <a:solidFill>
            <a:srgbClr val="FFFFFF"/>
          </a:solidFill>
          <a:ln w="12700">
            <a:solidFill>
              <a:srgbClr val="D98A00"/>
            </a:solidFill>
            <a:prstDash val="solid"/>
          </a:ln>
        </p:spPr>
      </p:sp>
      <p:sp>
        <p:nvSpPr>
          <p:cNvPr id="61" name="Text 59"/>
          <p:cNvSpPr/>
          <p:nvPr/>
        </p:nvSpPr>
        <p:spPr>
          <a:xfrm>
            <a:off x="11003292" y="3328416"/>
            <a:ext cx="310896" cy="310896"/>
          </a:xfrm>
          <a:prstGeom prst="rect">
            <a:avLst/>
          </a:prstGeom>
          <a:noFill/>
          <a:ln/>
        </p:spPr>
        <p:txBody>
          <a:bodyPr wrap="square" lIns="0" tIns="0" rIns="0" bIns="0" rtlCol="0" anchor="ctr"/>
          <a:lstStyle/>
          <a:p>
            <a:pPr marL="0" indent="0" algn="ctr">
              <a:buNone/>
            </a:pPr>
            <a:r>
              <a:rPr lang="en-US" sz="900" b="1" dirty="0">
                <a:solidFill>
                  <a:srgbClr val="D98A00"/>
                </a:solidFill>
                <a:latin typeface="Aptos" pitchFamily="34" charset="0"/>
                <a:ea typeface="Aptos" pitchFamily="34" charset="-122"/>
                <a:cs typeface="Aptos" pitchFamily="34" charset="-120"/>
              </a:rPr>
              <a:t>S</a:t>
            </a:r>
            <a:endParaRPr lang="en-US" sz="900" dirty="0"/>
          </a:p>
        </p:txBody>
      </p:sp>
      <p:sp>
        <p:nvSpPr>
          <p:cNvPr id="62" name="Shape 60"/>
          <p:cNvSpPr/>
          <p:nvPr/>
        </p:nvSpPr>
        <p:spPr>
          <a:xfrm>
            <a:off x="10195560" y="3794760"/>
            <a:ext cx="310896" cy="310896"/>
          </a:xfrm>
          <a:prstGeom prst="ellipse">
            <a:avLst/>
          </a:prstGeom>
          <a:solidFill>
            <a:srgbClr val="FFFFFF"/>
          </a:solidFill>
          <a:ln w="12700">
            <a:solidFill>
              <a:srgbClr val="D98A00"/>
            </a:solidFill>
            <a:prstDash val="solid"/>
          </a:ln>
        </p:spPr>
      </p:sp>
      <p:sp>
        <p:nvSpPr>
          <p:cNvPr id="63" name="Text 61"/>
          <p:cNvSpPr/>
          <p:nvPr/>
        </p:nvSpPr>
        <p:spPr>
          <a:xfrm>
            <a:off x="10195560" y="3794760"/>
            <a:ext cx="310896" cy="310896"/>
          </a:xfrm>
          <a:prstGeom prst="rect">
            <a:avLst/>
          </a:prstGeom>
          <a:noFill/>
          <a:ln/>
        </p:spPr>
        <p:txBody>
          <a:bodyPr wrap="square" lIns="0" tIns="0" rIns="0" bIns="0" rtlCol="0" anchor="ctr"/>
          <a:lstStyle/>
          <a:p>
            <a:pPr marL="0" indent="0" algn="ctr">
              <a:buNone/>
            </a:pPr>
            <a:r>
              <a:rPr lang="en-US" sz="900" b="1" dirty="0">
                <a:solidFill>
                  <a:srgbClr val="D98A00"/>
                </a:solidFill>
                <a:latin typeface="Aptos" pitchFamily="34" charset="0"/>
                <a:ea typeface="Aptos" pitchFamily="34" charset="-122"/>
                <a:cs typeface="Aptos" pitchFamily="34" charset="-120"/>
              </a:rPr>
              <a:t>T</a:t>
            </a:r>
            <a:endParaRPr lang="en-US" sz="900" dirty="0"/>
          </a:p>
        </p:txBody>
      </p:sp>
      <p:sp>
        <p:nvSpPr>
          <p:cNvPr id="64" name="Shape 62"/>
          <p:cNvSpPr/>
          <p:nvPr/>
        </p:nvSpPr>
        <p:spPr>
          <a:xfrm>
            <a:off x="9387828" y="3328416"/>
            <a:ext cx="310896" cy="310896"/>
          </a:xfrm>
          <a:prstGeom prst="ellipse">
            <a:avLst/>
          </a:prstGeom>
          <a:solidFill>
            <a:srgbClr val="FFFFFF"/>
          </a:solidFill>
          <a:ln w="12700">
            <a:solidFill>
              <a:srgbClr val="D98A00"/>
            </a:solidFill>
            <a:prstDash val="solid"/>
          </a:ln>
        </p:spPr>
      </p:sp>
      <p:sp>
        <p:nvSpPr>
          <p:cNvPr id="65" name="Text 63"/>
          <p:cNvSpPr/>
          <p:nvPr/>
        </p:nvSpPr>
        <p:spPr>
          <a:xfrm>
            <a:off x="9387828" y="3328416"/>
            <a:ext cx="310896" cy="310896"/>
          </a:xfrm>
          <a:prstGeom prst="rect">
            <a:avLst/>
          </a:prstGeom>
          <a:noFill/>
          <a:ln/>
        </p:spPr>
        <p:txBody>
          <a:bodyPr wrap="square" lIns="0" tIns="0" rIns="0" bIns="0" rtlCol="0" anchor="ctr"/>
          <a:lstStyle/>
          <a:p>
            <a:pPr marL="0" indent="0" algn="ctr">
              <a:buNone/>
            </a:pPr>
            <a:r>
              <a:rPr lang="en-US" sz="900" b="1" dirty="0">
                <a:solidFill>
                  <a:srgbClr val="D98A00"/>
                </a:solidFill>
                <a:latin typeface="Aptos" pitchFamily="34" charset="0"/>
                <a:ea typeface="Aptos" pitchFamily="34" charset="-122"/>
                <a:cs typeface="Aptos" pitchFamily="34" charset="-120"/>
              </a:rPr>
              <a:t>L</a:t>
            </a:r>
            <a:endParaRPr lang="en-US" sz="900" dirty="0"/>
          </a:p>
        </p:txBody>
      </p:sp>
      <p:sp>
        <p:nvSpPr>
          <p:cNvPr id="66" name="Shape 64"/>
          <p:cNvSpPr/>
          <p:nvPr/>
        </p:nvSpPr>
        <p:spPr>
          <a:xfrm>
            <a:off x="9387828" y="2395728"/>
            <a:ext cx="310896" cy="310896"/>
          </a:xfrm>
          <a:prstGeom prst="ellipse">
            <a:avLst/>
          </a:prstGeom>
          <a:solidFill>
            <a:srgbClr val="FFFFFF"/>
          </a:solidFill>
          <a:ln w="12700">
            <a:solidFill>
              <a:srgbClr val="D98A00"/>
            </a:solidFill>
            <a:prstDash val="solid"/>
          </a:ln>
        </p:spPr>
      </p:sp>
      <p:sp>
        <p:nvSpPr>
          <p:cNvPr id="67" name="Text 65"/>
          <p:cNvSpPr/>
          <p:nvPr/>
        </p:nvSpPr>
        <p:spPr>
          <a:xfrm>
            <a:off x="9387828" y="2395728"/>
            <a:ext cx="310896" cy="310896"/>
          </a:xfrm>
          <a:prstGeom prst="rect">
            <a:avLst/>
          </a:prstGeom>
          <a:noFill/>
          <a:ln/>
        </p:spPr>
        <p:txBody>
          <a:bodyPr wrap="square" lIns="0" tIns="0" rIns="0" bIns="0" rtlCol="0" anchor="ctr"/>
          <a:lstStyle/>
          <a:p>
            <a:pPr marL="0" indent="0" algn="ctr">
              <a:buNone/>
            </a:pPr>
            <a:r>
              <a:rPr lang="en-US" sz="750" b="1" dirty="0">
                <a:solidFill>
                  <a:srgbClr val="D98A00"/>
                </a:solidFill>
                <a:latin typeface="Aptos" pitchFamily="34" charset="0"/>
                <a:ea typeface="Aptos" pitchFamily="34" charset="-122"/>
                <a:cs typeface="Aptos" pitchFamily="34" charset="-120"/>
              </a:rPr>
              <a:t>E</a:t>
            </a:r>
            <a:endParaRPr lang="en-US" sz="750" dirty="0"/>
          </a:p>
        </p:txBody>
      </p:sp>
      <p:sp>
        <p:nvSpPr>
          <p:cNvPr id="68" name="Text 66"/>
          <p:cNvSpPr/>
          <p:nvPr/>
        </p:nvSpPr>
        <p:spPr>
          <a:xfrm>
            <a:off x="9125712" y="4169664"/>
            <a:ext cx="2560320" cy="1188720"/>
          </a:xfrm>
          <a:prstGeom prst="rect">
            <a:avLst/>
          </a:prstGeom>
          <a:noFill/>
          <a:ln/>
        </p:spPr>
        <p:txBody>
          <a:bodyPr wrap="square" lIns="0" tIns="0" rIns="0" bIns="0" rtlCol="0" anchor="t"/>
          <a:lstStyle/>
          <a:p>
            <a:pPr marL="0" indent="0" algn="l">
              <a:lnSpc>
                <a:spcPct val="112000"/>
              </a:lnSpc>
              <a:buNone/>
            </a:pPr>
            <a:r>
              <a:rPr lang="en-US" sz="950" dirty="0">
                <a:solidFill>
                  <a:srgbClr val="46577A"/>
                </a:solidFill>
                <a:latin typeface="Aptos" pitchFamily="34" charset="0"/>
                <a:ea typeface="Aptos" pitchFamily="34" charset="-122"/>
                <a:cs typeface="Aptos" pitchFamily="34" charset="-120"/>
              </a:rPr>
              <a:t>A single fuel shock reaches all six categories at once: fuel CASK, fare-sensitive demand, the optimisation incentive, efficiency focus, policy intervention and compliance. The risk register on slide 33 reviews propagation across rows, not six independent watch lists.</a:t>
            </a:r>
            <a:endParaRPr lang="en-US" sz="950" dirty="0"/>
          </a:p>
        </p:txBody>
      </p:sp>
      <p:sp>
        <p:nvSpPr>
          <p:cNvPr id="69" name="Shape 67"/>
          <p:cNvSpPr/>
          <p:nvPr/>
        </p:nvSpPr>
        <p:spPr>
          <a:xfrm>
            <a:off x="502920" y="5870448"/>
            <a:ext cx="1344168" cy="173736"/>
          </a:xfrm>
          <a:prstGeom prst="rect">
            <a:avLst/>
          </a:prstGeom>
          <a:solidFill>
            <a:srgbClr val="FFFFFF"/>
          </a:solidFill>
          <a:ln w="9525">
            <a:solidFill>
              <a:srgbClr val="6B7280"/>
            </a:solidFill>
            <a:prstDash val="dash"/>
          </a:ln>
        </p:spPr>
      </p:sp>
      <p:sp>
        <p:nvSpPr>
          <p:cNvPr id="70" name="Text 68"/>
          <p:cNvSpPr/>
          <p:nvPr/>
        </p:nvSpPr>
        <p:spPr>
          <a:xfrm>
            <a:off x="502920" y="5870448"/>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71" name="Text 69"/>
          <p:cNvSpPr/>
          <p:nvPr/>
        </p:nvSpPr>
        <p:spPr>
          <a:xfrm>
            <a:off x="1938528" y="5879592"/>
            <a:ext cx="7068312" cy="329184"/>
          </a:xfrm>
          <a:prstGeom prst="rect">
            <a:avLst/>
          </a:prstGeom>
          <a:noFill/>
          <a:ln/>
        </p:spPr>
        <p:txBody>
          <a:bodyPr wrap="square" lIns="0" tIns="0" rIns="0" bIns="0" rtlCol="0" anchor="t"/>
          <a:lstStyle/>
          <a:p>
            <a:r>
              <a:rPr lang="en-IN" sz="900" b="1" dirty="0"/>
              <a:t>Evidence gap: environmental compliance cost and fleet-transition timeline are not quantified.</a:t>
            </a:r>
            <a:endParaRPr lang="en-US" sz="900" b="1" dirty="0"/>
          </a:p>
        </p:txBody>
      </p:sp>
      <p:sp>
        <p:nvSpPr>
          <p:cNvPr id="72" name="Shape 70"/>
          <p:cNvSpPr/>
          <p:nvPr/>
        </p:nvSpPr>
        <p:spPr>
          <a:xfrm>
            <a:off x="502920" y="6309360"/>
            <a:ext cx="11185855" cy="5486"/>
          </a:xfrm>
          <a:prstGeom prst="rect">
            <a:avLst/>
          </a:prstGeom>
          <a:solidFill>
            <a:srgbClr val="C9D8F2"/>
          </a:solidFill>
          <a:ln/>
        </p:spPr>
      </p:sp>
      <p:sp>
        <p:nvSpPr>
          <p:cNvPr id="73" name="Text 71"/>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74" name="Text 72"/>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08_External_Environment_Risk_Evidence - PESTLE / Macro / Regulation / Risk - 05_Market_Competition_Evidence_Industry</a:t>
            </a:r>
            <a:endParaRPr lang="en-US" sz="800" dirty="0"/>
          </a:p>
        </p:txBody>
      </p:sp>
      <p:sp>
        <p:nvSpPr>
          <p:cNvPr id="75" name="Shape 73"/>
          <p:cNvSpPr/>
          <p:nvPr/>
        </p:nvSpPr>
        <p:spPr>
          <a:xfrm>
            <a:off x="11484864" y="6364224"/>
            <a:ext cx="201168" cy="201168"/>
          </a:xfrm>
          <a:prstGeom prst="rect">
            <a:avLst/>
          </a:prstGeom>
          <a:solidFill>
            <a:srgbClr val="0032A0"/>
          </a:solidFill>
          <a:ln/>
        </p:spPr>
      </p:sp>
      <p:sp>
        <p:nvSpPr>
          <p:cNvPr id="76" name="Text 74"/>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08 - WHERE THE LEVERS LIVE</a:t>
            </a:r>
            <a:endParaRPr lang="en-US" sz="1000" dirty="0"/>
          </a:p>
        </p:txBody>
      </p:sp>
      <p:sp>
        <p:nvSpPr>
          <p:cNvPr id="3" name="Shape 1"/>
          <p:cNvSpPr/>
          <p:nvPr/>
        </p:nvSpPr>
        <p:spPr>
          <a:xfrm>
            <a:off x="502920" y="571500"/>
            <a:ext cx="1671568" cy="45719"/>
          </a:xfrm>
          <a:prstGeom prst="rect">
            <a:avLst/>
          </a:prstGeom>
          <a:solidFill>
            <a:srgbClr val="0032A0"/>
          </a:solidFill>
          <a:ln/>
        </p:spPr>
      </p:sp>
      <p:sp>
        <p:nvSpPr>
          <p:cNvPr id="4" name="Text 2"/>
          <p:cNvSpPr/>
          <p:nvPr/>
        </p:nvSpPr>
        <p:spPr>
          <a:xfrm>
            <a:off x="521877" y="685800"/>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Six branches converge on one problem - and only two of them are actionable today</a:t>
            </a:r>
            <a:endParaRPr lang="en-US" sz="2250" dirty="0"/>
          </a:p>
        </p:txBody>
      </p:sp>
      <p:sp>
        <p:nvSpPr>
          <p:cNvPr id="5" name="Shape 3"/>
          <p:cNvSpPr/>
          <p:nvPr/>
        </p:nvSpPr>
        <p:spPr>
          <a:xfrm>
            <a:off x="502920" y="2377440"/>
            <a:ext cx="2103120" cy="1883664"/>
          </a:xfrm>
          <a:prstGeom prst="rect">
            <a:avLst/>
          </a:prstGeom>
          <a:solidFill>
            <a:srgbClr val="041E47"/>
          </a:solidFill>
          <a:ln/>
        </p:spPr>
      </p:sp>
      <p:sp>
        <p:nvSpPr>
          <p:cNvPr id="6" name="Text 4"/>
          <p:cNvSpPr/>
          <p:nvPr/>
        </p:nvSpPr>
        <p:spPr>
          <a:xfrm>
            <a:off x="630936" y="2377440"/>
            <a:ext cx="1847088" cy="1883664"/>
          </a:xfrm>
          <a:prstGeom prst="rect">
            <a:avLst/>
          </a:prstGeom>
          <a:noFill/>
          <a:ln/>
        </p:spPr>
        <p:txBody>
          <a:bodyPr wrap="square" lIns="0" tIns="0" rIns="0" bIns="0" rtlCol="0" anchor="ctr"/>
          <a:lstStyle/>
          <a:p>
            <a:pPr marL="0" indent="0" algn="ctr">
              <a:lnSpc>
                <a:spcPct val="110000"/>
              </a:lnSpc>
              <a:buNone/>
            </a:pPr>
            <a:r>
              <a:rPr lang="en-US" sz="1250" b="1" dirty="0">
                <a:solidFill>
                  <a:srgbClr val="FFFFFF"/>
                </a:solidFill>
                <a:latin typeface="Aptos Display" pitchFamily="34" charset="0"/>
                <a:ea typeface="Aptos Display" pitchFamily="34" charset="-122"/>
                <a:cs typeface="Aptos Display" pitchFamily="34" charset="-120"/>
              </a:rPr>
              <a:t>UNIT-ECONOMIC</a:t>
            </a:r>
            <a:endParaRPr lang="en-US" sz="1250" dirty="0"/>
          </a:p>
          <a:p>
            <a:pPr marL="0" indent="0" algn="ctr">
              <a:lnSpc>
                <a:spcPct val="110000"/>
              </a:lnSpc>
              <a:buNone/>
            </a:pPr>
            <a:r>
              <a:rPr lang="en-US" sz="1250" b="1" dirty="0">
                <a:solidFill>
                  <a:srgbClr val="FFFFFF"/>
                </a:solidFill>
                <a:latin typeface="Aptos Display" pitchFamily="34" charset="0"/>
                <a:ea typeface="Aptos Display" pitchFamily="34" charset="-122"/>
                <a:cs typeface="Aptos Display" pitchFamily="34" charset="-120"/>
              </a:rPr>
              <a:t>COMPRESSION</a:t>
            </a:r>
            <a:endParaRPr lang="en-US" sz="1250" dirty="0"/>
          </a:p>
          <a:p>
            <a:pPr marL="0" indent="0" algn="ctr">
              <a:lnSpc>
                <a:spcPct val="110000"/>
              </a:lnSpc>
              <a:buNone/>
            </a:pPr>
            <a:r>
              <a:rPr lang="en-US" sz="1250" b="1" dirty="0">
                <a:solidFill>
                  <a:srgbClr val="FFFFFF"/>
                </a:solidFill>
                <a:latin typeface="Aptos Display" pitchFamily="34" charset="0"/>
                <a:ea typeface="Aptos Display" pitchFamily="34" charset="-122"/>
                <a:cs typeface="Aptos Display" pitchFamily="34" charset="-120"/>
              </a:rPr>
              <a:t>DURING CONTINUED</a:t>
            </a:r>
            <a:endParaRPr lang="en-US" sz="1250" dirty="0"/>
          </a:p>
          <a:p>
            <a:pPr marL="0" indent="0" algn="ctr">
              <a:lnSpc>
                <a:spcPct val="110000"/>
              </a:lnSpc>
              <a:buNone/>
            </a:pPr>
            <a:r>
              <a:rPr lang="en-US" sz="1250" b="1" dirty="0">
                <a:solidFill>
                  <a:srgbClr val="FFFFFF"/>
                </a:solidFill>
                <a:latin typeface="Aptos Display" pitchFamily="34" charset="0"/>
                <a:ea typeface="Aptos Display" pitchFamily="34" charset="-122"/>
                <a:cs typeface="Aptos Display" pitchFamily="34" charset="-120"/>
              </a:rPr>
              <a:t>SCALE EXPANSION</a:t>
            </a:r>
            <a:endParaRPr lang="en-US" sz="1250" dirty="0"/>
          </a:p>
        </p:txBody>
      </p:sp>
      <p:sp>
        <p:nvSpPr>
          <p:cNvPr id="7" name="Text 5"/>
          <p:cNvSpPr/>
          <p:nvPr/>
        </p:nvSpPr>
        <p:spPr>
          <a:xfrm>
            <a:off x="3017520" y="1481328"/>
            <a:ext cx="1828800" cy="201168"/>
          </a:xfrm>
          <a:prstGeom prst="rect">
            <a:avLst/>
          </a:prstGeom>
          <a:noFill/>
          <a:ln/>
        </p:spPr>
        <p:txBody>
          <a:bodyPr wrap="square" lIns="0" tIns="0" rIns="0" bIns="0" rtlCol="0" anchor="ctr"/>
          <a:lstStyle/>
          <a:p>
            <a:pPr marL="0" indent="0" algn="l">
              <a:buNone/>
            </a:pPr>
            <a:r>
              <a:rPr lang="en-US" sz="850" b="1" kern="0" spc="110" dirty="0">
                <a:solidFill>
                  <a:srgbClr val="46577A"/>
                </a:solidFill>
                <a:latin typeface="Aptos" pitchFamily="34" charset="0"/>
                <a:ea typeface="Aptos" pitchFamily="34" charset="-122"/>
                <a:cs typeface="Aptos" pitchFamily="34" charset="-120"/>
              </a:rPr>
              <a:t>BRANCH</a:t>
            </a:r>
            <a:endParaRPr lang="en-US" sz="850" dirty="0"/>
          </a:p>
        </p:txBody>
      </p:sp>
      <p:sp>
        <p:nvSpPr>
          <p:cNvPr id="8" name="Text 6"/>
          <p:cNvSpPr/>
          <p:nvPr/>
        </p:nvSpPr>
        <p:spPr>
          <a:xfrm>
            <a:off x="4956048" y="1481328"/>
            <a:ext cx="3657600" cy="201168"/>
          </a:xfrm>
          <a:prstGeom prst="rect">
            <a:avLst/>
          </a:prstGeom>
          <a:noFill/>
          <a:ln/>
        </p:spPr>
        <p:txBody>
          <a:bodyPr wrap="square" lIns="0" tIns="0" rIns="0" bIns="0" rtlCol="0" anchor="ctr"/>
          <a:lstStyle/>
          <a:p>
            <a:pPr marL="0" indent="0" algn="l">
              <a:buNone/>
            </a:pPr>
            <a:r>
              <a:rPr lang="en-US" sz="850" b="1" kern="0" spc="110" dirty="0">
                <a:solidFill>
                  <a:srgbClr val="46577A"/>
                </a:solidFill>
                <a:latin typeface="Aptos" pitchFamily="34" charset="0"/>
                <a:ea typeface="Aptos" pitchFamily="34" charset="-122"/>
                <a:cs typeface="Aptos" pitchFamily="34" charset="-120"/>
              </a:rPr>
              <a:t>FY2026 EVIDENCE</a:t>
            </a:r>
            <a:endParaRPr lang="en-US" sz="850" dirty="0"/>
          </a:p>
        </p:txBody>
      </p:sp>
      <p:sp>
        <p:nvSpPr>
          <p:cNvPr id="9" name="Text 7"/>
          <p:cNvSpPr/>
          <p:nvPr/>
        </p:nvSpPr>
        <p:spPr>
          <a:xfrm>
            <a:off x="10149840" y="1481328"/>
            <a:ext cx="1737360" cy="201168"/>
          </a:xfrm>
          <a:prstGeom prst="rect">
            <a:avLst/>
          </a:prstGeom>
          <a:noFill/>
          <a:ln/>
        </p:spPr>
        <p:txBody>
          <a:bodyPr wrap="square" lIns="0" tIns="0" rIns="0" bIns="0" rtlCol="0" anchor="ctr"/>
          <a:lstStyle/>
          <a:p>
            <a:pPr marL="0" indent="0" algn="l">
              <a:buNone/>
            </a:pPr>
            <a:r>
              <a:rPr lang="en-US" sz="850" b="1" kern="0" spc="110" dirty="0">
                <a:solidFill>
                  <a:srgbClr val="46577A"/>
                </a:solidFill>
                <a:latin typeface="Aptos" pitchFamily="34" charset="0"/>
                <a:ea typeface="Aptos" pitchFamily="34" charset="-122"/>
                <a:cs typeface="Aptos" pitchFamily="34" charset="-120"/>
              </a:rPr>
              <a:t>ACTION STATE</a:t>
            </a:r>
            <a:endParaRPr lang="en-US" sz="850" dirty="0"/>
          </a:p>
        </p:txBody>
      </p:sp>
      <p:sp>
        <p:nvSpPr>
          <p:cNvPr id="10" name="Shape 8"/>
          <p:cNvSpPr/>
          <p:nvPr/>
        </p:nvSpPr>
        <p:spPr>
          <a:xfrm>
            <a:off x="3017520" y="1682496"/>
            <a:ext cx="8668512" cy="5486"/>
          </a:xfrm>
          <a:prstGeom prst="rect">
            <a:avLst/>
          </a:prstGeom>
          <a:solidFill>
            <a:srgbClr val="C9D8F2"/>
          </a:solidFill>
          <a:ln/>
        </p:spPr>
      </p:sp>
      <p:sp>
        <p:nvSpPr>
          <p:cNvPr id="11" name="Shape 9"/>
          <p:cNvSpPr/>
          <p:nvPr/>
        </p:nvSpPr>
        <p:spPr>
          <a:xfrm>
            <a:off x="2761488" y="2048256"/>
            <a:ext cx="12802" cy="3675888"/>
          </a:xfrm>
          <a:prstGeom prst="rect">
            <a:avLst/>
          </a:prstGeom>
          <a:solidFill>
            <a:srgbClr val="2F6BD8"/>
          </a:solidFill>
          <a:ln/>
        </p:spPr>
      </p:sp>
      <p:sp>
        <p:nvSpPr>
          <p:cNvPr id="12" name="Shape 10"/>
          <p:cNvSpPr/>
          <p:nvPr/>
        </p:nvSpPr>
        <p:spPr>
          <a:xfrm>
            <a:off x="2606040" y="3310128"/>
            <a:ext cx="155448" cy="12802"/>
          </a:xfrm>
          <a:prstGeom prst="rect">
            <a:avLst/>
          </a:prstGeom>
          <a:solidFill>
            <a:srgbClr val="2F6BD8"/>
          </a:solidFill>
          <a:ln/>
        </p:spPr>
      </p:sp>
      <p:sp>
        <p:nvSpPr>
          <p:cNvPr id="13" name="Shape 11"/>
          <p:cNvSpPr/>
          <p:nvPr/>
        </p:nvSpPr>
        <p:spPr>
          <a:xfrm>
            <a:off x="2761488" y="2048256"/>
            <a:ext cx="192024" cy="12802"/>
          </a:xfrm>
          <a:prstGeom prst="rect">
            <a:avLst/>
          </a:prstGeom>
          <a:solidFill>
            <a:srgbClr val="2F6BD8"/>
          </a:solidFill>
          <a:ln/>
        </p:spPr>
      </p:sp>
      <p:sp>
        <p:nvSpPr>
          <p:cNvPr id="14" name="Shape 12"/>
          <p:cNvSpPr/>
          <p:nvPr/>
        </p:nvSpPr>
        <p:spPr>
          <a:xfrm>
            <a:off x="2615184" y="1947672"/>
            <a:ext cx="274320" cy="274320"/>
          </a:xfrm>
          <a:prstGeom prst="ellipse">
            <a:avLst/>
          </a:prstGeom>
          <a:solidFill>
            <a:srgbClr val="DCE7FA"/>
          </a:solidFill>
          <a:ln/>
        </p:spPr>
      </p:sp>
      <p:sp>
        <p:nvSpPr>
          <p:cNvPr id="15" name="Text 13"/>
          <p:cNvSpPr/>
          <p:nvPr/>
        </p:nvSpPr>
        <p:spPr>
          <a:xfrm>
            <a:off x="2615184" y="1947672"/>
            <a:ext cx="274320" cy="274320"/>
          </a:xfrm>
          <a:prstGeom prst="rect">
            <a:avLst/>
          </a:prstGeom>
          <a:noFill/>
          <a:ln/>
        </p:spPr>
        <p:txBody>
          <a:bodyPr wrap="square" lIns="0" tIns="0" rIns="0" bIns="0" rtlCol="0" anchor="ctr"/>
          <a:lstStyle/>
          <a:p>
            <a:pPr marL="0" indent="0" algn="ctr">
              <a:buNone/>
            </a:pPr>
            <a:r>
              <a:rPr lang="en-US" sz="950" b="1" dirty="0">
                <a:solidFill>
                  <a:srgbClr val="0032A0"/>
                </a:solidFill>
                <a:latin typeface="Aptos" pitchFamily="34" charset="0"/>
                <a:ea typeface="Aptos" pitchFamily="34" charset="-122"/>
                <a:cs typeface="Aptos" pitchFamily="34" charset="-120"/>
              </a:rPr>
              <a:t>1</a:t>
            </a:r>
            <a:endParaRPr lang="en-US" sz="950" dirty="0"/>
          </a:p>
        </p:txBody>
      </p:sp>
      <p:sp>
        <p:nvSpPr>
          <p:cNvPr id="16" name="Text 14"/>
          <p:cNvSpPr/>
          <p:nvPr/>
        </p:nvSpPr>
        <p:spPr>
          <a:xfrm>
            <a:off x="3017520" y="1773936"/>
            <a:ext cx="1847088" cy="566928"/>
          </a:xfrm>
          <a:prstGeom prst="rect">
            <a:avLst/>
          </a:prstGeom>
          <a:noFill/>
          <a:ln/>
        </p:spPr>
        <p:txBody>
          <a:bodyPr wrap="square" lIns="0" tIns="0" rIns="0" bIns="0" rtlCol="0" anchor="ctr"/>
          <a:lstStyle/>
          <a:p>
            <a:pPr marL="0" indent="0">
              <a:buNone/>
            </a:pPr>
            <a:r>
              <a:rPr lang="en-US" sz="1100" b="1" dirty="0">
                <a:solidFill>
                  <a:srgbClr val="041E47"/>
                </a:solidFill>
                <a:latin typeface="Aptos" pitchFamily="34" charset="0"/>
                <a:ea typeface="Aptos" pitchFamily="34" charset="-122"/>
                <a:cs typeface="Aptos" pitchFamily="34" charset="-120"/>
              </a:rPr>
              <a:t>Capacity / demand</a:t>
            </a:r>
            <a:endParaRPr lang="en-US" sz="1100" dirty="0"/>
          </a:p>
        </p:txBody>
      </p:sp>
      <p:sp>
        <p:nvSpPr>
          <p:cNvPr id="17" name="Text 15"/>
          <p:cNvSpPr/>
          <p:nvPr/>
        </p:nvSpPr>
        <p:spPr>
          <a:xfrm>
            <a:off x="4956048" y="1773936"/>
            <a:ext cx="5029200" cy="566928"/>
          </a:xfrm>
          <a:prstGeom prst="rect">
            <a:avLst/>
          </a:prstGeom>
          <a:noFill/>
          <a:ln/>
        </p:spPr>
        <p:txBody>
          <a:bodyPr wrap="square" lIns="0" tIns="0" rIns="0" bIns="0" rtlCol="0" anchor="ctr"/>
          <a:lstStyle/>
          <a:p>
            <a:pPr marL="0" indent="0">
              <a:lnSpc>
                <a:spcPct val="106000"/>
              </a:lnSpc>
              <a:buNone/>
            </a:pPr>
            <a:r>
              <a:rPr lang="en-US" sz="1000" dirty="0">
                <a:solidFill>
                  <a:srgbClr val="46577A"/>
                </a:solidFill>
                <a:latin typeface="Aptos" pitchFamily="34" charset="0"/>
                <a:ea typeface="Aptos" pitchFamily="34" charset="-122"/>
                <a:cs typeface="Aptos" pitchFamily="34" charset="-120"/>
              </a:rPr>
              <a:t>ASK +9.5% vs passengers +4.0%, RPK +7.5%; load factor -1.6 pp to 84.4%</a:t>
            </a:r>
            <a:endParaRPr lang="en-US" sz="1000" dirty="0"/>
          </a:p>
        </p:txBody>
      </p:sp>
      <p:sp>
        <p:nvSpPr>
          <p:cNvPr id="18" name="Shape 16"/>
          <p:cNvSpPr/>
          <p:nvPr/>
        </p:nvSpPr>
        <p:spPr>
          <a:xfrm>
            <a:off x="10149840" y="1874520"/>
            <a:ext cx="1536192" cy="365760"/>
          </a:xfrm>
          <a:prstGeom prst="rect">
            <a:avLst/>
          </a:prstGeom>
          <a:solidFill>
            <a:srgbClr val="FFFFFF"/>
          </a:solidFill>
          <a:ln w="12700">
            <a:solidFill>
              <a:srgbClr val="D98A00"/>
            </a:solidFill>
            <a:prstDash val="solid"/>
          </a:ln>
        </p:spPr>
      </p:sp>
      <p:sp>
        <p:nvSpPr>
          <p:cNvPr id="19" name="Text 17"/>
          <p:cNvSpPr/>
          <p:nvPr/>
        </p:nvSpPr>
        <p:spPr>
          <a:xfrm>
            <a:off x="10149840" y="1874520"/>
            <a:ext cx="1536192" cy="365760"/>
          </a:xfrm>
          <a:prstGeom prst="rect">
            <a:avLst/>
          </a:prstGeom>
          <a:noFill/>
          <a:ln/>
        </p:spPr>
        <p:txBody>
          <a:bodyPr wrap="square" lIns="0" tIns="0" rIns="0" bIns="0" rtlCol="0" anchor="ctr"/>
          <a:lstStyle/>
          <a:p>
            <a:pPr marL="0" indent="0" algn="ctr">
              <a:buNone/>
            </a:pPr>
            <a:r>
              <a:rPr lang="en-US" sz="900" b="1" dirty="0">
                <a:solidFill>
                  <a:srgbClr val="D98A00"/>
                </a:solidFill>
                <a:latin typeface="Aptos" pitchFamily="34" charset="0"/>
                <a:ea typeface="Aptos" pitchFamily="34" charset="-122"/>
                <a:cs typeface="Aptos" pitchFamily="34" charset="-120"/>
              </a:rPr>
              <a:t>MONITOR</a:t>
            </a:r>
            <a:endParaRPr lang="en-US" sz="900" dirty="0"/>
          </a:p>
        </p:txBody>
      </p:sp>
      <p:sp>
        <p:nvSpPr>
          <p:cNvPr id="20" name="Shape 18"/>
          <p:cNvSpPr/>
          <p:nvPr/>
        </p:nvSpPr>
        <p:spPr>
          <a:xfrm>
            <a:off x="3017520" y="2377440"/>
            <a:ext cx="8668512" cy="5486"/>
          </a:xfrm>
          <a:prstGeom prst="rect">
            <a:avLst/>
          </a:prstGeom>
          <a:solidFill>
            <a:srgbClr val="C9D8F2"/>
          </a:solidFill>
          <a:ln/>
        </p:spPr>
      </p:sp>
      <p:sp>
        <p:nvSpPr>
          <p:cNvPr id="21" name="Shape 19"/>
          <p:cNvSpPr/>
          <p:nvPr/>
        </p:nvSpPr>
        <p:spPr>
          <a:xfrm>
            <a:off x="2761488" y="2706624"/>
            <a:ext cx="192024" cy="12802"/>
          </a:xfrm>
          <a:prstGeom prst="rect">
            <a:avLst/>
          </a:prstGeom>
          <a:solidFill>
            <a:srgbClr val="2F6BD8"/>
          </a:solidFill>
          <a:ln/>
        </p:spPr>
      </p:sp>
      <p:sp>
        <p:nvSpPr>
          <p:cNvPr id="22" name="Shape 20"/>
          <p:cNvSpPr/>
          <p:nvPr/>
        </p:nvSpPr>
        <p:spPr>
          <a:xfrm>
            <a:off x="2615184" y="2606040"/>
            <a:ext cx="274320" cy="274320"/>
          </a:xfrm>
          <a:prstGeom prst="ellipse">
            <a:avLst/>
          </a:prstGeom>
          <a:solidFill>
            <a:srgbClr val="DCE7FA"/>
          </a:solidFill>
          <a:ln/>
        </p:spPr>
      </p:sp>
      <p:sp>
        <p:nvSpPr>
          <p:cNvPr id="23" name="Text 21"/>
          <p:cNvSpPr/>
          <p:nvPr/>
        </p:nvSpPr>
        <p:spPr>
          <a:xfrm>
            <a:off x="2615184" y="2606040"/>
            <a:ext cx="274320" cy="274320"/>
          </a:xfrm>
          <a:prstGeom prst="rect">
            <a:avLst/>
          </a:prstGeom>
          <a:noFill/>
          <a:ln/>
        </p:spPr>
        <p:txBody>
          <a:bodyPr wrap="square" lIns="0" tIns="0" rIns="0" bIns="0" rtlCol="0" anchor="ctr"/>
          <a:lstStyle/>
          <a:p>
            <a:pPr marL="0" indent="0" algn="ctr">
              <a:buNone/>
            </a:pPr>
            <a:r>
              <a:rPr lang="en-US" sz="950" b="1" dirty="0">
                <a:solidFill>
                  <a:srgbClr val="0032A0"/>
                </a:solidFill>
                <a:latin typeface="Aptos" pitchFamily="34" charset="0"/>
                <a:ea typeface="Aptos" pitchFamily="34" charset="-122"/>
                <a:cs typeface="Aptos" pitchFamily="34" charset="-120"/>
              </a:rPr>
              <a:t>2</a:t>
            </a:r>
            <a:endParaRPr lang="en-US" sz="950" dirty="0"/>
          </a:p>
        </p:txBody>
      </p:sp>
      <p:sp>
        <p:nvSpPr>
          <p:cNvPr id="24" name="Text 22"/>
          <p:cNvSpPr/>
          <p:nvPr/>
        </p:nvSpPr>
        <p:spPr>
          <a:xfrm>
            <a:off x="3017520" y="2432304"/>
            <a:ext cx="1847088" cy="566928"/>
          </a:xfrm>
          <a:prstGeom prst="rect">
            <a:avLst/>
          </a:prstGeom>
          <a:noFill/>
          <a:ln/>
        </p:spPr>
        <p:txBody>
          <a:bodyPr wrap="square" lIns="0" tIns="0" rIns="0" bIns="0" rtlCol="0" anchor="ctr"/>
          <a:lstStyle/>
          <a:p>
            <a:pPr marL="0" indent="0">
              <a:buNone/>
            </a:pPr>
            <a:r>
              <a:rPr lang="en-US" sz="1100" b="1" dirty="0">
                <a:solidFill>
                  <a:srgbClr val="041E47"/>
                </a:solidFill>
                <a:latin typeface="Aptos" pitchFamily="34" charset="0"/>
                <a:ea typeface="Aptos" pitchFamily="34" charset="-122"/>
                <a:cs typeface="Aptos" pitchFamily="34" charset="-120"/>
              </a:rPr>
              <a:t>Revenue productivity</a:t>
            </a:r>
            <a:endParaRPr lang="en-US" sz="1100" dirty="0"/>
          </a:p>
        </p:txBody>
      </p:sp>
      <p:sp>
        <p:nvSpPr>
          <p:cNvPr id="25" name="Text 23"/>
          <p:cNvSpPr/>
          <p:nvPr/>
        </p:nvSpPr>
        <p:spPr>
          <a:xfrm>
            <a:off x="4956048" y="2432304"/>
            <a:ext cx="5029200" cy="566928"/>
          </a:xfrm>
          <a:prstGeom prst="rect">
            <a:avLst/>
          </a:prstGeom>
          <a:noFill/>
          <a:ln/>
        </p:spPr>
        <p:txBody>
          <a:bodyPr wrap="square" lIns="0" tIns="0" rIns="0" bIns="0" rtlCol="0" anchor="ctr"/>
          <a:lstStyle/>
          <a:p>
            <a:pPr marL="0" indent="0">
              <a:lnSpc>
                <a:spcPct val="106000"/>
              </a:lnSpc>
              <a:buNone/>
            </a:pPr>
            <a:r>
              <a:rPr lang="en-US" sz="1000" dirty="0">
                <a:solidFill>
                  <a:srgbClr val="46577A"/>
                </a:solidFill>
                <a:latin typeface="Aptos" pitchFamily="34" charset="0"/>
                <a:ea typeface="Aptos" pitchFamily="34" charset="-122"/>
                <a:cs typeface="Aptos" pitchFamily="34" charset="-120"/>
              </a:rPr>
              <a:t>Yield -1.7% to Rs. 5.06/RPK; RASK -3.0% to Rs. 4.99/ASK</a:t>
            </a:r>
            <a:endParaRPr lang="en-US" sz="1000" dirty="0"/>
          </a:p>
        </p:txBody>
      </p:sp>
      <p:sp>
        <p:nvSpPr>
          <p:cNvPr id="26" name="Shape 24"/>
          <p:cNvSpPr/>
          <p:nvPr/>
        </p:nvSpPr>
        <p:spPr>
          <a:xfrm>
            <a:off x="10149840" y="2532888"/>
            <a:ext cx="1536192" cy="365760"/>
          </a:xfrm>
          <a:prstGeom prst="rect">
            <a:avLst/>
          </a:prstGeom>
          <a:solidFill>
            <a:srgbClr val="0032A0"/>
          </a:solidFill>
          <a:ln/>
        </p:spPr>
      </p:sp>
      <p:sp>
        <p:nvSpPr>
          <p:cNvPr id="27" name="Text 25"/>
          <p:cNvSpPr/>
          <p:nvPr/>
        </p:nvSpPr>
        <p:spPr>
          <a:xfrm>
            <a:off x="10149840" y="2532888"/>
            <a:ext cx="1536192"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ACT NOW</a:t>
            </a:r>
            <a:endParaRPr lang="en-US" sz="900" dirty="0"/>
          </a:p>
        </p:txBody>
      </p:sp>
      <p:sp>
        <p:nvSpPr>
          <p:cNvPr id="28" name="Shape 26"/>
          <p:cNvSpPr/>
          <p:nvPr/>
        </p:nvSpPr>
        <p:spPr>
          <a:xfrm>
            <a:off x="3017520" y="3035808"/>
            <a:ext cx="8668512" cy="5486"/>
          </a:xfrm>
          <a:prstGeom prst="rect">
            <a:avLst/>
          </a:prstGeom>
          <a:solidFill>
            <a:srgbClr val="C9D8F2"/>
          </a:solidFill>
          <a:ln/>
        </p:spPr>
      </p:sp>
      <p:sp>
        <p:nvSpPr>
          <p:cNvPr id="29" name="Shape 27"/>
          <p:cNvSpPr/>
          <p:nvPr/>
        </p:nvSpPr>
        <p:spPr>
          <a:xfrm>
            <a:off x="2761488" y="3364992"/>
            <a:ext cx="192024" cy="12802"/>
          </a:xfrm>
          <a:prstGeom prst="rect">
            <a:avLst/>
          </a:prstGeom>
          <a:solidFill>
            <a:srgbClr val="2F6BD8"/>
          </a:solidFill>
          <a:ln/>
        </p:spPr>
      </p:sp>
      <p:sp>
        <p:nvSpPr>
          <p:cNvPr id="30" name="Shape 28"/>
          <p:cNvSpPr/>
          <p:nvPr/>
        </p:nvSpPr>
        <p:spPr>
          <a:xfrm>
            <a:off x="2615184" y="3264408"/>
            <a:ext cx="274320" cy="274320"/>
          </a:xfrm>
          <a:prstGeom prst="ellipse">
            <a:avLst/>
          </a:prstGeom>
          <a:solidFill>
            <a:srgbClr val="DCE7FA"/>
          </a:solidFill>
          <a:ln/>
        </p:spPr>
      </p:sp>
      <p:sp>
        <p:nvSpPr>
          <p:cNvPr id="31" name="Text 29"/>
          <p:cNvSpPr/>
          <p:nvPr/>
        </p:nvSpPr>
        <p:spPr>
          <a:xfrm>
            <a:off x="2615184" y="3264408"/>
            <a:ext cx="274320" cy="274320"/>
          </a:xfrm>
          <a:prstGeom prst="rect">
            <a:avLst/>
          </a:prstGeom>
          <a:noFill/>
          <a:ln/>
        </p:spPr>
        <p:txBody>
          <a:bodyPr wrap="square" lIns="0" tIns="0" rIns="0" bIns="0" rtlCol="0" anchor="ctr"/>
          <a:lstStyle/>
          <a:p>
            <a:pPr marL="0" indent="0" algn="ctr">
              <a:buNone/>
            </a:pPr>
            <a:r>
              <a:rPr lang="en-US" sz="950" b="1" dirty="0">
                <a:solidFill>
                  <a:srgbClr val="0032A0"/>
                </a:solidFill>
                <a:latin typeface="Aptos" pitchFamily="34" charset="0"/>
                <a:ea typeface="Aptos" pitchFamily="34" charset="-122"/>
                <a:cs typeface="Aptos" pitchFamily="34" charset="-120"/>
              </a:rPr>
              <a:t>3</a:t>
            </a:r>
            <a:endParaRPr lang="en-US" sz="950" dirty="0"/>
          </a:p>
        </p:txBody>
      </p:sp>
      <p:sp>
        <p:nvSpPr>
          <p:cNvPr id="32" name="Text 30"/>
          <p:cNvSpPr/>
          <p:nvPr/>
        </p:nvSpPr>
        <p:spPr>
          <a:xfrm>
            <a:off x="3017520" y="3090672"/>
            <a:ext cx="1847088" cy="566928"/>
          </a:xfrm>
          <a:prstGeom prst="rect">
            <a:avLst/>
          </a:prstGeom>
          <a:noFill/>
          <a:ln/>
        </p:spPr>
        <p:txBody>
          <a:bodyPr wrap="square" lIns="0" tIns="0" rIns="0" bIns="0" rtlCol="0" anchor="ctr"/>
          <a:lstStyle/>
          <a:p>
            <a:pPr marL="0" indent="0">
              <a:buNone/>
            </a:pPr>
            <a:r>
              <a:rPr lang="en-US" sz="1100" b="1" dirty="0">
                <a:solidFill>
                  <a:srgbClr val="041E47"/>
                </a:solidFill>
                <a:latin typeface="Aptos" pitchFamily="34" charset="0"/>
                <a:ea typeface="Aptos" pitchFamily="34" charset="-122"/>
                <a:cs typeface="Aptos" pitchFamily="34" charset="-120"/>
              </a:rPr>
              <a:t>Cost productivity</a:t>
            </a:r>
            <a:endParaRPr lang="en-US" sz="1100" dirty="0"/>
          </a:p>
        </p:txBody>
      </p:sp>
      <p:sp>
        <p:nvSpPr>
          <p:cNvPr id="33" name="Text 31"/>
          <p:cNvSpPr/>
          <p:nvPr/>
        </p:nvSpPr>
        <p:spPr>
          <a:xfrm>
            <a:off x="4956048" y="3090672"/>
            <a:ext cx="5029200" cy="566928"/>
          </a:xfrm>
          <a:prstGeom prst="rect">
            <a:avLst/>
          </a:prstGeom>
          <a:noFill/>
          <a:ln/>
        </p:spPr>
        <p:txBody>
          <a:bodyPr wrap="square" lIns="0" tIns="0" rIns="0" bIns="0" rtlCol="0" anchor="ctr"/>
          <a:lstStyle/>
          <a:p>
            <a:pPr marL="0" indent="0">
              <a:lnSpc>
                <a:spcPct val="106000"/>
              </a:lnSpc>
              <a:buNone/>
            </a:pPr>
            <a:r>
              <a:rPr lang="en-US" sz="1000" dirty="0">
                <a:solidFill>
                  <a:srgbClr val="46577A"/>
                </a:solidFill>
                <a:latin typeface="Aptos" pitchFamily="34" charset="0"/>
                <a:ea typeface="Aptos" pitchFamily="34" charset="-122"/>
                <a:cs typeface="Aptos" pitchFamily="34" charset="-120"/>
              </a:rPr>
              <a:t>Non-fuel +27.8% (+Rs. 139.808B); CASK +7.2%; ex-fuel-ex-FX +3.8%</a:t>
            </a:r>
            <a:endParaRPr lang="en-US" sz="1000" dirty="0"/>
          </a:p>
        </p:txBody>
      </p:sp>
      <p:sp>
        <p:nvSpPr>
          <p:cNvPr id="34" name="Shape 32"/>
          <p:cNvSpPr/>
          <p:nvPr/>
        </p:nvSpPr>
        <p:spPr>
          <a:xfrm>
            <a:off x="10149840" y="3191256"/>
            <a:ext cx="1536192" cy="365760"/>
          </a:xfrm>
          <a:prstGeom prst="rect">
            <a:avLst/>
          </a:prstGeom>
          <a:solidFill>
            <a:srgbClr val="0032A0"/>
          </a:solidFill>
          <a:ln/>
        </p:spPr>
      </p:sp>
      <p:sp>
        <p:nvSpPr>
          <p:cNvPr id="35" name="Text 33"/>
          <p:cNvSpPr/>
          <p:nvPr/>
        </p:nvSpPr>
        <p:spPr>
          <a:xfrm>
            <a:off x="10149840" y="3191256"/>
            <a:ext cx="1536192"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ACT NOW</a:t>
            </a:r>
            <a:endParaRPr lang="en-US" sz="900" dirty="0"/>
          </a:p>
        </p:txBody>
      </p:sp>
      <p:sp>
        <p:nvSpPr>
          <p:cNvPr id="36" name="Shape 34"/>
          <p:cNvSpPr/>
          <p:nvPr/>
        </p:nvSpPr>
        <p:spPr>
          <a:xfrm>
            <a:off x="3017520" y="3694176"/>
            <a:ext cx="8668512" cy="5486"/>
          </a:xfrm>
          <a:prstGeom prst="rect">
            <a:avLst/>
          </a:prstGeom>
          <a:solidFill>
            <a:srgbClr val="C9D8F2"/>
          </a:solidFill>
          <a:ln/>
        </p:spPr>
      </p:sp>
      <p:sp>
        <p:nvSpPr>
          <p:cNvPr id="37" name="Shape 35"/>
          <p:cNvSpPr/>
          <p:nvPr/>
        </p:nvSpPr>
        <p:spPr>
          <a:xfrm>
            <a:off x="2761488" y="4023360"/>
            <a:ext cx="192024" cy="12802"/>
          </a:xfrm>
          <a:prstGeom prst="rect">
            <a:avLst/>
          </a:prstGeom>
          <a:solidFill>
            <a:srgbClr val="2F6BD8"/>
          </a:solidFill>
          <a:ln/>
        </p:spPr>
      </p:sp>
      <p:sp>
        <p:nvSpPr>
          <p:cNvPr id="38" name="Shape 36"/>
          <p:cNvSpPr/>
          <p:nvPr/>
        </p:nvSpPr>
        <p:spPr>
          <a:xfrm>
            <a:off x="2615184" y="3922776"/>
            <a:ext cx="274320" cy="274320"/>
          </a:xfrm>
          <a:prstGeom prst="ellipse">
            <a:avLst/>
          </a:prstGeom>
          <a:solidFill>
            <a:srgbClr val="DCE7FA"/>
          </a:solidFill>
          <a:ln/>
        </p:spPr>
      </p:sp>
      <p:sp>
        <p:nvSpPr>
          <p:cNvPr id="39" name="Text 37"/>
          <p:cNvSpPr/>
          <p:nvPr/>
        </p:nvSpPr>
        <p:spPr>
          <a:xfrm>
            <a:off x="2615184" y="3922776"/>
            <a:ext cx="274320" cy="274320"/>
          </a:xfrm>
          <a:prstGeom prst="rect">
            <a:avLst/>
          </a:prstGeom>
          <a:noFill/>
          <a:ln/>
        </p:spPr>
        <p:txBody>
          <a:bodyPr wrap="square" lIns="0" tIns="0" rIns="0" bIns="0" rtlCol="0" anchor="ctr"/>
          <a:lstStyle/>
          <a:p>
            <a:pPr marL="0" indent="0" algn="ctr">
              <a:buNone/>
            </a:pPr>
            <a:r>
              <a:rPr lang="en-US" sz="950" b="1" dirty="0">
                <a:solidFill>
                  <a:srgbClr val="0032A0"/>
                </a:solidFill>
                <a:latin typeface="Aptos" pitchFamily="34" charset="0"/>
                <a:ea typeface="Aptos" pitchFamily="34" charset="-122"/>
                <a:cs typeface="Aptos" pitchFamily="34" charset="-120"/>
              </a:rPr>
              <a:t>4</a:t>
            </a:r>
            <a:endParaRPr lang="en-US" sz="950" dirty="0"/>
          </a:p>
        </p:txBody>
      </p:sp>
      <p:sp>
        <p:nvSpPr>
          <p:cNvPr id="40" name="Text 38"/>
          <p:cNvSpPr/>
          <p:nvPr/>
        </p:nvSpPr>
        <p:spPr>
          <a:xfrm>
            <a:off x="3017520" y="3749040"/>
            <a:ext cx="1847088" cy="566928"/>
          </a:xfrm>
          <a:prstGeom prst="rect">
            <a:avLst/>
          </a:prstGeom>
          <a:noFill/>
          <a:ln/>
        </p:spPr>
        <p:txBody>
          <a:bodyPr wrap="square" lIns="0" tIns="0" rIns="0" bIns="0" rtlCol="0" anchor="ctr"/>
          <a:lstStyle/>
          <a:p>
            <a:pPr marL="0" indent="0">
              <a:buNone/>
            </a:pPr>
            <a:r>
              <a:rPr lang="en-US" sz="1100" b="1" dirty="0">
                <a:solidFill>
                  <a:srgbClr val="041E47"/>
                </a:solidFill>
                <a:latin typeface="Aptos" pitchFamily="34" charset="0"/>
                <a:ea typeface="Aptos" pitchFamily="34" charset="-122"/>
                <a:cs typeface="Aptos" pitchFamily="34" charset="-120"/>
              </a:rPr>
              <a:t>Fleet / lease economics</a:t>
            </a:r>
            <a:endParaRPr lang="en-US" sz="1100" dirty="0"/>
          </a:p>
        </p:txBody>
      </p:sp>
      <p:sp>
        <p:nvSpPr>
          <p:cNvPr id="41" name="Text 39"/>
          <p:cNvSpPr/>
          <p:nvPr/>
        </p:nvSpPr>
        <p:spPr>
          <a:xfrm>
            <a:off x="4956048" y="3749040"/>
            <a:ext cx="5029200" cy="566928"/>
          </a:xfrm>
          <a:prstGeom prst="rect">
            <a:avLst/>
          </a:prstGeom>
          <a:noFill/>
          <a:ln/>
        </p:spPr>
        <p:txBody>
          <a:bodyPr wrap="square" lIns="0" tIns="0" rIns="0" bIns="0" rtlCol="0" anchor="ctr"/>
          <a:lstStyle/>
          <a:p>
            <a:pPr marL="0" indent="0">
              <a:lnSpc>
                <a:spcPct val="106000"/>
              </a:lnSpc>
              <a:buNone/>
            </a:pPr>
            <a:r>
              <a:rPr lang="en-US" sz="1000" dirty="0">
                <a:solidFill>
                  <a:srgbClr val="46577A"/>
                </a:solidFill>
                <a:latin typeface="Aptos" pitchFamily="34" charset="0"/>
                <a:ea typeface="Aptos" pitchFamily="34" charset="-122"/>
                <a:cs typeface="Aptos" pitchFamily="34" charset="-120"/>
              </a:rPr>
              <a:t>~75% operating lease; lease liability Rs. 534.608B = 68.8% of Rs. 777.492B debt</a:t>
            </a:r>
            <a:endParaRPr lang="en-US" sz="1000" dirty="0"/>
          </a:p>
        </p:txBody>
      </p:sp>
      <p:sp>
        <p:nvSpPr>
          <p:cNvPr id="42" name="Shape 40"/>
          <p:cNvSpPr/>
          <p:nvPr/>
        </p:nvSpPr>
        <p:spPr>
          <a:xfrm>
            <a:off x="10149840" y="3849624"/>
            <a:ext cx="1536192" cy="365760"/>
          </a:xfrm>
          <a:prstGeom prst="rect">
            <a:avLst/>
          </a:prstGeom>
          <a:solidFill>
            <a:srgbClr val="FFFFFF"/>
          </a:solidFill>
          <a:ln w="12700">
            <a:solidFill>
              <a:srgbClr val="041E47"/>
            </a:solidFill>
            <a:prstDash val="solid"/>
          </a:ln>
        </p:spPr>
      </p:sp>
      <p:sp>
        <p:nvSpPr>
          <p:cNvPr id="43" name="Text 41"/>
          <p:cNvSpPr/>
          <p:nvPr/>
        </p:nvSpPr>
        <p:spPr>
          <a:xfrm>
            <a:off x="10149840" y="3849624"/>
            <a:ext cx="1536192" cy="365760"/>
          </a:xfrm>
          <a:prstGeom prst="rect">
            <a:avLst/>
          </a:prstGeom>
          <a:noFill/>
          <a:ln/>
        </p:spPr>
        <p:txBody>
          <a:bodyPr wrap="square" lIns="0" tIns="0" rIns="0" bIns="0" rtlCol="0" anchor="ctr"/>
          <a:lstStyle/>
          <a:p>
            <a:pPr marL="0" indent="0" algn="ctr">
              <a:buNone/>
            </a:pPr>
            <a:r>
              <a:rPr lang="en-US" sz="900" b="1" dirty="0">
                <a:solidFill>
                  <a:srgbClr val="041E47"/>
                </a:solidFill>
                <a:latin typeface="Aptos" pitchFamily="34" charset="0"/>
                <a:ea typeface="Aptos" pitchFamily="34" charset="-122"/>
                <a:cs typeface="Aptos" pitchFamily="34" charset="-120"/>
              </a:rPr>
              <a:t>CONSTRAINT</a:t>
            </a:r>
            <a:endParaRPr lang="en-US" sz="900" dirty="0"/>
          </a:p>
        </p:txBody>
      </p:sp>
      <p:sp>
        <p:nvSpPr>
          <p:cNvPr id="44" name="Shape 42"/>
          <p:cNvSpPr/>
          <p:nvPr/>
        </p:nvSpPr>
        <p:spPr>
          <a:xfrm>
            <a:off x="3017520" y="4352544"/>
            <a:ext cx="8668512" cy="5486"/>
          </a:xfrm>
          <a:prstGeom prst="rect">
            <a:avLst/>
          </a:prstGeom>
          <a:solidFill>
            <a:srgbClr val="C9D8F2"/>
          </a:solidFill>
          <a:ln/>
        </p:spPr>
      </p:sp>
      <p:sp>
        <p:nvSpPr>
          <p:cNvPr id="45" name="Shape 43"/>
          <p:cNvSpPr/>
          <p:nvPr/>
        </p:nvSpPr>
        <p:spPr>
          <a:xfrm>
            <a:off x="2761488" y="4681728"/>
            <a:ext cx="192024" cy="12802"/>
          </a:xfrm>
          <a:prstGeom prst="rect">
            <a:avLst/>
          </a:prstGeom>
          <a:solidFill>
            <a:srgbClr val="2F6BD8"/>
          </a:solidFill>
          <a:ln/>
        </p:spPr>
      </p:sp>
      <p:sp>
        <p:nvSpPr>
          <p:cNvPr id="46" name="Shape 44"/>
          <p:cNvSpPr/>
          <p:nvPr/>
        </p:nvSpPr>
        <p:spPr>
          <a:xfrm>
            <a:off x="2615184" y="4581144"/>
            <a:ext cx="274320" cy="274320"/>
          </a:xfrm>
          <a:prstGeom prst="ellipse">
            <a:avLst/>
          </a:prstGeom>
          <a:solidFill>
            <a:srgbClr val="DCE7FA"/>
          </a:solidFill>
          <a:ln/>
        </p:spPr>
      </p:sp>
      <p:sp>
        <p:nvSpPr>
          <p:cNvPr id="47" name="Text 45"/>
          <p:cNvSpPr/>
          <p:nvPr/>
        </p:nvSpPr>
        <p:spPr>
          <a:xfrm>
            <a:off x="2615184" y="4581144"/>
            <a:ext cx="274320" cy="274320"/>
          </a:xfrm>
          <a:prstGeom prst="rect">
            <a:avLst/>
          </a:prstGeom>
          <a:noFill/>
          <a:ln/>
        </p:spPr>
        <p:txBody>
          <a:bodyPr wrap="square" lIns="0" tIns="0" rIns="0" bIns="0" rtlCol="0" anchor="ctr"/>
          <a:lstStyle/>
          <a:p>
            <a:pPr marL="0" indent="0" algn="ctr">
              <a:buNone/>
            </a:pPr>
            <a:r>
              <a:rPr lang="en-US" sz="950" b="1" dirty="0">
                <a:solidFill>
                  <a:srgbClr val="0032A0"/>
                </a:solidFill>
                <a:latin typeface="Aptos" pitchFamily="34" charset="0"/>
                <a:ea typeface="Aptos" pitchFamily="34" charset="-122"/>
                <a:cs typeface="Aptos" pitchFamily="34" charset="-120"/>
              </a:rPr>
              <a:t>5</a:t>
            </a:r>
            <a:endParaRPr lang="en-US" sz="950" dirty="0"/>
          </a:p>
        </p:txBody>
      </p:sp>
      <p:sp>
        <p:nvSpPr>
          <p:cNvPr id="48" name="Text 46"/>
          <p:cNvSpPr/>
          <p:nvPr/>
        </p:nvSpPr>
        <p:spPr>
          <a:xfrm>
            <a:off x="3017520" y="4407408"/>
            <a:ext cx="1847088" cy="566928"/>
          </a:xfrm>
          <a:prstGeom prst="rect">
            <a:avLst/>
          </a:prstGeom>
          <a:noFill/>
          <a:ln/>
        </p:spPr>
        <p:txBody>
          <a:bodyPr wrap="square" lIns="0" tIns="0" rIns="0" bIns="0" rtlCol="0" anchor="ctr"/>
          <a:lstStyle/>
          <a:p>
            <a:pPr marL="0" indent="0">
              <a:buNone/>
            </a:pPr>
            <a:r>
              <a:rPr lang="en-US" sz="1100" b="1" dirty="0">
                <a:solidFill>
                  <a:srgbClr val="041E47"/>
                </a:solidFill>
                <a:latin typeface="Aptos" pitchFamily="34" charset="0"/>
                <a:ea typeface="Aptos" pitchFamily="34" charset="-122"/>
                <a:cs typeface="Aptos" pitchFamily="34" charset="-120"/>
              </a:rPr>
              <a:t>Network allocation</a:t>
            </a:r>
            <a:endParaRPr lang="en-US" sz="1100" dirty="0"/>
          </a:p>
        </p:txBody>
      </p:sp>
      <p:sp>
        <p:nvSpPr>
          <p:cNvPr id="49" name="Text 47"/>
          <p:cNvSpPr/>
          <p:nvPr/>
        </p:nvSpPr>
        <p:spPr>
          <a:xfrm>
            <a:off x="4956048" y="4407408"/>
            <a:ext cx="5029200" cy="566928"/>
          </a:xfrm>
          <a:prstGeom prst="rect">
            <a:avLst/>
          </a:prstGeom>
          <a:noFill/>
          <a:ln/>
        </p:spPr>
        <p:txBody>
          <a:bodyPr wrap="square" lIns="0" tIns="0" rIns="0" bIns="0" rtlCol="0" anchor="ctr"/>
          <a:lstStyle/>
          <a:p>
            <a:pPr marL="0" indent="0">
              <a:lnSpc>
                <a:spcPct val="106000"/>
              </a:lnSpc>
              <a:buNone/>
            </a:pPr>
            <a:r>
              <a:rPr lang="en-US" sz="1000" dirty="0">
                <a:solidFill>
                  <a:srgbClr val="46577A"/>
                </a:solidFill>
                <a:latin typeface="Aptos" pitchFamily="34" charset="0"/>
                <a:ea typeface="Aptos" pitchFamily="34" charset="-122"/>
                <a:cs typeface="Aptos" pitchFamily="34" charset="-120"/>
              </a:rPr>
              <a:t>Route-level domestic and international profitability not established</a:t>
            </a:r>
            <a:endParaRPr lang="en-US" sz="1000" dirty="0"/>
          </a:p>
        </p:txBody>
      </p:sp>
      <p:sp>
        <p:nvSpPr>
          <p:cNvPr id="50" name="Shape 48"/>
          <p:cNvSpPr/>
          <p:nvPr/>
        </p:nvSpPr>
        <p:spPr>
          <a:xfrm>
            <a:off x="10149840" y="4507992"/>
            <a:ext cx="1536192" cy="365760"/>
          </a:xfrm>
          <a:prstGeom prst="rect">
            <a:avLst/>
          </a:prstGeom>
          <a:solidFill>
            <a:srgbClr val="FFFFFF"/>
          </a:solidFill>
          <a:ln w="12700">
            <a:solidFill>
              <a:srgbClr val="6B7280"/>
            </a:solidFill>
            <a:prstDash val="dash"/>
          </a:ln>
        </p:spPr>
      </p:sp>
      <p:sp>
        <p:nvSpPr>
          <p:cNvPr id="51" name="Text 49"/>
          <p:cNvSpPr/>
          <p:nvPr/>
        </p:nvSpPr>
        <p:spPr>
          <a:xfrm>
            <a:off x="10149840" y="4507992"/>
            <a:ext cx="1536192" cy="365760"/>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BUILD EVIDENCE</a:t>
            </a:r>
            <a:endParaRPr lang="en-US" sz="900" dirty="0"/>
          </a:p>
        </p:txBody>
      </p:sp>
      <p:sp>
        <p:nvSpPr>
          <p:cNvPr id="52" name="Shape 50"/>
          <p:cNvSpPr/>
          <p:nvPr/>
        </p:nvSpPr>
        <p:spPr>
          <a:xfrm>
            <a:off x="3017520" y="5010912"/>
            <a:ext cx="8668512" cy="5486"/>
          </a:xfrm>
          <a:prstGeom prst="rect">
            <a:avLst/>
          </a:prstGeom>
          <a:solidFill>
            <a:srgbClr val="C9D8F2"/>
          </a:solidFill>
          <a:ln/>
        </p:spPr>
      </p:sp>
      <p:sp>
        <p:nvSpPr>
          <p:cNvPr id="53" name="Shape 51"/>
          <p:cNvSpPr/>
          <p:nvPr/>
        </p:nvSpPr>
        <p:spPr>
          <a:xfrm>
            <a:off x="2761488" y="5340096"/>
            <a:ext cx="192024" cy="12802"/>
          </a:xfrm>
          <a:prstGeom prst="rect">
            <a:avLst/>
          </a:prstGeom>
          <a:solidFill>
            <a:srgbClr val="2F6BD8"/>
          </a:solidFill>
          <a:ln/>
        </p:spPr>
      </p:sp>
      <p:sp>
        <p:nvSpPr>
          <p:cNvPr id="54" name="Shape 52"/>
          <p:cNvSpPr/>
          <p:nvPr/>
        </p:nvSpPr>
        <p:spPr>
          <a:xfrm>
            <a:off x="2615184" y="5239512"/>
            <a:ext cx="274320" cy="274320"/>
          </a:xfrm>
          <a:prstGeom prst="ellipse">
            <a:avLst/>
          </a:prstGeom>
          <a:solidFill>
            <a:srgbClr val="DCE7FA"/>
          </a:solidFill>
          <a:ln/>
        </p:spPr>
      </p:sp>
      <p:sp>
        <p:nvSpPr>
          <p:cNvPr id="55" name="Text 53"/>
          <p:cNvSpPr/>
          <p:nvPr/>
        </p:nvSpPr>
        <p:spPr>
          <a:xfrm>
            <a:off x="2615184" y="5239512"/>
            <a:ext cx="274320" cy="274320"/>
          </a:xfrm>
          <a:prstGeom prst="rect">
            <a:avLst/>
          </a:prstGeom>
          <a:noFill/>
          <a:ln/>
        </p:spPr>
        <p:txBody>
          <a:bodyPr wrap="square" lIns="0" tIns="0" rIns="0" bIns="0" rtlCol="0" anchor="ctr"/>
          <a:lstStyle/>
          <a:p>
            <a:pPr marL="0" indent="0" algn="ctr">
              <a:buNone/>
            </a:pPr>
            <a:r>
              <a:rPr lang="en-US" sz="950" b="1" dirty="0">
                <a:solidFill>
                  <a:srgbClr val="0032A0"/>
                </a:solidFill>
                <a:latin typeface="Aptos" pitchFamily="34" charset="0"/>
                <a:ea typeface="Aptos" pitchFamily="34" charset="-122"/>
                <a:cs typeface="Aptos" pitchFamily="34" charset="-120"/>
              </a:rPr>
              <a:t>6</a:t>
            </a:r>
            <a:endParaRPr lang="en-US" sz="950" dirty="0"/>
          </a:p>
        </p:txBody>
      </p:sp>
      <p:sp>
        <p:nvSpPr>
          <p:cNvPr id="56" name="Text 54"/>
          <p:cNvSpPr/>
          <p:nvPr/>
        </p:nvSpPr>
        <p:spPr>
          <a:xfrm>
            <a:off x="3017520" y="5065776"/>
            <a:ext cx="1847088" cy="566928"/>
          </a:xfrm>
          <a:prstGeom prst="rect">
            <a:avLst/>
          </a:prstGeom>
          <a:noFill/>
          <a:ln/>
        </p:spPr>
        <p:txBody>
          <a:bodyPr wrap="square" lIns="0" tIns="0" rIns="0" bIns="0" rtlCol="0" anchor="ctr"/>
          <a:lstStyle/>
          <a:p>
            <a:pPr marL="0" indent="0">
              <a:buNone/>
            </a:pPr>
            <a:r>
              <a:rPr lang="en-US" sz="1100" b="1" dirty="0">
                <a:solidFill>
                  <a:srgbClr val="041E47"/>
                </a:solidFill>
                <a:latin typeface="Aptos" pitchFamily="34" charset="0"/>
                <a:ea typeface="Aptos" pitchFamily="34" charset="-122"/>
                <a:cs typeface="Aptos" pitchFamily="34" charset="-120"/>
              </a:rPr>
              <a:t>External environment</a:t>
            </a:r>
            <a:endParaRPr lang="en-US" sz="1100" dirty="0"/>
          </a:p>
        </p:txBody>
      </p:sp>
      <p:sp>
        <p:nvSpPr>
          <p:cNvPr id="57" name="Text 55"/>
          <p:cNvSpPr/>
          <p:nvPr/>
        </p:nvSpPr>
        <p:spPr>
          <a:xfrm>
            <a:off x="4956048" y="5065776"/>
            <a:ext cx="5029200" cy="566928"/>
          </a:xfrm>
          <a:prstGeom prst="rect">
            <a:avLst/>
          </a:prstGeom>
          <a:noFill/>
          <a:ln/>
        </p:spPr>
        <p:txBody>
          <a:bodyPr wrap="square" lIns="0" tIns="0" rIns="0" bIns="0" rtlCol="0" anchor="ctr"/>
          <a:lstStyle/>
          <a:p>
            <a:pPr marL="0" indent="0">
              <a:lnSpc>
                <a:spcPct val="106000"/>
              </a:lnSpc>
              <a:buNone/>
            </a:pPr>
            <a:r>
              <a:rPr lang="en-US" sz="1000" dirty="0">
                <a:solidFill>
                  <a:srgbClr val="46577A"/>
                </a:solidFill>
                <a:latin typeface="Aptos" pitchFamily="34" charset="0"/>
                <a:ea typeface="Aptos" pitchFamily="34" charset="-122"/>
                <a:cs typeface="Aptos" pitchFamily="34" charset="-120"/>
              </a:rPr>
              <a:t>Fuel, FX, competitor capacity (1.7 pp international gap), regulatory, geopolitical</a:t>
            </a:r>
            <a:endParaRPr lang="en-US" sz="1000" dirty="0"/>
          </a:p>
        </p:txBody>
      </p:sp>
      <p:sp>
        <p:nvSpPr>
          <p:cNvPr id="58" name="Shape 56"/>
          <p:cNvSpPr/>
          <p:nvPr/>
        </p:nvSpPr>
        <p:spPr>
          <a:xfrm>
            <a:off x="10149840" y="5166360"/>
            <a:ext cx="1536192" cy="365760"/>
          </a:xfrm>
          <a:prstGeom prst="rect">
            <a:avLst/>
          </a:prstGeom>
          <a:solidFill>
            <a:srgbClr val="FFFFFF"/>
          </a:solidFill>
          <a:ln w="12700">
            <a:solidFill>
              <a:srgbClr val="D98A00"/>
            </a:solidFill>
            <a:prstDash val="solid"/>
          </a:ln>
        </p:spPr>
      </p:sp>
      <p:sp>
        <p:nvSpPr>
          <p:cNvPr id="59" name="Text 57"/>
          <p:cNvSpPr/>
          <p:nvPr/>
        </p:nvSpPr>
        <p:spPr>
          <a:xfrm>
            <a:off x="10149840" y="5166360"/>
            <a:ext cx="1536192" cy="365760"/>
          </a:xfrm>
          <a:prstGeom prst="rect">
            <a:avLst/>
          </a:prstGeom>
          <a:noFill/>
          <a:ln/>
        </p:spPr>
        <p:txBody>
          <a:bodyPr wrap="square" lIns="0" tIns="0" rIns="0" bIns="0" rtlCol="0" anchor="ctr"/>
          <a:lstStyle/>
          <a:p>
            <a:pPr marL="0" indent="0" algn="ctr">
              <a:buNone/>
            </a:pPr>
            <a:r>
              <a:rPr lang="en-US" sz="900" b="1" dirty="0">
                <a:solidFill>
                  <a:srgbClr val="D98A00"/>
                </a:solidFill>
                <a:latin typeface="Aptos" pitchFamily="34" charset="0"/>
                <a:ea typeface="Aptos" pitchFamily="34" charset="-122"/>
                <a:cs typeface="Aptos" pitchFamily="34" charset="-120"/>
              </a:rPr>
              <a:t>MONITOR</a:t>
            </a:r>
            <a:endParaRPr lang="en-US" sz="900" dirty="0"/>
          </a:p>
        </p:txBody>
      </p:sp>
      <p:sp>
        <p:nvSpPr>
          <p:cNvPr id="60" name="Shape 58"/>
          <p:cNvSpPr/>
          <p:nvPr/>
        </p:nvSpPr>
        <p:spPr>
          <a:xfrm>
            <a:off x="3017520" y="5669280"/>
            <a:ext cx="8668512" cy="5486"/>
          </a:xfrm>
          <a:prstGeom prst="rect">
            <a:avLst/>
          </a:prstGeom>
          <a:solidFill>
            <a:srgbClr val="C9D8F2"/>
          </a:solidFill>
          <a:ln/>
        </p:spPr>
      </p:sp>
      <p:sp>
        <p:nvSpPr>
          <p:cNvPr id="61" name="Shape 59"/>
          <p:cNvSpPr/>
          <p:nvPr/>
        </p:nvSpPr>
        <p:spPr>
          <a:xfrm>
            <a:off x="502920" y="5614416"/>
            <a:ext cx="11185855" cy="566928"/>
          </a:xfrm>
          <a:prstGeom prst="rect">
            <a:avLst/>
          </a:prstGeom>
          <a:solidFill>
            <a:srgbClr val="F4F7FD"/>
          </a:solidFill>
          <a:ln/>
        </p:spPr>
      </p:sp>
      <p:sp>
        <p:nvSpPr>
          <p:cNvPr id="62" name="Shape 60"/>
          <p:cNvSpPr/>
          <p:nvPr/>
        </p:nvSpPr>
        <p:spPr>
          <a:xfrm>
            <a:off x="502920" y="5614416"/>
            <a:ext cx="32004" cy="566928"/>
          </a:xfrm>
          <a:prstGeom prst="rect">
            <a:avLst/>
          </a:prstGeom>
          <a:solidFill>
            <a:srgbClr val="6B7280"/>
          </a:solidFill>
          <a:ln/>
        </p:spPr>
      </p:sp>
      <p:sp>
        <p:nvSpPr>
          <p:cNvPr id="63" name="Text 61"/>
          <p:cNvSpPr/>
          <p:nvPr/>
        </p:nvSpPr>
        <p:spPr>
          <a:xfrm>
            <a:off x="685800" y="5632704"/>
            <a:ext cx="10927080" cy="530352"/>
          </a:xfrm>
          <a:prstGeom prst="rect">
            <a:avLst/>
          </a:prstGeom>
          <a:noFill/>
          <a:ln/>
        </p:spPr>
        <p:txBody>
          <a:bodyPr wrap="square" lIns="0" tIns="0" rIns="0" bIns="0" rtlCol="0" anchor="ctr"/>
          <a:lstStyle/>
          <a:p>
            <a:pPr algn="ctr"/>
            <a:r>
              <a:rPr lang="en-IN" sz="1000" b="1" dirty="0"/>
              <a:t>Association, not causality. Route-level and multi-year evidence is required to test the relationship.</a:t>
            </a:r>
            <a:endParaRPr lang="en-US" sz="950" b="1" dirty="0"/>
          </a:p>
        </p:txBody>
      </p:sp>
      <p:sp>
        <p:nvSpPr>
          <p:cNvPr id="64" name="Shape 62"/>
          <p:cNvSpPr/>
          <p:nvPr/>
        </p:nvSpPr>
        <p:spPr>
          <a:xfrm>
            <a:off x="502920" y="6309360"/>
            <a:ext cx="11185855" cy="5486"/>
          </a:xfrm>
          <a:prstGeom prst="rect">
            <a:avLst/>
          </a:prstGeom>
          <a:solidFill>
            <a:srgbClr val="C9D8F2"/>
          </a:solidFill>
          <a:ln/>
        </p:spPr>
      </p:sp>
      <p:sp>
        <p:nvSpPr>
          <p:cNvPr id="65" name="Text 63"/>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66" name="Text 64"/>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Sections 4-9 synthesis - SRC-FY26-002 - SRC-FY26-006 - EVD-OPS-FLEET-005 - GAP-002</a:t>
            </a:r>
            <a:endParaRPr lang="en-US" sz="800" dirty="0"/>
          </a:p>
        </p:txBody>
      </p:sp>
      <p:sp>
        <p:nvSpPr>
          <p:cNvPr id="67" name="Shape 65"/>
          <p:cNvSpPr/>
          <p:nvPr/>
        </p:nvSpPr>
        <p:spPr>
          <a:xfrm>
            <a:off x="11484864" y="6364224"/>
            <a:ext cx="201168" cy="201168"/>
          </a:xfrm>
          <a:prstGeom prst="rect">
            <a:avLst/>
          </a:prstGeom>
          <a:solidFill>
            <a:srgbClr val="0032A0"/>
          </a:solidFill>
          <a:ln/>
        </p:spPr>
      </p:sp>
      <p:sp>
        <p:nvSpPr>
          <p:cNvPr id="68" name="Text 66"/>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27</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09 - STRATEGIC CHOICE</a:t>
            </a:r>
            <a:endParaRPr lang="en-US" sz="1000" dirty="0"/>
          </a:p>
        </p:txBody>
      </p:sp>
      <p:sp>
        <p:nvSpPr>
          <p:cNvPr id="3" name="Shape 1"/>
          <p:cNvSpPr/>
          <p:nvPr/>
        </p:nvSpPr>
        <p:spPr>
          <a:xfrm>
            <a:off x="502920" y="571500"/>
            <a:ext cx="1463040" cy="45720"/>
          </a:xfrm>
          <a:prstGeom prst="rect">
            <a:avLst/>
          </a:prstGeom>
          <a:solidFill>
            <a:srgbClr val="0032A0"/>
          </a:solidFill>
          <a:ln/>
        </p:spPr>
      </p:sp>
      <p:sp>
        <p:nvSpPr>
          <p:cNvPr id="4" name="Text 2"/>
          <p:cNvSpPr/>
          <p:nvPr/>
        </p:nvSpPr>
        <p:spPr>
          <a:xfrm>
            <a:off x="502920" y="671810"/>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Six alternatives, evaluated under one locked weighted framework</a:t>
            </a:r>
            <a:endParaRPr lang="en-US" sz="2250" dirty="0"/>
          </a:p>
        </p:txBody>
      </p:sp>
      <p:sp>
        <p:nvSpPr>
          <p:cNvPr id="5" name="Text 3"/>
          <p:cNvSpPr/>
          <p:nvPr/>
        </p:nvSpPr>
        <p:spPr>
          <a:xfrm>
            <a:off x="502920" y="1463040"/>
            <a:ext cx="6675120" cy="201168"/>
          </a:xfrm>
          <a:prstGeom prst="rect">
            <a:avLst/>
          </a:prstGeom>
          <a:noFill/>
          <a:ln/>
        </p:spPr>
        <p:txBody>
          <a:bodyPr wrap="square" lIns="0" tIns="0" rIns="0" bIns="0" rtlCol="0" anchor="ctr"/>
          <a:lstStyle/>
          <a:p>
            <a:pPr marL="0" indent="0" algn="l">
              <a:buNone/>
            </a:pPr>
            <a:r>
              <a:rPr lang="en-US" sz="850" b="1" kern="0" spc="110" dirty="0">
                <a:solidFill>
                  <a:srgbClr val="46577A"/>
                </a:solidFill>
                <a:latin typeface="Aptos" pitchFamily="34" charset="0"/>
                <a:ea typeface="Aptos" pitchFamily="34" charset="-122"/>
                <a:cs typeface="Aptos" pitchFamily="34" charset="-120"/>
              </a:rPr>
              <a:t>ALTERNATIVES PORTFOLIO - BUBBLE SIZE = PASS 5 WEIGHTED SCORE</a:t>
            </a:r>
            <a:endParaRPr lang="en-US" sz="850" dirty="0"/>
          </a:p>
        </p:txBody>
      </p:sp>
      <p:sp>
        <p:nvSpPr>
          <p:cNvPr id="6" name="Shape 4"/>
          <p:cNvSpPr/>
          <p:nvPr/>
        </p:nvSpPr>
        <p:spPr>
          <a:xfrm>
            <a:off x="1417320" y="1810512"/>
            <a:ext cx="2743200" cy="1792224"/>
          </a:xfrm>
          <a:prstGeom prst="rect">
            <a:avLst/>
          </a:prstGeom>
          <a:solidFill>
            <a:srgbClr val="F4F7FD"/>
          </a:solidFill>
          <a:ln/>
        </p:spPr>
      </p:sp>
      <p:sp>
        <p:nvSpPr>
          <p:cNvPr id="7" name="Shape 5"/>
          <p:cNvSpPr/>
          <p:nvPr/>
        </p:nvSpPr>
        <p:spPr>
          <a:xfrm>
            <a:off x="4160520" y="1810512"/>
            <a:ext cx="2743200" cy="1792224"/>
          </a:xfrm>
          <a:prstGeom prst="rect">
            <a:avLst/>
          </a:prstGeom>
          <a:solidFill>
            <a:srgbClr val="DCE7FA"/>
          </a:solidFill>
          <a:ln/>
        </p:spPr>
      </p:sp>
      <p:sp>
        <p:nvSpPr>
          <p:cNvPr id="8" name="Shape 6"/>
          <p:cNvSpPr/>
          <p:nvPr/>
        </p:nvSpPr>
        <p:spPr>
          <a:xfrm>
            <a:off x="1417320" y="3602736"/>
            <a:ext cx="2743200" cy="1792224"/>
          </a:xfrm>
          <a:prstGeom prst="rect">
            <a:avLst/>
          </a:prstGeom>
          <a:solidFill>
            <a:srgbClr val="FAFBFE"/>
          </a:solidFill>
          <a:ln/>
        </p:spPr>
      </p:sp>
      <p:sp>
        <p:nvSpPr>
          <p:cNvPr id="9" name="Shape 7"/>
          <p:cNvSpPr/>
          <p:nvPr/>
        </p:nvSpPr>
        <p:spPr>
          <a:xfrm>
            <a:off x="4160520" y="3602736"/>
            <a:ext cx="2743200" cy="1792224"/>
          </a:xfrm>
          <a:prstGeom prst="rect">
            <a:avLst/>
          </a:prstGeom>
          <a:solidFill>
            <a:srgbClr val="F4F7FD"/>
          </a:solidFill>
          <a:ln/>
        </p:spPr>
      </p:sp>
      <p:sp>
        <p:nvSpPr>
          <p:cNvPr id="10" name="Text 8"/>
          <p:cNvSpPr/>
          <p:nvPr/>
        </p:nvSpPr>
        <p:spPr>
          <a:xfrm>
            <a:off x="1459657" y="1678654"/>
            <a:ext cx="2468880" cy="201168"/>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evidenced, but growth-costly</a:t>
            </a:r>
            <a:endParaRPr lang="en-US" sz="800" dirty="0"/>
          </a:p>
        </p:txBody>
      </p:sp>
      <p:sp>
        <p:nvSpPr>
          <p:cNvPr id="11" name="Text 9"/>
          <p:cNvSpPr/>
          <p:nvPr/>
        </p:nvSpPr>
        <p:spPr>
          <a:xfrm>
            <a:off x="4361688" y="1865376"/>
            <a:ext cx="2468880" cy="201168"/>
          </a:xfrm>
          <a:prstGeom prst="rect">
            <a:avLst/>
          </a:prstGeom>
          <a:noFill/>
          <a:ln/>
        </p:spPr>
        <p:txBody>
          <a:bodyPr wrap="square" lIns="0" tIns="0" rIns="0" bIns="0" rtlCol="0" anchor="ctr"/>
          <a:lstStyle/>
          <a:p>
            <a:pPr marL="0" indent="0" algn="r">
              <a:buNone/>
            </a:pPr>
            <a:r>
              <a:rPr lang="en-US" sz="800" dirty="0">
                <a:solidFill>
                  <a:srgbClr val="6B7280"/>
                </a:solidFill>
                <a:latin typeface="Aptos" pitchFamily="34" charset="0"/>
                <a:ea typeface="Aptos" pitchFamily="34" charset="-122"/>
                <a:cs typeface="Aptos" pitchFamily="34" charset="-120"/>
              </a:rPr>
              <a:t>reversible and evidenced</a:t>
            </a:r>
            <a:endParaRPr lang="en-US" sz="800" dirty="0"/>
          </a:p>
        </p:txBody>
      </p:sp>
      <p:sp>
        <p:nvSpPr>
          <p:cNvPr id="12" name="Text 10"/>
          <p:cNvSpPr/>
          <p:nvPr/>
        </p:nvSpPr>
        <p:spPr>
          <a:xfrm>
            <a:off x="4361688" y="5157216"/>
            <a:ext cx="2468880" cy="201168"/>
          </a:xfrm>
          <a:prstGeom prst="rect">
            <a:avLst/>
          </a:prstGeom>
          <a:noFill/>
          <a:ln/>
        </p:spPr>
        <p:txBody>
          <a:bodyPr wrap="square" lIns="0" tIns="0" rIns="0" bIns="0" rtlCol="0" anchor="ctr"/>
          <a:lstStyle/>
          <a:p>
            <a:pPr marL="0" indent="0" algn="r">
              <a:buNone/>
            </a:pPr>
            <a:r>
              <a:rPr lang="en-US" sz="800" dirty="0">
                <a:solidFill>
                  <a:srgbClr val="6B7280"/>
                </a:solidFill>
                <a:latin typeface="Aptos" pitchFamily="34" charset="0"/>
                <a:ea typeface="Aptos" pitchFamily="34" charset="-122"/>
                <a:cs typeface="Aptos" pitchFamily="34" charset="-120"/>
              </a:rPr>
              <a:t>growth-safe, under-evidenced</a:t>
            </a:r>
            <a:endParaRPr lang="en-US" sz="800" dirty="0"/>
          </a:p>
        </p:txBody>
      </p:sp>
      <p:sp>
        <p:nvSpPr>
          <p:cNvPr id="13" name="Shape 11"/>
          <p:cNvSpPr/>
          <p:nvPr/>
        </p:nvSpPr>
        <p:spPr>
          <a:xfrm>
            <a:off x="1417320" y="5394960"/>
            <a:ext cx="5486400" cy="10973"/>
          </a:xfrm>
          <a:prstGeom prst="rect">
            <a:avLst/>
          </a:prstGeom>
          <a:solidFill>
            <a:srgbClr val="C9D8F2"/>
          </a:solidFill>
          <a:ln/>
        </p:spPr>
      </p:sp>
      <p:sp>
        <p:nvSpPr>
          <p:cNvPr id="14" name="Shape 12"/>
          <p:cNvSpPr/>
          <p:nvPr/>
        </p:nvSpPr>
        <p:spPr>
          <a:xfrm>
            <a:off x="1417320" y="1810512"/>
            <a:ext cx="10973" cy="3584448"/>
          </a:xfrm>
          <a:prstGeom prst="rect">
            <a:avLst/>
          </a:prstGeom>
          <a:solidFill>
            <a:srgbClr val="C9D8F2"/>
          </a:solidFill>
          <a:ln/>
        </p:spPr>
      </p:sp>
      <p:sp>
        <p:nvSpPr>
          <p:cNvPr id="15" name="Text 13"/>
          <p:cNvSpPr/>
          <p:nvPr/>
        </p:nvSpPr>
        <p:spPr>
          <a:xfrm>
            <a:off x="1965960" y="5431536"/>
            <a:ext cx="274320" cy="182880"/>
          </a:xfrm>
          <a:prstGeom prst="rect">
            <a:avLst/>
          </a:prstGeom>
          <a:noFill/>
          <a:ln/>
        </p:spPr>
        <p:txBody>
          <a:bodyPr wrap="square" lIns="0" tIns="0" rIns="0" bIns="0" rtlCol="0" anchor="ctr"/>
          <a:lstStyle/>
          <a:p>
            <a:pPr marL="0" indent="0" algn="ctr">
              <a:buNone/>
            </a:pPr>
            <a:r>
              <a:rPr lang="en-US" sz="850" dirty="0">
                <a:solidFill>
                  <a:srgbClr val="6B7280"/>
                </a:solidFill>
                <a:latin typeface="Aptos" pitchFamily="34" charset="0"/>
                <a:ea typeface="Aptos" pitchFamily="34" charset="-122"/>
                <a:cs typeface="Aptos" pitchFamily="34" charset="-120"/>
              </a:rPr>
              <a:t>2</a:t>
            </a:r>
            <a:endParaRPr lang="en-US" sz="850" dirty="0"/>
          </a:p>
        </p:txBody>
      </p:sp>
      <p:sp>
        <p:nvSpPr>
          <p:cNvPr id="16" name="Text 14"/>
          <p:cNvSpPr/>
          <p:nvPr/>
        </p:nvSpPr>
        <p:spPr>
          <a:xfrm>
            <a:off x="1106424" y="4855464"/>
            <a:ext cx="237744" cy="182880"/>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2</a:t>
            </a:r>
            <a:endParaRPr lang="en-US" sz="850" dirty="0"/>
          </a:p>
        </p:txBody>
      </p:sp>
      <p:sp>
        <p:nvSpPr>
          <p:cNvPr id="17" name="Text 15"/>
          <p:cNvSpPr/>
          <p:nvPr/>
        </p:nvSpPr>
        <p:spPr>
          <a:xfrm>
            <a:off x="3337560" y="5431536"/>
            <a:ext cx="274320" cy="182880"/>
          </a:xfrm>
          <a:prstGeom prst="rect">
            <a:avLst/>
          </a:prstGeom>
          <a:noFill/>
          <a:ln/>
        </p:spPr>
        <p:txBody>
          <a:bodyPr wrap="square" lIns="0" tIns="0" rIns="0" bIns="0" rtlCol="0" anchor="ctr"/>
          <a:lstStyle/>
          <a:p>
            <a:pPr marL="0" indent="0" algn="ctr">
              <a:buNone/>
            </a:pPr>
            <a:r>
              <a:rPr lang="en-US" sz="850" dirty="0">
                <a:solidFill>
                  <a:srgbClr val="6B7280"/>
                </a:solidFill>
                <a:latin typeface="Aptos" pitchFamily="34" charset="0"/>
                <a:ea typeface="Aptos" pitchFamily="34" charset="-122"/>
                <a:cs typeface="Aptos" pitchFamily="34" charset="-120"/>
              </a:rPr>
              <a:t>3</a:t>
            </a:r>
            <a:endParaRPr lang="en-US" sz="850" dirty="0"/>
          </a:p>
        </p:txBody>
      </p:sp>
      <p:sp>
        <p:nvSpPr>
          <p:cNvPr id="18" name="Text 16"/>
          <p:cNvSpPr/>
          <p:nvPr/>
        </p:nvSpPr>
        <p:spPr>
          <a:xfrm>
            <a:off x="1106424" y="3959352"/>
            <a:ext cx="237744" cy="182880"/>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3</a:t>
            </a:r>
            <a:endParaRPr lang="en-US" sz="850" dirty="0"/>
          </a:p>
        </p:txBody>
      </p:sp>
      <p:sp>
        <p:nvSpPr>
          <p:cNvPr id="19" name="Text 17"/>
          <p:cNvSpPr/>
          <p:nvPr/>
        </p:nvSpPr>
        <p:spPr>
          <a:xfrm>
            <a:off x="4709160" y="5431536"/>
            <a:ext cx="274320" cy="182880"/>
          </a:xfrm>
          <a:prstGeom prst="rect">
            <a:avLst/>
          </a:prstGeom>
          <a:noFill/>
          <a:ln/>
        </p:spPr>
        <p:txBody>
          <a:bodyPr wrap="square" lIns="0" tIns="0" rIns="0" bIns="0" rtlCol="0" anchor="ctr"/>
          <a:lstStyle/>
          <a:p>
            <a:pPr marL="0" indent="0" algn="ctr">
              <a:buNone/>
            </a:pPr>
            <a:r>
              <a:rPr lang="en-US" sz="850" dirty="0">
                <a:solidFill>
                  <a:srgbClr val="6B7280"/>
                </a:solidFill>
                <a:latin typeface="Aptos" pitchFamily="34" charset="0"/>
                <a:ea typeface="Aptos" pitchFamily="34" charset="-122"/>
                <a:cs typeface="Aptos" pitchFamily="34" charset="-120"/>
              </a:rPr>
              <a:t>4</a:t>
            </a:r>
            <a:endParaRPr lang="en-US" sz="850" dirty="0"/>
          </a:p>
        </p:txBody>
      </p:sp>
      <p:sp>
        <p:nvSpPr>
          <p:cNvPr id="20" name="Text 18"/>
          <p:cNvSpPr/>
          <p:nvPr/>
        </p:nvSpPr>
        <p:spPr>
          <a:xfrm>
            <a:off x="1106424" y="3063240"/>
            <a:ext cx="237744" cy="182880"/>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4</a:t>
            </a:r>
            <a:endParaRPr lang="en-US" sz="850" dirty="0"/>
          </a:p>
        </p:txBody>
      </p:sp>
      <p:sp>
        <p:nvSpPr>
          <p:cNvPr id="21" name="Text 19"/>
          <p:cNvSpPr/>
          <p:nvPr/>
        </p:nvSpPr>
        <p:spPr>
          <a:xfrm>
            <a:off x="6080760" y="5431536"/>
            <a:ext cx="274320" cy="182880"/>
          </a:xfrm>
          <a:prstGeom prst="rect">
            <a:avLst/>
          </a:prstGeom>
          <a:noFill/>
          <a:ln/>
        </p:spPr>
        <p:txBody>
          <a:bodyPr wrap="square" lIns="0" tIns="0" rIns="0" bIns="0" rtlCol="0" anchor="ctr"/>
          <a:lstStyle/>
          <a:p>
            <a:pPr marL="0" indent="0" algn="ctr">
              <a:buNone/>
            </a:pPr>
            <a:r>
              <a:rPr lang="en-US" sz="850" dirty="0">
                <a:solidFill>
                  <a:srgbClr val="6B7280"/>
                </a:solidFill>
                <a:latin typeface="Aptos" pitchFamily="34" charset="0"/>
                <a:ea typeface="Aptos" pitchFamily="34" charset="-122"/>
                <a:cs typeface="Aptos" pitchFamily="34" charset="-120"/>
              </a:rPr>
              <a:t>5</a:t>
            </a:r>
            <a:endParaRPr lang="en-US" sz="850" dirty="0"/>
          </a:p>
        </p:txBody>
      </p:sp>
      <p:sp>
        <p:nvSpPr>
          <p:cNvPr id="22" name="Text 20"/>
          <p:cNvSpPr/>
          <p:nvPr/>
        </p:nvSpPr>
        <p:spPr>
          <a:xfrm>
            <a:off x="1106424" y="2167128"/>
            <a:ext cx="237744" cy="182880"/>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5</a:t>
            </a:r>
            <a:endParaRPr lang="en-US" sz="850" dirty="0"/>
          </a:p>
        </p:txBody>
      </p:sp>
      <p:sp>
        <p:nvSpPr>
          <p:cNvPr id="23" name="Text 21"/>
          <p:cNvSpPr/>
          <p:nvPr/>
        </p:nvSpPr>
        <p:spPr>
          <a:xfrm>
            <a:off x="1417320" y="5632704"/>
            <a:ext cx="5486400" cy="201168"/>
          </a:xfrm>
          <a:prstGeom prst="rect">
            <a:avLst/>
          </a:prstGeom>
          <a:noFill/>
          <a:ln/>
        </p:spPr>
        <p:txBody>
          <a:bodyPr wrap="square" lIns="0" tIns="0" rIns="0" bIns="0" rtlCol="0" anchor="ctr"/>
          <a:lstStyle/>
          <a:p>
            <a:pPr marL="0" indent="0" algn="ctr">
              <a:buNone/>
            </a:pPr>
            <a:r>
              <a:rPr lang="en-US" sz="850" b="1" dirty="0">
                <a:solidFill>
                  <a:srgbClr val="46577A"/>
                </a:solidFill>
                <a:latin typeface="Aptos" pitchFamily="34" charset="0"/>
                <a:ea typeface="Aptos" pitchFamily="34" charset="-122"/>
                <a:cs typeface="Aptos" pitchFamily="34" charset="-120"/>
              </a:rPr>
              <a:t>GROWTH PRESERVATION  (PASS 4 criterion score / 5)  -&gt;</a:t>
            </a:r>
            <a:endParaRPr lang="en-US" sz="850" dirty="0"/>
          </a:p>
        </p:txBody>
      </p:sp>
      <p:sp>
        <p:nvSpPr>
          <p:cNvPr id="24" name="Text 22"/>
          <p:cNvSpPr/>
          <p:nvPr/>
        </p:nvSpPr>
        <p:spPr>
          <a:xfrm>
            <a:off x="502920" y="1901952"/>
            <a:ext cx="777240" cy="566928"/>
          </a:xfrm>
          <a:prstGeom prst="rect">
            <a:avLst/>
          </a:prstGeom>
          <a:noFill/>
          <a:ln/>
        </p:spPr>
        <p:txBody>
          <a:bodyPr wrap="square" lIns="0" tIns="0" rIns="0" bIns="0" rtlCol="0" anchor="t"/>
          <a:lstStyle/>
          <a:p>
            <a:pPr marL="0" indent="0" algn="r">
              <a:buNone/>
            </a:pPr>
            <a:r>
              <a:rPr lang="en-US" sz="850" b="1" dirty="0">
                <a:solidFill>
                  <a:srgbClr val="46577A"/>
                </a:solidFill>
                <a:latin typeface="Aptos" pitchFamily="34" charset="0"/>
                <a:ea typeface="Aptos" pitchFamily="34" charset="-122"/>
                <a:cs typeface="Aptos" pitchFamily="34" charset="-120"/>
              </a:rPr>
              <a:t>EVIDENCE</a:t>
            </a:r>
            <a:endParaRPr lang="en-US" sz="850" dirty="0"/>
          </a:p>
          <a:p>
            <a:pPr marL="0" indent="0" algn="r">
              <a:buNone/>
            </a:pPr>
            <a:r>
              <a:rPr lang="en-US" sz="850" b="1" dirty="0">
                <a:solidFill>
                  <a:srgbClr val="46577A"/>
                </a:solidFill>
                <a:latin typeface="Aptos" pitchFamily="34" charset="0"/>
                <a:ea typeface="Aptos" pitchFamily="34" charset="-122"/>
                <a:cs typeface="Aptos" pitchFamily="34" charset="-120"/>
              </a:rPr>
              <a:t>STRENGTH</a:t>
            </a:r>
            <a:endParaRPr lang="en-US" sz="850" dirty="0"/>
          </a:p>
          <a:p>
            <a:pPr marL="0" indent="0" algn="r">
              <a:buNone/>
            </a:pPr>
            <a:r>
              <a:rPr lang="en-US" sz="850" b="1" dirty="0">
                <a:solidFill>
                  <a:srgbClr val="46577A"/>
                </a:solidFill>
                <a:latin typeface="Aptos" pitchFamily="34" charset="0"/>
                <a:ea typeface="Aptos" pitchFamily="34" charset="-122"/>
                <a:cs typeface="Aptos" pitchFamily="34" charset="-120"/>
              </a:rPr>
              <a:t>/ 5</a:t>
            </a:r>
            <a:endParaRPr lang="en-US" sz="850" dirty="0"/>
          </a:p>
        </p:txBody>
      </p:sp>
      <p:sp>
        <p:nvSpPr>
          <p:cNvPr id="25" name="Shape 23"/>
          <p:cNvSpPr/>
          <p:nvPr/>
        </p:nvSpPr>
        <p:spPr>
          <a:xfrm>
            <a:off x="1691366" y="1846814"/>
            <a:ext cx="823509" cy="823509"/>
          </a:xfrm>
          <a:prstGeom prst="ellipse">
            <a:avLst/>
          </a:prstGeom>
          <a:solidFill>
            <a:srgbClr val="041E47">
              <a:alpha val="88000"/>
            </a:srgbClr>
          </a:solidFill>
          <a:ln w="9525">
            <a:solidFill>
              <a:srgbClr val="041E47"/>
            </a:solidFill>
            <a:prstDash val="solid"/>
          </a:ln>
        </p:spPr>
      </p:sp>
      <p:sp>
        <p:nvSpPr>
          <p:cNvPr id="26" name="Text 24"/>
          <p:cNvSpPr/>
          <p:nvPr/>
        </p:nvSpPr>
        <p:spPr>
          <a:xfrm>
            <a:off x="1599926" y="1846814"/>
            <a:ext cx="1006389" cy="823509"/>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ALT-1</a:t>
            </a:r>
            <a:endParaRPr lang="en-US" sz="850" dirty="0"/>
          </a:p>
          <a:p>
            <a:pPr marL="0" indent="0" algn="ctr">
              <a:buNone/>
            </a:pPr>
            <a:r>
              <a:rPr lang="en-US" sz="850" b="1" dirty="0">
                <a:solidFill>
                  <a:srgbClr val="FFFFFF"/>
                </a:solidFill>
                <a:latin typeface="Aptos" pitchFamily="34" charset="0"/>
                <a:ea typeface="Aptos" pitchFamily="34" charset="-122"/>
                <a:cs typeface="Aptos" pitchFamily="34" charset="-120"/>
              </a:rPr>
              <a:t>74.4%</a:t>
            </a:r>
            <a:endParaRPr lang="en-US" sz="850" dirty="0"/>
          </a:p>
        </p:txBody>
      </p:sp>
      <p:sp>
        <p:nvSpPr>
          <p:cNvPr id="27" name="Shape 25"/>
          <p:cNvSpPr/>
          <p:nvPr/>
        </p:nvSpPr>
        <p:spPr>
          <a:xfrm>
            <a:off x="4499762" y="4600346"/>
            <a:ext cx="693115" cy="693115"/>
          </a:xfrm>
          <a:prstGeom prst="ellipse">
            <a:avLst/>
          </a:prstGeom>
          <a:solidFill>
            <a:srgbClr val="6B7280">
              <a:alpha val="45000"/>
            </a:srgbClr>
          </a:solidFill>
          <a:ln w="12700">
            <a:solidFill>
              <a:srgbClr val="6B7280"/>
            </a:solidFill>
            <a:prstDash val="dash"/>
          </a:ln>
        </p:spPr>
      </p:sp>
      <p:sp>
        <p:nvSpPr>
          <p:cNvPr id="28" name="Text 26"/>
          <p:cNvSpPr/>
          <p:nvPr/>
        </p:nvSpPr>
        <p:spPr>
          <a:xfrm>
            <a:off x="4408322" y="4600346"/>
            <a:ext cx="875995" cy="693115"/>
          </a:xfrm>
          <a:prstGeom prst="rect">
            <a:avLst/>
          </a:prstGeom>
          <a:noFill/>
          <a:ln/>
        </p:spPr>
        <p:txBody>
          <a:bodyPr wrap="square" lIns="0" tIns="0" rIns="0" bIns="0" rtlCol="0" anchor="ctr"/>
          <a:lstStyle/>
          <a:p>
            <a:pPr marL="0" indent="0" algn="ctr">
              <a:buNone/>
            </a:pPr>
            <a:r>
              <a:rPr lang="en-US" sz="850" b="1" dirty="0">
                <a:solidFill>
                  <a:srgbClr val="041E47"/>
                </a:solidFill>
                <a:latin typeface="Aptos" pitchFamily="34" charset="0"/>
                <a:ea typeface="Aptos" pitchFamily="34" charset="-122"/>
                <a:cs typeface="Aptos" pitchFamily="34" charset="-120"/>
              </a:rPr>
              <a:t>ALT-2</a:t>
            </a:r>
            <a:endParaRPr lang="en-US" sz="850" dirty="0"/>
          </a:p>
          <a:p>
            <a:pPr marL="0" indent="0" algn="ctr">
              <a:buNone/>
            </a:pPr>
            <a:r>
              <a:rPr lang="en-US" sz="850" b="1" dirty="0">
                <a:solidFill>
                  <a:srgbClr val="041E47"/>
                </a:solidFill>
                <a:latin typeface="Aptos" pitchFamily="34" charset="0"/>
                <a:ea typeface="Aptos" pitchFamily="34" charset="-122"/>
                <a:cs typeface="Aptos" pitchFamily="34" charset="-120"/>
              </a:rPr>
              <a:t>62.0%</a:t>
            </a:r>
            <a:endParaRPr lang="en-US" sz="850" dirty="0"/>
          </a:p>
        </p:txBody>
      </p:sp>
      <p:sp>
        <p:nvSpPr>
          <p:cNvPr id="29" name="Shape 27"/>
          <p:cNvSpPr/>
          <p:nvPr/>
        </p:nvSpPr>
        <p:spPr>
          <a:xfrm>
            <a:off x="5723138" y="2751338"/>
            <a:ext cx="806684" cy="806684"/>
          </a:xfrm>
          <a:prstGeom prst="ellipse">
            <a:avLst/>
          </a:prstGeom>
          <a:solidFill>
            <a:srgbClr val="0032A0">
              <a:alpha val="88000"/>
            </a:srgbClr>
          </a:solidFill>
          <a:ln w="9525">
            <a:solidFill>
              <a:srgbClr val="0032A0"/>
            </a:solidFill>
            <a:prstDash val="solid"/>
          </a:ln>
        </p:spPr>
      </p:sp>
      <p:sp>
        <p:nvSpPr>
          <p:cNvPr id="30" name="Text 28"/>
          <p:cNvSpPr/>
          <p:nvPr/>
        </p:nvSpPr>
        <p:spPr>
          <a:xfrm>
            <a:off x="5631698" y="2751338"/>
            <a:ext cx="989564" cy="806684"/>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ALT-3</a:t>
            </a:r>
            <a:endParaRPr lang="en-US" sz="850" dirty="0"/>
          </a:p>
          <a:p>
            <a:pPr marL="0" indent="0" algn="ctr">
              <a:buNone/>
            </a:pPr>
            <a:r>
              <a:rPr lang="en-US" sz="850" b="1" dirty="0">
                <a:solidFill>
                  <a:srgbClr val="FFFFFF"/>
                </a:solidFill>
                <a:latin typeface="Aptos" pitchFamily="34" charset="0"/>
                <a:ea typeface="Aptos" pitchFamily="34" charset="-122"/>
                <a:cs typeface="Aptos" pitchFamily="34" charset="-120"/>
              </a:rPr>
              <a:t>72.8%</a:t>
            </a:r>
            <a:endParaRPr lang="en-US" sz="850" dirty="0"/>
          </a:p>
        </p:txBody>
      </p:sp>
      <p:sp>
        <p:nvSpPr>
          <p:cNvPr id="31" name="Shape 29"/>
          <p:cNvSpPr/>
          <p:nvPr/>
        </p:nvSpPr>
        <p:spPr>
          <a:xfrm>
            <a:off x="5744169" y="3668481"/>
            <a:ext cx="764621" cy="764621"/>
          </a:xfrm>
          <a:prstGeom prst="ellipse">
            <a:avLst/>
          </a:prstGeom>
          <a:solidFill>
            <a:srgbClr val="0032A0">
              <a:alpha val="88000"/>
            </a:srgbClr>
          </a:solidFill>
          <a:ln w="9525">
            <a:solidFill>
              <a:srgbClr val="0032A0"/>
            </a:solidFill>
            <a:prstDash val="solid"/>
          </a:ln>
        </p:spPr>
      </p:sp>
      <p:sp>
        <p:nvSpPr>
          <p:cNvPr id="32" name="Text 30"/>
          <p:cNvSpPr/>
          <p:nvPr/>
        </p:nvSpPr>
        <p:spPr>
          <a:xfrm>
            <a:off x="5652729" y="3668481"/>
            <a:ext cx="947501" cy="764621"/>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ALT-4</a:t>
            </a:r>
            <a:endParaRPr lang="en-US" sz="850" dirty="0"/>
          </a:p>
          <a:p>
            <a:pPr marL="0" indent="0" algn="ctr">
              <a:buNone/>
            </a:pPr>
            <a:r>
              <a:rPr lang="en-US" sz="850" b="1" dirty="0">
                <a:solidFill>
                  <a:srgbClr val="FFFFFF"/>
                </a:solidFill>
                <a:latin typeface="Aptos" pitchFamily="34" charset="0"/>
                <a:ea typeface="Aptos" pitchFamily="34" charset="-122"/>
                <a:cs typeface="Aptos" pitchFamily="34" charset="-120"/>
              </a:rPr>
              <a:t>68.8%</a:t>
            </a:r>
            <a:endParaRPr lang="en-US" sz="850" dirty="0"/>
          </a:p>
        </p:txBody>
      </p:sp>
      <p:sp>
        <p:nvSpPr>
          <p:cNvPr id="33" name="Shape 31"/>
          <p:cNvSpPr/>
          <p:nvPr/>
        </p:nvSpPr>
        <p:spPr>
          <a:xfrm>
            <a:off x="2778404" y="3756812"/>
            <a:ext cx="587959" cy="587959"/>
          </a:xfrm>
          <a:prstGeom prst="ellipse">
            <a:avLst/>
          </a:prstGeom>
          <a:solidFill>
            <a:srgbClr val="6B7280">
              <a:alpha val="45000"/>
            </a:srgbClr>
          </a:solidFill>
          <a:ln w="12700">
            <a:solidFill>
              <a:srgbClr val="6B7280"/>
            </a:solidFill>
            <a:prstDash val="dash"/>
          </a:ln>
        </p:spPr>
      </p:sp>
      <p:sp>
        <p:nvSpPr>
          <p:cNvPr id="34" name="Text 32"/>
          <p:cNvSpPr/>
          <p:nvPr/>
        </p:nvSpPr>
        <p:spPr>
          <a:xfrm>
            <a:off x="2686964" y="3756812"/>
            <a:ext cx="770839" cy="587959"/>
          </a:xfrm>
          <a:prstGeom prst="rect">
            <a:avLst/>
          </a:prstGeom>
          <a:noFill/>
          <a:ln/>
        </p:spPr>
        <p:txBody>
          <a:bodyPr wrap="square" lIns="0" tIns="0" rIns="0" bIns="0" rtlCol="0" anchor="ctr"/>
          <a:lstStyle/>
          <a:p>
            <a:pPr marL="0" indent="0" algn="ctr">
              <a:buNone/>
            </a:pPr>
            <a:r>
              <a:rPr lang="en-US" sz="850" b="1" dirty="0">
                <a:solidFill>
                  <a:srgbClr val="041E47"/>
                </a:solidFill>
                <a:latin typeface="Aptos" pitchFamily="34" charset="0"/>
                <a:ea typeface="Aptos" pitchFamily="34" charset="-122"/>
                <a:cs typeface="Aptos" pitchFamily="34" charset="-120"/>
              </a:rPr>
              <a:t>ALT-5</a:t>
            </a:r>
            <a:endParaRPr lang="en-US" sz="850" dirty="0"/>
          </a:p>
          <a:p>
            <a:pPr marL="0" indent="0" algn="ctr">
              <a:buNone/>
            </a:pPr>
            <a:r>
              <a:rPr lang="en-US" sz="850" b="1" dirty="0">
                <a:solidFill>
                  <a:srgbClr val="041E47"/>
                </a:solidFill>
                <a:latin typeface="Aptos" pitchFamily="34" charset="0"/>
                <a:ea typeface="Aptos" pitchFamily="34" charset="-122"/>
                <a:cs typeface="Aptos" pitchFamily="34" charset="-120"/>
              </a:rPr>
              <a:t>52.0%</a:t>
            </a:r>
            <a:endParaRPr lang="en-US" sz="850" dirty="0"/>
          </a:p>
        </p:txBody>
      </p:sp>
      <p:sp>
        <p:nvSpPr>
          <p:cNvPr id="35" name="Shape 33"/>
          <p:cNvSpPr/>
          <p:nvPr/>
        </p:nvSpPr>
        <p:spPr>
          <a:xfrm>
            <a:off x="3555507" y="3692667"/>
            <a:ext cx="716250" cy="716250"/>
          </a:xfrm>
          <a:prstGeom prst="ellipse">
            <a:avLst/>
          </a:prstGeom>
          <a:solidFill>
            <a:srgbClr val="6B7280">
              <a:alpha val="88000"/>
            </a:srgbClr>
          </a:solidFill>
          <a:ln w="9525">
            <a:solidFill>
              <a:srgbClr val="6B7280"/>
            </a:solidFill>
            <a:prstDash val="solid"/>
          </a:ln>
        </p:spPr>
      </p:sp>
      <p:sp>
        <p:nvSpPr>
          <p:cNvPr id="36" name="Text 34"/>
          <p:cNvSpPr/>
          <p:nvPr/>
        </p:nvSpPr>
        <p:spPr>
          <a:xfrm>
            <a:off x="3464067" y="3692667"/>
            <a:ext cx="899130" cy="716250"/>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ALT-6</a:t>
            </a:r>
            <a:endParaRPr lang="en-US" sz="850" dirty="0"/>
          </a:p>
          <a:p>
            <a:pPr marL="0" indent="0" algn="ctr">
              <a:buNone/>
            </a:pPr>
            <a:r>
              <a:rPr lang="en-US" sz="850" b="1" dirty="0">
                <a:solidFill>
                  <a:srgbClr val="FFFFFF"/>
                </a:solidFill>
                <a:latin typeface="Aptos" pitchFamily="34" charset="0"/>
                <a:ea typeface="Aptos" pitchFamily="34" charset="-122"/>
                <a:cs typeface="Aptos" pitchFamily="34" charset="-120"/>
              </a:rPr>
              <a:t>64.2%</a:t>
            </a:r>
            <a:endParaRPr lang="en-US" sz="850" dirty="0"/>
          </a:p>
        </p:txBody>
      </p:sp>
      <p:sp>
        <p:nvSpPr>
          <p:cNvPr id="37" name="Shape 35"/>
          <p:cNvSpPr/>
          <p:nvPr/>
        </p:nvSpPr>
        <p:spPr>
          <a:xfrm>
            <a:off x="502920" y="5907024"/>
            <a:ext cx="519379" cy="173736"/>
          </a:xfrm>
          <a:prstGeom prst="rect">
            <a:avLst/>
          </a:prstGeom>
          <a:solidFill>
            <a:srgbClr val="041E47"/>
          </a:solidFill>
          <a:ln/>
        </p:spPr>
      </p:sp>
      <p:sp>
        <p:nvSpPr>
          <p:cNvPr id="38" name="Text 36"/>
          <p:cNvSpPr/>
          <p:nvPr/>
        </p:nvSpPr>
        <p:spPr>
          <a:xfrm>
            <a:off x="502920" y="5907024"/>
            <a:ext cx="519379"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FACT</a:t>
            </a:r>
            <a:endParaRPr lang="en-US" sz="900" dirty="0"/>
          </a:p>
        </p:txBody>
      </p:sp>
      <p:sp>
        <p:nvSpPr>
          <p:cNvPr id="39" name="Text 37"/>
          <p:cNvSpPr/>
          <p:nvPr/>
        </p:nvSpPr>
        <p:spPr>
          <a:xfrm>
            <a:off x="1113739" y="5888736"/>
            <a:ext cx="6338621" cy="384048"/>
          </a:xfrm>
          <a:prstGeom prst="rect">
            <a:avLst/>
          </a:prstGeom>
          <a:noFill/>
          <a:ln/>
        </p:spPr>
        <p:txBody>
          <a:bodyPr wrap="square" lIns="0" tIns="0" rIns="0" bIns="0" rtlCol="0" anchor="t"/>
          <a:lstStyle/>
          <a:p>
            <a:pPr marL="0" indent="0">
              <a:buNone/>
            </a:pPr>
            <a:r>
              <a:rPr lang="en-US" sz="850" dirty="0">
                <a:solidFill>
                  <a:srgbClr val="46577A"/>
                </a:solidFill>
                <a:latin typeface="Aptos" pitchFamily="34" charset="0"/>
                <a:ea typeface="Aptos" pitchFamily="34" charset="-122"/>
                <a:cs typeface="Aptos" pitchFamily="34" charset="-120"/>
              </a:rPr>
              <a:t>Scores are locked from the PASS 5 weighted evaluation and reproduced without modification. ALT-5 and ALT-6 share the same position on both axes (growth preservation 3/5, evidence strength 3/5) and are offset only for legibility.</a:t>
            </a:r>
            <a:endParaRPr lang="en-US" sz="850" dirty="0"/>
          </a:p>
        </p:txBody>
      </p:sp>
      <p:sp>
        <p:nvSpPr>
          <p:cNvPr id="40" name="Shape 38"/>
          <p:cNvSpPr/>
          <p:nvPr/>
        </p:nvSpPr>
        <p:spPr>
          <a:xfrm>
            <a:off x="7242048" y="1444752"/>
            <a:ext cx="5486" cy="4480560"/>
          </a:xfrm>
          <a:prstGeom prst="rect">
            <a:avLst/>
          </a:prstGeom>
          <a:solidFill>
            <a:srgbClr val="C9D8F2"/>
          </a:solidFill>
          <a:ln/>
        </p:spPr>
      </p:sp>
      <p:sp>
        <p:nvSpPr>
          <p:cNvPr id="41" name="Text 39"/>
          <p:cNvSpPr/>
          <p:nvPr/>
        </p:nvSpPr>
        <p:spPr>
          <a:xfrm>
            <a:off x="7479792" y="1444752"/>
            <a:ext cx="420624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THE SIX ALTERNATIVES</a:t>
            </a:r>
            <a:endParaRPr lang="en-US" sz="1000" dirty="0"/>
          </a:p>
        </p:txBody>
      </p:sp>
      <p:sp>
        <p:nvSpPr>
          <p:cNvPr id="42" name="Shape 40"/>
          <p:cNvSpPr/>
          <p:nvPr/>
        </p:nvSpPr>
        <p:spPr>
          <a:xfrm>
            <a:off x="7479792" y="1737360"/>
            <a:ext cx="41148" cy="548640"/>
          </a:xfrm>
          <a:prstGeom prst="rect">
            <a:avLst/>
          </a:prstGeom>
          <a:solidFill>
            <a:srgbClr val="041E47"/>
          </a:solidFill>
          <a:ln/>
        </p:spPr>
      </p:sp>
      <p:sp>
        <p:nvSpPr>
          <p:cNvPr id="43" name="Text 41"/>
          <p:cNvSpPr/>
          <p:nvPr/>
        </p:nvSpPr>
        <p:spPr>
          <a:xfrm>
            <a:off x="7626096" y="1719072"/>
            <a:ext cx="640080" cy="219456"/>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ALT-1</a:t>
            </a:r>
            <a:endParaRPr lang="en-US" sz="1000" dirty="0"/>
          </a:p>
        </p:txBody>
      </p:sp>
      <p:sp>
        <p:nvSpPr>
          <p:cNvPr id="44" name="Text 42"/>
          <p:cNvSpPr/>
          <p:nvPr/>
        </p:nvSpPr>
        <p:spPr>
          <a:xfrm>
            <a:off x="8247888" y="1719072"/>
            <a:ext cx="2212848" cy="219456"/>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Capacity Discipline / Pacing</a:t>
            </a:r>
            <a:endParaRPr lang="en-US" sz="1000" dirty="0"/>
          </a:p>
        </p:txBody>
      </p:sp>
      <p:sp>
        <p:nvSpPr>
          <p:cNvPr id="45" name="Text 43"/>
          <p:cNvSpPr/>
          <p:nvPr/>
        </p:nvSpPr>
        <p:spPr>
          <a:xfrm>
            <a:off x="10561320" y="1719072"/>
            <a:ext cx="685800" cy="219456"/>
          </a:xfrm>
          <a:prstGeom prst="rect">
            <a:avLst/>
          </a:prstGeom>
          <a:noFill/>
          <a:ln/>
        </p:spPr>
        <p:txBody>
          <a:bodyPr wrap="square" lIns="0" tIns="0" rIns="0" bIns="0" rtlCol="0" anchor="ctr"/>
          <a:lstStyle/>
          <a:p>
            <a:pPr marL="0" indent="0" algn="r">
              <a:buNone/>
            </a:pPr>
            <a:r>
              <a:rPr lang="en-US" sz="1200" b="1" dirty="0">
                <a:solidFill>
                  <a:srgbClr val="041E47"/>
                </a:solidFill>
                <a:latin typeface="Aptos Display" pitchFamily="34" charset="0"/>
                <a:ea typeface="Aptos Display" pitchFamily="34" charset="-122"/>
                <a:cs typeface="Aptos Display" pitchFamily="34" charset="-120"/>
              </a:rPr>
              <a:t>74.4%</a:t>
            </a:r>
            <a:endParaRPr lang="en-US" sz="1200" dirty="0"/>
          </a:p>
        </p:txBody>
      </p:sp>
      <p:sp>
        <p:nvSpPr>
          <p:cNvPr id="46" name="Text 44"/>
          <p:cNvSpPr/>
          <p:nvPr/>
        </p:nvSpPr>
        <p:spPr>
          <a:xfrm>
            <a:off x="11265408" y="1719072"/>
            <a:ext cx="420624" cy="219456"/>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44/60</a:t>
            </a:r>
            <a:endParaRPr lang="en-US" sz="850" dirty="0"/>
          </a:p>
        </p:txBody>
      </p:sp>
      <p:sp>
        <p:nvSpPr>
          <p:cNvPr id="47" name="Text 45"/>
          <p:cNvSpPr/>
          <p:nvPr/>
        </p:nvSpPr>
        <p:spPr>
          <a:xfrm>
            <a:off x="7626096" y="1956816"/>
            <a:ext cx="2743200" cy="347472"/>
          </a:xfrm>
          <a:prstGeom prst="rect">
            <a:avLst/>
          </a:prstGeom>
          <a:noFill/>
          <a:ln/>
        </p:spPr>
        <p:txBody>
          <a:bodyPr wrap="square" lIns="0" tIns="0" rIns="0" bIns="0" rtlCol="0" anchor="t"/>
          <a:lstStyle/>
          <a:p>
            <a:pPr marL="0" indent="0">
              <a:buNone/>
            </a:pPr>
            <a:r>
              <a:rPr lang="en-US" sz="900" dirty="0">
                <a:solidFill>
                  <a:srgbClr val="46577A"/>
                </a:solidFill>
                <a:latin typeface="Aptos" pitchFamily="34" charset="0"/>
                <a:ea typeface="Aptos" pitchFamily="34" charset="-122"/>
                <a:cs typeface="Aptos" pitchFamily="34" charset="-120"/>
              </a:rPr>
              <a:t>Slow ASK growth toward closer alignment with passenger-demand growth.</a:t>
            </a:r>
            <a:endParaRPr lang="en-US" sz="900" dirty="0"/>
          </a:p>
        </p:txBody>
      </p:sp>
      <p:sp>
        <p:nvSpPr>
          <p:cNvPr id="48" name="Shape 46"/>
          <p:cNvSpPr/>
          <p:nvPr/>
        </p:nvSpPr>
        <p:spPr>
          <a:xfrm>
            <a:off x="7479792" y="2446020"/>
            <a:ext cx="41148" cy="548640"/>
          </a:xfrm>
          <a:prstGeom prst="rect">
            <a:avLst/>
          </a:prstGeom>
          <a:solidFill>
            <a:srgbClr val="6B7280"/>
          </a:solidFill>
          <a:ln/>
        </p:spPr>
      </p:sp>
      <p:sp>
        <p:nvSpPr>
          <p:cNvPr id="49" name="Text 47"/>
          <p:cNvSpPr/>
          <p:nvPr/>
        </p:nvSpPr>
        <p:spPr>
          <a:xfrm>
            <a:off x="7626096" y="2427732"/>
            <a:ext cx="640080" cy="219456"/>
          </a:xfrm>
          <a:prstGeom prst="rect">
            <a:avLst/>
          </a:prstGeom>
          <a:noFill/>
          <a:ln/>
        </p:spPr>
        <p:txBody>
          <a:bodyPr wrap="square" lIns="0" tIns="0" rIns="0" bIns="0" rtlCol="0" anchor="ctr"/>
          <a:lstStyle/>
          <a:p>
            <a:pPr marL="0" indent="0">
              <a:buNone/>
            </a:pPr>
            <a:r>
              <a:rPr lang="en-US" sz="1000" b="1" dirty="0">
                <a:solidFill>
                  <a:srgbClr val="6B7280"/>
                </a:solidFill>
                <a:latin typeface="Aptos" pitchFamily="34" charset="0"/>
                <a:ea typeface="Aptos" pitchFamily="34" charset="-122"/>
                <a:cs typeface="Aptos" pitchFamily="34" charset="-120"/>
              </a:rPr>
              <a:t>ALT-2</a:t>
            </a:r>
            <a:endParaRPr lang="en-US" sz="1000" dirty="0"/>
          </a:p>
        </p:txBody>
      </p:sp>
      <p:sp>
        <p:nvSpPr>
          <p:cNvPr id="50" name="Text 48"/>
          <p:cNvSpPr/>
          <p:nvPr/>
        </p:nvSpPr>
        <p:spPr>
          <a:xfrm>
            <a:off x="8247888" y="2427732"/>
            <a:ext cx="2212848" cy="219456"/>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Capacity Reallocation</a:t>
            </a:r>
            <a:endParaRPr lang="en-US" sz="1000" dirty="0"/>
          </a:p>
        </p:txBody>
      </p:sp>
      <p:sp>
        <p:nvSpPr>
          <p:cNvPr id="51" name="Text 49"/>
          <p:cNvSpPr/>
          <p:nvPr/>
        </p:nvSpPr>
        <p:spPr>
          <a:xfrm>
            <a:off x="10561320" y="2427732"/>
            <a:ext cx="685800" cy="219456"/>
          </a:xfrm>
          <a:prstGeom prst="rect">
            <a:avLst/>
          </a:prstGeom>
          <a:noFill/>
          <a:ln/>
        </p:spPr>
        <p:txBody>
          <a:bodyPr wrap="square" lIns="0" tIns="0" rIns="0" bIns="0" rtlCol="0" anchor="ctr"/>
          <a:lstStyle/>
          <a:p>
            <a:pPr marL="0" indent="0" algn="r">
              <a:buNone/>
            </a:pPr>
            <a:r>
              <a:rPr lang="en-US" sz="1200" b="1" dirty="0">
                <a:solidFill>
                  <a:srgbClr val="6B7280"/>
                </a:solidFill>
                <a:latin typeface="Aptos Display" pitchFamily="34" charset="0"/>
                <a:ea typeface="Aptos Display" pitchFamily="34" charset="-122"/>
                <a:cs typeface="Aptos Display" pitchFamily="34" charset="-120"/>
              </a:rPr>
              <a:t>62.0%</a:t>
            </a:r>
            <a:endParaRPr lang="en-US" sz="1200" dirty="0"/>
          </a:p>
        </p:txBody>
      </p:sp>
      <p:sp>
        <p:nvSpPr>
          <p:cNvPr id="52" name="Text 50"/>
          <p:cNvSpPr/>
          <p:nvPr/>
        </p:nvSpPr>
        <p:spPr>
          <a:xfrm>
            <a:off x="11265408" y="2427732"/>
            <a:ext cx="420624" cy="219456"/>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36/60</a:t>
            </a:r>
            <a:endParaRPr lang="en-US" sz="850" dirty="0"/>
          </a:p>
        </p:txBody>
      </p:sp>
      <p:sp>
        <p:nvSpPr>
          <p:cNvPr id="53" name="Text 51"/>
          <p:cNvSpPr/>
          <p:nvPr/>
        </p:nvSpPr>
        <p:spPr>
          <a:xfrm>
            <a:off x="7626096" y="2665476"/>
            <a:ext cx="2743200" cy="347472"/>
          </a:xfrm>
          <a:prstGeom prst="rect">
            <a:avLst/>
          </a:prstGeom>
          <a:noFill/>
          <a:ln/>
        </p:spPr>
        <p:txBody>
          <a:bodyPr wrap="square" lIns="0" tIns="0" rIns="0" bIns="0" rtlCol="0" anchor="t"/>
          <a:lstStyle/>
          <a:p>
            <a:pPr marL="0" indent="0">
              <a:buNone/>
            </a:pPr>
            <a:r>
              <a:rPr lang="en-US" sz="900" dirty="0">
                <a:solidFill>
                  <a:srgbClr val="46577A"/>
                </a:solidFill>
                <a:latin typeface="Aptos" pitchFamily="34" charset="0"/>
                <a:ea typeface="Aptos" pitchFamily="34" charset="-122"/>
                <a:cs typeface="Aptos" pitchFamily="34" charset="-120"/>
              </a:rPr>
              <a:t>Hold aggregate growth; reallocate capacity toward higher-yield, higher-load routes.</a:t>
            </a:r>
            <a:endParaRPr lang="en-US" sz="900" dirty="0"/>
          </a:p>
        </p:txBody>
      </p:sp>
      <p:sp>
        <p:nvSpPr>
          <p:cNvPr id="54" name="Shape 52"/>
          <p:cNvSpPr/>
          <p:nvPr/>
        </p:nvSpPr>
        <p:spPr>
          <a:xfrm>
            <a:off x="10460736" y="2683764"/>
            <a:ext cx="1225296" cy="164592"/>
          </a:xfrm>
          <a:prstGeom prst="rect">
            <a:avLst/>
          </a:prstGeom>
          <a:solidFill>
            <a:srgbClr val="FFFFFF"/>
          </a:solidFill>
          <a:ln w="9525">
            <a:solidFill>
              <a:srgbClr val="6B7280"/>
            </a:solidFill>
            <a:prstDash val="dash"/>
          </a:ln>
        </p:spPr>
      </p:sp>
      <p:sp>
        <p:nvSpPr>
          <p:cNvPr id="55" name="Text 53"/>
          <p:cNvSpPr/>
          <p:nvPr/>
        </p:nvSpPr>
        <p:spPr>
          <a:xfrm>
            <a:off x="10460736" y="2683764"/>
            <a:ext cx="1225296" cy="164592"/>
          </a:xfrm>
          <a:prstGeom prst="rect">
            <a:avLst/>
          </a:prstGeom>
          <a:noFill/>
          <a:ln/>
        </p:spPr>
        <p:txBody>
          <a:bodyPr wrap="square" lIns="0" tIns="0" rIns="0" bIns="0" rtlCol="0" anchor="ctr"/>
          <a:lstStyle/>
          <a:p>
            <a:pPr marL="0" indent="0" algn="ctr">
              <a:buNone/>
            </a:pPr>
            <a:r>
              <a:rPr lang="en-US" sz="650" b="1" dirty="0">
                <a:solidFill>
                  <a:srgbClr val="6B7280"/>
                </a:solidFill>
                <a:latin typeface="Aptos" pitchFamily="34" charset="0"/>
                <a:ea typeface="Aptos" pitchFamily="34" charset="-122"/>
                <a:cs typeface="Aptos" pitchFamily="34" charset="-120"/>
              </a:rPr>
              <a:t>EVIDENCE-BLOCKED</a:t>
            </a:r>
            <a:endParaRPr lang="en-US" sz="650" dirty="0"/>
          </a:p>
        </p:txBody>
      </p:sp>
      <p:sp>
        <p:nvSpPr>
          <p:cNvPr id="56" name="Shape 54"/>
          <p:cNvSpPr/>
          <p:nvPr/>
        </p:nvSpPr>
        <p:spPr>
          <a:xfrm>
            <a:off x="7479792" y="3154680"/>
            <a:ext cx="41148" cy="548640"/>
          </a:xfrm>
          <a:prstGeom prst="rect">
            <a:avLst/>
          </a:prstGeom>
          <a:solidFill>
            <a:srgbClr val="0032A0"/>
          </a:solidFill>
          <a:ln/>
        </p:spPr>
      </p:sp>
      <p:sp>
        <p:nvSpPr>
          <p:cNvPr id="57" name="Text 55"/>
          <p:cNvSpPr/>
          <p:nvPr/>
        </p:nvSpPr>
        <p:spPr>
          <a:xfrm>
            <a:off x="7626096" y="3136392"/>
            <a:ext cx="640080" cy="219456"/>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ALT-3</a:t>
            </a:r>
            <a:endParaRPr lang="en-US" sz="1000" dirty="0"/>
          </a:p>
        </p:txBody>
      </p:sp>
      <p:sp>
        <p:nvSpPr>
          <p:cNvPr id="58" name="Text 56"/>
          <p:cNvSpPr/>
          <p:nvPr/>
        </p:nvSpPr>
        <p:spPr>
          <a:xfrm>
            <a:off x="8247888" y="3136392"/>
            <a:ext cx="2212848" cy="219456"/>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Unit-Revenue-Led Growth</a:t>
            </a:r>
            <a:endParaRPr lang="en-US" sz="1000" dirty="0"/>
          </a:p>
        </p:txBody>
      </p:sp>
      <p:sp>
        <p:nvSpPr>
          <p:cNvPr id="59" name="Text 57"/>
          <p:cNvSpPr/>
          <p:nvPr/>
        </p:nvSpPr>
        <p:spPr>
          <a:xfrm>
            <a:off x="10561320" y="3136392"/>
            <a:ext cx="685800" cy="219456"/>
          </a:xfrm>
          <a:prstGeom prst="rect">
            <a:avLst/>
          </a:prstGeom>
          <a:noFill/>
          <a:ln/>
        </p:spPr>
        <p:txBody>
          <a:bodyPr wrap="square" lIns="0" tIns="0" rIns="0" bIns="0" rtlCol="0" anchor="ctr"/>
          <a:lstStyle/>
          <a:p>
            <a:pPr marL="0" indent="0" algn="r">
              <a:buNone/>
            </a:pPr>
            <a:r>
              <a:rPr lang="en-US" sz="1200" b="1" dirty="0">
                <a:solidFill>
                  <a:srgbClr val="0032A0"/>
                </a:solidFill>
                <a:latin typeface="Aptos Display" pitchFamily="34" charset="0"/>
                <a:ea typeface="Aptos Display" pitchFamily="34" charset="-122"/>
                <a:cs typeface="Aptos Display" pitchFamily="34" charset="-120"/>
              </a:rPr>
              <a:t>72.8%</a:t>
            </a:r>
            <a:endParaRPr lang="en-US" sz="1200" dirty="0"/>
          </a:p>
        </p:txBody>
      </p:sp>
      <p:sp>
        <p:nvSpPr>
          <p:cNvPr id="60" name="Text 58"/>
          <p:cNvSpPr/>
          <p:nvPr/>
        </p:nvSpPr>
        <p:spPr>
          <a:xfrm>
            <a:off x="11265408" y="3136392"/>
            <a:ext cx="420624" cy="219456"/>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44/60</a:t>
            </a:r>
            <a:endParaRPr lang="en-US" sz="850" dirty="0"/>
          </a:p>
        </p:txBody>
      </p:sp>
      <p:sp>
        <p:nvSpPr>
          <p:cNvPr id="61" name="Text 59"/>
          <p:cNvSpPr/>
          <p:nvPr/>
        </p:nvSpPr>
        <p:spPr>
          <a:xfrm>
            <a:off x="7626096" y="3374136"/>
            <a:ext cx="2743200" cy="347472"/>
          </a:xfrm>
          <a:prstGeom prst="rect">
            <a:avLst/>
          </a:prstGeom>
          <a:noFill/>
          <a:ln/>
        </p:spPr>
        <p:txBody>
          <a:bodyPr wrap="square" lIns="0" tIns="0" rIns="0" bIns="0" rtlCol="0" anchor="t"/>
          <a:lstStyle/>
          <a:p>
            <a:pPr marL="0" indent="0">
              <a:buNone/>
            </a:pPr>
            <a:r>
              <a:rPr lang="en-US" sz="900" dirty="0">
                <a:solidFill>
                  <a:srgbClr val="46577A"/>
                </a:solidFill>
                <a:latin typeface="Aptos" pitchFamily="34" charset="0"/>
                <a:ea typeface="Aptos" pitchFamily="34" charset="-122"/>
                <a:cs typeface="Aptos" pitchFamily="34" charset="-120"/>
              </a:rPr>
              <a:t>Continue growth; prioritise RASK via pricing, ancillary and premiumisation.</a:t>
            </a:r>
            <a:endParaRPr lang="en-US" sz="900" dirty="0"/>
          </a:p>
        </p:txBody>
      </p:sp>
      <p:sp>
        <p:nvSpPr>
          <p:cNvPr id="62" name="Shape 60"/>
          <p:cNvSpPr/>
          <p:nvPr/>
        </p:nvSpPr>
        <p:spPr>
          <a:xfrm>
            <a:off x="7479792" y="3863340"/>
            <a:ext cx="41148" cy="548640"/>
          </a:xfrm>
          <a:prstGeom prst="rect">
            <a:avLst/>
          </a:prstGeom>
          <a:solidFill>
            <a:srgbClr val="0032A0"/>
          </a:solidFill>
          <a:ln/>
        </p:spPr>
      </p:sp>
      <p:sp>
        <p:nvSpPr>
          <p:cNvPr id="63" name="Text 61"/>
          <p:cNvSpPr/>
          <p:nvPr/>
        </p:nvSpPr>
        <p:spPr>
          <a:xfrm>
            <a:off x="7626096" y="3845052"/>
            <a:ext cx="640080" cy="219456"/>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ALT-4</a:t>
            </a:r>
            <a:endParaRPr lang="en-US" sz="1000" dirty="0"/>
          </a:p>
        </p:txBody>
      </p:sp>
      <p:sp>
        <p:nvSpPr>
          <p:cNvPr id="64" name="Text 62"/>
          <p:cNvSpPr/>
          <p:nvPr/>
        </p:nvSpPr>
        <p:spPr>
          <a:xfrm>
            <a:off x="8247888" y="3845052"/>
            <a:ext cx="2212848" cy="219456"/>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Cost / Productivity-Led Growth</a:t>
            </a:r>
            <a:endParaRPr lang="en-US" sz="1000" dirty="0"/>
          </a:p>
        </p:txBody>
      </p:sp>
      <p:sp>
        <p:nvSpPr>
          <p:cNvPr id="65" name="Text 63"/>
          <p:cNvSpPr/>
          <p:nvPr/>
        </p:nvSpPr>
        <p:spPr>
          <a:xfrm>
            <a:off x="10561320" y="3845052"/>
            <a:ext cx="685800" cy="219456"/>
          </a:xfrm>
          <a:prstGeom prst="rect">
            <a:avLst/>
          </a:prstGeom>
          <a:noFill/>
          <a:ln/>
        </p:spPr>
        <p:txBody>
          <a:bodyPr wrap="square" lIns="0" tIns="0" rIns="0" bIns="0" rtlCol="0" anchor="ctr"/>
          <a:lstStyle/>
          <a:p>
            <a:pPr marL="0" indent="0" algn="r">
              <a:buNone/>
            </a:pPr>
            <a:r>
              <a:rPr lang="en-US" sz="1200" b="1" dirty="0">
                <a:solidFill>
                  <a:srgbClr val="0032A0"/>
                </a:solidFill>
                <a:latin typeface="Aptos Display" pitchFamily="34" charset="0"/>
                <a:ea typeface="Aptos Display" pitchFamily="34" charset="-122"/>
                <a:cs typeface="Aptos Display" pitchFamily="34" charset="-120"/>
              </a:rPr>
              <a:t>68.8%</a:t>
            </a:r>
            <a:endParaRPr lang="en-US" sz="1200" dirty="0"/>
          </a:p>
        </p:txBody>
      </p:sp>
      <p:sp>
        <p:nvSpPr>
          <p:cNvPr id="66" name="Text 64"/>
          <p:cNvSpPr/>
          <p:nvPr/>
        </p:nvSpPr>
        <p:spPr>
          <a:xfrm>
            <a:off x="11265408" y="3845052"/>
            <a:ext cx="420624" cy="219456"/>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39/60</a:t>
            </a:r>
            <a:endParaRPr lang="en-US" sz="850" dirty="0"/>
          </a:p>
        </p:txBody>
      </p:sp>
      <p:sp>
        <p:nvSpPr>
          <p:cNvPr id="67" name="Text 65"/>
          <p:cNvSpPr/>
          <p:nvPr/>
        </p:nvSpPr>
        <p:spPr>
          <a:xfrm>
            <a:off x="7626096" y="4082796"/>
            <a:ext cx="2743200" cy="347472"/>
          </a:xfrm>
          <a:prstGeom prst="rect">
            <a:avLst/>
          </a:prstGeom>
          <a:noFill/>
          <a:ln/>
        </p:spPr>
        <p:txBody>
          <a:bodyPr wrap="square" lIns="0" tIns="0" rIns="0" bIns="0" rtlCol="0" anchor="t"/>
          <a:lstStyle/>
          <a:p>
            <a:pPr marL="0" indent="0">
              <a:buNone/>
            </a:pPr>
            <a:r>
              <a:rPr lang="en-US" sz="900" dirty="0">
                <a:solidFill>
                  <a:srgbClr val="46577A"/>
                </a:solidFill>
                <a:latin typeface="Aptos" pitchFamily="34" charset="0"/>
                <a:ea typeface="Aptos" pitchFamily="34" charset="-122"/>
                <a:cs typeface="Aptos" pitchFamily="34" charset="-120"/>
              </a:rPr>
              <a:t>Continue growth; prioritise CASK containment, especially non-fuel and non-FX.</a:t>
            </a:r>
            <a:endParaRPr lang="en-US" sz="900" dirty="0"/>
          </a:p>
        </p:txBody>
      </p:sp>
      <p:sp>
        <p:nvSpPr>
          <p:cNvPr id="68" name="Shape 66"/>
          <p:cNvSpPr/>
          <p:nvPr/>
        </p:nvSpPr>
        <p:spPr>
          <a:xfrm>
            <a:off x="7479792" y="4572000"/>
            <a:ext cx="41148" cy="548640"/>
          </a:xfrm>
          <a:prstGeom prst="rect">
            <a:avLst/>
          </a:prstGeom>
          <a:solidFill>
            <a:srgbClr val="6B7280"/>
          </a:solidFill>
          <a:ln/>
        </p:spPr>
      </p:sp>
      <p:sp>
        <p:nvSpPr>
          <p:cNvPr id="69" name="Text 67"/>
          <p:cNvSpPr/>
          <p:nvPr/>
        </p:nvSpPr>
        <p:spPr>
          <a:xfrm>
            <a:off x="7626096" y="4553712"/>
            <a:ext cx="640080" cy="219456"/>
          </a:xfrm>
          <a:prstGeom prst="rect">
            <a:avLst/>
          </a:prstGeom>
          <a:noFill/>
          <a:ln/>
        </p:spPr>
        <p:txBody>
          <a:bodyPr wrap="square" lIns="0" tIns="0" rIns="0" bIns="0" rtlCol="0" anchor="ctr"/>
          <a:lstStyle/>
          <a:p>
            <a:pPr marL="0" indent="0">
              <a:buNone/>
            </a:pPr>
            <a:r>
              <a:rPr lang="en-US" sz="1000" b="1" dirty="0">
                <a:solidFill>
                  <a:srgbClr val="6B7280"/>
                </a:solidFill>
                <a:latin typeface="Aptos" pitchFamily="34" charset="0"/>
                <a:ea typeface="Aptos" pitchFamily="34" charset="-122"/>
                <a:cs typeface="Aptos" pitchFamily="34" charset="-120"/>
              </a:rPr>
              <a:t>ALT-5</a:t>
            </a:r>
            <a:endParaRPr lang="en-US" sz="1000" dirty="0"/>
          </a:p>
        </p:txBody>
      </p:sp>
      <p:sp>
        <p:nvSpPr>
          <p:cNvPr id="70" name="Text 68"/>
          <p:cNvSpPr/>
          <p:nvPr/>
        </p:nvSpPr>
        <p:spPr>
          <a:xfrm>
            <a:off x="8247888" y="4553712"/>
            <a:ext cx="2212848" cy="219456"/>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International, Selective Pacing</a:t>
            </a:r>
            <a:endParaRPr lang="en-US" sz="1000" dirty="0"/>
          </a:p>
        </p:txBody>
      </p:sp>
      <p:sp>
        <p:nvSpPr>
          <p:cNvPr id="71" name="Text 69"/>
          <p:cNvSpPr/>
          <p:nvPr/>
        </p:nvSpPr>
        <p:spPr>
          <a:xfrm>
            <a:off x="10561320" y="4553712"/>
            <a:ext cx="685800" cy="219456"/>
          </a:xfrm>
          <a:prstGeom prst="rect">
            <a:avLst/>
          </a:prstGeom>
          <a:noFill/>
          <a:ln/>
        </p:spPr>
        <p:txBody>
          <a:bodyPr wrap="square" lIns="0" tIns="0" rIns="0" bIns="0" rtlCol="0" anchor="ctr"/>
          <a:lstStyle/>
          <a:p>
            <a:pPr marL="0" indent="0" algn="r">
              <a:buNone/>
            </a:pPr>
            <a:r>
              <a:rPr lang="en-US" sz="1200" b="1" dirty="0">
                <a:solidFill>
                  <a:srgbClr val="6B7280"/>
                </a:solidFill>
                <a:latin typeface="Aptos Display" pitchFamily="34" charset="0"/>
                <a:ea typeface="Aptos Display" pitchFamily="34" charset="-122"/>
                <a:cs typeface="Aptos Display" pitchFamily="34" charset="-120"/>
              </a:rPr>
              <a:t>52.0%</a:t>
            </a:r>
            <a:endParaRPr lang="en-US" sz="1200" dirty="0"/>
          </a:p>
        </p:txBody>
      </p:sp>
      <p:sp>
        <p:nvSpPr>
          <p:cNvPr id="72" name="Text 70"/>
          <p:cNvSpPr/>
          <p:nvPr/>
        </p:nvSpPr>
        <p:spPr>
          <a:xfrm>
            <a:off x="11265408" y="4553712"/>
            <a:ext cx="420624" cy="219456"/>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32/60</a:t>
            </a:r>
            <a:endParaRPr lang="en-US" sz="850" dirty="0"/>
          </a:p>
        </p:txBody>
      </p:sp>
      <p:sp>
        <p:nvSpPr>
          <p:cNvPr id="73" name="Text 71"/>
          <p:cNvSpPr/>
          <p:nvPr/>
        </p:nvSpPr>
        <p:spPr>
          <a:xfrm>
            <a:off x="7626096" y="4791456"/>
            <a:ext cx="2743200" cy="347472"/>
          </a:xfrm>
          <a:prstGeom prst="rect">
            <a:avLst/>
          </a:prstGeom>
          <a:noFill/>
          <a:ln/>
        </p:spPr>
        <p:txBody>
          <a:bodyPr wrap="square" lIns="0" tIns="0" rIns="0" bIns="0" rtlCol="0" anchor="t"/>
          <a:lstStyle/>
          <a:p>
            <a:pPr marL="0" indent="0">
              <a:buNone/>
            </a:pPr>
            <a:r>
              <a:rPr lang="en-US" sz="900" dirty="0">
                <a:solidFill>
                  <a:srgbClr val="46577A"/>
                </a:solidFill>
                <a:latin typeface="Aptos" pitchFamily="34" charset="0"/>
                <a:ea typeface="Aptos" pitchFamily="34" charset="-122"/>
                <a:cs typeface="Aptos" pitchFamily="34" charset="-120"/>
              </a:rPr>
              <a:t>Continue long-haul build-out, paced against evidence thresholds.</a:t>
            </a:r>
            <a:endParaRPr lang="en-US" sz="900" dirty="0"/>
          </a:p>
        </p:txBody>
      </p:sp>
      <p:sp>
        <p:nvSpPr>
          <p:cNvPr id="74" name="Shape 72"/>
          <p:cNvSpPr/>
          <p:nvPr/>
        </p:nvSpPr>
        <p:spPr>
          <a:xfrm>
            <a:off x="10460736" y="4809744"/>
            <a:ext cx="1225296" cy="164592"/>
          </a:xfrm>
          <a:prstGeom prst="rect">
            <a:avLst/>
          </a:prstGeom>
          <a:solidFill>
            <a:srgbClr val="FFFFFF"/>
          </a:solidFill>
          <a:ln w="9525">
            <a:solidFill>
              <a:srgbClr val="6B7280"/>
            </a:solidFill>
            <a:prstDash val="dash"/>
          </a:ln>
        </p:spPr>
      </p:sp>
      <p:sp>
        <p:nvSpPr>
          <p:cNvPr id="75" name="Text 73"/>
          <p:cNvSpPr/>
          <p:nvPr/>
        </p:nvSpPr>
        <p:spPr>
          <a:xfrm>
            <a:off x="10460736" y="4809744"/>
            <a:ext cx="1225296" cy="164592"/>
          </a:xfrm>
          <a:prstGeom prst="rect">
            <a:avLst/>
          </a:prstGeom>
          <a:noFill/>
          <a:ln/>
        </p:spPr>
        <p:txBody>
          <a:bodyPr wrap="square" lIns="0" tIns="0" rIns="0" bIns="0" rtlCol="0" anchor="ctr"/>
          <a:lstStyle/>
          <a:p>
            <a:pPr marL="0" indent="0" algn="ctr">
              <a:buNone/>
            </a:pPr>
            <a:r>
              <a:rPr lang="en-US" sz="650" b="1" dirty="0">
                <a:solidFill>
                  <a:srgbClr val="6B7280"/>
                </a:solidFill>
                <a:latin typeface="Aptos" pitchFamily="34" charset="0"/>
                <a:ea typeface="Aptos" pitchFamily="34" charset="-122"/>
                <a:cs typeface="Aptos" pitchFamily="34" charset="-120"/>
              </a:rPr>
              <a:t>EVIDENCE-BLOCKED</a:t>
            </a:r>
            <a:endParaRPr lang="en-US" sz="650" dirty="0"/>
          </a:p>
        </p:txBody>
      </p:sp>
      <p:sp>
        <p:nvSpPr>
          <p:cNvPr id="76" name="Shape 74"/>
          <p:cNvSpPr/>
          <p:nvPr/>
        </p:nvSpPr>
        <p:spPr>
          <a:xfrm>
            <a:off x="7479792" y="5280660"/>
            <a:ext cx="41148" cy="548640"/>
          </a:xfrm>
          <a:prstGeom prst="rect">
            <a:avLst/>
          </a:prstGeom>
          <a:solidFill>
            <a:srgbClr val="6B7280"/>
          </a:solidFill>
          <a:ln/>
        </p:spPr>
      </p:sp>
      <p:sp>
        <p:nvSpPr>
          <p:cNvPr id="77" name="Text 75"/>
          <p:cNvSpPr/>
          <p:nvPr/>
        </p:nvSpPr>
        <p:spPr>
          <a:xfrm>
            <a:off x="7626096" y="5262372"/>
            <a:ext cx="640080" cy="219456"/>
          </a:xfrm>
          <a:prstGeom prst="rect">
            <a:avLst/>
          </a:prstGeom>
          <a:noFill/>
          <a:ln/>
        </p:spPr>
        <p:txBody>
          <a:bodyPr wrap="square" lIns="0" tIns="0" rIns="0" bIns="0" rtlCol="0" anchor="ctr"/>
          <a:lstStyle/>
          <a:p>
            <a:pPr marL="0" indent="0">
              <a:buNone/>
            </a:pPr>
            <a:r>
              <a:rPr lang="en-US" sz="1000" b="1" dirty="0">
                <a:solidFill>
                  <a:srgbClr val="6B7280"/>
                </a:solidFill>
                <a:latin typeface="Aptos" pitchFamily="34" charset="0"/>
                <a:ea typeface="Aptos" pitchFamily="34" charset="-122"/>
                <a:cs typeface="Aptos" pitchFamily="34" charset="-120"/>
              </a:rPr>
              <a:t>ALT-6</a:t>
            </a:r>
            <a:endParaRPr lang="en-US" sz="1000" dirty="0"/>
          </a:p>
        </p:txBody>
      </p:sp>
      <p:sp>
        <p:nvSpPr>
          <p:cNvPr id="78" name="Text 76"/>
          <p:cNvSpPr/>
          <p:nvPr/>
        </p:nvSpPr>
        <p:spPr>
          <a:xfrm>
            <a:off x="8247888" y="5262372"/>
            <a:ext cx="2212848" cy="219456"/>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Hybrid - simultaneous 1 + 3 + 4</a:t>
            </a:r>
            <a:endParaRPr lang="en-US" sz="1000" dirty="0"/>
          </a:p>
        </p:txBody>
      </p:sp>
      <p:sp>
        <p:nvSpPr>
          <p:cNvPr id="79" name="Text 77"/>
          <p:cNvSpPr/>
          <p:nvPr/>
        </p:nvSpPr>
        <p:spPr>
          <a:xfrm>
            <a:off x="10561320" y="5262372"/>
            <a:ext cx="685800" cy="219456"/>
          </a:xfrm>
          <a:prstGeom prst="rect">
            <a:avLst/>
          </a:prstGeom>
          <a:noFill/>
          <a:ln/>
        </p:spPr>
        <p:txBody>
          <a:bodyPr wrap="square" lIns="0" tIns="0" rIns="0" bIns="0" rtlCol="0" anchor="ctr"/>
          <a:lstStyle/>
          <a:p>
            <a:pPr marL="0" indent="0" algn="r">
              <a:buNone/>
            </a:pPr>
            <a:r>
              <a:rPr lang="en-US" sz="1200" b="1" dirty="0">
                <a:solidFill>
                  <a:srgbClr val="6B7280"/>
                </a:solidFill>
                <a:latin typeface="Aptos Display" pitchFamily="34" charset="0"/>
                <a:ea typeface="Aptos Display" pitchFamily="34" charset="-122"/>
                <a:cs typeface="Aptos Display" pitchFamily="34" charset="-120"/>
              </a:rPr>
              <a:t>64.2%</a:t>
            </a:r>
            <a:endParaRPr lang="en-US" sz="1200" dirty="0"/>
          </a:p>
        </p:txBody>
      </p:sp>
      <p:sp>
        <p:nvSpPr>
          <p:cNvPr id="80" name="Text 78"/>
          <p:cNvSpPr/>
          <p:nvPr/>
        </p:nvSpPr>
        <p:spPr>
          <a:xfrm>
            <a:off x="11265408" y="5262372"/>
            <a:ext cx="420624" cy="219456"/>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38/60</a:t>
            </a:r>
            <a:endParaRPr lang="en-US" sz="850" dirty="0"/>
          </a:p>
        </p:txBody>
      </p:sp>
      <p:sp>
        <p:nvSpPr>
          <p:cNvPr id="81" name="Text 79"/>
          <p:cNvSpPr/>
          <p:nvPr/>
        </p:nvSpPr>
        <p:spPr>
          <a:xfrm>
            <a:off x="7626096" y="5500116"/>
            <a:ext cx="2743200" cy="347472"/>
          </a:xfrm>
          <a:prstGeom prst="rect">
            <a:avLst/>
          </a:prstGeom>
          <a:noFill/>
          <a:ln/>
        </p:spPr>
        <p:txBody>
          <a:bodyPr wrap="square" lIns="0" tIns="0" rIns="0" bIns="0" rtlCol="0" anchor="t"/>
          <a:lstStyle/>
          <a:p>
            <a:pPr marL="0" indent="0">
              <a:buNone/>
            </a:pPr>
            <a:r>
              <a:rPr lang="en-US" sz="900" dirty="0">
                <a:solidFill>
                  <a:srgbClr val="46577A"/>
                </a:solidFill>
                <a:latin typeface="Aptos" pitchFamily="34" charset="0"/>
                <a:ea typeface="Aptos" pitchFamily="34" charset="-122"/>
                <a:cs typeface="Aptos" pitchFamily="34" charset="-120"/>
              </a:rPr>
              <a:t>Activate all three levers simultaneously, as originally scored.</a:t>
            </a:r>
            <a:endParaRPr lang="en-US" sz="900" dirty="0"/>
          </a:p>
        </p:txBody>
      </p:sp>
      <p:sp>
        <p:nvSpPr>
          <p:cNvPr id="82" name="Text 80"/>
          <p:cNvSpPr/>
          <p:nvPr/>
        </p:nvSpPr>
        <p:spPr>
          <a:xfrm>
            <a:off x="7479792" y="5943600"/>
            <a:ext cx="4206240" cy="310896"/>
          </a:xfrm>
          <a:prstGeom prst="rect">
            <a:avLst/>
          </a:prstGeom>
          <a:noFill/>
          <a:ln/>
        </p:spPr>
        <p:txBody>
          <a:bodyPr wrap="square" lIns="0" tIns="0" rIns="0" bIns="0" rtlCol="0" anchor="t"/>
          <a:lstStyle/>
          <a:p>
            <a:pPr marL="0" indent="0" algn="l">
              <a:lnSpc>
                <a:spcPct val="112000"/>
              </a:lnSpc>
              <a:buNone/>
            </a:pPr>
            <a:r>
              <a:rPr lang="en-US" sz="900" dirty="0">
                <a:solidFill>
                  <a:srgbClr val="6B7280"/>
                </a:solidFill>
                <a:latin typeface="Aptos" pitchFamily="34" charset="0"/>
                <a:ea typeface="Aptos" pitchFamily="34" charset="-122"/>
                <a:cs typeface="Aptos" pitchFamily="34" charset="-120"/>
              </a:rPr>
              <a:t>ALT-2 and ALT-5 are evidence-blocked: route-level and international route-level profitability are not established.</a:t>
            </a:r>
            <a:endParaRPr lang="en-US" sz="900" dirty="0"/>
          </a:p>
        </p:txBody>
      </p:sp>
      <p:sp>
        <p:nvSpPr>
          <p:cNvPr id="83" name="Shape 81"/>
          <p:cNvSpPr/>
          <p:nvPr/>
        </p:nvSpPr>
        <p:spPr>
          <a:xfrm>
            <a:off x="502920" y="6309360"/>
            <a:ext cx="11185855" cy="5486"/>
          </a:xfrm>
          <a:prstGeom prst="rect">
            <a:avLst/>
          </a:prstGeom>
          <a:solidFill>
            <a:srgbClr val="C9D8F2"/>
          </a:solidFill>
          <a:ln/>
        </p:spPr>
      </p:sp>
      <p:sp>
        <p:nvSpPr>
          <p:cNvPr id="84" name="Text 82"/>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85" name="Text 83"/>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IndiGo_PASS_1C_4_5_Source_Pack - IndiGo_PASS_7_Traceability_Recovery_Pack - Section 11</a:t>
            </a:r>
            <a:endParaRPr lang="en-US" sz="800" dirty="0"/>
          </a:p>
        </p:txBody>
      </p:sp>
      <p:sp>
        <p:nvSpPr>
          <p:cNvPr id="86" name="Shape 84"/>
          <p:cNvSpPr/>
          <p:nvPr/>
        </p:nvSpPr>
        <p:spPr>
          <a:xfrm>
            <a:off x="11484864" y="6364224"/>
            <a:ext cx="201168" cy="201168"/>
          </a:xfrm>
          <a:prstGeom prst="rect">
            <a:avLst/>
          </a:prstGeom>
          <a:solidFill>
            <a:srgbClr val="0032A0"/>
          </a:solidFill>
          <a:ln/>
        </p:spPr>
      </p:sp>
      <p:sp>
        <p:nvSpPr>
          <p:cNvPr id="87" name="Text 85"/>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28</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09 - STRATEGIC CHOICE</a:t>
            </a:r>
            <a:endParaRPr lang="en-US" sz="1000" dirty="0"/>
          </a:p>
        </p:txBody>
      </p:sp>
      <p:sp>
        <p:nvSpPr>
          <p:cNvPr id="3" name="Shape 1"/>
          <p:cNvSpPr/>
          <p:nvPr/>
        </p:nvSpPr>
        <p:spPr>
          <a:xfrm>
            <a:off x="502920" y="571500"/>
            <a:ext cx="1463040" cy="45720"/>
          </a:xfrm>
          <a:prstGeom prst="rect">
            <a:avLst/>
          </a:prstGeom>
          <a:solidFill>
            <a:srgbClr val="0032A0"/>
          </a:solidFill>
          <a:ln/>
        </p:spPr>
      </p:sp>
      <p:sp>
        <p:nvSpPr>
          <p:cNvPr id="4" name="Text 2"/>
          <p:cNvSpPr/>
          <p:nvPr/>
        </p:nvSpPr>
        <p:spPr>
          <a:xfrm>
            <a:off x="502920" y="603504"/>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The highest score is not the right decision on one year of evidence</a:t>
            </a:r>
            <a:endParaRPr lang="en-US" sz="2250" dirty="0"/>
          </a:p>
        </p:txBody>
      </p:sp>
      <p:sp>
        <p:nvSpPr>
          <p:cNvPr id="5" name="Text 3"/>
          <p:cNvSpPr/>
          <p:nvPr/>
        </p:nvSpPr>
        <p:spPr>
          <a:xfrm>
            <a:off x="502920" y="1444752"/>
            <a:ext cx="384048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PASS 5 WEIGHTED SCORES</a:t>
            </a:r>
            <a:endParaRPr lang="en-US" sz="1000" dirty="0"/>
          </a:p>
        </p:txBody>
      </p:sp>
      <p:sp>
        <p:nvSpPr>
          <p:cNvPr id="6" name="Text 4"/>
          <p:cNvSpPr/>
          <p:nvPr/>
        </p:nvSpPr>
        <p:spPr>
          <a:xfrm>
            <a:off x="502920" y="1810512"/>
            <a:ext cx="640080" cy="329184"/>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ALT-1</a:t>
            </a:r>
            <a:endParaRPr lang="en-US" sz="1000" dirty="0"/>
          </a:p>
        </p:txBody>
      </p:sp>
      <p:sp>
        <p:nvSpPr>
          <p:cNvPr id="7" name="Shape 5"/>
          <p:cNvSpPr/>
          <p:nvPr/>
        </p:nvSpPr>
        <p:spPr>
          <a:xfrm>
            <a:off x="1207008" y="1847088"/>
            <a:ext cx="2006925" cy="256032"/>
          </a:xfrm>
          <a:prstGeom prst="rect">
            <a:avLst/>
          </a:prstGeom>
          <a:solidFill>
            <a:srgbClr val="041E47"/>
          </a:solidFill>
          <a:ln/>
        </p:spPr>
      </p:sp>
      <p:sp>
        <p:nvSpPr>
          <p:cNvPr id="8" name="Text 6"/>
          <p:cNvSpPr/>
          <p:nvPr/>
        </p:nvSpPr>
        <p:spPr>
          <a:xfrm>
            <a:off x="3287085" y="1810512"/>
            <a:ext cx="731520" cy="329184"/>
          </a:xfrm>
          <a:prstGeom prst="rect">
            <a:avLst/>
          </a:prstGeom>
          <a:noFill/>
          <a:ln/>
        </p:spPr>
        <p:txBody>
          <a:bodyPr wrap="square" lIns="0" tIns="0" rIns="0" bIns="0" rtlCol="0" anchor="ctr"/>
          <a:lstStyle/>
          <a:p>
            <a:pPr marL="0" indent="0">
              <a:buNone/>
            </a:pPr>
            <a:r>
              <a:rPr lang="en-US" sz="1200" b="1" dirty="0">
                <a:solidFill>
                  <a:srgbClr val="041E47"/>
                </a:solidFill>
                <a:latin typeface="Aptos Display" pitchFamily="34" charset="0"/>
                <a:ea typeface="Aptos Display" pitchFamily="34" charset="-122"/>
                <a:cs typeface="Aptos Display" pitchFamily="34" charset="-120"/>
              </a:rPr>
              <a:t>74.4%</a:t>
            </a:r>
            <a:endParaRPr lang="en-US" sz="1200" dirty="0"/>
          </a:p>
        </p:txBody>
      </p:sp>
      <p:sp>
        <p:nvSpPr>
          <p:cNvPr id="9" name="Text 7"/>
          <p:cNvSpPr/>
          <p:nvPr/>
        </p:nvSpPr>
        <p:spPr>
          <a:xfrm>
            <a:off x="502920" y="2359152"/>
            <a:ext cx="640080" cy="329184"/>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ALT-3</a:t>
            </a:r>
            <a:endParaRPr lang="en-US" sz="1000" dirty="0"/>
          </a:p>
        </p:txBody>
      </p:sp>
      <p:sp>
        <p:nvSpPr>
          <p:cNvPr id="10" name="Shape 8"/>
          <p:cNvSpPr/>
          <p:nvPr/>
        </p:nvSpPr>
        <p:spPr>
          <a:xfrm>
            <a:off x="1207008" y="2395728"/>
            <a:ext cx="1963765" cy="256032"/>
          </a:xfrm>
          <a:prstGeom prst="rect">
            <a:avLst/>
          </a:prstGeom>
          <a:solidFill>
            <a:srgbClr val="0032A0"/>
          </a:solidFill>
          <a:ln/>
        </p:spPr>
      </p:sp>
      <p:sp>
        <p:nvSpPr>
          <p:cNvPr id="11" name="Text 9"/>
          <p:cNvSpPr/>
          <p:nvPr/>
        </p:nvSpPr>
        <p:spPr>
          <a:xfrm>
            <a:off x="3243925" y="2359152"/>
            <a:ext cx="731520" cy="329184"/>
          </a:xfrm>
          <a:prstGeom prst="rect">
            <a:avLst/>
          </a:prstGeom>
          <a:noFill/>
          <a:ln/>
        </p:spPr>
        <p:txBody>
          <a:bodyPr wrap="square" lIns="0" tIns="0" rIns="0" bIns="0" rtlCol="0" anchor="ctr"/>
          <a:lstStyle/>
          <a:p>
            <a:pPr marL="0" indent="0">
              <a:buNone/>
            </a:pPr>
            <a:r>
              <a:rPr lang="en-US" sz="1200" b="1" dirty="0">
                <a:solidFill>
                  <a:srgbClr val="041E47"/>
                </a:solidFill>
                <a:latin typeface="Aptos Display" pitchFamily="34" charset="0"/>
                <a:ea typeface="Aptos Display" pitchFamily="34" charset="-122"/>
                <a:cs typeface="Aptos Display" pitchFamily="34" charset="-120"/>
              </a:rPr>
              <a:t>72.8%</a:t>
            </a:r>
            <a:endParaRPr lang="en-US" sz="1200" dirty="0"/>
          </a:p>
        </p:txBody>
      </p:sp>
      <p:sp>
        <p:nvSpPr>
          <p:cNvPr id="12" name="Text 10"/>
          <p:cNvSpPr/>
          <p:nvPr/>
        </p:nvSpPr>
        <p:spPr>
          <a:xfrm>
            <a:off x="502920" y="2907792"/>
            <a:ext cx="640080" cy="329184"/>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ALT-4</a:t>
            </a:r>
            <a:endParaRPr lang="en-US" sz="1000" dirty="0"/>
          </a:p>
        </p:txBody>
      </p:sp>
      <p:sp>
        <p:nvSpPr>
          <p:cNvPr id="13" name="Shape 11"/>
          <p:cNvSpPr/>
          <p:nvPr/>
        </p:nvSpPr>
        <p:spPr>
          <a:xfrm>
            <a:off x="1207008" y="2944368"/>
            <a:ext cx="1855866" cy="256032"/>
          </a:xfrm>
          <a:prstGeom prst="rect">
            <a:avLst/>
          </a:prstGeom>
          <a:solidFill>
            <a:srgbClr val="0032A0"/>
          </a:solidFill>
          <a:ln/>
        </p:spPr>
      </p:sp>
      <p:sp>
        <p:nvSpPr>
          <p:cNvPr id="14" name="Text 12"/>
          <p:cNvSpPr/>
          <p:nvPr/>
        </p:nvSpPr>
        <p:spPr>
          <a:xfrm>
            <a:off x="3136026" y="2907792"/>
            <a:ext cx="731520" cy="329184"/>
          </a:xfrm>
          <a:prstGeom prst="rect">
            <a:avLst/>
          </a:prstGeom>
          <a:noFill/>
          <a:ln/>
        </p:spPr>
        <p:txBody>
          <a:bodyPr wrap="square" lIns="0" tIns="0" rIns="0" bIns="0" rtlCol="0" anchor="ctr"/>
          <a:lstStyle/>
          <a:p>
            <a:pPr marL="0" indent="0">
              <a:buNone/>
            </a:pPr>
            <a:r>
              <a:rPr lang="en-US" sz="1200" b="1" dirty="0">
                <a:solidFill>
                  <a:srgbClr val="041E47"/>
                </a:solidFill>
                <a:latin typeface="Aptos Display" pitchFamily="34" charset="0"/>
                <a:ea typeface="Aptos Display" pitchFamily="34" charset="-122"/>
                <a:cs typeface="Aptos Display" pitchFamily="34" charset="-120"/>
              </a:rPr>
              <a:t>68.8%</a:t>
            </a:r>
            <a:endParaRPr lang="en-US" sz="1200" dirty="0"/>
          </a:p>
        </p:txBody>
      </p:sp>
      <p:sp>
        <p:nvSpPr>
          <p:cNvPr id="15" name="Text 13"/>
          <p:cNvSpPr/>
          <p:nvPr/>
        </p:nvSpPr>
        <p:spPr>
          <a:xfrm>
            <a:off x="502920" y="3456432"/>
            <a:ext cx="640080" cy="329184"/>
          </a:xfrm>
          <a:prstGeom prst="rect">
            <a:avLst/>
          </a:prstGeom>
          <a:noFill/>
          <a:ln/>
        </p:spPr>
        <p:txBody>
          <a:bodyPr wrap="square" lIns="0" tIns="0" rIns="0" bIns="0" rtlCol="0" anchor="ctr"/>
          <a:lstStyle/>
          <a:p>
            <a:pPr marL="0" indent="0">
              <a:buNone/>
            </a:pPr>
            <a:r>
              <a:rPr lang="en-US" sz="1000" b="1" dirty="0">
                <a:solidFill>
                  <a:srgbClr val="6B7280"/>
                </a:solidFill>
                <a:latin typeface="Aptos" pitchFamily="34" charset="0"/>
                <a:ea typeface="Aptos" pitchFamily="34" charset="-122"/>
                <a:cs typeface="Aptos" pitchFamily="34" charset="-120"/>
              </a:rPr>
              <a:t>ALT-6</a:t>
            </a:r>
            <a:endParaRPr lang="en-US" sz="1000" dirty="0"/>
          </a:p>
        </p:txBody>
      </p:sp>
      <p:sp>
        <p:nvSpPr>
          <p:cNvPr id="16" name="Shape 14"/>
          <p:cNvSpPr/>
          <p:nvPr/>
        </p:nvSpPr>
        <p:spPr>
          <a:xfrm>
            <a:off x="1207008" y="3493008"/>
            <a:ext cx="1731782" cy="256032"/>
          </a:xfrm>
          <a:prstGeom prst="rect">
            <a:avLst/>
          </a:prstGeom>
          <a:solidFill>
            <a:srgbClr val="6B7280">
              <a:alpha val="55000"/>
            </a:srgbClr>
          </a:solidFill>
          <a:ln/>
        </p:spPr>
      </p:sp>
      <p:sp>
        <p:nvSpPr>
          <p:cNvPr id="17" name="Text 15"/>
          <p:cNvSpPr/>
          <p:nvPr/>
        </p:nvSpPr>
        <p:spPr>
          <a:xfrm>
            <a:off x="3011942" y="3456432"/>
            <a:ext cx="731520" cy="329184"/>
          </a:xfrm>
          <a:prstGeom prst="rect">
            <a:avLst/>
          </a:prstGeom>
          <a:noFill/>
          <a:ln/>
        </p:spPr>
        <p:txBody>
          <a:bodyPr wrap="square" lIns="0" tIns="0" rIns="0" bIns="0" rtlCol="0" anchor="ctr"/>
          <a:lstStyle/>
          <a:p>
            <a:pPr marL="0" indent="0">
              <a:buNone/>
            </a:pPr>
            <a:r>
              <a:rPr lang="en-US" sz="1200" b="1" dirty="0">
                <a:solidFill>
                  <a:srgbClr val="6B7280"/>
                </a:solidFill>
                <a:latin typeface="Aptos Display" pitchFamily="34" charset="0"/>
                <a:ea typeface="Aptos Display" pitchFamily="34" charset="-122"/>
                <a:cs typeface="Aptos Display" pitchFamily="34" charset="-120"/>
              </a:rPr>
              <a:t>64.2%</a:t>
            </a:r>
            <a:endParaRPr lang="en-US" sz="1200" dirty="0"/>
          </a:p>
        </p:txBody>
      </p:sp>
      <p:sp>
        <p:nvSpPr>
          <p:cNvPr id="18" name="Text 16"/>
          <p:cNvSpPr/>
          <p:nvPr/>
        </p:nvSpPr>
        <p:spPr>
          <a:xfrm>
            <a:off x="502920" y="4005072"/>
            <a:ext cx="640080" cy="329184"/>
          </a:xfrm>
          <a:prstGeom prst="rect">
            <a:avLst/>
          </a:prstGeom>
          <a:noFill/>
          <a:ln/>
        </p:spPr>
        <p:txBody>
          <a:bodyPr wrap="square" lIns="0" tIns="0" rIns="0" bIns="0" rtlCol="0" anchor="ctr"/>
          <a:lstStyle/>
          <a:p>
            <a:pPr marL="0" indent="0">
              <a:buNone/>
            </a:pPr>
            <a:r>
              <a:rPr lang="en-US" sz="1000" b="1" dirty="0">
                <a:solidFill>
                  <a:srgbClr val="6B7280"/>
                </a:solidFill>
                <a:latin typeface="Aptos" pitchFamily="34" charset="0"/>
                <a:ea typeface="Aptos" pitchFamily="34" charset="-122"/>
                <a:cs typeface="Aptos" pitchFamily="34" charset="-120"/>
              </a:rPr>
              <a:t>ALT-2</a:t>
            </a:r>
            <a:endParaRPr lang="en-US" sz="1000" dirty="0"/>
          </a:p>
        </p:txBody>
      </p:sp>
      <p:sp>
        <p:nvSpPr>
          <p:cNvPr id="19" name="Shape 17"/>
          <p:cNvSpPr/>
          <p:nvPr/>
        </p:nvSpPr>
        <p:spPr>
          <a:xfrm>
            <a:off x="1207008" y="4041648"/>
            <a:ext cx="1672438" cy="256032"/>
          </a:xfrm>
          <a:prstGeom prst="rect">
            <a:avLst/>
          </a:prstGeom>
          <a:solidFill>
            <a:srgbClr val="6B7280">
              <a:alpha val="55000"/>
            </a:srgbClr>
          </a:solidFill>
          <a:ln/>
        </p:spPr>
      </p:sp>
      <p:sp>
        <p:nvSpPr>
          <p:cNvPr id="20" name="Text 18"/>
          <p:cNvSpPr/>
          <p:nvPr/>
        </p:nvSpPr>
        <p:spPr>
          <a:xfrm>
            <a:off x="2952598" y="4005072"/>
            <a:ext cx="731520" cy="329184"/>
          </a:xfrm>
          <a:prstGeom prst="rect">
            <a:avLst/>
          </a:prstGeom>
          <a:noFill/>
          <a:ln/>
        </p:spPr>
        <p:txBody>
          <a:bodyPr wrap="square" lIns="0" tIns="0" rIns="0" bIns="0" rtlCol="0" anchor="ctr"/>
          <a:lstStyle/>
          <a:p>
            <a:pPr marL="0" indent="0">
              <a:buNone/>
            </a:pPr>
            <a:r>
              <a:rPr lang="en-US" sz="1200" b="1" dirty="0">
                <a:solidFill>
                  <a:srgbClr val="6B7280"/>
                </a:solidFill>
                <a:latin typeface="Aptos Display" pitchFamily="34" charset="0"/>
                <a:ea typeface="Aptos Display" pitchFamily="34" charset="-122"/>
                <a:cs typeface="Aptos Display" pitchFamily="34" charset="-120"/>
              </a:rPr>
              <a:t>62.0%</a:t>
            </a:r>
            <a:endParaRPr lang="en-US" sz="1200" dirty="0"/>
          </a:p>
        </p:txBody>
      </p:sp>
      <p:sp>
        <p:nvSpPr>
          <p:cNvPr id="21" name="Text 19"/>
          <p:cNvSpPr/>
          <p:nvPr/>
        </p:nvSpPr>
        <p:spPr>
          <a:xfrm>
            <a:off x="502920" y="4553712"/>
            <a:ext cx="640080" cy="329184"/>
          </a:xfrm>
          <a:prstGeom prst="rect">
            <a:avLst/>
          </a:prstGeom>
          <a:noFill/>
          <a:ln/>
        </p:spPr>
        <p:txBody>
          <a:bodyPr wrap="square" lIns="0" tIns="0" rIns="0" bIns="0" rtlCol="0" anchor="ctr"/>
          <a:lstStyle/>
          <a:p>
            <a:pPr marL="0" indent="0">
              <a:buNone/>
            </a:pPr>
            <a:r>
              <a:rPr lang="en-US" sz="1000" b="1" dirty="0">
                <a:solidFill>
                  <a:srgbClr val="6B7280"/>
                </a:solidFill>
                <a:latin typeface="Aptos" pitchFamily="34" charset="0"/>
                <a:ea typeface="Aptos" pitchFamily="34" charset="-122"/>
                <a:cs typeface="Aptos" pitchFamily="34" charset="-120"/>
              </a:rPr>
              <a:t>ALT-5</a:t>
            </a:r>
            <a:endParaRPr lang="en-US" sz="1000" dirty="0"/>
          </a:p>
        </p:txBody>
      </p:sp>
      <p:sp>
        <p:nvSpPr>
          <p:cNvPr id="22" name="Shape 20"/>
          <p:cNvSpPr/>
          <p:nvPr/>
        </p:nvSpPr>
        <p:spPr>
          <a:xfrm>
            <a:off x="1207008" y="4590288"/>
            <a:ext cx="1402690" cy="256032"/>
          </a:xfrm>
          <a:prstGeom prst="rect">
            <a:avLst/>
          </a:prstGeom>
          <a:solidFill>
            <a:srgbClr val="6B7280">
              <a:alpha val="55000"/>
            </a:srgbClr>
          </a:solidFill>
          <a:ln/>
        </p:spPr>
      </p:sp>
      <p:sp>
        <p:nvSpPr>
          <p:cNvPr id="23" name="Text 21"/>
          <p:cNvSpPr/>
          <p:nvPr/>
        </p:nvSpPr>
        <p:spPr>
          <a:xfrm>
            <a:off x="2682850" y="4553712"/>
            <a:ext cx="731520" cy="329184"/>
          </a:xfrm>
          <a:prstGeom prst="rect">
            <a:avLst/>
          </a:prstGeom>
          <a:noFill/>
          <a:ln/>
        </p:spPr>
        <p:txBody>
          <a:bodyPr wrap="square" lIns="0" tIns="0" rIns="0" bIns="0" rtlCol="0" anchor="ctr"/>
          <a:lstStyle/>
          <a:p>
            <a:pPr marL="0" indent="0">
              <a:buNone/>
            </a:pPr>
            <a:r>
              <a:rPr lang="en-US" sz="1200" b="1" dirty="0">
                <a:solidFill>
                  <a:srgbClr val="6B7280"/>
                </a:solidFill>
                <a:latin typeface="Aptos Display" pitchFamily="34" charset="0"/>
                <a:ea typeface="Aptos Display" pitchFamily="34" charset="-122"/>
                <a:cs typeface="Aptos Display" pitchFamily="34" charset="-120"/>
              </a:rPr>
              <a:t>52.0%</a:t>
            </a:r>
            <a:endParaRPr lang="en-US" sz="1200" dirty="0"/>
          </a:p>
        </p:txBody>
      </p:sp>
      <p:sp>
        <p:nvSpPr>
          <p:cNvPr id="24" name="Shape 22"/>
          <p:cNvSpPr/>
          <p:nvPr/>
        </p:nvSpPr>
        <p:spPr>
          <a:xfrm>
            <a:off x="4078224" y="1975104"/>
            <a:ext cx="12802" cy="548640"/>
          </a:xfrm>
          <a:prstGeom prst="rect">
            <a:avLst/>
          </a:prstGeom>
          <a:solidFill>
            <a:srgbClr val="D98A00"/>
          </a:solidFill>
          <a:ln/>
        </p:spPr>
      </p:sp>
      <p:sp>
        <p:nvSpPr>
          <p:cNvPr id="25" name="Shape 23"/>
          <p:cNvSpPr/>
          <p:nvPr/>
        </p:nvSpPr>
        <p:spPr>
          <a:xfrm>
            <a:off x="3986784" y="1975104"/>
            <a:ext cx="109728" cy="12802"/>
          </a:xfrm>
          <a:prstGeom prst="rect">
            <a:avLst/>
          </a:prstGeom>
          <a:solidFill>
            <a:srgbClr val="D98A00"/>
          </a:solidFill>
          <a:ln/>
        </p:spPr>
      </p:sp>
      <p:sp>
        <p:nvSpPr>
          <p:cNvPr id="26" name="Shape 24"/>
          <p:cNvSpPr/>
          <p:nvPr/>
        </p:nvSpPr>
        <p:spPr>
          <a:xfrm>
            <a:off x="3986784" y="2523744"/>
            <a:ext cx="109728" cy="12802"/>
          </a:xfrm>
          <a:prstGeom prst="rect">
            <a:avLst/>
          </a:prstGeom>
          <a:solidFill>
            <a:srgbClr val="D98A00"/>
          </a:solidFill>
          <a:ln/>
        </p:spPr>
      </p:sp>
      <p:sp>
        <p:nvSpPr>
          <p:cNvPr id="27" name="Text 25"/>
          <p:cNvSpPr/>
          <p:nvPr/>
        </p:nvSpPr>
        <p:spPr>
          <a:xfrm>
            <a:off x="4187952" y="1883664"/>
            <a:ext cx="1005840" cy="731520"/>
          </a:xfrm>
          <a:prstGeom prst="rect">
            <a:avLst/>
          </a:prstGeom>
          <a:noFill/>
          <a:ln/>
        </p:spPr>
        <p:txBody>
          <a:bodyPr wrap="square" lIns="0" tIns="0" rIns="0" bIns="0" rtlCol="0" anchor="ctr"/>
          <a:lstStyle/>
          <a:p>
            <a:pPr marL="0" indent="0">
              <a:buNone/>
            </a:pPr>
            <a:r>
              <a:rPr lang="en-US" sz="850" b="1" dirty="0">
                <a:solidFill>
                  <a:srgbClr val="D98A00"/>
                </a:solidFill>
                <a:latin typeface="Aptos" pitchFamily="34" charset="0"/>
                <a:ea typeface="Aptos" pitchFamily="34" charset="-122"/>
                <a:cs typeface="Aptos" pitchFamily="34" charset="-120"/>
              </a:rPr>
              <a:t>1.6 points,</a:t>
            </a:r>
            <a:endParaRPr lang="en-US" sz="850" dirty="0"/>
          </a:p>
          <a:p>
            <a:pPr marL="0" indent="0">
              <a:buNone/>
            </a:pPr>
            <a:r>
              <a:rPr lang="en-US" sz="850" b="1" dirty="0">
                <a:solidFill>
                  <a:srgbClr val="D98A00"/>
                </a:solidFill>
                <a:latin typeface="Aptos" pitchFamily="34" charset="0"/>
                <a:ea typeface="Aptos" pitchFamily="34" charset="-122"/>
                <a:cs typeface="Aptos" pitchFamily="34" charset="-120"/>
              </a:rPr>
              <a:t>one year of evidence -</a:t>
            </a:r>
            <a:endParaRPr lang="en-US" sz="850" dirty="0"/>
          </a:p>
          <a:p>
            <a:pPr marL="0" indent="0">
              <a:buNone/>
            </a:pPr>
            <a:r>
              <a:rPr lang="en-US" sz="850" b="1" dirty="0">
                <a:solidFill>
                  <a:srgbClr val="D98A00"/>
                </a:solidFill>
                <a:latin typeface="Aptos" pitchFamily="34" charset="0"/>
                <a:ea typeface="Aptos" pitchFamily="34" charset="-122"/>
                <a:cs typeface="Aptos" pitchFamily="34" charset="-120"/>
              </a:rPr>
              <a:t>not treated as decisive</a:t>
            </a:r>
            <a:endParaRPr lang="en-US" sz="850" dirty="0"/>
          </a:p>
        </p:txBody>
      </p:sp>
      <p:sp>
        <p:nvSpPr>
          <p:cNvPr id="28" name="Shape 26"/>
          <p:cNvSpPr/>
          <p:nvPr/>
        </p:nvSpPr>
        <p:spPr>
          <a:xfrm>
            <a:off x="5230368" y="1444752"/>
            <a:ext cx="5486" cy="3931920"/>
          </a:xfrm>
          <a:prstGeom prst="rect">
            <a:avLst/>
          </a:prstGeom>
          <a:solidFill>
            <a:srgbClr val="C9D8F2"/>
          </a:solidFill>
          <a:ln/>
        </p:spPr>
      </p:sp>
      <p:sp>
        <p:nvSpPr>
          <p:cNvPr id="29" name="Text 27"/>
          <p:cNvSpPr/>
          <p:nvPr/>
        </p:nvSpPr>
        <p:spPr>
          <a:xfrm>
            <a:off x="5468112" y="1444752"/>
            <a:ext cx="3840480" cy="201168"/>
          </a:xfrm>
          <a:prstGeom prst="rect">
            <a:avLst/>
          </a:prstGeom>
          <a:noFill/>
          <a:ln/>
        </p:spPr>
        <p:txBody>
          <a:bodyPr wrap="square" lIns="0" tIns="0" rIns="0" bIns="0" rtlCol="0" anchor="ctr"/>
          <a:lstStyle/>
          <a:p>
            <a:pPr marL="0" indent="0" algn="l">
              <a:buNone/>
            </a:pPr>
            <a:r>
              <a:rPr lang="en-US" sz="900" b="1" kern="0" spc="110" dirty="0">
                <a:solidFill>
                  <a:srgbClr val="46577A"/>
                </a:solidFill>
                <a:latin typeface="Aptos" pitchFamily="34" charset="0"/>
                <a:ea typeface="Aptos" pitchFamily="34" charset="-122"/>
                <a:cs typeface="Aptos" pitchFamily="34" charset="-120"/>
              </a:rPr>
              <a:t>THE THREE DECISIVE CRITERIA - PASS 4</a:t>
            </a:r>
            <a:endParaRPr lang="en-US" sz="900" dirty="0"/>
          </a:p>
        </p:txBody>
      </p:sp>
      <p:sp>
        <p:nvSpPr>
          <p:cNvPr id="30" name="Text 28"/>
          <p:cNvSpPr/>
          <p:nvPr/>
        </p:nvSpPr>
        <p:spPr>
          <a:xfrm>
            <a:off x="7370064" y="1700784"/>
            <a:ext cx="457200" cy="201168"/>
          </a:xfrm>
          <a:prstGeom prst="rect">
            <a:avLst/>
          </a:prstGeom>
          <a:noFill/>
          <a:ln/>
        </p:spPr>
        <p:txBody>
          <a:bodyPr wrap="square" lIns="0" tIns="0" rIns="0" bIns="0" rtlCol="0" anchor="ctr"/>
          <a:lstStyle/>
          <a:p>
            <a:pPr marL="0" indent="0" algn="ctr">
              <a:buNone/>
            </a:pPr>
            <a:r>
              <a:rPr lang="en-US" sz="850" b="1" dirty="0">
                <a:solidFill>
                  <a:srgbClr val="6B7280"/>
                </a:solidFill>
                <a:latin typeface="Aptos" pitchFamily="34" charset="0"/>
                <a:ea typeface="Aptos" pitchFamily="34" charset="-122"/>
                <a:cs typeface="Aptos" pitchFamily="34" charset="-120"/>
              </a:rPr>
              <a:t>1</a:t>
            </a:r>
            <a:endParaRPr lang="en-US" sz="850" dirty="0"/>
          </a:p>
        </p:txBody>
      </p:sp>
      <p:sp>
        <p:nvSpPr>
          <p:cNvPr id="31" name="Text 29"/>
          <p:cNvSpPr/>
          <p:nvPr/>
        </p:nvSpPr>
        <p:spPr>
          <a:xfrm>
            <a:off x="7827264" y="1700784"/>
            <a:ext cx="457200" cy="201168"/>
          </a:xfrm>
          <a:prstGeom prst="rect">
            <a:avLst/>
          </a:prstGeom>
          <a:noFill/>
          <a:ln/>
        </p:spPr>
        <p:txBody>
          <a:bodyPr wrap="square" lIns="0" tIns="0" rIns="0" bIns="0" rtlCol="0" anchor="ctr"/>
          <a:lstStyle/>
          <a:p>
            <a:pPr marL="0" indent="0" algn="ctr">
              <a:buNone/>
            </a:pPr>
            <a:r>
              <a:rPr lang="en-US" sz="850" b="1" dirty="0">
                <a:solidFill>
                  <a:srgbClr val="6B7280"/>
                </a:solidFill>
                <a:latin typeface="Aptos" pitchFamily="34" charset="0"/>
                <a:ea typeface="Aptos" pitchFamily="34" charset="-122"/>
                <a:cs typeface="Aptos" pitchFamily="34" charset="-120"/>
              </a:rPr>
              <a:t>2</a:t>
            </a:r>
            <a:endParaRPr lang="en-US" sz="850" dirty="0"/>
          </a:p>
        </p:txBody>
      </p:sp>
      <p:sp>
        <p:nvSpPr>
          <p:cNvPr id="32" name="Text 30"/>
          <p:cNvSpPr/>
          <p:nvPr/>
        </p:nvSpPr>
        <p:spPr>
          <a:xfrm>
            <a:off x="8284464" y="1700784"/>
            <a:ext cx="457200" cy="201168"/>
          </a:xfrm>
          <a:prstGeom prst="rect">
            <a:avLst/>
          </a:prstGeom>
          <a:noFill/>
          <a:ln/>
        </p:spPr>
        <p:txBody>
          <a:bodyPr wrap="square" lIns="0" tIns="0" rIns="0" bIns="0" rtlCol="0" anchor="ctr"/>
          <a:lstStyle/>
          <a:p>
            <a:pPr marL="0" indent="0" algn="ctr">
              <a:buNone/>
            </a:pPr>
            <a:r>
              <a:rPr lang="en-US" sz="850" b="1" dirty="0">
                <a:solidFill>
                  <a:srgbClr val="6B7280"/>
                </a:solidFill>
                <a:latin typeface="Aptos" pitchFamily="34" charset="0"/>
                <a:ea typeface="Aptos" pitchFamily="34" charset="-122"/>
                <a:cs typeface="Aptos" pitchFamily="34" charset="-120"/>
              </a:rPr>
              <a:t>3</a:t>
            </a:r>
            <a:endParaRPr lang="en-US" sz="850" dirty="0"/>
          </a:p>
        </p:txBody>
      </p:sp>
      <p:sp>
        <p:nvSpPr>
          <p:cNvPr id="33" name="Text 31"/>
          <p:cNvSpPr/>
          <p:nvPr/>
        </p:nvSpPr>
        <p:spPr>
          <a:xfrm>
            <a:off x="8741664" y="1700784"/>
            <a:ext cx="457200" cy="201168"/>
          </a:xfrm>
          <a:prstGeom prst="rect">
            <a:avLst/>
          </a:prstGeom>
          <a:noFill/>
          <a:ln/>
        </p:spPr>
        <p:txBody>
          <a:bodyPr wrap="square" lIns="0" tIns="0" rIns="0" bIns="0" rtlCol="0" anchor="ctr"/>
          <a:lstStyle/>
          <a:p>
            <a:pPr marL="0" indent="0" algn="ctr">
              <a:buNone/>
            </a:pPr>
            <a:r>
              <a:rPr lang="en-US" sz="850" b="1" dirty="0">
                <a:solidFill>
                  <a:srgbClr val="6B7280"/>
                </a:solidFill>
                <a:latin typeface="Aptos" pitchFamily="34" charset="0"/>
                <a:ea typeface="Aptos" pitchFamily="34" charset="-122"/>
                <a:cs typeface="Aptos" pitchFamily="34" charset="-120"/>
              </a:rPr>
              <a:t>4</a:t>
            </a:r>
            <a:endParaRPr lang="en-US" sz="850" dirty="0"/>
          </a:p>
        </p:txBody>
      </p:sp>
      <p:sp>
        <p:nvSpPr>
          <p:cNvPr id="34" name="Text 32"/>
          <p:cNvSpPr/>
          <p:nvPr/>
        </p:nvSpPr>
        <p:spPr>
          <a:xfrm>
            <a:off x="9198864" y="1700784"/>
            <a:ext cx="457200" cy="201168"/>
          </a:xfrm>
          <a:prstGeom prst="rect">
            <a:avLst/>
          </a:prstGeom>
          <a:noFill/>
          <a:ln/>
        </p:spPr>
        <p:txBody>
          <a:bodyPr wrap="square" lIns="0" tIns="0" rIns="0" bIns="0" rtlCol="0" anchor="ctr"/>
          <a:lstStyle/>
          <a:p>
            <a:pPr marL="0" indent="0" algn="ctr">
              <a:buNone/>
            </a:pPr>
            <a:r>
              <a:rPr lang="en-US" sz="850" b="1" dirty="0">
                <a:solidFill>
                  <a:srgbClr val="6B7280"/>
                </a:solidFill>
                <a:latin typeface="Aptos" pitchFamily="34" charset="0"/>
                <a:ea typeface="Aptos" pitchFamily="34" charset="-122"/>
                <a:cs typeface="Aptos" pitchFamily="34" charset="-120"/>
              </a:rPr>
              <a:t>5</a:t>
            </a:r>
            <a:endParaRPr lang="en-US" sz="850" dirty="0"/>
          </a:p>
        </p:txBody>
      </p:sp>
      <p:sp>
        <p:nvSpPr>
          <p:cNvPr id="35" name="Text 33"/>
          <p:cNvSpPr/>
          <p:nvPr/>
        </p:nvSpPr>
        <p:spPr>
          <a:xfrm>
            <a:off x="9656064" y="1700784"/>
            <a:ext cx="457200" cy="201168"/>
          </a:xfrm>
          <a:prstGeom prst="rect">
            <a:avLst/>
          </a:prstGeom>
          <a:noFill/>
          <a:ln/>
        </p:spPr>
        <p:txBody>
          <a:bodyPr wrap="square" lIns="0" tIns="0" rIns="0" bIns="0" rtlCol="0" anchor="ctr"/>
          <a:lstStyle/>
          <a:p>
            <a:pPr marL="0" indent="0" algn="ctr">
              <a:buNone/>
            </a:pPr>
            <a:r>
              <a:rPr lang="en-US" sz="850" b="1" dirty="0">
                <a:solidFill>
                  <a:srgbClr val="6B7280"/>
                </a:solidFill>
                <a:latin typeface="Aptos" pitchFamily="34" charset="0"/>
                <a:ea typeface="Aptos" pitchFamily="34" charset="-122"/>
                <a:cs typeface="Aptos" pitchFamily="34" charset="-120"/>
              </a:rPr>
              <a:t>6</a:t>
            </a:r>
            <a:endParaRPr lang="en-US" sz="850" dirty="0"/>
          </a:p>
        </p:txBody>
      </p:sp>
      <p:sp>
        <p:nvSpPr>
          <p:cNvPr id="36" name="Text 34"/>
          <p:cNvSpPr/>
          <p:nvPr/>
        </p:nvSpPr>
        <p:spPr>
          <a:xfrm>
            <a:off x="5468112" y="1700784"/>
            <a:ext cx="1737360" cy="201168"/>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ALT -&gt;</a:t>
            </a:r>
            <a:endParaRPr lang="en-US" sz="850" dirty="0"/>
          </a:p>
        </p:txBody>
      </p:sp>
      <p:sp>
        <p:nvSpPr>
          <p:cNvPr id="37" name="Shape 35"/>
          <p:cNvSpPr/>
          <p:nvPr/>
        </p:nvSpPr>
        <p:spPr>
          <a:xfrm>
            <a:off x="5468112" y="1920240"/>
            <a:ext cx="4663440" cy="5486"/>
          </a:xfrm>
          <a:prstGeom prst="rect">
            <a:avLst/>
          </a:prstGeom>
          <a:solidFill>
            <a:srgbClr val="C9D8F2"/>
          </a:solidFill>
          <a:ln/>
        </p:spPr>
      </p:sp>
      <p:sp>
        <p:nvSpPr>
          <p:cNvPr id="38" name="Text 36"/>
          <p:cNvSpPr/>
          <p:nvPr/>
        </p:nvSpPr>
        <p:spPr>
          <a:xfrm>
            <a:off x="5468112" y="2011680"/>
            <a:ext cx="1847088" cy="329184"/>
          </a:xfrm>
          <a:prstGeom prst="rect">
            <a:avLst/>
          </a:prstGeom>
          <a:noFill/>
          <a:ln/>
        </p:spPr>
        <p:txBody>
          <a:bodyPr wrap="square" lIns="0" tIns="0" rIns="0" bIns="0" rtlCol="0" anchor="ctr"/>
          <a:lstStyle/>
          <a:p>
            <a:pPr marL="0" indent="0">
              <a:buNone/>
            </a:pPr>
            <a:r>
              <a:rPr lang="en-US" sz="950" b="1" dirty="0">
                <a:solidFill>
                  <a:srgbClr val="041E47"/>
                </a:solidFill>
                <a:latin typeface="Aptos" pitchFamily="34" charset="0"/>
                <a:ea typeface="Aptos" pitchFamily="34" charset="-122"/>
                <a:cs typeface="Aptos" pitchFamily="34" charset="-120"/>
              </a:rPr>
              <a:t>Growth preservation</a:t>
            </a:r>
            <a:endParaRPr lang="en-US" sz="950" dirty="0"/>
          </a:p>
        </p:txBody>
      </p:sp>
      <p:sp>
        <p:nvSpPr>
          <p:cNvPr id="39" name="Text 37"/>
          <p:cNvSpPr/>
          <p:nvPr/>
        </p:nvSpPr>
        <p:spPr>
          <a:xfrm>
            <a:off x="7370064" y="2011680"/>
            <a:ext cx="457200" cy="329184"/>
          </a:xfrm>
          <a:prstGeom prst="rect">
            <a:avLst/>
          </a:prstGeom>
          <a:noFill/>
          <a:ln/>
        </p:spPr>
        <p:txBody>
          <a:bodyPr wrap="square" lIns="0" tIns="0" rIns="0" bIns="0" rtlCol="0" anchor="ctr"/>
          <a:lstStyle/>
          <a:p>
            <a:pPr marL="0" indent="0" algn="ctr">
              <a:buNone/>
            </a:pPr>
            <a:r>
              <a:rPr lang="en-US" sz="1300" b="1" dirty="0">
                <a:solidFill>
                  <a:srgbClr val="041E47"/>
                </a:solidFill>
                <a:latin typeface="Aptos Display" pitchFamily="34" charset="0"/>
                <a:ea typeface="Aptos Display" pitchFamily="34" charset="-122"/>
                <a:cs typeface="Aptos Display" pitchFamily="34" charset="-120"/>
              </a:rPr>
              <a:t>2</a:t>
            </a:r>
            <a:endParaRPr lang="en-US" sz="1300" dirty="0"/>
          </a:p>
        </p:txBody>
      </p:sp>
      <p:sp>
        <p:nvSpPr>
          <p:cNvPr id="40" name="Text 38"/>
          <p:cNvSpPr/>
          <p:nvPr/>
        </p:nvSpPr>
        <p:spPr>
          <a:xfrm>
            <a:off x="7827264" y="2011680"/>
            <a:ext cx="457200" cy="329184"/>
          </a:xfrm>
          <a:prstGeom prst="rect">
            <a:avLst/>
          </a:prstGeom>
          <a:noFill/>
          <a:ln/>
        </p:spPr>
        <p:txBody>
          <a:bodyPr wrap="square" lIns="0" tIns="0" rIns="0" bIns="0" rtlCol="0" anchor="ctr"/>
          <a:lstStyle/>
          <a:p>
            <a:pPr marL="0" indent="0" algn="ctr">
              <a:buNone/>
            </a:pPr>
            <a:r>
              <a:rPr lang="en-US" sz="1050" dirty="0">
                <a:solidFill>
                  <a:srgbClr val="46577A"/>
                </a:solidFill>
                <a:latin typeface="Aptos" pitchFamily="34" charset="0"/>
                <a:ea typeface="Aptos" pitchFamily="34" charset="-122"/>
                <a:cs typeface="Aptos" pitchFamily="34" charset="-120"/>
              </a:rPr>
              <a:t>4</a:t>
            </a:r>
            <a:endParaRPr lang="en-US" sz="1050" dirty="0"/>
          </a:p>
        </p:txBody>
      </p:sp>
      <p:sp>
        <p:nvSpPr>
          <p:cNvPr id="41" name="Text 39"/>
          <p:cNvSpPr/>
          <p:nvPr/>
        </p:nvSpPr>
        <p:spPr>
          <a:xfrm>
            <a:off x="8284464" y="2011680"/>
            <a:ext cx="457200" cy="329184"/>
          </a:xfrm>
          <a:prstGeom prst="rect">
            <a:avLst/>
          </a:prstGeom>
          <a:noFill/>
          <a:ln/>
        </p:spPr>
        <p:txBody>
          <a:bodyPr wrap="square" lIns="0" tIns="0" rIns="0" bIns="0" rtlCol="0" anchor="ctr"/>
          <a:lstStyle/>
          <a:p>
            <a:pPr marL="0" indent="0" algn="ctr">
              <a:buNone/>
            </a:pPr>
            <a:r>
              <a:rPr lang="en-US" sz="1300" b="1" dirty="0">
                <a:solidFill>
                  <a:srgbClr val="041E47"/>
                </a:solidFill>
                <a:latin typeface="Aptos Display" pitchFamily="34" charset="0"/>
                <a:ea typeface="Aptos Display" pitchFamily="34" charset="-122"/>
                <a:cs typeface="Aptos Display" pitchFamily="34" charset="-120"/>
              </a:rPr>
              <a:t>5</a:t>
            </a:r>
            <a:endParaRPr lang="en-US" sz="1300" dirty="0"/>
          </a:p>
        </p:txBody>
      </p:sp>
      <p:sp>
        <p:nvSpPr>
          <p:cNvPr id="42" name="Text 40"/>
          <p:cNvSpPr/>
          <p:nvPr/>
        </p:nvSpPr>
        <p:spPr>
          <a:xfrm>
            <a:off x="8741664" y="2011680"/>
            <a:ext cx="457200" cy="329184"/>
          </a:xfrm>
          <a:prstGeom prst="rect">
            <a:avLst/>
          </a:prstGeom>
          <a:noFill/>
          <a:ln/>
        </p:spPr>
        <p:txBody>
          <a:bodyPr wrap="square" lIns="0" tIns="0" rIns="0" bIns="0" rtlCol="0" anchor="ctr"/>
          <a:lstStyle/>
          <a:p>
            <a:pPr marL="0" indent="0" algn="ctr">
              <a:buNone/>
            </a:pPr>
            <a:r>
              <a:rPr lang="en-US" sz="1300" b="1" dirty="0">
                <a:solidFill>
                  <a:srgbClr val="041E47"/>
                </a:solidFill>
                <a:latin typeface="Aptos Display" pitchFamily="34" charset="0"/>
                <a:ea typeface="Aptos Display" pitchFamily="34" charset="-122"/>
                <a:cs typeface="Aptos Display" pitchFamily="34" charset="-120"/>
              </a:rPr>
              <a:t>5</a:t>
            </a:r>
            <a:endParaRPr lang="en-US" sz="1300" dirty="0"/>
          </a:p>
        </p:txBody>
      </p:sp>
      <p:sp>
        <p:nvSpPr>
          <p:cNvPr id="43" name="Text 41"/>
          <p:cNvSpPr/>
          <p:nvPr/>
        </p:nvSpPr>
        <p:spPr>
          <a:xfrm>
            <a:off x="9198864" y="2011680"/>
            <a:ext cx="457200" cy="329184"/>
          </a:xfrm>
          <a:prstGeom prst="rect">
            <a:avLst/>
          </a:prstGeom>
          <a:noFill/>
          <a:ln/>
        </p:spPr>
        <p:txBody>
          <a:bodyPr wrap="square" lIns="0" tIns="0" rIns="0" bIns="0" rtlCol="0" anchor="ctr"/>
          <a:lstStyle/>
          <a:p>
            <a:pPr marL="0" indent="0" algn="ctr">
              <a:buNone/>
            </a:pPr>
            <a:r>
              <a:rPr lang="en-US" sz="1050" dirty="0">
                <a:solidFill>
                  <a:srgbClr val="46577A"/>
                </a:solidFill>
                <a:latin typeface="Aptos" pitchFamily="34" charset="0"/>
                <a:ea typeface="Aptos" pitchFamily="34" charset="-122"/>
                <a:cs typeface="Aptos" pitchFamily="34" charset="-120"/>
              </a:rPr>
              <a:t>3</a:t>
            </a:r>
            <a:endParaRPr lang="en-US" sz="1050" dirty="0"/>
          </a:p>
        </p:txBody>
      </p:sp>
      <p:sp>
        <p:nvSpPr>
          <p:cNvPr id="44" name="Text 42"/>
          <p:cNvSpPr/>
          <p:nvPr/>
        </p:nvSpPr>
        <p:spPr>
          <a:xfrm>
            <a:off x="9656064" y="2011680"/>
            <a:ext cx="457200" cy="329184"/>
          </a:xfrm>
          <a:prstGeom prst="rect">
            <a:avLst/>
          </a:prstGeom>
          <a:noFill/>
          <a:ln/>
        </p:spPr>
        <p:txBody>
          <a:bodyPr wrap="square" lIns="0" tIns="0" rIns="0" bIns="0" rtlCol="0" anchor="ctr"/>
          <a:lstStyle/>
          <a:p>
            <a:pPr marL="0" indent="0" algn="ctr">
              <a:buNone/>
            </a:pPr>
            <a:r>
              <a:rPr lang="en-US" sz="1050" dirty="0">
                <a:solidFill>
                  <a:srgbClr val="46577A"/>
                </a:solidFill>
                <a:latin typeface="Aptos" pitchFamily="34" charset="0"/>
                <a:ea typeface="Aptos" pitchFamily="34" charset="-122"/>
                <a:cs typeface="Aptos" pitchFamily="34" charset="-120"/>
              </a:rPr>
              <a:t>3</a:t>
            </a:r>
            <a:endParaRPr lang="en-US" sz="1050" dirty="0"/>
          </a:p>
        </p:txBody>
      </p:sp>
      <p:sp>
        <p:nvSpPr>
          <p:cNvPr id="45" name="Shape 43"/>
          <p:cNvSpPr/>
          <p:nvPr/>
        </p:nvSpPr>
        <p:spPr>
          <a:xfrm>
            <a:off x="5468112" y="2377440"/>
            <a:ext cx="4663440" cy="5486"/>
          </a:xfrm>
          <a:prstGeom prst="rect">
            <a:avLst/>
          </a:prstGeom>
          <a:solidFill>
            <a:srgbClr val="C9D8F2"/>
          </a:solidFill>
          <a:ln/>
        </p:spPr>
      </p:sp>
      <p:sp>
        <p:nvSpPr>
          <p:cNvPr id="46" name="Text 44"/>
          <p:cNvSpPr/>
          <p:nvPr/>
        </p:nvSpPr>
        <p:spPr>
          <a:xfrm>
            <a:off x="5468112" y="2432304"/>
            <a:ext cx="1847088" cy="329184"/>
          </a:xfrm>
          <a:prstGeom prst="rect">
            <a:avLst/>
          </a:prstGeom>
          <a:noFill/>
          <a:ln/>
        </p:spPr>
        <p:txBody>
          <a:bodyPr wrap="square" lIns="0" tIns="0" rIns="0" bIns="0" rtlCol="0" anchor="ctr"/>
          <a:lstStyle/>
          <a:p>
            <a:pPr marL="0" indent="0">
              <a:buNone/>
            </a:pPr>
            <a:r>
              <a:rPr lang="en-US" sz="950" b="1" dirty="0">
                <a:solidFill>
                  <a:srgbClr val="041E47"/>
                </a:solidFill>
                <a:latin typeface="Aptos" pitchFamily="34" charset="0"/>
                <a:ea typeface="Aptos" pitchFamily="34" charset="-122"/>
                <a:cs typeface="Aptos" pitchFamily="34" charset="-120"/>
              </a:rPr>
              <a:t>Evidence strength</a:t>
            </a:r>
            <a:endParaRPr lang="en-US" sz="950" dirty="0"/>
          </a:p>
        </p:txBody>
      </p:sp>
      <p:sp>
        <p:nvSpPr>
          <p:cNvPr id="47" name="Text 45"/>
          <p:cNvSpPr/>
          <p:nvPr/>
        </p:nvSpPr>
        <p:spPr>
          <a:xfrm>
            <a:off x="7370064" y="2432304"/>
            <a:ext cx="457200" cy="329184"/>
          </a:xfrm>
          <a:prstGeom prst="rect">
            <a:avLst/>
          </a:prstGeom>
          <a:noFill/>
          <a:ln/>
        </p:spPr>
        <p:txBody>
          <a:bodyPr wrap="square" lIns="0" tIns="0" rIns="0" bIns="0" rtlCol="0" anchor="ctr"/>
          <a:lstStyle/>
          <a:p>
            <a:pPr marL="0" indent="0" algn="ctr">
              <a:buNone/>
            </a:pPr>
            <a:r>
              <a:rPr lang="en-US" sz="1300" b="1" dirty="0">
                <a:solidFill>
                  <a:srgbClr val="041E47"/>
                </a:solidFill>
                <a:latin typeface="Aptos Display" pitchFamily="34" charset="0"/>
                <a:ea typeface="Aptos Display" pitchFamily="34" charset="-122"/>
                <a:cs typeface="Aptos Display" pitchFamily="34" charset="-120"/>
              </a:rPr>
              <a:t>5</a:t>
            </a:r>
            <a:endParaRPr lang="en-US" sz="1300" dirty="0"/>
          </a:p>
        </p:txBody>
      </p:sp>
      <p:sp>
        <p:nvSpPr>
          <p:cNvPr id="48" name="Text 46"/>
          <p:cNvSpPr/>
          <p:nvPr/>
        </p:nvSpPr>
        <p:spPr>
          <a:xfrm>
            <a:off x="7827264" y="2432304"/>
            <a:ext cx="457200" cy="329184"/>
          </a:xfrm>
          <a:prstGeom prst="rect">
            <a:avLst/>
          </a:prstGeom>
          <a:noFill/>
          <a:ln/>
        </p:spPr>
        <p:txBody>
          <a:bodyPr wrap="square" lIns="0" tIns="0" rIns="0" bIns="0" rtlCol="0" anchor="ctr"/>
          <a:lstStyle/>
          <a:p>
            <a:pPr marL="0" indent="0" algn="ctr">
              <a:buNone/>
            </a:pPr>
            <a:r>
              <a:rPr lang="en-US" sz="1050" dirty="0">
                <a:solidFill>
                  <a:srgbClr val="46577A"/>
                </a:solidFill>
                <a:latin typeface="Aptos" pitchFamily="34" charset="0"/>
                <a:ea typeface="Aptos" pitchFamily="34" charset="-122"/>
                <a:cs typeface="Aptos" pitchFamily="34" charset="-120"/>
              </a:rPr>
              <a:t>2</a:t>
            </a:r>
            <a:endParaRPr lang="en-US" sz="1050" dirty="0"/>
          </a:p>
        </p:txBody>
      </p:sp>
      <p:sp>
        <p:nvSpPr>
          <p:cNvPr id="49" name="Text 47"/>
          <p:cNvSpPr/>
          <p:nvPr/>
        </p:nvSpPr>
        <p:spPr>
          <a:xfrm>
            <a:off x="8284464" y="2432304"/>
            <a:ext cx="457200" cy="329184"/>
          </a:xfrm>
          <a:prstGeom prst="rect">
            <a:avLst/>
          </a:prstGeom>
          <a:noFill/>
          <a:ln/>
        </p:spPr>
        <p:txBody>
          <a:bodyPr wrap="square" lIns="0" tIns="0" rIns="0" bIns="0" rtlCol="0" anchor="ctr"/>
          <a:lstStyle/>
          <a:p>
            <a:pPr marL="0" indent="0" algn="ctr">
              <a:buNone/>
            </a:pPr>
            <a:r>
              <a:rPr lang="en-US" sz="1050" dirty="0">
                <a:solidFill>
                  <a:srgbClr val="46577A"/>
                </a:solidFill>
                <a:latin typeface="Aptos" pitchFamily="34" charset="0"/>
                <a:ea typeface="Aptos" pitchFamily="34" charset="-122"/>
                <a:cs typeface="Aptos" pitchFamily="34" charset="-120"/>
              </a:rPr>
              <a:t>4</a:t>
            </a:r>
            <a:endParaRPr lang="en-US" sz="1050" dirty="0"/>
          </a:p>
        </p:txBody>
      </p:sp>
      <p:sp>
        <p:nvSpPr>
          <p:cNvPr id="50" name="Text 48"/>
          <p:cNvSpPr/>
          <p:nvPr/>
        </p:nvSpPr>
        <p:spPr>
          <a:xfrm>
            <a:off x="8741664" y="2432304"/>
            <a:ext cx="457200" cy="329184"/>
          </a:xfrm>
          <a:prstGeom prst="rect">
            <a:avLst/>
          </a:prstGeom>
          <a:noFill/>
          <a:ln/>
        </p:spPr>
        <p:txBody>
          <a:bodyPr wrap="square" lIns="0" tIns="0" rIns="0" bIns="0" rtlCol="0" anchor="ctr"/>
          <a:lstStyle/>
          <a:p>
            <a:pPr marL="0" indent="0" algn="ctr">
              <a:buNone/>
            </a:pPr>
            <a:r>
              <a:rPr lang="en-US" sz="1050" dirty="0">
                <a:solidFill>
                  <a:srgbClr val="46577A"/>
                </a:solidFill>
                <a:latin typeface="Aptos" pitchFamily="34" charset="0"/>
                <a:ea typeface="Aptos" pitchFamily="34" charset="-122"/>
                <a:cs typeface="Aptos" pitchFamily="34" charset="-120"/>
              </a:rPr>
              <a:t>3</a:t>
            </a:r>
            <a:endParaRPr lang="en-US" sz="1050" dirty="0"/>
          </a:p>
        </p:txBody>
      </p:sp>
      <p:sp>
        <p:nvSpPr>
          <p:cNvPr id="51" name="Text 49"/>
          <p:cNvSpPr/>
          <p:nvPr/>
        </p:nvSpPr>
        <p:spPr>
          <a:xfrm>
            <a:off x="9198864" y="2432304"/>
            <a:ext cx="457200" cy="329184"/>
          </a:xfrm>
          <a:prstGeom prst="rect">
            <a:avLst/>
          </a:prstGeom>
          <a:noFill/>
          <a:ln/>
        </p:spPr>
        <p:txBody>
          <a:bodyPr wrap="square" lIns="0" tIns="0" rIns="0" bIns="0" rtlCol="0" anchor="ctr"/>
          <a:lstStyle/>
          <a:p>
            <a:pPr marL="0" indent="0" algn="ctr">
              <a:buNone/>
            </a:pPr>
            <a:r>
              <a:rPr lang="en-US" sz="1050" dirty="0">
                <a:solidFill>
                  <a:srgbClr val="46577A"/>
                </a:solidFill>
                <a:latin typeface="Aptos" pitchFamily="34" charset="0"/>
                <a:ea typeface="Aptos" pitchFamily="34" charset="-122"/>
                <a:cs typeface="Aptos" pitchFamily="34" charset="-120"/>
              </a:rPr>
              <a:t>3</a:t>
            </a:r>
            <a:endParaRPr lang="en-US" sz="1050" dirty="0"/>
          </a:p>
        </p:txBody>
      </p:sp>
      <p:sp>
        <p:nvSpPr>
          <p:cNvPr id="52" name="Text 50"/>
          <p:cNvSpPr/>
          <p:nvPr/>
        </p:nvSpPr>
        <p:spPr>
          <a:xfrm>
            <a:off x="9656064" y="2432304"/>
            <a:ext cx="457200" cy="329184"/>
          </a:xfrm>
          <a:prstGeom prst="rect">
            <a:avLst/>
          </a:prstGeom>
          <a:noFill/>
          <a:ln/>
        </p:spPr>
        <p:txBody>
          <a:bodyPr wrap="square" lIns="0" tIns="0" rIns="0" bIns="0" rtlCol="0" anchor="ctr"/>
          <a:lstStyle/>
          <a:p>
            <a:pPr marL="0" indent="0" algn="ctr">
              <a:buNone/>
            </a:pPr>
            <a:r>
              <a:rPr lang="en-US" sz="1050" dirty="0">
                <a:solidFill>
                  <a:srgbClr val="46577A"/>
                </a:solidFill>
                <a:latin typeface="Aptos" pitchFamily="34" charset="0"/>
                <a:ea typeface="Aptos" pitchFamily="34" charset="-122"/>
                <a:cs typeface="Aptos" pitchFamily="34" charset="-120"/>
              </a:rPr>
              <a:t>3</a:t>
            </a:r>
            <a:endParaRPr lang="en-US" sz="1050" dirty="0"/>
          </a:p>
        </p:txBody>
      </p:sp>
      <p:sp>
        <p:nvSpPr>
          <p:cNvPr id="53" name="Shape 51"/>
          <p:cNvSpPr/>
          <p:nvPr/>
        </p:nvSpPr>
        <p:spPr>
          <a:xfrm>
            <a:off x="5468112" y="2798064"/>
            <a:ext cx="4663440" cy="5486"/>
          </a:xfrm>
          <a:prstGeom prst="rect">
            <a:avLst/>
          </a:prstGeom>
          <a:solidFill>
            <a:srgbClr val="C9D8F2"/>
          </a:solidFill>
          <a:ln/>
        </p:spPr>
      </p:sp>
      <p:sp>
        <p:nvSpPr>
          <p:cNvPr id="54" name="Text 52"/>
          <p:cNvSpPr/>
          <p:nvPr/>
        </p:nvSpPr>
        <p:spPr>
          <a:xfrm>
            <a:off x="5468112" y="2852928"/>
            <a:ext cx="1847088" cy="329184"/>
          </a:xfrm>
          <a:prstGeom prst="rect">
            <a:avLst/>
          </a:prstGeom>
          <a:noFill/>
          <a:ln/>
        </p:spPr>
        <p:txBody>
          <a:bodyPr wrap="square" lIns="0" tIns="0" rIns="0" bIns="0" rtlCol="0" anchor="ctr"/>
          <a:lstStyle/>
          <a:p>
            <a:pPr marL="0" indent="0">
              <a:buNone/>
            </a:pPr>
            <a:r>
              <a:rPr lang="en-US" sz="950" b="1" dirty="0">
                <a:solidFill>
                  <a:srgbClr val="041E47"/>
                </a:solidFill>
                <a:latin typeface="Aptos" pitchFamily="34" charset="0"/>
                <a:ea typeface="Aptos" pitchFamily="34" charset="-122"/>
                <a:cs typeface="Aptos" pitchFamily="34" charset="-120"/>
              </a:rPr>
              <a:t>Reversibility / flexibility</a:t>
            </a:r>
            <a:endParaRPr lang="en-US" sz="950" dirty="0"/>
          </a:p>
        </p:txBody>
      </p:sp>
      <p:sp>
        <p:nvSpPr>
          <p:cNvPr id="55" name="Text 53"/>
          <p:cNvSpPr/>
          <p:nvPr/>
        </p:nvSpPr>
        <p:spPr>
          <a:xfrm>
            <a:off x="7370064" y="2852928"/>
            <a:ext cx="457200" cy="329184"/>
          </a:xfrm>
          <a:prstGeom prst="rect">
            <a:avLst/>
          </a:prstGeom>
          <a:noFill/>
          <a:ln/>
        </p:spPr>
        <p:txBody>
          <a:bodyPr wrap="square" lIns="0" tIns="0" rIns="0" bIns="0" rtlCol="0" anchor="ctr"/>
          <a:lstStyle/>
          <a:p>
            <a:pPr marL="0" indent="0" algn="ctr">
              <a:buNone/>
            </a:pPr>
            <a:r>
              <a:rPr lang="en-US" sz="1300" b="1" dirty="0">
                <a:solidFill>
                  <a:srgbClr val="041E47"/>
                </a:solidFill>
                <a:latin typeface="Aptos Display" pitchFamily="34" charset="0"/>
                <a:ea typeface="Aptos Display" pitchFamily="34" charset="-122"/>
                <a:cs typeface="Aptos Display" pitchFamily="34" charset="-120"/>
              </a:rPr>
              <a:t>5</a:t>
            </a:r>
            <a:endParaRPr lang="en-US" sz="1300" dirty="0"/>
          </a:p>
        </p:txBody>
      </p:sp>
      <p:sp>
        <p:nvSpPr>
          <p:cNvPr id="56" name="Text 54"/>
          <p:cNvSpPr/>
          <p:nvPr/>
        </p:nvSpPr>
        <p:spPr>
          <a:xfrm>
            <a:off x="7827264" y="2852928"/>
            <a:ext cx="457200" cy="329184"/>
          </a:xfrm>
          <a:prstGeom prst="rect">
            <a:avLst/>
          </a:prstGeom>
          <a:noFill/>
          <a:ln/>
        </p:spPr>
        <p:txBody>
          <a:bodyPr wrap="square" lIns="0" tIns="0" rIns="0" bIns="0" rtlCol="0" anchor="ctr"/>
          <a:lstStyle/>
          <a:p>
            <a:pPr marL="0" indent="0" algn="ctr">
              <a:buNone/>
            </a:pPr>
            <a:r>
              <a:rPr lang="en-US" sz="1050" dirty="0">
                <a:solidFill>
                  <a:srgbClr val="46577A"/>
                </a:solidFill>
                <a:latin typeface="Aptos" pitchFamily="34" charset="0"/>
                <a:ea typeface="Aptos" pitchFamily="34" charset="-122"/>
                <a:cs typeface="Aptos" pitchFamily="34" charset="-120"/>
              </a:rPr>
              <a:t>3</a:t>
            </a:r>
            <a:endParaRPr lang="en-US" sz="1050" dirty="0"/>
          </a:p>
        </p:txBody>
      </p:sp>
      <p:sp>
        <p:nvSpPr>
          <p:cNvPr id="57" name="Text 55"/>
          <p:cNvSpPr/>
          <p:nvPr/>
        </p:nvSpPr>
        <p:spPr>
          <a:xfrm>
            <a:off x="8284464" y="2852928"/>
            <a:ext cx="457200" cy="329184"/>
          </a:xfrm>
          <a:prstGeom prst="rect">
            <a:avLst/>
          </a:prstGeom>
          <a:noFill/>
          <a:ln/>
        </p:spPr>
        <p:txBody>
          <a:bodyPr wrap="square" lIns="0" tIns="0" rIns="0" bIns="0" rtlCol="0" anchor="ctr"/>
          <a:lstStyle/>
          <a:p>
            <a:pPr marL="0" indent="0" algn="ctr">
              <a:buNone/>
            </a:pPr>
            <a:r>
              <a:rPr lang="en-US" sz="1300" b="1" dirty="0">
                <a:solidFill>
                  <a:srgbClr val="041E47"/>
                </a:solidFill>
                <a:latin typeface="Aptos Display" pitchFamily="34" charset="0"/>
                <a:ea typeface="Aptos Display" pitchFamily="34" charset="-122"/>
                <a:cs typeface="Aptos Display" pitchFamily="34" charset="-120"/>
              </a:rPr>
              <a:t>4</a:t>
            </a:r>
            <a:endParaRPr lang="en-US" sz="1300" dirty="0"/>
          </a:p>
        </p:txBody>
      </p:sp>
      <p:sp>
        <p:nvSpPr>
          <p:cNvPr id="58" name="Text 56"/>
          <p:cNvSpPr/>
          <p:nvPr/>
        </p:nvSpPr>
        <p:spPr>
          <a:xfrm>
            <a:off x="8741664" y="2852928"/>
            <a:ext cx="457200" cy="329184"/>
          </a:xfrm>
          <a:prstGeom prst="rect">
            <a:avLst/>
          </a:prstGeom>
          <a:noFill/>
          <a:ln/>
        </p:spPr>
        <p:txBody>
          <a:bodyPr wrap="square" lIns="0" tIns="0" rIns="0" bIns="0" rtlCol="0" anchor="ctr"/>
          <a:lstStyle/>
          <a:p>
            <a:pPr marL="0" indent="0" algn="ctr">
              <a:buNone/>
            </a:pPr>
            <a:r>
              <a:rPr lang="en-US" sz="1050" dirty="0">
                <a:solidFill>
                  <a:srgbClr val="46577A"/>
                </a:solidFill>
                <a:latin typeface="Aptos" pitchFamily="34" charset="0"/>
                <a:ea typeface="Aptos" pitchFamily="34" charset="-122"/>
                <a:cs typeface="Aptos" pitchFamily="34" charset="-120"/>
              </a:rPr>
              <a:t>3</a:t>
            </a:r>
            <a:endParaRPr lang="en-US" sz="1050" dirty="0"/>
          </a:p>
        </p:txBody>
      </p:sp>
      <p:sp>
        <p:nvSpPr>
          <p:cNvPr id="59" name="Text 57"/>
          <p:cNvSpPr/>
          <p:nvPr/>
        </p:nvSpPr>
        <p:spPr>
          <a:xfrm>
            <a:off x="9198864" y="2852928"/>
            <a:ext cx="457200" cy="329184"/>
          </a:xfrm>
          <a:prstGeom prst="rect">
            <a:avLst/>
          </a:prstGeom>
          <a:noFill/>
          <a:ln/>
        </p:spPr>
        <p:txBody>
          <a:bodyPr wrap="square" lIns="0" tIns="0" rIns="0" bIns="0" rtlCol="0" anchor="ctr"/>
          <a:lstStyle/>
          <a:p>
            <a:pPr marL="0" indent="0" algn="ctr">
              <a:buNone/>
            </a:pPr>
            <a:r>
              <a:rPr lang="en-US" sz="1050" dirty="0">
                <a:solidFill>
                  <a:srgbClr val="46577A"/>
                </a:solidFill>
                <a:latin typeface="Aptos" pitchFamily="34" charset="0"/>
                <a:ea typeface="Aptos" pitchFamily="34" charset="-122"/>
                <a:cs typeface="Aptos" pitchFamily="34" charset="-120"/>
              </a:rPr>
              <a:t>2</a:t>
            </a:r>
            <a:endParaRPr lang="en-US" sz="1050" dirty="0"/>
          </a:p>
        </p:txBody>
      </p:sp>
      <p:sp>
        <p:nvSpPr>
          <p:cNvPr id="60" name="Text 58"/>
          <p:cNvSpPr/>
          <p:nvPr/>
        </p:nvSpPr>
        <p:spPr>
          <a:xfrm>
            <a:off x="9656064" y="2852928"/>
            <a:ext cx="457200" cy="329184"/>
          </a:xfrm>
          <a:prstGeom prst="rect">
            <a:avLst/>
          </a:prstGeom>
          <a:noFill/>
          <a:ln/>
        </p:spPr>
        <p:txBody>
          <a:bodyPr wrap="square" lIns="0" tIns="0" rIns="0" bIns="0" rtlCol="0" anchor="ctr"/>
          <a:lstStyle/>
          <a:p>
            <a:pPr marL="0" indent="0" algn="ctr">
              <a:buNone/>
            </a:pPr>
            <a:r>
              <a:rPr lang="en-US" sz="1050" dirty="0">
                <a:solidFill>
                  <a:srgbClr val="46577A"/>
                </a:solidFill>
                <a:latin typeface="Aptos" pitchFamily="34" charset="0"/>
                <a:ea typeface="Aptos" pitchFamily="34" charset="-122"/>
                <a:cs typeface="Aptos" pitchFamily="34" charset="-120"/>
              </a:rPr>
              <a:t>3</a:t>
            </a:r>
            <a:endParaRPr lang="en-US" sz="1050" dirty="0"/>
          </a:p>
        </p:txBody>
      </p:sp>
      <p:sp>
        <p:nvSpPr>
          <p:cNvPr id="61" name="Shape 59"/>
          <p:cNvSpPr/>
          <p:nvPr/>
        </p:nvSpPr>
        <p:spPr>
          <a:xfrm>
            <a:off x="5468112" y="3218688"/>
            <a:ext cx="4663440" cy="5486"/>
          </a:xfrm>
          <a:prstGeom prst="rect">
            <a:avLst/>
          </a:prstGeom>
          <a:solidFill>
            <a:srgbClr val="C9D8F2"/>
          </a:solidFill>
          <a:ln/>
        </p:spPr>
      </p:sp>
      <p:sp>
        <p:nvSpPr>
          <p:cNvPr id="62" name="Text 60"/>
          <p:cNvSpPr/>
          <p:nvPr/>
        </p:nvSpPr>
        <p:spPr>
          <a:xfrm>
            <a:off x="5468112" y="3273552"/>
            <a:ext cx="1847088" cy="329184"/>
          </a:xfrm>
          <a:prstGeom prst="rect">
            <a:avLst/>
          </a:prstGeom>
          <a:noFill/>
          <a:ln/>
        </p:spPr>
        <p:txBody>
          <a:bodyPr wrap="square" lIns="0" tIns="0" rIns="0" bIns="0" rtlCol="0" anchor="ctr"/>
          <a:lstStyle/>
          <a:p>
            <a:pPr marL="0" indent="0">
              <a:buNone/>
            </a:pPr>
            <a:r>
              <a:rPr lang="en-US" sz="950" i="1" dirty="0">
                <a:solidFill>
                  <a:srgbClr val="6B7280"/>
                </a:solidFill>
                <a:latin typeface="Aptos" pitchFamily="34" charset="0"/>
                <a:ea typeface="Aptos" pitchFamily="34" charset="-122"/>
                <a:cs typeface="Aptos" pitchFamily="34" charset="-120"/>
              </a:rPr>
              <a:t>Total / 60</a:t>
            </a:r>
            <a:endParaRPr lang="en-US" sz="950" dirty="0"/>
          </a:p>
        </p:txBody>
      </p:sp>
      <p:sp>
        <p:nvSpPr>
          <p:cNvPr id="63" name="Text 61"/>
          <p:cNvSpPr/>
          <p:nvPr/>
        </p:nvSpPr>
        <p:spPr>
          <a:xfrm>
            <a:off x="7370064" y="3273552"/>
            <a:ext cx="457200" cy="329184"/>
          </a:xfrm>
          <a:prstGeom prst="rect">
            <a:avLst/>
          </a:prstGeom>
          <a:noFill/>
          <a:ln/>
        </p:spPr>
        <p:txBody>
          <a:bodyPr wrap="square" lIns="0" tIns="0" rIns="0" bIns="0" rtlCol="0" anchor="ctr"/>
          <a:lstStyle/>
          <a:p>
            <a:pPr marL="0" indent="0" algn="ctr">
              <a:buNone/>
            </a:pPr>
            <a:r>
              <a:rPr lang="en-US" sz="1300" b="1" dirty="0">
                <a:solidFill>
                  <a:srgbClr val="6B7280"/>
                </a:solidFill>
                <a:latin typeface="Aptos Display" pitchFamily="34" charset="0"/>
                <a:ea typeface="Aptos Display" pitchFamily="34" charset="-122"/>
                <a:cs typeface="Aptos Display" pitchFamily="34" charset="-120"/>
              </a:rPr>
              <a:t>44</a:t>
            </a:r>
            <a:endParaRPr lang="en-US" sz="1300" dirty="0"/>
          </a:p>
        </p:txBody>
      </p:sp>
      <p:sp>
        <p:nvSpPr>
          <p:cNvPr id="64" name="Text 62"/>
          <p:cNvSpPr/>
          <p:nvPr/>
        </p:nvSpPr>
        <p:spPr>
          <a:xfrm>
            <a:off x="7827264" y="3273552"/>
            <a:ext cx="457200" cy="329184"/>
          </a:xfrm>
          <a:prstGeom prst="rect">
            <a:avLst/>
          </a:prstGeom>
          <a:noFill/>
          <a:ln/>
        </p:spPr>
        <p:txBody>
          <a:bodyPr wrap="square" lIns="0" tIns="0" rIns="0" bIns="0" rtlCol="0" anchor="ctr"/>
          <a:lstStyle/>
          <a:p>
            <a:pPr marL="0" indent="0" algn="ctr">
              <a:buNone/>
            </a:pPr>
            <a:r>
              <a:rPr lang="en-US" sz="1050" dirty="0">
                <a:solidFill>
                  <a:srgbClr val="6B7280"/>
                </a:solidFill>
                <a:latin typeface="Aptos" pitchFamily="34" charset="0"/>
                <a:ea typeface="Aptos" pitchFamily="34" charset="-122"/>
                <a:cs typeface="Aptos" pitchFamily="34" charset="-120"/>
              </a:rPr>
              <a:t>36</a:t>
            </a:r>
            <a:endParaRPr lang="en-US" sz="1050" dirty="0"/>
          </a:p>
        </p:txBody>
      </p:sp>
      <p:sp>
        <p:nvSpPr>
          <p:cNvPr id="65" name="Text 63"/>
          <p:cNvSpPr/>
          <p:nvPr/>
        </p:nvSpPr>
        <p:spPr>
          <a:xfrm>
            <a:off x="8284464" y="3273552"/>
            <a:ext cx="457200" cy="329184"/>
          </a:xfrm>
          <a:prstGeom prst="rect">
            <a:avLst/>
          </a:prstGeom>
          <a:noFill/>
          <a:ln/>
        </p:spPr>
        <p:txBody>
          <a:bodyPr wrap="square" lIns="0" tIns="0" rIns="0" bIns="0" rtlCol="0" anchor="ctr"/>
          <a:lstStyle/>
          <a:p>
            <a:pPr marL="0" indent="0" algn="ctr">
              <a:buNone/>
            </a:pPr>
            <a:r>
              <a:rPr lang="en-US" sz="1300" b="1" dirty="0">
                <a:solidFill>
                  <a:srgbClr val="6B7280"/>
                </a:solidFill>
                <a:latin typeface="Aptos Display" pitchFamily="34" charset="0"/>
                <a:ea typeface="Aptos Display" pitchFamily="34" charset="-122"/>
                <a:cs typeface="Aptos Display" pitchFamily="34" charset="-120"/>
              </a:rPr>
              <a:t>44</a:t>
            </a:r>
            <a:endParaRPr lang="en-US" sz="1300" dirty="0"/>
          </a:p>
        </p:txBody>
      </p:sp>
      <p:sp>
        <p:nvSpPr>
          <p:cNvPr id="66" name="Text 64"/>
          <p:cNvSpPr/>
          <p:nvPr/>
        </p:nvSpPr>
        <p:spPr>
          <a:xfrm>
            <a:off x="8741664" y="3273552"/>
            <a:ext cx="457200" cy="329184"/>
          </a:xfrm>
          <a:prstGeom prst="rect">
            <a:avLst/>
          </a:prstGeom>
          <a:noFill/>
          <a:ln/>
        </p:spPr>
        <p:txBody>
          <a:bodyPr wrap="square" lIns="0" tIns="0" rIns="0" bIns="0" rtlCol="0" anchor="ctr"/>
          <a:lstStyle/>
          <a:p>
            <a:pPr marL="0" indent="0" algn="ctr">
              <a:buNone/>
            </a:pPr>
            <a:r>
              <a:rPr lang="en-US" sz="1050" dirty="0">
                <a:solidFill>
                  <a:srgbClr val="6B7280"/>
                </a:solidFill>
                <a:latin typeface="Aptos" pitchFamily="34" charset="0"/>
                <a:ea typeface="Aptos" pitchFamily="34" charset="-122"/>
                <a:cs typeface="Aptos" pitchFamily="34" charset="-120"/>
              </a:rPr>
              <a:t>39</a:t>
            </a:r>
            <a:endParaRPr lang="en-US" sz="1050" dirty="0"/>
          </a:p>
        </p:txBody>
      </p:sp>
      <p:sp>
        <p:nvSpPr>
          <p:cNvPr id="67" name="Text 65"/>
          <p:cNvSpPr/>
          <p:nvPr/>
        </p:nvSpPr>
        <p:spPr>
          <a:xfrm>
            <a:off x="9198864" y="3273552"/>
            <a:ext cx="457200" cy="329184"/>
          </a:xfrm>
          <a:prstGeom prst="rect">
            <a:avLst/>
          </a:prstGeom>
          <a:noFill/>
          <a:ln/>
        </p:spPr>
        <p:txBody>
          <a:bodyPr wrap="square" lIns="0" tIns="0" rIns="0" bIns="0" rtlCol="0" anchor="ctr"/>
          <a:lstStyle/>
          <a:p>
            <a:pPr marL="0" indent="0" algn="ctr">
              <a:buNone/>
            </a:pPr>
            <a:r>
              <a:rPr lang="en-US" sz="1050" dirty="0">
                <a:solidFill>
                  <a:srgbClr val="6B7280"/>
                </a:solidFill>
                <a:latin typeface="Aptos" pitchFamily="34" charset="0"/>
                <a:ea typeface="Aptos" pitchFamily="34" charset="-122"/>
                <a:cs typeface="Aptos" pitchFamily="34" charset="-120"/>
              </a:rPr>
              <a:t>32</a:t>
            </a:r>
            <a:endParaRPr lang="en-US" sz="1050" dirty="0"/>
          </a:p>
        </p:txBody>
      </p:sp>
      <p:sp>
        <p:nvSpPr>
          <p:cNvPr id="68" name="Text 66"/>
          <p:cNvSpPr/>
          <p:nvPr/>
        </p:nvSpPr>
        <p:spPr>
          <a:xfrm>
            <a:off x="9656064" y="3273552"/>
            <a:ext cx="457200" cy="329184"/>
          </a:xfrm>
          <a:prstGeom prst="rect">
            <a:avLst/>
          </a:prstGeom>
          <a:noFill/>
          <a:ln/>
        </p:spPr>
        <p:txBody>
          <a:bodyPr wrap="square" lIns="0" tIns="0" rIns="0" bIns="0" rtlCol="0" anchor="ctr"/>
          <a:lstStyle/>
          <a:p>
            <a:pPr marL="0" indent="0" algn="ctr">
              <a:buNone/>
            </a:pPr>
            <a:r>
              <a:rPr lang="en-US" sz="1050" dirty="0">
                <a:solidFill>
                  <a:srgbClr val="6B7280"/>
                </a:solidFill>
                <a:latin typeface="Aptos" pitchFamily="34" charset="0"/>
                <a:ea typeface="Aptos" pitchFamily="34" charset="-122"/>
                <a:cs typeface="Aptos" pitchFamily="34" charset="-120"/>
              </a:rPr>
              <a:t>38</a:t>
            </a:r>
            <a:endParaRPr lang="en-US" sz="1050" dirty="0"/>
          </a:p>
        </p:txBody>
      </p:sp>
      <p:sp>
        <p:nvSpPr>
          <p:cNvPr id="69" name="Text 67"/>
          <p:cNvSpPr/>
          <p:nvPr/>
        </p:nvSpPr>
        <p:spPr>
          <a:xfrm>
            <a:off x="5468112" y="3785616"/>
            <a:ext cx="4663440" cy="201168"/>
          </a:xfrm>
          <a:prstGeom prst="rect">
            <a:avLst/>
          </a:prstGeom>
          <a:noFill/>
          <a:ln/>
        </p:spPr>
        <p:txBody>
          <a:bodyPr wrap="square" lIns="0" tIns="0" rIns="0" bIns="0" rtlCol="0" anchor="ctr"/>
          <a:lstStyle/>
          <a:p>
            <a:pPr marL="0" indent="0" algn="l">
              <a:buNone/>
            </a:pPr>
            <a:r>
              <a:rPr lang="en-US" sz="900" b="1" kern="0" spc="110" dirty="0">
                <a:solidFill>
                  <a:srgbClr val="46577A"/>
                </a:solidFill>
                <a:latin typeface="Aptos" pitchFamily="34" charset="0"/>
                <a:ea typeface="Aptos" pitchFamily="34" charset="-122"/>
                <a:cs typeface="Aptos" pitchFamily="34" charset="-120"/>
              </a:rPr>
              <a:t>SCENARIO ROBUSTNESS - A QUALITATIVE OVERLAY</a:t>
            </a:r>
            <a:endParaRPr lang="en-US" sz="900" dirty="0"/>
          </a:p>
        </p:txBody>
      </p:sp>
      <p:sp>
        <p:nvSpPr>
          <p:cNvPr id="70" name="Text 68"/>
          <p:cNvSpPr/>
          <p:nvPr/>
        </p:nvSpPr>
        <p:spPr>
          <a:xfrm>
            <a:off x="5468112" y="4041648"/>
            <a:ext cx="365760" cy="438912"/>
          </a:xfrm>
          <a:prstGeom prst="rect">
            <a:avLst/>
          </a:prstGeom>
          <a:noFill/>
          <a:ln/>
        </p:spPr>
        <p:txBody>
          <a:bodyPr wrap="square" lIns="0" tIns="0" rIns="0" bIns="0" rtlCol="0" anchor="ctr"/>
          <a:lstStyle/>
          <a:p>
            <a:pPr marL="0" indent="0" algn="ctr">
              <a:buNone/>
            </a:pPr>
            <a:r>
              <a:rPr lang="en-US" sz="1100" b="1" dirty="0">
                <a:solidFill>
                  <a:srgbClr val="0032A0"/>
                </a:solidFill>
                <a:latin typeface="Aptos" pitchFamily="34" charset="0"/>
                <a:ea typeface="Aptos" pitchFamily="34" charset="-122"/>
                <a:cs typeface="Aptos" pitchFamily="34" charset="-120"/>
              </a:rPr>
              <a:t>=</a:t>
            </a:r>
            <a:endParaRPr lang="en-US" sz="1100" dirty="0"/>
          </a:p>
        </p:txBody>
      </p:sp>
      <p:sp>
        <p:nvSpPr>
          <p:cNvPr id="71" name="Text 69"/>
          <p:cNvSpPr/>
          <p:nvPr/>
        </p:nvSpPr>
        <p:spPr>
          <a:xfrm>
            <a:off x="5870448" y="4041648"/>
            <a:ext cx="4261104" cy="438912"/>
          </a:xfrm>
          <a:prstGeom prst="rect">
            <a:avLst/>
          </a:prstGeom>
          <a:noFill/>
          <a:ln/>
        </p:spPr>
        <p:txBody>
          <a:bodyPr wrap="square" lIns="0" tIns="0" rIns="0" bIns="0" rtlCol="0" anchor="ctr"/>
          <a:lstStyle/>
          <a:p>
            <a:pPr marL="0" indent="0">
              <a:lnSpc>
                <a:spcPct val="106000"/>
              </a:lnSpc>
              <a:buNone/>
            </a:pPr>
            <a:r>
              <a:rPr lang="en-US" sz="950" dirty="0">
                <a:solidFill>
                  <a:srgbClr val="46577A"/>
                </a:solidFill>
                <a:latin typeface="Aptos" pitchFamily="34" charset="0"/>
                <a:ea typeface="Aptos" pitchFamily="34" charset="-122"/>
                <a:cs typeface="Aptos" pitchFamily="34" charset="-120"/>
              </a:rPr>
              <a:t>ALT-4 is consistently robust across all tested scenarios - the basis for including it regardless of which demand scenario materialises.</a:t>
            </a:r>
            <a:endParaRPr lang="en-US" sz="950" dirty="0"/>
          </a:p>
        </p:txBody>
      </p:sp>
      <p:sp>
        <p:nvSpPr>
          <p:cNvPr id="72" name="Text 70"/>
          <p:cNvSpPr/>
          <p:nvPr/>
        </p:nvSpPr>
        <p:spPr>
          <a:xfrm>
            <a:off x="5468112" y="4553712"/>
            <a:ext cx="365760" cy="438912"/>
          </a:xfrm>
          <a:prstGeom prst="rect">
            <a:avLst/>
          </a:prstGeom>
          <a:noFill/>
          <a:ln/>
        </p:spPr>
        <p:txBody>
          <a:bodyPr wrap="square" lIns="0" tIns="0" rIns="0" bIns="0" rtlCol="0" anchor="ctr"/>
          <a:lstStyle/>
          <a:p>
            <a:pPr marL="0" indent="0" algn="ctr">
              <a:buNone/>
            </a:pPr>
            <a:r>
              <a:rPr lang="en-US" sz="1100" b="1" dirty="0">
                <a:solidFill>
                  <a:srgbClr val="D98A00"/>
                </a:solidFill>
                <a:latin typeface="Aptos" pitchFamily="34" charset="0"/>
                <a:ea typeface="Aptos" pitchFamily="34" charset="-122"/>
                <a:cs typeface="Aptos" pitchFamily="34" charset="-120"/>
              </a:rPr>
              <a:t>~</a:t>
            </a:r>
            <a:endParaRPr lang="en-US" sz="1100" dirty="0"/>
          </a:p>
        </p:txBody>
      </p:sp>
      <p:sp>
        <p:nvSpPr>
          <p:cNvPr id="73" name="Text 71"/>
          <p:cNvSpPr/>
          <p:nvPr/>
        </p:nvSpPr>
        <p:spPr>
          <a:xfrm>
            <a:off x="5870448" y="4553712"/>
            <a:ext cx="4261104" cy="438912"/>
          </a:xfrm>
          <a:prstGeom prst="rect">
            <a:avLst/>
          </a:prstGeom>
          <a:noFill/>
          <a:ln/>
        </p:spPr>
        <p:txBody>
          <a:bodyPr wrap="square" lIns="0" tIns="0" rIns="0" bIns="0" rtlCol="0" anchor="ctr"/>
          <a:lstStyle/>
          <a:p>
            <a:pPr marL="0" indent="0">
              <a:lnSpc>
                <a:spcPct val="106000"/>
              </a:lnSpc>
              <a:buNone/>
            </a:pPr>
            <a:r>
              <a:rPr lang="en-US" sz="950" dirty="0">
                <a:solidFill>
                  <a:srgbClr val="46577A"/>
                </a:solidFill>
                <a:latin typeface="Aptos" pitchFamily="34" charset="0"/>
                <a:ea typeface="Aptos" pitchFamily="34" charset="-122"/>
                <a:cs typeface="Aptos" pitchFamily="34" charset="-120"/>
              </a:rPr>
              <a:t>ALT-1 and ALT-3 have near-opposite profiles: ALT-1 performs better where demand stays weak; ALT-3 where demand recovers.</a:t>
            </a:r>
            <a:endParaRPr lang="en-US" sz="950" dirty="0"/>
          </a:p>
        </p:txBody>
      </p:sp>
      <p:sp>
        <p:nvSpPr>
          <p:cNvPr id="74" name="Text 72"/>
          <p:cNvSpPr/>
          <p:nvPr/>
        </p:nvSpPr>
        <p:spPr>
          <a:xfrm>
            <a:off x="5468112" y="5065776"/>
            <a:ext cx="365760" cy="438912"/>
          </a:xfrm>
          <a:prstGeom prst="rect">
            <a:avLst/>
          </a:prstGeom>
          <a:noFill/>
          <a:ln/>
        </p:spPr>
        <p:txBody>
          <a:bodyPr wrap="square" lIns="0" tIns="0" rIns="0" bIns="0" rtlCol="0" anchor="ctr"/>
          <a:lstStyle/>
          <a:p>
            <a:pPr marL="0" indent="0" algn="ctr">
              <a:buNone/>
            </a:pPr>
            <a:r>
              <a:rPr lang="en-US" sz="1100" b="1" dirty="0">
                <a:solidFill>
                  <a:srgbClr val="6B7280"/>
                </a:solidFill>
                <a:latin typeface="Aptos" pitchFamily="34" charset="0"/>
                <a:ea typeface="Aptos" pitchFamily="34" charset="-122"/>
                <a:cs typeface="Aptos" pitchFamily="34" charset="-120"/>
              </a:rPr>
              <a:t>-</a:t>
            </a:r>
            <a:endParaRPr lang="en-US" sz="1100" dirty="0"/>
          </a:p>
        </p:txBody>
      </p:sp>
      <p:sp>
        <p:nvSpPr>
          <p:cNvPr id="75" name="Text 73"/>
          <p:cNvSpPr/>
          <p:nvPr/>
        </p:nvSpPr>
        <p:spPr>
          <a:xfrm>
            <a:off x="5870448" y="5065776"/>
            <a:ext cx="4261104" cy="438912"/>
          </a:xfrm>
          <a:prstGeom prst="rect">
            <a:avLst/>
          </a:prstGeom>
          <a:noFill/>
          <a:ln/>
        </p:spPr>
        <p:txBody>
          <a:bodyPr wrap="square" lIns="0" tIns="0" rIns="0" bIns="0" rtlCol="0" anchor="ctr"/>
          <a:lstStyle/>
          <a:p>
            <a:pPr marL="0" indent="0">
              <a:lnSpc>
                <a:spcPct val="106000"/>
              </a:lnSpc>
              <a:buNone/>
            </a:pPr>
            <a:r>
              <a:rPr lang="en-US" sz="950" dirty="0">
                <a:solidFill>
                  <a:srgbClr val="46577A"/>
                </a:solidFill>
                <a:latin typeface="Aptos" pitchFamily="34" charset="0"/>
                <a:ea typeface="Aptos" pitchFamily="34" charset="-122"/>
                <a:cs typeface="Aptos" pitchFamily="34" charset="-120"/>
              </a:rPr>
              <a:t>ALT-2 and ALT-5 were not independently tested - constrained by the route-level and international route-level data gaps.</a:t>
            </a:r>
            <a:endParaRPr lang="en-US" sz="950" dirty="0"/>
          </a:p>
        </p:txBody>
      </p:sp>
      <p:sp>
        <p:nvSpPr>
          <p:cNvPr id="76" name="Shape 74"/>
          <p:cNvSpPr/>
          <p:nvPr/>
        </p:nvSpPr>
        <p:spPr>
          <a:xfrm>
            <a:off x="502920" y="5614416"/>
            <a:ext cx="4590288" cy="566928"/>
          </a:xfrm>
          <a:prstGeom prst="rect">
            <a:avLst/>
          </a:prstGeom>
          <a:solidFill>
            <a:srgbClr val="F4F7FD"/>
          </a:solidFill>
          <a:ln/>
        </p:spPr>
      </p:sp>
      <p:sp>
        <p:nvSpPr>
          <p:cNvPr id="77" name="Shape 75"/>
          <p:cNvSpPr/>
          <p:nvPr/>
        </p:nvSpPr>
        <p:spPr>
          <a:xfrm>
            <a:off x="612648" y="5687568"/>
            <a:ext cx="519379" cy="173736"/>
          </a:xfrm>
          <a:prstGeom prst="rect">
            <a:avLst/>
          </a:prstGeom>
          <a:solidFill>
            <a:srgbClr val="041E47"/>
          </a:solidFill>
          <a:ln/>
        </p:spPr>
      </p:sp>
      <p:sp>
        <p:nvSpPr>
          <p:cNvPr id="78" name="Text 76"/>
          <p:cNvSpPr/>
          <p:nvPr/>
        </p:nvSpPr>
        <p:spPr>
          <a:xfrm>
            <a:off x="612648" y="5687568"/>
            <a:ext cx="519379"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FACT</a:t>
            </a:r>
            <a:endParaRPr lang="en-US" sz="900" dirty="0"/>
          </a:p>
        </p:txBody>
      </p:sp>
      <p:sp>
        <p:nvSpPr>
          <p:cNvPr id="79" name="Text 77"/>
          <p:cNvSpPr/>
          <p:nvPr/>
        </p:nvSpPr>
        <p:spPr>
          <a:xfrm>
            <a:off x="1223467" y="5632704"/>
            <a:ext cx="3760013" cy="530352"/>
          </a:xfrm>
          <a:prstGeom prst="rect">
            <a:avLst/>
          </a:prstGeom>
          <a:noFill/>
          <a:ln/>
        </p:spPr>
        <p:txBody>
          <a:bodyPr wrap="square" lIns="0" tIns="0" rIns="0" bIns="0" rtlCol="0" anchor="ctr"/>
          <a:lstStyle/>
          <a:p>
            <a:pPr marL="0" indent="0">
              <a:buNone/>
            </a:pPr>
            <a:r>
              <a:rPr lang="en-US" sz="850" dirty="0">
                <a:solidFill>
                  <a:srgbClr val="46577A"/>
                </a:solidFill>
                <a:latin typeface="Aptos" pitchFamily="34" charset="0"/>
                <a:ea typeface="Aptos" pitchFamily="34" charset="-122"/>
                <a:cs typeface="Aptos" pitchFamily="34" charset="-120"/>
              </a:rPr>
              <a:t>ALT-1 is "largely within management's operational control, subject to existing fleet orders, lease commitments and competitive constraints" - not fully discretionary.</a:t>
            </a:r>
            <a:endParaRPr lang="en-US" sz="850" dirty="0"/>
          </a:p>
        </p:txBody>
      </p:sp>
      <p:sp>
        <p:nvSpPr>
          <p:cNvPr id="80" name="Shape 78"/>
          <p:cNvSpPr/>
          <p:nvPr/>
        </p:nvSpPr>
        <p:spPr>
          <a:xfrm>
            <a:off x="5349240" y="5614416"/>
            <a:ext cx="6336792" cy="566928"/>
          </a:xfrm>
          <a:prstGeom prst="rect">
            <a:avLst/>
          </a:prstGeom>
          <a:solidFill>
            <a:srgbClr val="FFFFFF"/>
          </a:solidFill>
          <a:ln w="9525">
            <a:solidFill>
              <a:srgbClr val="6B7280"/>
            </a:solidFill>
            <a:prstDash val="dash"/>
          </a:ln>
        </p:spPr>
      </p:sp>
      <p:sp>
        <p:nvSpPr>
          <p:cNvPr id="81" name="Shape 79"/>
          <p:cNvSpPr/>
          <p:nvPr/>
        </p:nvSpPr>
        <p:spPr>
          <a:xfrm>
            <a:off x="5440680" y="5811012"/>
            <a:ext cx="1344168" cy="173736"/>
          </a:xfrm>
          <a:prstGeom prst="rect">
            <a:avLst/>
          </a:prstGeom>
          <a:solidFill>
            <a:srgbClr val="FFFFFF"/>
          </a:solidFill>
          <a:ln w="9525">
            <a:solidFill>
              <a:srgbClr val="6B7280"/>
            </a:solidFill>
            <a:prstDash val="dash"/>
          </a:ln>
        </p:spPr>
      </p:sp>
      <p:sp>
        <p:nvSpPr>
          <p:cNvPr id="82" name="Text 80"/>
          <p:cNvSpPr/>
          <p:nvPr/>
        </p:nvSpPr>
        <p:spPr>
          <a:xfrm>
            <a:off x="5440680" y="5811012"/>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83" name="Text 81"/>
          <p:cNvSpPr/>
          <p:nvPr/>
        </p:nvSpPr>
        <p:spPr>
          <a:xfrm>
            <a:off x="6894576" y="5650992"/>
            <a:ext cx="4681728" cy="493776"/>
          </a:xfrm>
          <a:prstGeom prst="rect">
            <a:avLst/>
          </a:prstGeom>
          <a:noFill/>
          <a:ln/>
        </p:spPr>
        <p:txBody>
          <a:bodyPr wrap="square" lIns="0" tIns="0" rIns="0" bIns="0" rtlCol="0" anchor="ctr"/>
          <a:lstStyle/>
          <a:p>
            <a:r>
              <a:rPr lang="en-IN" sz="1000" b="1" dirty="0"/>
              <a:t>Qualitative overlay;</a:t>
            </a:r>
            <a:r>
              <a:rPr lang="en-IN" sz="1000" dirty="0"/>
              <a:t> </a:t>
            </a:r>
            <a:r>
              <a:rPr lang="en-US" sz="950" dirty="0">
                <a:solidFill>
                  <a:srgbClr val="6B7280"/>
                </a:solidFill>
                <a:latin typeface="Aptos" pitchFamily="34" charset="0"/>
                <a:ea typeface="Aptos" pitchFamily="34" charset="-122"/>
                <a:cs typeface="Aptos" pitchFamily="34" charset="-120"/>
              </a:rPr>
              <a:t>No new scenario mathematics have been created.</a:t>
            </a:r>
            <a:endParaRPr lang="en-US" sz="950" dirty="0"/>
          </a:p>
        </p:txBody>
      </p:sp>
      <p:sp>
        <p:nvSpPr>
          <p:cNvPr id="84" name="Shape 82"/>
          <p:cNvSpPr/>
          <p:nvPr/>
        </p:nvSpPr>
        <p:spPr>
          <a:xfrm>
            <a:off x="502920" y="6309360"/>
            <a:ext cx="11185855" cy="5486"/>
          </a:xfrm>
          <a:prstGeom prst="rect">
            <a:avLst/>
          </a:prstGeom>
          <a:solidFill>
            <a:srgbClr val="C9D8F2"/>
          </a:solidFill>
          <a:ln/>
        </p:spPr>
      </p:sp>
      <p:sp>
        <p:nvSpPr>
          <p:cNvPr id="85" name="Text 83"/>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86" name="Text 84"/>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IndiGo_PASS_1C_4_5_Source_Pack - IndiGo_PASS_7_Traceability_Recovery_Pack - Sections 12.1-12.5</a:t>
            </a:r>
            <a:endParaRPr lang="en-US" sz="800" dirty="0"/>
          </a:p>
        </p:txBody>
      </p:sp>
      <p:sp>
        <p:nvSpPr>
          <p:cNvPr id="87" name="Shape 85"/>
          <p:cNvSpPr/>
          <p:nvPr/>
        </p:nvSpPr>
        <p:spPr>
          <a:xfrm>
            <a:off x="11484864" y="6364224"/>
            <a:ext cx="201168" cy="201168"/>
          </a:xfrm>
          <a:prstGeom prst="rect">
            <a:avLst/>
          </a:prstGeom>
          <a:solidFill>
            <a:srgbClr val="0032A0"/>
          </a:solidFill>
          <a:ln/>
        </p:spPr>
      </p:sp>
      <p:sp>
        <p:nvSpPr>
          <p:cNvPr id="88" name="Text 86"/>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29</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09 - STRATEGIC CHOICE</a:t>
            </a:r>
            <a:endParaRPr lang="en-US" sz="1000" dirty="0"/>
          </a:p>
        </p:txBody>
      </p:sp>
      <p:sp>
        <p:nvSpPr>
          <p:cNvPr id="3" name="Shape 1"/>
          <p:cNvSpPr/>
          <p:nvPr/>
        </p:nvSpPr>
        <p:spPr>
          <a:xfrm>
            <a:off x="502920" y="571500"/>
            <a:ext cx="1463040" cy="45720"/>
          </a:xfrm>
          <a:prstGeom prst="rect">
            <a:avLst/>
          </a:prstGeom>
          <a:solidFill>
            <a:srgbClr val="0032A0"/>
          </a:solidFill>
          <a:ln/>
        </p:spPr>
      </p:sp>
      <p:sp>
        <p:nvSpPr>
          <p:cNvPr id="4" name="Text 2"/>
          <p:cNvSpPr/>
          <p:nvPr/>
        </p:nvSpPr>
        <p:spPr>
          <a:xfrm>
            <a:off x="502920" y="603504"/>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Act on unit revenue and addressable cost now; hold capacity pacing as a governed, evidence-triggered lever</a:t>
            </a:r>
            <a:endParaRPr lang="en-US" sz="2250" dirty="0"/>
          </a:p>
        </p:txBody>
      </p:sp>
      <p:sp>
        <p:nvSpPr>
          <p:cNvPr id="5" name="Shape 3"/>
          <p:cNvSpPr/>
          <p:nvPr/>
        </p:nvSpPr>
        <p:spPr>
          <a:xfrm>
            <a:off x="502920" y="1371600"/>
            <a:ext cx="11185855" cy="676656"/>
          </a:xfrm>
          <a:prstGeom prst="rect">
            <a:avLst/>
          </a:prstGeom>
          <a:solidFill>
            <a:srgbClr val="0032A0"/>
          </a:solidFill>
          <a:ln/>
        </p:spPr>
      </p:sp>
      <p:sp>
        <p:nvSpPr>
          <p:cNvPr id="6" name="Shape 4"/>
          <p:cNvSpPr/>
          <p:nvPr/>
        </p:nvSpPr>
        <p:spPr>
          <a:xfrm>
            <a:off x="685800" y="1481328"/>
            <a:ext cx="1389888" cy="173736"/>
          </a:xfrm>
          <a:prstGeom prst="rect">
            <a:avLst/>
          </a:prstGeom>
          <a:solidFill>
            <a:srgbClr val="FFFFFF"/>
          </a:solidFill>
          <a:ln/>
        </p:spPr>
      </p:sp>
      <p:sp>
        <p:nvSpPr>
          <p:cNvPr id="7" name="Text 5"/>
          <p:cNvSpPr/>
          <p:nvPr/>
        </p:nvSpPr>
        <p:spPr>
          <a:xfrm>
            <a:off x="685800" y="1481328"/>
            <a:ext cx="1389888" cy="173736"/>
          </a:xfrm>
          <a:prstGeom prst="rect">
            <a:avLst/>
          </a:prstGeom>
          <a:noFill/>
          <a:ln/>
        </p:spPr>
        <p:txBody>
          <a:bodyPr wrap="square" lIns="0" tIns="0" rIns="0" bIns="0" rtlCol="0" anchor="ctr"/>
          <a:lstStyle/>
          <a:p>
            <a:pPr marL="0" indent="0" algn="ctr">
              <a:buNone/>
            </a:pPr>
            <a:r>
              <a:rPr lang="en-US" sz="900" b="1" dirty="0">
                <a:solidFill>
                  <a:srgbClr val="0032A0"/>
                </a:solidFill>
                <a:latin typeface="Aptos" pitchFamily="34" charset="0"/>
                <a:ea typeface="Aptos" pitchFamily="34" charset="-122"/>
                <a:cs typeface="Aptos" pitchFamily="34" charset="-120"/>
              </a:rPr>
              <a:t>RECOMMENDATION</a:t>
            </a:r>
            <a:endParaRPr lang="en-US" sz="900" dirty="0"/>
          </a:p>
        </p:txBody>
      </p:sp>
      <p:sp>
        <p:nvSpPr>
          <p:cNvPr id="8" name="Text 6"/>
          <p:cNvSpPr/>
          <p:nvPr/>
        </p:nvSpPr>
        <p:spPr>
          <a:xfrm>
            <a:off x="2240280" y="1371600"/>
            <a:ext cx="9247327" cy="676656"/>
          </a:xfrm>
          <a:prstGeom prst="rect">
            <a:avLst/>
          </a:prstGeom>
          <a:noFill/>
          <a:ln/>
        </p:spPr>
        <p:txBody>
          <a:bodyPr wrap="square" lIns="0" tIns="0" rIns="0" bIns="0" rtlCol="0" anchor="ctr"/>
          <a:lstStyle/>
          <a:p>
            <a:pPr marL="0" indent="0">
              <a:lnSpc>
                <a:spcPct val="106000"/>
              </a:lnSpc>
              <a:buNone/>
            </a:pPr>
            <a:r>
              <a:rPr lang="en-US" sz="1100" b="1" dirty="0">
                <a:solidFill>
                  <a:srgbClr val="FFFFFF"/>
                </a:solidFill>
                <a:latin typeface="Aptos" pitchFamily="34" charset="0"/>
                <a:ea typeface="Aptos" pitchFamily="34" charset="-122"/>
                <a:cs typeface="Aptos" pitchFamily="34" charset="-120"/>
              </a:rPr>
              <a:t>"Prioritise unit-revenue improvement and addressable cost productivity as the immediate dual-lever strategy, while retaining capacity pacing as a conditional governance lever that is activated only if subsequent evidence confirms that the capacity-demand divergence is persistent."</a:t>
            </a:r>
            <a:endParaRPr lang="en-US" sz="1100" dirty="0"/>
          </a:p>
        </p:txBody>
      </p:sp>
      <p:sp>
        <p:nvSpPr>
          <p:cNvPr id="9" name="Shape 7"/>
          <p:cNvSpPr/>
          <p:nvPr/>
        </p:nvSpPr>
        <p:spPr>
          <a:xfrm>
            <a:off x="502920" y="2157984"/>
            <a:ext cx="3474720" cy="3566160"/>
          </a:xfrm>
          <a:prstGeom prst="rect">
            <a:avLst/>
          </a:prstGeom>
          <a:solidFill>
            <a:srgbClr val="0032A0"/>
          </a:solidFill>
          <a:ln/>
        </p:spPr>
      </p:sp>
      <p:sp>
        <p:nvSpPr>
          <p:cNvPr id="10" name="Text 8"/>
          <p:cNvSpPr/>
          <p:nvPr/>
        </p:nvSpPr>
        <p:spPr>
          <a:xfrm>
            <a:off x="704088" y="2322576"/>
            <a:ext cx="402336" cy="402336"/>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A</a:t>
            </a:r>
            <a:endParaRPr lang="en-US" sz="2600" dirty="0"/>
          </a:p>
        </p:txBody>
      </p:sp>
      <p:sp>
        <p:nvSpPr>
          <p:cNvPr id="11" name="Text 9"/>
          <p:cNvSpPr/>
          <p:nvPr/>
        </p:nvSpPr>
        <p:spPr>
          <a:xfrm>
            <a:off x="1161288" y="2322576"/>
            <a:ext cx="2615184" cy="438912"/>
          </a:xfrm>
          <a:prstGeom prst="rect">
            <a:avLst/>
          </a:prstGeom>
          <a:noFill/>
          <a:ln/>
        </p:spPr>
        <p:txBody>
          <a:bodyPr wrap="square" lIns="0" tIns="0" rIns="0" bIns="0" rtlCol="0" anchor="ctr"/>
          <a:lstStyle/>
          <a:p>
            <a:pPr marL="0" indent="0">
              <a:lnSpc>
                <a:spcPct val="98000"/>
              </a:lnSpc>
              <a:buNone/>
            </a:pPr>
            <a:r>
              <a:rPr lang="en-US" sz="1250" b="1" dirty="0">
                <a:solidFill>
                  <a:srgbClr val="FFFFFF"/>
                </a:solidFill>
                <a:latin typeface="Aptos Display" pitchFamily="34" charset="0"/>
                <a:ea typeface="Aptos Display" pitchFamily="34" charset="-122"/>
                <a:cs typeface="Aptos Display" pitchFamily="34" charset="-120"/>
              </a:rPr>
              <a:t>UNIT-REVENUE</a:t>
            </a:r>
            <a:endParaRPr lang="en-US" sz="1250" dirty="0"/>
          </a:p>
          <a:p>
            <a:pPr marL="0" indent="0">
              <a:lnSpc>
                <a:spcPct val="98000"/>
              </a:lnSpc>
              <a:buNone/>
            </a:pPr>
            <a:r>
              <a:rPr lang="en-US" sz="1250" b="1" dirty="0">
                <a:solidFill>
                  <a:srgbClr val="FFFFFF"/>
                </a:solidFill>
                <a:latin typeface="Aptos Display" pitchFamily="34" charset="0"/>
                <a:ea typeface="Aptos Display" pitchFamily="34" charset="-122"/>
                <a:cs typeface="Aptos Display" pitchFamily="34" charset="-120"/>
              </a:rPr>
              <a:t>IMPROVEMENT</a:t>
            </a:r>
            <a:endParaRPr lang="en-US" sz="1250" dirty="0"/>
          </a:p>
        </p:txBody>
      </p:sp>
      <p:sp>
        <p:nvSpPr>
          <p:cNvPr id="12" name="Text 10"/>
          <p:cNvSpPr/>
          <p:nvPr/>
        </p:nvSpPr>
        <p:spPr>
          <a:xfrm>
            <a:off x="704088" y="2779776"/>
            <a:ext cx="3072384" cy="201168"/>
          </a:xfrm>
          <a:prstGeom prst="rect">
            <a:avLst/>
          </a:prstGeom>
          <a:noFill/>
          <a:ln/>
        </p:spPr>
        <p:txBody>
          <a:bodyPr wrap="square" lIns="0" tIns="0" rIns="0" bIns="0" rtlCol="0" anchor="ctr"/>
          <a:lstStyle/>
          <a:p>
            <a:pPr marL="0" indent="0">
              <a:buNone/>
            </a:pPr>
            <a:r>
              <a:rPr lang="en-US" sz="900" b="1" dirty="0">
                <a:solidFill>
                  <a:srgbClr val="AFC6F0"/>
                </a:solidFill>
                <a:latin typeface="Aptos" pitchFamily="34" charset="0"/>
                <a:ea typeface="Aptos" pitchFamily="34" charset="-122"/>
                <a:cs typeface="Aptos" pitchFamily="34" charset="-120"/>
              </a:rPr>
              <a:t>ALT-3 basis - 72.8%</a:t>
            </a:r>
            <a:endParaRPr lang="en-US" sz="900" dirty="0"/>
          </a:p>
        </p:txBody>
      </p:sp>
      <p:sp>
        <p:nvSpPr>
          <p:cNvPr id="13" name="Shape 11"/>
          <p:cNvSpPr/>
          <p:nvPr/>
        </p:nvSpPr>
        <p:spPr>
          <a:xfrm>
            <a:off x="704088" y="2999232"/>
            <a:ext cx="1188720" cy="292608"/>
          </a:xfrm>
          <a:prstGeom prst="rect">
            <a:avLst/>
          </a:prstGeom>
          <a:solidFill>
            <a:srgbClr val="FFFFFF"/>
          </a:solidFill>
          <a:ln/>
        </p:spPr>
      </p:sp>
      <p:sp>
        <p:nvSpPr>
          <p:cNvPr id="14" name="Text 12"/>
          <p:cNvSpPr/>
          <p:nvPr/>
        </p:nvSpPr>
        <p:spPr>
          <a:xfrm>
            <a:off x="704088" y="2999232"/>
            <a:ext cx="1188720" cy="292608"/>
          </a:xfrm>
          <a:prstGeom prst="rect">
            <a:avLst/>
          </a:prstGeom>
          <a:noFill/>
          <a:ln/>
        </p:spPr>
        <p:txBody>
          <a:bodyPr wrap="square" lIns="0" tIns="0" rIns="0" bIns="0" rtlCol="0" anchor="ctr"/>
          <a:lstStyle/>
          <a:p>
            <a:pPr marL="0" indent="0" algn="ctr">
              <a:buNone/>
            </a:pPr>
            <a:r>
              <a:rPr lang="en-US" sz="900" b="1" dirty="0">
                <a:solidFill>
                  <a:srgbClr val="0032A0"/>
                </a:solidFill>
                <a:latin typeface="Aptos" pitchFamily="34" charset="0"/>
                <a:ea typeface="Aptos" pitchFamily="34" charset="-122"/>
                <a:cs typeface="Aptos" pitchFamily="34" charset="-120"/>
              </a:rPr>
              <a:t>ACT NOW</a:t>
            </a:r>
            <a:endParaRPr lang="en-US" sz="900" dirty="0"/>
          </a:p>
        </p:txBody>
      </p:sp>
      <p:sp>
        <p:nvSpPr>
          <p:cNvPr id="15" name="Text 13"/>
          <p:cNvSpPr/>
          <p:nvPr/>
        </p:nvSpPr>
        <p:spPr>
          <a:xfrm>
            <a:off x="704088" y="3364992"/>
            <a:ext cx="3072384" cy="164592"/>
          </a:xfrm>
          <a:prstGeom prst="rect">
            <a:avLst/>
          </a:prstGeom>
          <a:noFill/>
          <a:ln/>
        </p:spPr>
        <p:txBody>
          <a:bodyPr wrap="square" lIns="0" tIns="0" rIns="0" bIns="0" rtlCol="0" anchor="ctr"/>
          <a:lstStyle/>
          <a:p>
            <a:pPr marL="0" indent="0">
              <a:buNone/>
            </a:pPr>
            <a:r>
              <a:rPr lang="en-US" sz="750" b="1" dirty="0">
                <a:solidFill>
                  <a:srgbClr val="9DBAEC"/>
                </a:solidFill>
                <a:latin typeface="Aptos" pitchFamily="34" charset="0"/>
                <a:ea typeface="Aptos" pitchFamily="34" charset="-122"/>
                <a:cs typeface="Aptos" pitchFamily="34" charset="-120"/>
              </a:rPr>
              <a:t>EVIDENCE</a:t>
            </a:r>
            <a:endParaRPr lang="en-US" sz="750" dirty="0"/>
          </a:p>
        </p:txBody>
      </p:sp>
      <p:sp>
        <p:nvSpPr>
          <p:cNvPr id="16" name="Text 14"/>
          <p:cNvSpPr/>
          <p:nvPr/>
        </p:nvSpPr>
        <p:spPr>
          <a:xfrm>
            <a:off x="704088" y="3520440"/>
            <a:ext cx="3072384" cy="374904"/>
          </a:xfrm>
          <a:prstGeom prst="rect">
            <a:avLst/>
          </a:prstGeom>
          <a:noFill/>
          <a:ln/>
        </p:spPr>
        <p:txBody>
          <a:bodyPr wrap="square" lIns="0" tIns="0" rIns="0" bIns="0" rtlCol="0" anchor="t"/>
          <a:lstStyle/>
          <a:p>
            <a:pPr marL="0" indent="0">
              <a:lnSpc>
                <a:spcPct val="106000"/>
              </a:lnSpc>
              <a:buNone/>
            </a:pPr>
            <a:r>
              <a:rPr lang="en-US" sz="900" dirty="0">
                <a:solidFill>
                  <a:srgbClr val="E4ECFA"/>
                </a:solidFill>
                <a:latin typeface="Aptos" pitchFamily="34" charset="0"/>
                <a:ea typeface="Aptos" pitchFamily="34" charset="-122"/>
                <a:cs typeface="Aptos" pitchFamily="34" charset="-120"/>
              </a:rPr>
              <a:t>RASK -3.0%; yield -1.7%; ancillary Rs. 737 of Rs. 6,886 per passenger</a:t>
            </a:r>
            <a:endParaRPr lang="en-US" sz="900" dirty="0"/>
          </a:p>
        </p:txBody>
      </p:sp>
      <p:sp>
        <p:nvSpPr>
          <p:cNvPr id="17" name="Text 15"/>
          <p:cNvSpPr/>
          <p:nvPr/>
        </p:nvSpPr>
        <p:spPr>
          <a:xfrm>
            <a:off x="704088" y="3895344"/>
            <a:ext cx="3072384" cy="164592"/>
          </a:xfrm>
          <a:prstGeom prst="rect">
            <a:avLst/>
          </a:prstGeom>
          <a:noFill/>
          <a:ln/>
        </p:spPr>
        <p:txBody>
          <a:bodyPr wrap="square" lIns="0" tIns="0" rIns="0" bIns="0" rtlCol="0" anchor="ctr"/>
          <a:lstStyle/>
          <a:p>
            <a:pPr marL="0" indent="0">
              <a:buNone/>
            </a:pPr>
            <a:r>
              <a:rPr lang="en-US" sz="750" b="1" dirty="0">
                <a:solidFill>
                  <a:srgbClr val="9DBAEC"/>
                </a:solidFill>
                <a:latin typeface="Aptos" pitchFamily="34" charset="0"/>
                <a:ea typeface="Aptos" pitchFamily="34" charset="-122"/>
                <a:cs typeface="Aptos" pitchFamily="34" charset="-120"/>
              </a:rPr>
              <a:t>MECHANISM</a:t>
            </a:r>
            <a:endParaRPr lang="en-US" sz="750" dirty="0"/>
          </a:p>
        </p:txBody>
      </p:sp>
      <p:sp>
        <p:nvSpPr>
          <p:cNvPr id="18" name="Text 16"/>
          <p:cNvSpPr/>
          <p:nvPr/>
        </p:nvSpPr>
        <p:spPr>
          <a:xfrm>
            <a:off x="704088" y="4050792"/>
            <a:ext cx="3072384" cy="502920"/>
          </a:xfrm>
          <a:prstGeom prst="rect">
            <a:avLst/>
          </a:prstGeom>
          <a:noFill/>
          <a:ln/>
        </p:spPr>
        <p:txBody>
          <a:bodyPr wrap="square" lIns="0" tIns="0" rIns="0" bIns="0" rtlCol="0" anchor="t"/>
          <a:lstStyle/>
          <a:p>
            <a:pPr marL="0" indent="0">
              <a:lnSpc>
                <a:spcPct val="106000"/>
              </a:lnSpc>
              <a:buNone/>
            </a:pPr>
            <a:r>
              <a:rPr lang="en-US" sz="900" dirty="0">
                <a:solidFill>
                  <a:srgbClr val="E4ECFA"/>
                </a:solidFill>
                <a:latin typeface="Aptos" pitchFamily="34" charset="0"/>
                <a:ea typeface="Aptos" pitchFamily="34" charset="-122"/>
                <a:cs typeface="Aptos" pitchFamily="34" charset="-120"/>
              </a:rPr>
              <a:t>Pricing, revenue management, ancillary, premiumisation, loyalty, corporate travel, cargo, partnerships</a:t>
            </a:r>
            <a:endParaRPr lang="en-US" sz="900" dirty="0"/>
          </a:p>
        </p:txBody>
      </p:sp>
      <p:sp>
        <p:nvSpPr>
          <p:cNvPr id="19" name="Text 17"/>
          <p:cNvSpPr/>
          <p:nvPr/>
        </p:nvSpPr>
        <p:spPr>
          <a:xfrm>
            <a:off x="704088" y="4553712"/>
            <a:ext cx="3072384" cy="164592"/>
          </a:xfrm>
          <a:prstGeom prst="rect">
            <a:avLst/>
          </a:prstGeom>
          <a:noFill/>
          <a:ln/>
        </p:spPr>
        <p:txBody>
          <a:bodyPr wrap="square" lIns="0" tIns="0" rIns="0" bIns="0" rtlCol="0" anchor="ctr"/>
          <a:lstStyle/>
          <a:p>
            <a:pPr marL="0" indent="0">
              <a:buNone/>
            </a:pPr>
            <a:r>
              <a:rPr lang="en-US" sz="750" b="1" dirty="0">
                <a:solidFill>
                  <a:srgbClr val="9DBAEC"/>
                </a:solidFill>
                <a:latin typeface="Aptos" pitchFamily="34" charset="0"/>
                <a:ea typeface="Aptos" pitchFamily="34" charset="-122"/>
                <a:cs typeface="Aptos" pitchFamily="34" charset="-120"/>
              </a:rPr>
              <a:t>WHY NOW / WHY NOT YET</a:t>
            </a:r>
            <a:endParaRPr lang="en-US" sz="750" dirty="0"/>
          </a:p>
        </p:txBody>
      </p:sp>
      <p:sp>
        <p:nvSpPr>
          <p:cNvPr id="20" name="Text 18"/>
          <p:cNvSpPr/>
          <p:nvPr/>
        </p:nvSpPr>
        <p:spPr>
          <a:xfrm>
            <a:off x="704088" y="4709160"/>
            <a:ext cx="3072384" cy="393192"/>
          </a:xfrm>
          <a:prstGeom prst="rect">
            <a:avLst/>
          </a:prstGeom>
          <a:noFill/>
          <a:ln/>
        </p:spPr>
        <p:txBody>
          <a:bodyPr wrap="square" lIns="0" tIns="0" rIns="0" bIns="0" rtlCol="0" anchor="t"/>
          <a:lstStyle/>
          <a:p>
            <a:pPr marL="0" indent="0">
              <a:lnSpc>
                <a:spcPct val="106000"/>
              </a:lnSpc>
              <a:buNone/>
            </a:pPr>
            <a:r>
              <a:rPr lang="en-US" sz="900" dirty="0">
                <a:solidFill>
                  <a:srgbClr val="E4ECFA"/>
                </a:solidFill>
                <a:latin typeface="Aptos" pitchFamily="34" charset="0"/>
                <a:ea typeface="Aptos" pitchFamily="34" charset="-122"/>
                <a:cs typeface="Aptos" pitchFamily="34" charset="-120"/>
              </a:rPr>
              <a:t>Reversible, high controllability, directly targets RASK</a:t>
            </a:r>
            <a:endParaRPr lang="en-US" sz="900" dirty="0"/>
          </a:p>
        </p:txBody>
      </p:sp>
      <p:sp>
        <p:nvSpPr>
          <p:cNvPr id="21" name="Text 19"/>
          <p:cNvSpPr/>
          <p:nvPr/>
        </p:nvSpPr>
        <p:spPr>
          <a:xfrm>
            <a:off x="704088" y="5102352"/>
            <a:ext cx="3072384" cy="164592"/>
          </a:xfrm>
          <a:prstGeom prst="rect">
            <a:avLst/>
          </a:prstGeom>
          <a:noFill/>
          <a:ln/>
        </p:spPr>
        <p:txBody>
          <a:bodyPr wrap="square" lIns="0" tIns="0" rIns="0" bIns="0" rtlCol="0" anchor="ctr"/>
          <a:lstStyle/>
          <a:p>
            <a:pPr marL="0" indent="0">
              <a:buNone/>
            </a:pPr>
            <a:r>
              <a:rPr lang="en-US" sz="750" b="1" dirty="0">
                <a:solidFill>
                  <a:srgbClr val="9DBAEC"/>
                </a:solidFill>
                <a:latin typeface="Aptos" pitchFamily="34" charset="0"/>
                <a:ea typeface="Aptos" pitchFamily="34" charset="-122"/>
                <a:cs typeface="Aptos" pitchFamily="34" charset="-120"/>
              </a:rPr>
              <a:t>LIMITATION</a:t>
            </a:r>
            <a:endParaRPr lang="en-US" sz="750" dirty="0"/>
          </a:p>
        </p:txBody>
      </p:sp>
      <p:sp>
        <p:nvSpPr>
          <p:cNvPr id="22" name="Text 20"/>
          <p:cNvSpPr/>
          <p:nvPr/>
        </p:nvSpPr>
        <p:spPr>
          <a:xfrm>
            <a:off x="704088" y="5257800"/>
            <a:ext cx="3072384" cy="338328"/>
          </a:xfrm>
          <a:prstGeom prst="rect">
            <a:avLst/>
          </a:prstGeom>
          <a:noFill/>
          <a:ln/>
        </p:spPr>
        <p:txBody>
          <a:bodyPr wrap="square" lIns="0" tIns="0" rIns="0" bIns="0" rtlCol="0" anchor="t"/>
          <a:lstStyle/>
          <a:p>
            <a:pPr marL="0" indent="0">
              <a:lnSpc>
                <a:spcPct val="106000"/>
              </a:lnSpc>
              <a:buNone/>
            </a:pPr>
            <a:r>
              <a:rPr lang="en-US" sz="900" dirty="0">
                <a:solidFill>
                  <a:srgbClr val="E4ECFA"/>
                </a:solidFill>
                <a:latin typeface="Aptos" pitchFamily="34" charset="0"/>
                <a:ea typeface="Aptos" pitchFamily="34" charset="-122"/>
                <a:cs typeface="Aptos" pitchFamily="34" charset="-120"/>
              </a:rPr>
              <a:t>Elasticity not validated; forward RASK uplift not established</a:t>
            </a:r>
            <a:endParaRPr lang="en-US" sz="900" dirty="0"/>
          </a:p>
        </p:txBody>
      </p:sp>
      <p:sp>
        <p:nvSpPr>
          <p:cNvPr id="23" name="Shape 21"/>
          <p:cNvSpPr/>
          <p:nvPr/>
        </p:nvSpPr>
        <p:spPr>
          <a:xfrm>
            <a:off x="4114800" y="2157984"/>
            <a:ext cx="3474720" cy="3566160"/>
          </a:xfrm>
          <a:prstGeom prst="rect">
            <a:avLst/>
          </a:prstGeom>
          <a:solidFill>
            <a:srgbClr val="041E47"/>
          </a:solidFill>
          <a:ln/>
        </p:spPr>
      </p:sp>
      <p:sp>
        <p:nvSpPr>
          <p:cNvPr id="24" name="Text 22"/>
          <p:cNvSpPr/>
          <p:nvPr/>
        </p:nvSpPr>
        <p:spPr>
          <a:xfrm>
            <a:off x="4315968" y="2322576"/>
            <a:ext cx="402336" cy="402336"/>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B</a:t>
            </a:r>
            <a:endParaRPr lang="en-US" sz="2600" dirty="0"/>
          </a:p>
        </p:txBody>
      </p:sp>
      <p:sp>
        <p:nvSpPr>
          <p:cNvPr id="25" name="Text 23"/>
          <p:cNvSpPr/>
          <p:nvPr/>
        </p:nvSpPr>
        <p:spPr>
          <a:xfrm>
            <a:off x="4773168" y="2322576"/>
            <a:ext cx="2615184" cy="438912"/>
          </a:xfrm>
          <a:prstGeom prst="rect">
            <a:avLst/>
          </a:prstGeom>
          <a:noFill/>
          <a:ln/>
        </p:spPr>
        <p:txBody>
          <a:bodyPr wrap="square" lIns="0" tIns="0" rIns="0" bIns="0" rtlCol="0" anchor="ctr"/>
          <a:lstStyle/>
          <a:p>
            <a:pPr marL="0" indent="0">
              <a:lnSpc>
                <a:spcPct val="98000"/>
              </a:lnSpc>
              <a:buNone/>
            </a:pPr>
            <a:r>
              <a:rPr lang="en-US" sz="1250" b="1" dirty="0">
                <a:solidFill>
                  <a:srgbClr val="FFFFFF"/>
                </a:solidFill>
                <a:latin typeface="Aptos Display" pitchFamily="34" charset="0"/>
                <a:ea typeface="Aptos Display" pitchFamily="34" charset="-122"/>
                <a:cs typeface="Aptos Display" pitchFamily="34" charset="-120"/>
              </a:rPr>
              <a:t>ADDRESSABLE COST</a:t>
            </a:r>
            <a:endParaRPr lang="en-US" sz="1250" dirty="0"/>
          </a:p>
          <a:p>
            <a:pPr marL="0" indent="0">
              <a:lnSpc>
                <a:spcPct val="98000"/>
              </a:lnSpc>
              <a:buNone/>
            </a:pPr>
            <a:r>
              <a:rPr lang="en-US" sz="1250" b="1" dirty="0">
                <a:solidFill>
                  <a:srgbClr val="FFFFFF"/>
                </a:solidFill>
                <a:latin typeface="Aptos Display" pitchFamily="34" charset="0"/>
                <a:ea typeface="Aptos Display" pitchFamily="34" charset="-122"/>
                <a:cs typeface="Aptos Display" pitchFamily="34" charset="-120"/>
              </a:rPr>
              <a:t>PRODUCTIVITY</a:t>
            </a:r>
            <a:endParaRPr lang="en-US" sz="1250" dirty="0"/>
          </a:p>
        </p:txBody>
      </p:sp>
      <p:sp>
        <p:nvSpPr>
          <p:cNvPr id="26" name="Text 24"/>
          <p:cNvSpPr/>
          <p:nvPr/>
        </p:nvSpPr>
        <p:spPr>
          <a:xfrm>
            <a:off x="4315968" y="2779776"/>
            <a:ext cx="3072384" cy="201168"/>
          </a:xfrm>
          <a:prstGeom prst="rect">
            <a:avLst/>
          </a:prstGeom>
          <a:noFill/>
          <a:ln/>
        </p:spPr>
        <p:txBody>
          <a:bodyPr wrap="square" lIns="0" tIns="0" rIns="0" bIns="0" rtlCol="0" anchor="ctr"/>
          <a:lstStyle/>
          <a:p>
            <a:pPr marL="0" indent="0">
              <a:buNone/>
            </a:pPr>
            <a:r>
              <a:rPr lang="en-US" sz="900" b="1" dirty="0">
                <a:solidFill>
                  <a:srgbClr val="8FB0E8"/>
                </a:solidFill>
                <a:latin typeface="Aptos" pitchFamily="34" charset="0"/>
                <a:ea typeface="Aptos" pitchFamily="34" charset="-122"/>
                <a:cs typeface="Aptos" pitchFamily="34" charset="-120"/>
              </a:rPr>
              <a:t>ALT-4 basis - 68.8%</a:t>
            </a:r>
            <a:endParaRPr lang="en-US" sz="900" dirty="0"/>
          </a:p>
        </p:txBody>
      </p:sp>
      <p:sp>
        <p:nvSpPr>
          <p:cNvPr id="27" name="Shape 25"/>
          <p:cNvSpPr/>
          <p:nvPr/>
        </p:nvSpPr>
        <p:spPr>
          <a:xfrm>
            <a:off x="4315968" y="2999232"/>
            <a:ext cx="1188720" cy="292608"/>
          </a:xfrm>
          <a:prstGeom prst="rect">
            <a:avLst/>
          </a:prstGeom>
          <a:solidFill>
            <a:srgbClr val="FFFFFF"/>
          </a:solidFill>
          <a:ln/>
        </p:spPr>
      </p:sp>
      <p:sp>
        <p:nvSpPr>
          <p:cNvPr id="28" name="Text 26"/>
          <p:cNvSpPr/>
          <p:nvPr/>
        </p:nvSpPr>
        <p:spPr>
          <a:xfrm>
            <a:off x="4315968" y="2999232"/>
            <a:ext cx="1188720" cy="292608"/>
          </a:xfrm>
          <a:prstGeom prst="rect">
            <a:avLst/>
          </a:prstGeom>
          <a:noFill/>
          <a:ln/>
        </p:spPr>
        <p:txBody>
          <a:bodyPr wrap="square" lIns="0" tIns="0" rIns="0" bIns="0" rtlCol="0" anchor="ctr"/>
          <a:lstStyle/>
          <a:p>
            <a:pPr marL="0" indent="0" algn="ctr">
              <a:buNone/>
            </a:pPr>
            <a:r>
              <a:rPr lang="en-US" sz="900" b="1" dirty="0">
                <a:solidFill>
                  <a:srgbClr val="041E47"/>
                </a:solidFill>
                <a:latin typeface="Aptos" pitchFamily="34" charset="0"/>
                <a:ea typeface="Aptos" pitchFamily="34" charset="-122"/>
                <a:cs typeface="Aptos" pitchFamily="34" charset="-120"/>
              </a:rPr>
              <a:t>ACT NOW</a:t>
            </a:r>
            <a:endParaRPr lang="en-US" sz="900" dirty="0"/>
          </a:p>
        </p:txBody>
      </p:sp>
      <p:sp>
        <p:nvSpPr>
          <p:cNvPr id="29" name="Text 27"/>
          <p:cNvSpPr/>
          <p:nvPr/>
        </p:nvSpPr>
        <p:spPr>
          <a:xfrm>
            <a:off x="4315968" y="3364992"/>
            <a:ext cx="3072384" cy="164592"/>
          </a:xfrm>
          <a:prstGeom prst="rect">
            <a:avLst/>
          </a:prstGeom>
          <a:noFill/>
          <a:ln/>
        </p:spPr>
        <p:txBody>
          <a:bodyPr wrap="square" lIns="0" tIns="0" rIns="0" bIns="0" rtlCol="0" anchor="ctr"/>
          <a:lstStyle/>
          <a:p>
            <a:pPr marL="0" indent="0">
              <a:buNone/>
            </a:pPr>
            <a:r>
              <a:rPr lang="en-US" sz="750" b="1" dirty="0">
                <a:solidFill>
                  <a:srgbClr val="7FA3E8"/>
                </a:solidFill>
                <a:latin typeface="Aptos" pitchFamily="34" charset="0"/>
                <a:ea typeface="Aptos" pitchFamily="34" charset="-122"/>
                <a:cs typeface="Aptos" pitchFamily="34" charset="-120"/>
              </a:rPr>
              <a:t>EVIDENCE</a:t>
            </a:r>
            <a:endParaRPr lang="en-US" sz="750" dirty="0"/>
          </a:p>
        </p:txBody>
      </p:sp>
      <p:sp>
        <p:nvSpPr>
          <p:cNvPr id="30" name="Text 28"/>
          <p:cNvSpPr/>
          <p:nvPr/>
        </p:nvSpPr>
        <p:spPr>
          <a:xfrm>
            <a:off x="4315968" y="3520440"/>
            <a:ext cx="3072384" cy="374904"/>
          </a:xfrm>
          <a:prstGeom prst="rect">
            <a:avLst/>
          </a:prstGeom>
          <a:noFill/>
          <a:ln/>
        </p:spPr>
        <p:txBody>
          <a:bodyPr wrap="square" lIns="0" tIns="0" rIns="0" bIns="0" rtlCol="0" anchor="t"/>
          <a:lstStyle/>
          <a:p>
            <a:pPr marL="0" indent="0">
              <a:lnSpc>
                <a:spcPct val="106000"/>
              </a:lnSpc>
              <a:buNone/>
            </a:pPr>
            <a:r>
              <a:rPr lang="en-US" sz="900" dirty="0">
                <a:solidFill>
                  <a:srgbClr val="D2E0F6"/>
                </a:solidFill>
                <a:latin typeface="Aptos" pitchFamily="34" charset="0"/>
                <a:ea typeface="Aptos" pitchFamily="34" charset="-122"/>
                <a:cs typeface="Aptos" pitchFamily="34" charset="-120"/>
              </a:rPr>
              <a:t>Non-fuel +27.8%; CASK ex-fuel-ex-FX +3.8%</a:t>
            </a:r>
            <a:endParaRPr lang="en-US" sz="900" dirty="0"/>
          </a:p>
        </p:txBody>
      </p:sp>
      <p:sp>
        <p:nvSpPr>
          <p:cNvPr id="31" name="Text 29"/>
          <p:cNvSpPr/>
          <p:nvPr/>
        </p:nvSpPr>
        <p:spPr>
          <a:xfrm>
            <a:off x="4315968" y="3895344"/>
            <a:ext cx="3072384" cy="164592"/>
          </a:xfrm>
          <a:prstGeom prst="rect">
            <a:avLst/>
          </a:prstGeom>
          <a:noFill/>
          <a:ln/>
        </p:spPr>
        <p:txBody>
          <a:bodyPr wrap="square" lIns="0" tIns="0" rIns="0" bIns="0" rtlCol="0" anchor="ctr"/>
          <a:lstStyle/>
          <a:p>
            <a:pPr marL="0" indent="0">
              <a:buNone/>
            </a:pPr>
            <a:r>
              <a:rPr lang="en-US" sz="750" b="1" dirty="0">
                <a:solidFill>
                  <a:srgbClr val="7FA3E8"/>
                </a:solidFill>
                <a:latin typeface="Aptos" pitchFamily="34" charset="0"/>
                <a:ea typeface="Aptos" pitchFamily="34" charset="-122"/>
                <a:cs typeface="Aptos" pitchFamily="34" charset="-120"/>
              </a:rPr>
              <a:t>MECHANISM</a:t>
            </a:r>
            <a:endParaRPr lang="en-US" sz="750" dirty="0"/>
          </a:p>
        </p:txBody>
      </p:sp>
      <p:sp>
        <p:nvSpPr>
          <p:cNvPr id="32" name="Text 30"/>
          <p:cNvSpPr/>
          <p:nvPr/>
        </p:nvSpPr>
        <p:spPr>
          <a:xfrm>
            <a:off x="4315968" y="4050792"/>
            <a:ext cx="3072384" cy="502920"/>
          </a:xfrm>
          <a:prstGeom prst="rect">
            <a:avLst/>
          </a:prstGeom>
          <a:noFill/>
          <a:ln/>
        </p:spPr>
        <p:txBody>
          <a:bodyPr wrap="square" lIns="0" tIns="0" rIns="0" bIns="0" rtlCol="0" anchor="t"/>
          <a:lstStyle/>
          <a:p>
            <a:pPr marL="0" indent="0">
              <a:lnSpc>
                <a:spcPct val="106000"/>
              </a:lnSpc>
              <a:buNone/>
            </a:pPr>
            <a:r>
              <a:rPr lang="en-US" sz="900" dirty="0">
                <a:solidFill>
                  <a:srgbClr val="D2E0F6"/>
                </a:solidFill>
                <a:latin typeface="Aptos" pitchFamily="34" charset="0"/>
                <a:ea typeface="Aptos" pitchFamily="34" charset="-122"/>
                <a:cs typeface="Aptos" pitchFamily="34" charset="-120"/>
              </a:rPr>
              <a:t>Procurement, crew productivity, airport cost, ground automation, verified AI</a:t>
            </a:r>
            <a:endParaRPr lang="en-US" sz="900" dirty="0"/>
          </a:p>
        </p:txBody>
      </p:sp>
      <p:sp>
        <p:nvSpPr>
          <p:cNvPr id="33" name="Text 31"/>
          <p:cNvSpPr/>
          <p:nvPr/>
        </p:nvSpPr>
        <p:spPr>
          <a:xfrm>
            <a:off x="4315968" y="4553712"/>
            <a:ext cx="3072384" cy="164592"/>
          </a:xfrm>
          <a:prstGeom prst="rect">
            <a:avLst/>
          </a:prstGeom>
          <a:noFill/>
          <a:ln/>
        </p:spPr>
        <p:txBody>
          <a:bodyPr wrap="square" lIns="0" tIns="0" rIns="0" bIns="0" rtlCol="0" anchor="ctr"/>
          <a:lstStyle/>
          <a:p>
            <a:pPr marL="0" indent="0">
              <a:buNone/>
            </a:pPr>
            <a:r>
              <a:rPr lang="en-US" sz="750" b="1" dirty="0">
                <a:solidFill>
                  <a:srgbClr val="7FA3E8"/>
                </a:solidFill>
                <a:latin typeface="Aptos" pitchFamily="34" charset="0"/>
                <a:ea typeface="Aptos" pitchFamily="34" charset="-122"/>
                <a:cs typeface="Aptos" pitchFamily="34" charset="-120"/>
              </a:rPr>
              <a:t>WHY NOW / WHY NOT YET</a:t>
            </a:r>
            <a:endParaRPr lang="en-US" sz="750" dirty="0"/>
          </a:p>
        </p:txBody>
      </p:sp>
      <p:sp>
        <p:nvSpPr>
          <p:cNvPr id="34" name="Text 32"/>
          <p:cNvSpPr/>
          <p:nvPr/>
        </p:nvSpPr>
        <p:spPr>
          <a:xfrm>
            <a:off x="4315968" y="4709160"/>
            <a:ext cx="3072384" cy="393192"/>
          </a:xfrm>
          <a:prstGeom prst="rect">
            <a:avLst/>
          </a:prstGeom>
          <a:noFill/>
          <a:ln/>
        </p:spPr>
        <p:txBody>
          <a:bodyPr wrap="square" lIns="0" tIns="0" rIns="0" bIns="0" rtlCol="0" anchor="t"/>
          <a:lstStyle/>
          <a:p>
            <a:pPr marL="0" indent="0">
              <a:lnSpc>
                <a:spcPct val="106000"/>
              </a:lnSpc>
              <a:buNone/>
            </a:pPr>
            <a:r>
              <a:rPr lang="en-US" sz="900" dirty="0">
                <a:solidFill>
                  <a:srgbClr val="D2E0F6"/>
                </a:solidFill>
                <a:latin typeface="Aptos" pitchFamily="34" charset="0"/>
                <a:ea typeface="Aptos" pitchFamily="34" charset="-122"/>
                <a:cs typeface="Aptos" pitchFamily="34" charset="-120"/>
              </a:rPr>
              <a:t>Most scenario-robust of the six; targets the larger absolute movement</a:t>
            </a:r>
            <a:endParaRPr lang="en-US" sz="900" dirty="0"/>
          </a:p>
        </p:txBody>
      </p:sp>
      <p:sp>
        <p:nvSpPr>
          <p:cNvPr id="35" name="Text 33"/>
          <p:cNvSpPr/>
          <p:nvPr/>
        </p:nvSpPr>
        <p:spPr>
          <a:xfrm>
            <a:off x="4315968" y="5102352"/>
            <a:ext cx="3072384" cy="164592"/>
          </a:xfrm>
          <a:prstGeom prst="rect">
            <a:avLst/>
          </a:prstGeom>
          <a:noFill/>
          <a:ln/>
        </p:spPr>
        <p:txBody>
          <a:bodyPr wrap="square" lIns="0" tIns="0" rIns="0" bIns="0" rtlCol="0" anchor="ctr"/>
          <a:lstStyle/>
          <a:p>
            <a:pPr marL="0" indent="0">
              <a:buNone/>
            </a:pPr>
            <a:r>
              <a:rPr lang="en-US" sz="750" b="1" dirty="0">
                <a:solidFill>
                  <a:srgbClr val="7FA3E8"/>
                </a:solidFill>
                <a:latin typeface="Aptos" pitchFamily="34" charset="0"/>
                <a:ea typeface="Aptos" pitchFamily="34" charset="-122"/>
                <a:cs typeface="Aptos" pitchFamily="34" charset="-120"/>
              </a:rPr>
              <a:t>LIMITATION</a:t>
            </a:r>
            <a:endParaRPr lang="en-US" sz="750" dirty="0"/>
          </a:p>
        </p:txBody>
      </p:sp>
      <p:sp>
        <p:nvSpPr>
          <p:cNvPr id="36" name="Text 34"/>
          <p:cNvSpPr/>
          <p:nvPr/>
        </p:nvSpPr>
        <p:spPr>
          <a:xfrm>
            <a:off x="4315968" y="5257800"/>
            <a:ext cx="3072384" cy="338328"/>
          </a:xfrm>
          <a:prstGeom prst="rect">
            <a:avLst/>
          </a:prstGeom>
          <a:noFill/>
          <a:ln/>
        </p:spPr>
        <p:txBody>
          <a:bodyPr wrap="square" lIns="0" tIns="0" rIns="0" bIns="0" rtlCol="0" anchor="t"/>
          <a:lstStyle/>
          <a:p>
            <a:pPr marL="0" indent="0">
              <a:lnSpc>
                <a:spcPct val="106000"/>
              </a:lnSpc>
              <a:buNone/>
            </a:pPr>
            <a:r>
              <a:rPr lang="en-US" sz="900" dirty="0">
                <a:solidFill>
                  <a:srgbClr val="D2E0F6"/>
                </a:solidFill>
                <a:latin typeface="Aptos" pitchFamily="34" charset="0"/>
                <a:ea typeface="Aptos" pitchFamily="34" charset="-122"/>
                <a:cs typeface="Aptos" pitchFamily="34" charset="-120"/>
              </a:rPr>
              <a:t>FX-attributable share not established; future savings not established</a:t>
            </a:r>
            <a:endParaRPr lang="en-US" sz="900" dirty="0"/>
          </a:p>
        </p:txBody>
      </p:sp>
      <p:sp>
        <p:nvSpPr>
          <p:cNvPr id="37" name="Shape 35"/>
          <p:cNvSpPr/>
          <p:nvPr/>
        </p:nvSpPr>
        <p:spPr>
          <a:xfrm>
            <a:off x="8211312" y="2249424"/>
            <a:ext cx="3474720" cy="3474720"/>
          </a:xfrm>
          <a:prstGeom prst="rect">
            <a:avLst/>
          </a:prstGeom>
          <a:solidFill>
            <a:srgbClr val="FFFFFF"/>
          </a:solidFill>
          <a:ln w="22225">
            <a:solidFill>
              <a:srgbClr val="0032A0"/>
            </a:solidFill>
            <a:prstDash val="dash"/>
          </a:ln>
        </p:spPr>
      </p:sp>
      <p:sp>
        <p:nvSpPr>
          <p:cNvPr id="38" name="Text 36"/>
          <p:cNvSpPr/>
          <p:nvPr/>
        </p:nvSpPr>
        <p:spPr>
          <a:xfrm>
            <a:off x="8412480" y="2414016"/>
            <a:ext cx="402336" cy="402336"/>
          </a:xfrm>
          <a:prstGeom prst="rect">
            <a:avLst/>
          </a:prstGeom>
          <a:noFill/>
          <a:ln/>
        </p:spPr>
        <p:txBody>
          <a:bodyPr wrap="square" lIns="0" tIns="0" rIns="0" bIns="0" rtlCol="0" anchor="ctr"/>
          <a:lstStyle/>
          <a:p>
            <a:pPr marL="0" indent="0">
              <a:buNone/>
            </a:pPr>
            <a:r>
              <a:rPr lang="en-US" sz="2600" b="1" dirty="0">
                <a:solidFill>
                  <a:srgbClr val="0032A0"/>
                </a:solidFill>
                <a:latin typeface="Aptos Display" pitchFamily="34" charset="0"/>
                <a:ea typeface="Aptos Display" pitchFamily="34" charset="-122"/>
                <a:cs typeface="Aptos Display" pitchFamily="34" charset="-120"/>
              </a:rPr>
              <a:t>C</a:t>
            </a:r>
            <a:endParaRPr lang="en-US" sz="2600" dirty="0"/>
          </a:p>
        </p:txBody>
      </p:sp>
      <p:sp>
        <p:nvSpPr>
          <p:cNvPr id="39" name="Text 37"/>
          <p:cNvSpPr/>
          <p:nvPr/>
        </p:nvSpPr>
        <p:spPr>
          <a:xfrm>
            <a:off x="8869680" y="2414016"/>
            <a:ext cx="2615184" cy="438912"/>
          </a:xfrm>
          <a:prstGeom prst="rect">
            <a:avLst/>
          </a:prstGeom>
          <a:noFill/>
          <a:ln/>
        </p:spPr>
        <p:txBody>
          <a:bodyPr wrap="square" lIns="0" tIns="0" rIns="0" bIns="0" rtlCol="0" anchor="ctr"/>
          <a:lstStyle/>
          <a:p>
            <a:pPr marL="0" indent="0">
              <a:lnSpc>
                <a:spcPct val="98000"/>
              </a:lnSpc>
              <a:buNone/>
            </a:pPr>
            <a:r>
              <a:rPr lang="en-US" sz="1250" b="1" dirty="0">
                <a:solidFill>
                  <a:srgbClr val="041E47"/>
                </a:solidFill>
                <a:latin typeface="Aptos Display" pitchFamily="34" charset="0"/>
                <a:ea typeface="Aptos Display" pitchFamily="34" charset="-122"/>
                <a:cs typeface="Aptos Display" pitchFamily="34" charset="-120"/>
              </a:rPr>
              <a:t>CAPACITY</a:t>
            </a:r>
            <a:endParaRPr lang="en-US" sz="1250" dirty="0"/>
          </a:p>
          <a:p>
            <a:pPr marL="0" indent="0">
              <a:lnSpc>
                <a:spcPct val="98000"/>
              </a:lnSpc>
              <a:buNone/>
            </a:pPr>
            <a:r>
              <a:rPr lang="en-US" sz="1250" b="1" dirty="0">
                <a:solidFill>
                  <a:srgbClr val="041E47"/>
                </a:solidFill>
                <a:latin typeface="Aptos Display" pitchFamily="34" charset="0"/>
                <a:ea typeface="Aptos Display" pitchFamily="34" charset="-122"/>
                <a:cs typeface="Aptos Display" pitchFamily="34" charset="-120"/>
              </a:rPr>
              <a:t>PACING</a:t>
            </a:r>
            <a:endParaRPr lang="en-US" sz="1250" dirty="0"/>
          </a:p>
        </p:txBody>
      </p:sp>
      <p:sp>
        <p:nvSpPr>
          <p:cNvPr id="40" name="Text 38"/>
          <p:cNvSpPr/>
          <p:nvPr/>
        </p:nvSpPr>
        <p:spPr>
          <a:xfrm>
            <a:off x="8412480" y="2871216"/>
            <a:ext cx="3072384" cy="201168"/>
          </a:xfrm>
          <a:prstGeom prst="rect">
            <a:avLst/>
          </a:prstGeom>
          <a:noFill/>
          <a:ln/>
        </p:spPr>
        <p:txBody>
          <a:bodyPr wrap="square" lIns="0" tIns="0" rIns="0" bIns="0" rtlCol="0" anchor="ctr"/>
          <a:lstStyle/>
          <a:p>
            <a:pPr marL="0" indent="0">
              <a:buNone/>
            </a:pPr>
            <a:r>
              <a:rPr lang="en-US" sz="900" b="1" dirty="0">
                <a:solidFill>
                  <a:srgbClr val="46577A"/>
                </a:solidFill>
                <a:latin typeface="Aptos" pitchFamily="34" charset="0"/>
                <a:ea typeface="Aptos" pitchFamily="34" charset="-122"/>
                <a:cs typeface="Aptos" pitchFamily="34" charset="-120"/>
              </a:rPr>
              <a:t>ALT-1 basis - 74.4%</a:t>
            </a:r>
            <a:endParaRPr lang="en-US" sz="900" dirty="0"/>
          </a:p>
        </p:txBody>
      </p:sp>
      <p:sp>
        <p:nvSpPr>
          <p:cNvPr id="41" name="Shape 39"/>
          <p:cNvSpPr/>
          <p:nvPr/>
        </p:nvSpPr>
        <p:spPr>
          <a:xfrm>
            <a:off x="8412480" y="3090672"/>
            <a:ext cx="3072384" cy="292608"/>
          </a:xfrm>
          <a:prstGeom prst="rect">
            <a:avLst/>
          </a:prstGeom>
          <a:solidFill>
            <a:srgbClr val="FFFFFF"/>
          </a:solidFill>
          <a:ln w="12700">
            <a:solidFill>
              <a:srgbClr val="D98A00"/>
            </a:solidFill>
            <a:prstDash val="solid"/>
          </a:ln>
        </p:spPr>
      </p:sp>
      <p:sp>
        <p:nvSpPr>
          <p:cNvPr id="42" name="Text 40"/>
          <p:cNvSpPr/>
          <p:nvPr/>
        </p:nvSpPr>
        <p:spPr>
          <a:xfrm>
            <a:off x="8412480" y="3090672"/>
            <a:ext cx="3072384" cy="292608"/>
          </a:xfrm>
          <a:prstGeom prst="rect">
            <a:avLst/>
          </a:prstGeom>
          <a:noFill/>
          <a:ln/>
        </p:spPr>
        <p:txBody>
          <a:bodyPr wrap="square" lIns="0" tIns="0" rIns="0" bIns="0" rtlCol="0" anchor="ctr"/>
          <a:lstStyle/>
          <a:p>
            <a:pPr marL="0" indent="0" algn="ctr">
              <a:buNone/>
            </a:pPr>
            <a:r>
              <a:rPr lang="en-US" sz="850" b="1" dirty="0">
                <a:solidFill>
                  <a:srgbClr val="D98A00"/>
                </a:solidFill>
                <a:latin typeface="Aptos" pitchFamily="34" charset="0"/>
                <a:ea typeface="Aptos" pitchFamily="34" charset="-122"/>
                <a:cs typeface="Aptos" pitchFamily="34" charset="-120"/>
              </a:rPr>
              <a:t>MONITOR -&gt; ACTIVATE ON EVIDENCE</a:t>
            </a:r>
            <a:endParaRPr lang="en-US" sz="850" dirty="0"/>
          </a:p>
        </p:txBody>
      </p:sp>
      <p:sp>
        <p:nvSpPr>
          <p:cNvPr id="43" name="Text 41"/>
          <p:cNvSpPr/>
          <p:nvPr/>
        </p:nvSpPr>
        <p:spPr>
          <a:xfrm>
            <a:off x="8412480" y="3456432"/>
            <a:ext cx="3072384" cy="164592"/>
          </a:xfrm>
          <a:prstGeom prst="rect">
            <a:avLst/>
          </a:prstGeom>
          <a:noFill/>
          <a:ln/>
        </p:spPr>
        <p:txBody>
          <a:bodyPr wrap="square" lIns="0" tIns="0" rIns="0" bIns="0" rtlCol="0" anchor="ctr"/>
          <a:lstStyle/>
          <a:p>
            <a:pPr marL="0" indent="0">
              <a:buNone/>
            </a:pPr>
            <a:r>
              <a:rPr lang="en-US" sz="750" b="1" dirty="0">
                <a:solidFill>
                  <a:srgbClr val="6B7280"/>
                </a:solidFill>
                <a:latin typeface="Aptos" pitchFamily="34" charset="0"/>
                <a:ea typeface="Aptos" pitchFamily="34" charset="-122"/>
                <a:cs typeface="Aptos" pitchFamily="34" charset="-120"/>
              </a:rPr>
              <a:t>EVIDENCE</a:t>
            </a:r>
            <a:endParaRPr lang="en-US" sz="750" dirty="0"/>
          </a:p>
        </p:txBody>
      </p:sp>
      <p:sp>
        <p:nvSpPr>
          <p:cNvPr id="44" name="Text 42"/>
          <p:cNvSpPr/>
          <p:nvPr/>
        </p:nvSpPr>
        <p:spPr>
          <a:xfrm>
            <a:off x="8412480" y="3611880"/>
            <a:ext cx="3072384" cy="374904"/>
          </a:xfrm>
          <a:prstGeom prst="rect">
            <a:avLst/>
          </a:prstGeom>
          <a:noFill/>
          <a:ln/>
        </p:spPr>
        <p:txBody>
          <a:bodyPr wrap="square" lIns="0" tIns="0" rIns="0" bIns="0" rtlCol="0" anchor="t"/>
          <a:lstStyle/>
          <a:p>
            <a:pPr marL="0" indent="0">
              <a:lnSpc>
                <a:spcPct val="106000"/>
              </a:lnSpc>
              <a:buNone/>
            </a:pPr>
            <a:r>
              <a:rPr lang="en-US" sz="900" dirty="0">
                <a:solidFill>
                  <a:srgbClr val="041E47"/>
                </a:solidFill>
                <a:latin typeface="Aptos" pitchFamily="34" charset="0"/>
                <a:ea typeface="Aptos" pitchFamily="34" charset="-122"/>
                <a:cs typeface="Aptos" pitchFamily="34" charset="-120"/>
              </a:rPr>
              <a:t>ASK +9.5% vs passengers +4.0%; load factor -1.6 pp</a:t>
            </a:r>
            <a:endParaRPr lang="en-US" sz="900" dirty="0"/>
          </a:p>
        </p:txBody>
      </p:sp>
      <p:sp>
        <p:nvSpPr>
          <p:cNvPr id="45" name="Text 43"/>
          <p:cNvSpPr/>
          <p:nvPr/>
        </p:nvSpPr>
        <p:spPr>
          <a:xfrm>
            <a:off x="8412480" y="3986784"/>
            <a:ext cx="3072384" cy="164592"/>
          </a:xfrm>
          <a:prstGeom prst="rect">
            <a:avLst/>
          </a:prstGeom>
          <a:noFill/>
          <a:ln/>
        </p:spPr>
        <p:txBody>
          <a:bodyPr wrap="square" lIns="0" tIns="0" rIns="0" bIns="0" rtlCol="0" anchor="ctr"/>
          <a:lstStyle/>
          <a:p>
            <a:pPr marL="0" indent="0">
              <a:buNone/>
            </a:pPr>
            <a:r>
              <a:rPr lang="en-US" sz="750" b="1" dirty="0">
                <a:solidFill>
                  <a:srgbClr val="6B7280"/>
                </a:solidFill>
                <a:latin typeface="Aptos" pitchFamily="34" charset="0"/>
                <a:ea typeface="Aptos" pitchFamily="34" charset="-122"/>
                <a:cs typeface="Aptos" pitchFamily="34" charset="-120"/>
              </a:rPr>
              <a:t>MECHANISM</a:t>
            </a:r>
            <a:endParaRPr lang="en-US" sz="750" dirty="0"/>
          </a:p>
        </p:txBody>
      </p:sp>
      <p:sp>
        <p:nvSpPr>
          <p:cNvPr id="46" name="Text 44"/>
          <p:cNvSpPr/>
          <p:nvPr/>
        </p:nvSpPr>
        <p:spPr>
          <a:xfrm>
            <a:off x="8412480" y="4142232"/>
            <a:ext cx="3072384" cy="502920"/>
          </a:xfrm>
          <a:prstGeom prst="rect">
            <a:avLst/>
          </a:prstGeom>
          <a:noFill/>
          <a:ln/>
        </p:spPr>
        <p:txBody>
          <a:bodyPr wrap="square" lIns="0" tIns="0" rIns="0" bIns="0" rtlCol="0" anchor="t"/>
          <a:lstStyle/>
          <a:p>
            <a:pPr marL="0" indent="0">
              <a:lnSpc>
                <a:spcPct val="106000"/>
              </a:lnSpc>
              <a:buNone/>
            </a:pPr>
            <a:r>
              <a:rPr lang="en-US" sz="900" dirty="0">
                <a:solidFill>
                  <a:srgbClr val="041E47"/>
                </a:solidFill>
                <a:latin typeface="Aptos" pitchFamily="34" charset="0"/>
                <a:ea typeface="Aptos" pitchFamily="34" charset="-122"/>
                <a:cs typeface="Aptos" pitchFamily="34" charset="-120"/>
              </a:rPr>
              <a:t>Fleet delivery pacing, network and frequency decisions</a:t>
            </a:r>
            <a:endParaRPr lang="en-US" sz="900" dirty="0"/>
          </a:p>
        </p:txBody>
      </p:sp>
      <p:sp>
        <p:nvSpPr>
          <p:cNvPr id="47" name="Text 45"/>
          <p:cNvSpPr/>
          <p:nvPr/>
        </p:nvSpPr>
        <p:spPr>
          <a:xfrm>
            <a:off x="8412480" y="4645152"/>
            <a:ext cx="3072384" cy="164592"/>
          </a:xfrm>
          <a:prstGeom prst="rect">
            <a:avLst/>
          </a:prstGeom>
          <a:noFill/>
          <a:ln/>
        </p:spPr>
        <p:txBody>
          <a:bodyPr wrap="square" lIns="0" tIns="0" rIns="0" bIns="0" rtlCol="0" anchor="ctr"/>
          <a:lstStyle/>
          <a:p>
            <a:pPr marL="0" indent="0">
              <a:buNone/>
            </a:pPr>
            <a:r>
              <a:rPr lang="en-US" sz="750" b="1" dirty="0">
                <a:solidFill>
                  <a:srgbClr val="6B7280"/>
                </a:solidFill>
                <a:latin typeface="Aptos" pitchFamily="34" charset="0"/>
                <a:ea typeface="Aptos" pitchFamily="34" charset="-122"/>
                <a:cs typeface="Aptos" pitchFamily="34" charset="-120"/>
              </a:rPr>
              <a:t>WHY NOW / WHY NOT YET</a:t>
            </a:r>
            <a:endParaRPr lang="en-US" sz="750" dirty="0"/>
          </a:p>
        </p:txBody>
      </p:sp>
      <p:sp>
        <p:nvSpPr>
          <p:cNvPr id="48" name="Text 46"/>
          <p:cNvSpPr/>
          <p:nvPr/>
        </p:nvSpPr>
        <p:spPr>
          <a:xfrm>
            <a:off x="8412480" y="4800600"/>
            <a:ext cx="3072384" cy="393192"/>
          </a:xfrm>
          <a:prstGeom prst="rect">
            <a:avLst/>
          </a:prstGeom>
          <a:noFill/>
          <a:ln/>
        </p:spPr>
        <p:txBody>
          <a:bodyPr wrap="square" lIns="0" tIns="0" rIns="0" bIns="0" rtlCol="0" anchor="t"/>
          <a:lstStyle/>
          <a:p>
            <a:pPr marL="0" indent="0">
              <a:lnSpc>
                <a:spcPct val="106000"/>
              </a:lnSpc>
              <a:buNone/>
            </a:pPr>
            <a:r>
              <a:rPr lang="en-US" sz="900" dirty="0">
                <a:solidFill>
                  <a:srgbClr val="041E47"/>
                </a:solidFill>
                <a:latin typeface="Aptos" pitchFamily="34" charset="0"/>
                <a:ea typeface="Aptos" pitchFamily="34" charset="-122"/>
                <a:cs typeface="Aptos" pitchFamily="34" charset="-120"/>
              </a:rPr>
              <a:t>One year of evidence is insufficient; 2/5 on growth preservation; least reversible</a:t>
            </a:r>
            <a:endParaRPr lang="en-US" sz="900" dirty="0"/>
          </a:p>
        </p:txBody>
      </p:sp>
      <p:sp>
        <p:nvSpPr>
          <p:cNvPr id="49" name="Text 47"/>
          <p:cNvSpPr/>
          <p:nvPr/>
        </p:nvSpPr>
        <p:spPr>
          <a:xfrm>
            <a:off x="8412480" y="5193792"/>
            <a:ext cx="3072384" cy="164592"/>
          </a:xfrm>
          <a:prstGeom prst="rect">
            <a:avLst/>
          </a:prstGeom>
          <a:noFill/>
          <a:ln/>
        </p:spPr>
        <p:txBody>
          <a:bodyPr wrap="square" lIns="0" tIns="0" rIns="0" bIns="0" rtlCol="0" anchor="ctr"/>
          <a:lstStyle/>
          <a:p>
            <a:pPr marL="0" indent="0">
              <a:buNone/>
            </a:pPr>
            <a:r>
              <a:rPr lang="en-US" sz="750" b="1" dirty="0">
                <a:solidFill>
                  <a:srgbClr val="6B7280"/>
                </a:solidFill>
                <a:latin typeface="Aptos" pitchFamily="34" charset="0"/>
                <a:ea typeface="Aptos" pitchFamily="34" charset="-122"/>
                <a:cs typeface="Aptos" pitchFamily="34" charset="-120"/>
              </a:rPr>
              <a:t>LIMITATION</a:t>
            </a:r>
            <a:endParaRPr lang="en-US" sz="750" dirty="0"/>
          </a:p>
        </p:txBody>
      </p:sp>
      <p:sp>
        <p:nvSpPr>
          <p:cNvPr id="50" name="Text 48"/>
          <p:cNvSpPr/>
          <p:nvPr/>
        </p:nvSpPr>
        <p:spPr>
          <a:xfrm>
            <a:off x="8412480" y="5349240"/>
            <a:ext cx="3072384" cy="338328"/>
          </a:xfrm>
          <a:prstGeom prst="rect">
            <a:avLst/>
          </a:prstGeom>
          <a:noFill/>
          <a:ln/>
        </p:spPr>
        <p:txBody>
          <a:bodyPr wrap="square" lIns="0" tIns="0" rIns="0" bIns="0" rtlCol="0" anchor="t"/>
          <a:lstStyle/>
          <a:p>
            <a:pPr marL="0" indent="0">
              <a:lnSpc>
                <a:spcPct val="106000"/>
              </a:lnSpc>
              <a:buNone/>
            </a:pPr>
            <a:r>
              <a:rPr lang="en-US" sz="900" dirty="0">
                <a:solidFill>
                  <a:srgbClr val="041E47"/>
                </a:solidFill>
                <a:latin typeface="Aptos" pitchFamily="34" charset="0"/>
                <a:ea typeface="Aptos" pitchFamily="34" charset="-122"/>
                <a:cs typeface="Aptos" pitchFamily="34" charset="-120"/>
              </a:rPr>
              <a:t>No numerical trigger threshold exists in the evidence base</a:t>
            </a:r>
            <a:endParaRPr lang="en-US" sz="900" dirty="0"/>
          </a:p>
        </p:txBody>
      </p:sp>
      <p:sp>
        <p:nvSpPr>
          <p:cNvPr id="51" name="Shape 49"/>
          <p:cNvSpPr/>
          <p:nvPr/>
        </p:nvSpPr>
        <p:spPr>
          <a:xfrm>
            <a:off x="7717536" y="2185416"/>
            <a:ext cx="45719" cy="3538728"/>
          </a:xfrm>
          <a:prstGeom prst="rect">
            <a:avLst/>
          </a:prstGeom>
          <a:solidFill>
            <a:srgbClr val="D98A00"/>
          </a:solidFill>
          <a:ln/>
        </p:spPr>
      </p:sp>
      <p:sp>
        <p:nvSpPr>
          <p:cNvPr id="52" name="Shape 50"/>
          <p:cNvSpPr/>
          <p:nvPr/>
        </p:nvSpPr>
        <p:spPr>
          <a:xfrm>
            <a:off x="7607808" y="3675888"/>
            <a:ext cx="274320" cy="274320"/>
          </a:xfrm>
          <a:prstGeom prst="ellipse">
            <a:avLst/>
          </a:prstGeom>
          <a:solidFill>
            <a:srgbClr val="D98A00"/>
          </a:solidFill>
          <a:ln/>
        </p:spPr>
      </p:sp>
      <p:sp>
        <p:nvSpPr>
          <p:cNvPr id="53" name="Text 51"/>
          <p:cNvSpPr/>
          <p:nvPr/>
        </p:nvSpPr>
        <p:spPr>
          <a:xfrm>
            <a:off x="8211312" y="5815584"/>
            <a:ext cx="3474720" cy="457200"/>
          </a:xfrm>
          <a:prstGeom prst="rect">
            <a:avLst/>
          </a:prstGeom>
          <a:noFill/>
          <a:ln/>
        </p:spPr>
        <p:txBody>
          <a:bodyPr wrap="square" lIns="0" tIns="0" rIns="0" bIns="0" rtlCol="0" anchor="t"/>
          <a:lstStyle/>
          <a:p>
            <a:pPr marL="0" indent="0">
              <a:buNone/>
            </a:pPr>
            <a:r>
              <a:rPr lang="en-US" sz="850" b="1" dirty="0">
                <a:solidFill>
                  <a:srgbClr val="D98A00"/>
                </a:solidFill>
                <a:latin typeface="Aptos" pitchFamily="34" charset="0"/>
                <a:ea typeface="Aptos" pitchFamily="34" charset="-122"/>
                <a:cs typeface="Aptos" pitchFamily="34" charset="-120"/>
              </a:rPr>
              <a:t>EVIDENCE GATE - activate C only if the KPI framework (slide 32) confirms, over at least one further fiscal year, that the capacity-demand divergence is persistent.</a:t>
            </a:r>
            <a:endParaRPr lang="en-US" sz="850" dirty="0"/>
          </a:p>
        </p:txBody>
      </p:sp>
      <p:sp>
        <p:nvSpPr>
          <p:cNvPr id="54" name="Shape 52"/>
          <p:cNvSpPr/>
          <p:nvPr/>
        </p:nvSpPr>
        <p:spPr>
          <a:xfrm>
            <a:off x="502920" y="5760720"/>
            <a:ext cx="7589520" cy="5486"/>
          </a:xfrm>
          <a:prstGeom prst="rect">
            <a:avLst/>
          </a:prstGeom>
          <a:solidFill>
            <a:srgbClr val="C9D8F2"/>
          </a:solidFill>
          <a:ln/>
        </p:spPr>
      </p:sp>
      <p:sp>
        <p:nvSpPr>
          <p:cNvPr id="55" name="Text 53"/>
          <p:cNvSpPr/>
          <p:nvPr/>
        </p:nvSpPr>
        <p:spPr>
          <a:xfrm>
            <a:off x="502920" y="5815584"/>
            <a:ext cx="7498080" cy="18288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  This is not a blanket capacity reduction.</a:t>
            </a:r>
            <a:endParaRPr lang="en-US" sz="850" dirty="0"/>
          </a:p>
        </p:txBody>
      </p:sp>
      <p:sp>
        <p:nvSpPr>
          <p:cNvPr id="56" name="Text 54"/>
          <p:cNvSpPr/>
          <p:nvPr/>
        </p:nvSpPr>
        <p:spPr>
          <a:xfrm>
            <a:off x="502920" y="5975604"/>
            <a:ext cx="7498080" cy="18288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  This is not ALT-6 (64.2%) relabelled - ALT-6 activates all three levers simultaneously; this sequences and conditions them.</a:t>
            </a:r>
            <a:endParaRPr lang="en-US" sz="850" dirty="0"/>
          </a:p>
        </p:txBody>
      </p:sp>
      <p:sp>
        <p:nvSpPr>
          <p:cNvPr id="57" name="Text 55"/>
          <p:cNvSpPr/>
          <p:nvPr/>
        </p:nvSpPr>
        <p:spPr>
          <a:xfrm>
            <a:off x="502920" y="6135624"/>
            <a:ext cx="7498080" cy="18288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  This does not claim ALT-1 is the wrong alternative in isolation - it is the highest individually scored, and this deck says so.</a:t>
            </a:r>
            <a:endParaRPr lang="en-US" sz="850" dirty="0"/>
          </a:p>
        </p:txBody>
      </p:sp>
      <p:sp>
        <p:nvSpPr>
          <p:cNvPr id="58" name="Shape 56"/>
          <p:cNvSpPr/>
          <p:nvPr/>
        </p:nvSpPr>
        <p:spPr>
          <a:xfrm>
            <a:off x="502920" y="6309360"/>
            <a:ext cx="11185855" cy="5486"/>
          </a:xfrm>
          <a:prstGeom prst="rect">
            <a:avLst/>
          </a:prstGeom>
          <a:solidFill>
            <a:srgbClr val="C9D8F2"/>
          </a:solidFill>
          <a:ln/>
        </p:spPr>
      </p:sp>
      <p:sp>
        <p:nvSpPr>
          <p:cNvPr id="59" name="Text 57"/>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60" name="Text 58"/>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Section 13 (locked recommendation) - IndiGo_PASS_1C_4_5_Source_Pack - SRC-FY26-002 - SRC-FY26-006</a:t>
            </a:r>
            <a:endParaRPr lang="en-US" sz="800" dirty="0"/>
          </a:p>
        </p:txBody>
      </p:sp>
      <p:sp>
        <p:nvSpPr>
          <p:cNvPr id="61" name="Shape 59"/>
          <p:cNvSpPr/>
          <p:nvPr/>
        </p:nvSpPr>
        <p:spPr>
          <a:xfrm>
            <a:off x="11484864" y="6364224"/>
            <a:ext cx="201168" cy="201168"/>
          </a:xfrm>
          <a:prstGeom prst="rect">
            <a:avLst/>
          </a:prstGeom>
          <a:solidFill>
            <a:srgbClr val="0032A0"/>
          </a:solidFill>
          <a:ln/>
        </p:spPr>
      </p:sp>
      <p:sp>
        <p:nvSpPr>
          <p:cNvPr id="62" name="Text 60"/>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30</a:t>
            </a:r>
            <a:endParaRPr lang="en-US" sz="800" dirty="0"/>
          </a:p>
        </p:txBody>
      </p:sp>
      <p:sp>
        <p:nvSpPr>
          <p:cNvPr id="64" name="Shape 61"/>
          <p:cNvSpPr/>
          <p:nvPr/>
        </p:nvSpPr>
        <p:spPr>
          <a:xfrm>
            <a:off x="9608291" y="406721"/>
            <a:ext cx="82296" cy="82296"/>
          </a:xfrm>
          <a:prstGeom prst="rect">
            <a:avLst/>
          </a:prstGeom>
          <a:solidFill>
            <a:srgbClr val="D98A00"/>
          </a:solidFill>
          <a:ln/>
        </p:spPr>
      </p:sp>
      <p:sp>
        <p:nvSpPr>
          <p:cNvPr id="65" name="Text 62"/>
          <p:cNvSpPr/>
          <p:nvPr/>
        </p:nvSpPr>
        <p:spPr>
          <a:xfrm>
            <a:off x="8979408" y="365760"/>
            <a:ext cx="2706624" cy="182880"/>
          </a:xfrm>
          <a:prstGeom prst="rect">
            <a:avLst/>
          </a:prstGeom>
          <a:noFill/>
          <a:ln/>
        </p:spPr>
        <p:txBody>
          <a:bodyPr wrap="square" lIns="0" tIns="0" rIns="0" bIns="0" rtlCol="0" anchor="ctr"/>
          <a:lstStyle/>
          <a:p>
            <a:pPr marL="0" indent="0" algn="r">
              <a:buNone/>
            </a:pPr>
            <a:r>
              <a:rPr lang="en-US" sz="850" b="1" dirty="0">
                <a:solidFill>
                  <a:srgbClr val="D98A00"/>
                </a:solidFill>
                <a:latin typeface="Aptos" pitchFamily="34" charset="0"/>
                <a:ea typeface="Aptos" pitchFamily="34" charset="-122"/>
                <a:cs typeface="Aptos" pitchFamily="34" charset="-120"/>
              </a:rPr>
              <a:t>ENABLE  -  OPERATIONAL RESILIENCE</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10 - EXECUTION AND GOVERNANCE</a:t>
            </a:r>
            <a:endParaRPr lang="en-US" sz="1000" dirty="0"/>
          </a:p>
        </p:txBody>
      </p:sp>
      <p:sp>
        <p:nvSpPr>
          <p:cNvPr id="3" name="Shape 1"/>
          <p:cNvSpPr/>
          <p:nvPr/>
        </p:nvSpPr>
        <p:spPr>
          <a:xfrm>
            <a:off x="502920" y="571500"/>
            <a:ext cx="2084832" cy="45719"/>
          </a:xfrm>
          <a:prstGeom prst="rect">
            <a:avLst/>
          </a:prstGeom>
          <a:solidFill>
            <a:srgbClr val="0032A0"/>
          </a:solidFill>
          <a:ln/>
        </p:spPr>
      </p:sp>
      <p:sp>
        <p:nvSpPr>
          <p:cNvPr id="4" name="Text 2"/>
          <p:cNvSpPr/>
          <p:nvPr/>
        </p:nvSpPr>
        <p:spPr>
          <a:xfrm>
            <a:off x="502920" y="671170"/>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Ninety days to launch the levers; twelve months to earn the right to decide on capacity</a:t>
            </a:r>
            <a:endParaRPr lang="en-US" sz="2250" dirty="0"/>
          </a:p>
        </p:txBody>
      </p:sp>
      <p:sp>
        <p:nvSpPr>
          <p:cNvPr id="5" name="Shape 3"/>
          <p:cNvSpPr/>
          <p:nvPr/>
        </p:nvSpPr>
        <p:spPr>
          <a:xfrm>
            <a:off x="502920" y="1645920"/>
            <a:ext cx="2542032" cy="2450592"/>
          </a:xfrm>
          <a:prstGeom prst="rect">
            <a:avLst/>
          </a:prstGeom>
          <a:solidFill>
            <a:srgbClr val="0032A0"/>
          </a:solidFill>
          <a:ln/>
        </p:spPr>
      </p:sp>
      <p:sp>
        <p:nvSpPr>
          <p:cNvPr id="6" name="Text 4"/>
          <p:cNvSpPr/>
          <p:nvPr/>
        </p:nvSpPr>
        <p:spPr>
          <a:xfrm>
            <a:off x="667512" y="1773936"/>
            <a:ext cx="2212848" cy="201168"/>
          </a:xfrm>
          <a:prstGeom prst="rect">
            <a:avLst/>
          </a:prstGeom>
          <a:noFill/>
          <a:ln/>
        </p:spPr>
        <p:txBody>
          <a:bodyPr wrap="square" lIns="0" tIns="0" rIns="0" bIns="0" rtlCol="0" anchor="ctr"/>
          <a:lstStyle/>
          <a:p>
            <a:pPr marL="0" indent="0">
              <a:buNone/>
            </a:pPr>
            <a:r>
              <a:rPr lang="en-US" sz="850" b="1" dirty="0">
                <a:solidFill>
                  <a:srgbClr val="AFC6F0"/>
                </a:solidFill>
                <a:latin typeface="Aptos" pitchFamily="34" charset="0"/>
                <a:ea typeface="Aptos" pitchFamily="34" charset="-122"/>
                <a:cs typeface="Aptos" pitchFamily="34" charset="-120"/>
              </a:rPr>
              <a:t>PHASE 1</a:t>
            </a:r>
            <a:endParaRPr lang="en-US" sz="850" dirty="0"/>
          </a:p>
        </p:txBody>
      </p:sp>
      <p:sp>
        <p:nvSpPr>
          <p:cNvPr id="7" name="Text 5"/>
          <p:cNvSpPr/>
          <p:nvPr/>
        </p:nvSpPr>
        <p:spPr>
          <a:xfrm>
            <a:off x="667512" y="1975104"/>
            <a:ext cx="2212848" cy="310896"/>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0-90 DAYS</a:t>
            </a:r>
            <a:endParaRPr lang="en-US" sz="1600" dirty="0"/>
          </a:p>
        </p:txBody>
      </p:sp>
      <p:sp>
        <p:nvSpPr>
          <p:cNvPr id="8" name="Text 6"/>
          <p:cNvSpPr/>
          <p:nvPr/>
        </p:nvSpPr>
        <p:spPr>
          <a:xfrm>
            <a:off x="667512" y="2340864"/>
            <a:ext cx="2212848" cy="877824"/>
          </a:xfrm>
          <a:prstGeom prst="rect">
            <a:avLst/>
          </a:prstGeom>
          <a:noFill/>
          <a:ln/>
        </p:spPr>
        <p:txBody>
          <a:bodyPr wrap="square" lIns="0" tIns="0" rIns="0" bIns="0" rtlCol="0" anchor="t"/>
          <a:lstStyle/>
          <a:p>
            <a:pPr marL="0" indent="0">
              <a:lnSpc>
                <a:spcPct val="106000"/>
              </a:lnSpc>
              <a:buNone/>
            </a:pPr>
            <a:r>
              <a:rPr lang="en-US" sz="900" dirty="0">
                <a:solidFill>
                  <a:srgbClr val="DCE7FA"/>
                </a:solidFill>
                <a:latin typeface="Aptos" pitchFamily="34" charset="0"/>
                <a:ea typeface="Aptos" pitchFamily="34" charset="-122"/>
                <a:cs typeface="Aptos" pitchFamily="34" charset="-120"/>
              </a:rPr>
              <a:t>Launch Lever A - dynamic pricing, ancillary bundles, loyalty and corporate monetisation. Launch Lever B - procurement, crew productivity, airport-cost optimisation.</a:t>
            </a:r>
            <a:endParaRPr lang="en-US" sz="900" dirty="0"/>
          </a:p>
        </p:txBody>
      </p:sp>
      <p:sp>
        <p:nvSpPr>
          <p:cNvPr id="9" name="Text 7"/>
          <p:cNvSpPr/>
          <p:nvPr/>
        </p:nvSpPr>
        <p:spPr>
          <a:xfrm>
            <a:off x="667512" y="3255264"/>
            <a:ext cx="2212848" cy="146304"/>
          </a:xfrm>
          <a:prstGeom prst="rect">
            <a:avLst/>
          </a:prstGeom>
          <a:noFill/>
          <a:ln/>
        </p:spPr>
        <p:txBody>
          <a:bodyPr wrap="square" lIns="0" tIns="0" rIns="0" bIns="0" rtlCol="0" anchor="ctr"/>
          <a:lstStyle/>
          <a:p>
            <a:pPr marL="0" indent="0">
              <a:buNone/>
            </a:pPr>
            <a:r>
              <a:rPr lang="en-US" sz="700" b="1" dirty="0">
                <a:solidFill>
                  <a:srgbClr val="8FB0E8"/>
                </a:solidFill>
                <a:latin typeface="Aptos" pitchFamily="34" charset="0"/>
                <a:ea typeface="Aptos" pitchFamily="34" charset="-122"/>
                <a:cs typeface="Aptos" pitchFamily="34" charset="-120"/>
              </a:rPr>
              <a:t>OWNER</a:t>
            </a:r>
            <a:endParaRPr lang="en-US" sz="700" dirty="0"/>
          </a:p>
        </p:txBody>
      </p:sp>
      <p:sp>
        <p:nvSpPr>
          <p:cNvPr id="10" name="Text 8"/>
          <p:cNvSpPr/>
          <p:nvPr/>
        </p:nvSpPr>
        <p:spPr>
          <a:xfrm>
            <a:off x="667512" y="3383280"/>
            <a:ext cx="2212848" cy="384048"/>
          </a:xfrm>
          <a:prstGeom prst="rect">
            <a:avLst/>
          </a:prstGeom>
          <a:noFill/>
          <a:ln/>
        </p:spPr>
        <p:txBody>
          <a:bodyPr wrap="square" lIns="0" tIns="0" rIns="0" bIns="0" rtlCol="0" anchor="t"/>
          <a:lstStyle/>
          <a:p>
            <a:pPr marL="0" indent="0">
              <a:lnSpc>
                <a:spcPct val="102000"/>
              </a:lnSpc>
              <a:buNone/>
            </a:pPr>
            <a:r>
              <a:rPr lang="en-US" sz="850" b="1" dirty="0">
                <a:solidFill>
                  <a:srgbClr val="FFFFFF"/>
                </a:solidFill>
                <a:latin typeface="Aptos" pitchFamily="34" charset="0"/>
                <a:ea typeface="Aptos" pitchFamily="34" charset="-122"/>
                <a:cs typeface="Aptos" pitchFamily="34" charset="-120"/>
              </a:rPr>
              <a:t>Commercial / Revenue Mgmt;</a:t>
            </a:r>
            <a:endParaRPr lang="en-US" sz="850" dirty="0"/>
          </a:p>
          <a:p>
            <a:pPr marL="0" indent="0">
              <a:lnSpc>
                <a:spcPct val="102000"/>
              </a:lnSpc>
              <a:buNone/>
            </a:pPr>
            <a:r>
              <a:rPr lang="en-US" sz="850" b="1" dirty="0">
                <a:solidFill>
                  <a:srgbClr val="FFFFFF"/>
                </a:solidFill>
                <a:latin typeface="Aptos" pitchFamily="34" charset="0"/>
                <a:ea typeface="Aptos" pitchFamily="34" charset="-122"/>
                <a:cs typeface="Aptos" pitchFamily="34" charset="-120"/>
              </a:rPr>
              <a:t>Procurement / Operations</a:t>
            </a:r>
            <a:endParaRPr lang="en-US" sz="850" dirty="0"/>
          </a:p>
        </p:txBody>
      </p:sp>
      <p:sp>
        <p:nvSpPr>
          <p:cNvPr id="11" name="Text 9"/>
          <p:cNvSpPr/>
          <p:nvPr/>
        </p:nvSpPr>
        <p:spPr>
          <a:xfrm>
            <a:off x="667512" y="3785616"/>
            <a:ext cx="2212848" cy="237744"/>
          </a:xfrm>
          <a:prstGeom prst="rect">
            <a:avLst/>
          </a:prstGeom>
          <a:noFill/>
          <a:ln/>
        </p:spPr>
        <p:txBody>
          <a:bodyPr wrap="square" lIns="0" tIns="0" rIns="0" bIns="0" rtlCol="0" anchor="ctr"/>
          <a:lstStyle/>
          <a:p>
            <a:pPr marL="0" indent="0">
              <a:buNone/>
            </a:pPr>
            <a:r>
              <a:rPr lang="en-US" sz="750" dirty="0">
                <a:solidFill>
                  <a:srgbClr val="AFC6F0"/>
                </a:solidFill>
                <a:latin typeface="Aptos" pitchFamily="34" charset="0"/>
                <a:ea typeface="Aptos" pitchFamily="34" charset="-122"/>
                <a:cs typeface="Aptos" pitchFamily="34" charset="-120"/>
              </a:rPr>
              <a:t>GATE  -  Steering Committee sign-off on the Lever A/B initiative portfolio</a:t>
            </a:r>
            <a:endParaRPr lang="en-US" sz="750" dirty="0"/>
          </a:p>
        </p:txBody>
      </p:sp>
      <p:sp>
        <p:nvSpPr>
          <p:cNvPr id="12" name="Shape 10"/>
          <p:cNvSpPr/>
          <p:nvPr/>
        </p:nvSpPr>
        <p:spPr>
          <a:xfrm>
            <a:off x="3099816" y="1645920"/>
            <a:ext cx="2761488" cy="2450592"/>
          </a:xfrm>
          <a:prstGeom prst="rect">
            <a:avLst/>
          </a:prstGeom>
          <a:solidFill>
            <a:srgbClr val="0A3FAE"/>
          </a:solidFill>
          <a:ln/>
        </p:spPr>
      </p:sp>
      <p:sp>
        <p:nvSpPr>
          <p:cNvPr id="13" name="Text 11"/>
          <p:cNvSpPr/>
          <p:nvPr/>
        </p:nvSpPr>
        <p:spPr>
          <a:xfrm>
            <a:off x="3264408" y="1773936"/>
            <a:ext cx="2432304" cy="201168"/>
          </a:xfrm>
          <a:prstGeom prst="rect">
            <a:avLst/>
          </a:prstGeom>
          <a:noFill/>
          <a:ln/>
        </p:spPr>
        <p:txBody>
          <a:bodyPr wrap="square" lIns="0" tIns="0" rIns="0" bIns="0" rtlCol="0" anchor="ctr"/>
          <a:lstStyle/>
          <a:p>
            <a:pPr marL="0" indent="0">
              <a:buNone/>
            </a:pPr>
            <a:r>
              <a:rPr lang="en-US" sz="850" b="1" dirty="0">
                <a:solidFill>
                  <a:srgbClr val="AFC6F0"/>
                </a:solidFill>
                <a:latin typeface="Aptos" pitchFamily="34" charset="0"/>
                <a:ea typeface="Aptos" pitchFamily="34" charset="-122"/>
                <a:cs typeface="Aptos" pitchFamily="34" charset="-120"/>
              </a:rPr>
              <a:t>PHASE 2</a:t>
            </a:r>
            <a:endParaRPr lang="en-US" sz="850" dirty="0"/>
          </a:p>
        </p:txBody>
      </p:sp>
      <p:sp>
        <p:nvSpPr>
          <p:cNvPr id="14" name="Text 12"/>
          <p:cNvSpPr/>
          <p:nvPr/>
        </p:nvSpPr>
        <p:spPr>
          <a:xfrm>
            <a:off x="3264408" y="1975104"/>
            <a:ext cx="2432304" cy="310896"/>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3-6 MONTHS</a:t>
            </a:r>
            <a:endParaRPr lang="en-US" sz="1600" dirty="0"/>
          </a:p>
        </p:txBody>
      </p:sp>
      <p:sp>
        <p:nvSpPr>
          <p:cNvPr id="15" name="Text 13"/>
          <p:cNvSpPr/>
          <p:nvPr/>
        </p:nvSpPr>
        <p:spPr>
          <a:xfrm>
            <a:off x="3264408" y="2340864"/>
            <a:ext cx="2432304" cy="877824"/>
          </a:xfrm>
          <a:prstGeom prst="rect">
            <a:avLst/>
          </a:prstGeom>
          <a:noFill/>
          <a:ln/>
        </p:spPr>
        <p:txBody>
          <a:bodyPr wrap="square" lIns="0" tIns="0" rIns="0" bIns="0" rtlCol="0" anchor="t"/>
          <a:lstStyle/>
          <a:p>
            <a:pPr marL="0" indent="0">
              <a:lnSpc>
                <a:spcPct val="106000"/>
              </a:lnSpc>
              <a:buNone/>
            </a:pPr>
            <a:r>
              <a:rPr lang="en-US" sz="900" dirty="0">
                <a:solidFill>
                  <a:srgbClr val="DCE7FA"/>
                </a:solidFill>
                <a:latin typeface="Aptos" pitchFamily="34" charset="0"/>
                <a:ea typeface="Aptos" pitchFamily="34" charset="-122"/>
                <a:cs typeface="Aptos" pitchFamily="34" charset="-120"/>
              </a:rPr>
              <a:t>Stand up route-level and international route-level economics capability, closing GAP-002 and the ALT-5 evidence gap. Begin Noida incremental-demand / cannibalisation measurement.</a:t>
            </a:r>
            <a:endParaRPr lang="en-US" sz="900" dirty="0"/>
          </a:p>
        </p:txBody>
      </p:sp>
      <p:sp>
        <p:nvSpPr>
          <p:cNvPr id="16" name="Text 14"/>
          <p:cNvSpPr/>
          <p:nvPr/>
        </p:nvSpPr>
        <p:spPr>
          <a:xfrm>
            <a:off x="3264408" y="3255264"/>
            <a:ext cx="2432304" cy="146304"/>
          </a:xfrm>
          <a:prstGeom prst="rect">
            <a:avLst/>
          </a:prstGeom>
          <a:noFill/>
          <a:ln/>
        </p:spPr>
        <p:txBody>
          <a:bodyPr wrap="square" lIns="0" tIns="0" rIns="0" bIns="0" rtlCol="0" anchor="ctr"/>
          <a:lstStyle/>
          <a:p>
            <a:pPr marL="0" indent="0">
              <a:buNone/>
            </a:pPr>
            <a:r>
              <a:rPr lang="en-US" sz="700" b="1" dirty="0">
                <a:solidFill>
                  <a:srgbClr val="8FB0E8"/>
                </a:solidFill>
                <a:latin typeface="Aptos" pitchFamily="34" charset="0"/>
                <a:ea typeface="Aptos" pitchFamily="34" charset="-122"/>
                <a:cs typeface="Aptos" pitchFamily="34" charset="-120"/>
              </a:rPr>
              <a:t>OWNER</a:t>
            </a:r>
            <a:endParaRPr lang="en-US" sz="700" dirty="0"/>
          </a:p>
        </p:txBody>
      </p:sp>
      <p:sp>
        <p:nvSpPr>
          <p:cNvPr id="17" name="Text 15"/>
          <p:cNvSpPr/>
          <p:nvPr/>
        </p:nvSpPr>
        <p:spPr>
          <a:xfrm>
            <a:off x="3264408" y="3383280"/>
            <a:ext cx="2432304" cy="384048"/>
          </a:xfrm>
          <a:prstGeom prst="rect">
            <a:avLst/>
          </a:prstGeom>
          <a:noFill/>
          <a:ln/>
        </p:spPr>
        <p:txBody>
          <a:bodyPr wrap="square" lIns="0" tIns="0" rIns="0" bIns="0" rtlCol="0" anchor="t"/>
          <a:lstStyle/>
          <a:p>
            <a:pPr marL="0" indent="0">
              <a:lnSpc>
                <a:spcPct val="102000"/>
              </a:lnSpc>
              <a:buNone/>
            </a:pPr>
            <a:r>
              <a:rPr lang="en-US" sz="850" b="1" dirty="0">
                <a:solidFill>
                  <a:srgbClr val="FFFFFF"/>
                </a:solidFill>
                <a:latin typeface="Aptos" pitchFamily="34" charset="0"/>
                <a:ea typeface="Aptos" pitchFamily="34" charset="-122"/>
                <a:cs typeface="Aptos" pitchFamily="34" charset="-120"/>
              </a:rPr>
              <a:t>Strategy / Network Planning;</a:t>
            </a:r>
            <a:endParaRPr lang="en-US" sz="850" dirty="0"/>
          </a:p>
          <a:p>
            <a:pPr marL="0" indent="0">
              <a:lnSpc>
                <a:spcPct val="102000"/>
              </a:lnSpc>
              <a:buNone/>
            </a:pPr>
            <a:r>
              <a:rPr lang="en-US" sz="850" b="1" dirty="0">
                <a:solidFill>
                  <a:srgbClr val="FFFFFF"/>
                </a:solidFill>
                <a:latin typeface="Aptos" pitchFamily="34" charset="0"/>
                <a:ea typeface="Aptos" pitchFamily="34" charset="-122"/>
                <a:cs typeface="Aptos" pitchFamily="34" charset="-120"/>
              </a:rPr>
              <a:t>Finance</a:t>
            </a:r>
            <a:endParaRPr lang="en-US" sz="850" dirty="0"/>
          </a:p>
        </p:txBody>
      </p:sp>
      <p:sp>
        <p:nvSpPr>
          <p:cNvPr id="18" name="Text 16"/>
          <p:cNvSpPr/>
          <p:nvPr/>
        </p:nvSpPr>
        <p:spPr>
          <a:xfrm>
            <a:off x="3264408" y="3785616"/>
            <a:ext cx="2432304" cy="237744"/>
          </a:xfrm>
          <a:prstGeom prst="rect">
            <a:avLst/>
          </a:prstGeom>
          <a:noFill/>
          <a:ln/>
        </p:spPr>
        <p:txBody>
          <a:bodyPr wrap="square" lIns="0" tIns="0" rIns="0" bIns="0" rtlCol="0" anchor="ctr"/>
          <a:lstStyle/>
          <a:p>
            <a:pPr marL="0" indent="0">
              <a:buNone/>
            </a:pPr>
            <a:r>
              <a:rPr lang="en-US" sz="750" dirty="0">
                <a:solidFill>
                  <a:srgbClr val="AFC6F0"/>
                </a:solidFill>
                <a:latin typeface="Aptos" pitchFamily="34" charset="0"/>
                <a:ea typeface="Aptos" pitchFamily="34" charset="-122"/>
                <a:cs typeface="Aptos" pitchFamily="34" charset="-120"/>
              </a:rPr>
              <a:t>GATE  -  Route-level data infrastructure operational</a:t>
            </a:r>
            <a:endParaRPr lang="en-US" sz="750" dirty="0"/>
          </a:p>
        </p:txBody>
      </p:sp>
      <p:sp>
        <p:nvSpPr>
          <p:cNvPr id="19" name="Shape 17"/>
          <p:cNvSpPr/>
          <p:nvPr/>
        </p:nvSpPr>
        <p:spPr>
          <a:xfrm>
            <a:off x="5916168" y="1645920"/>
            <a:ext cx="2871216" cy="2450592"/>
          </a:xfrm>
          <a:prstGeom prst="rect">
            <a:avLst/>
          </a:prstGeom>
          <a:solidFill>
            <a:srgbClr val="1E5AC8"/>
          </a:solidFill>
          <a:ln/>
        </p:spPr>
      </p:sp>
      <p:sp>
        <p:nvSpPr>
          <p:cNvPr id="20" name="Text 18"/>
          <p:cNvSpPr/>
          <p:nvPr/>
        </p:nvSpPr>
        <p:spPr>
          <a:xfrm>
            <a:off x="6080760" y="1773936"/>
            <a:ext cx="2542032" cy="201168"/>
          </a:xfrm>
          <a:prstGeom prst="rect">
            <a:avLst/>
          </a:prstGeom>
          <a:noFill/>
          <a:ln/>
        </p:spPr>
        <p:txBody>
          <a:bodyPr wrap="square" lIns="0" tIns="0" rIns="0" bIns="0" rtlCol="0" anchor="ctr"/>
          <a:lstStyle/>
          <a:p>
            <a:pPr marL="0" indent="0">
              <a:buNone/>
            </a:pPr>
            <a:r>
              <a:rPr lang="en-US" sz="850" b="1" dirty="0">
                <a:solidFill>
                  <a:srgbClr val="AFC6F0"/>
                </a:solidFill>
                <a:latin typeface="Aptos" pitchFamily="34" charset="0"/>
                <a:ea typeface="Aptos" pitchFamily="34" charset="-122"/>
                <a:cs typeface="Aptos" pitchFamily="34" charset="-120"/>
              </a:rPr>
              <a:t>PHASE 3</a:t>
            </a:r>
            <a:endParaRPr lang="en-US" sz="850" dirty="0"/>
          </a:p>
        </p:txBody>
      </p:sp>
      <p:sp>
        <p:nvSpPr>
          <p:cNvPr id="21" name="Text 19"/>
          <p:cNvSpPr/>
          <p:nvPr/>
        </p:nvSpPr>
        <p:spPr>
          <a:xfrm>
            <a:off x="6080760" y="1975104"/>
            <a:ext cx="2542032" cy="310896"/>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6-12 MONTHS</a:t>
            </a:r>
            <a:endParaRPr lang="en-US" sz="1600" dirty="0"/>
          </a:p>
        </p:txBody>
      </p:sp>
      <p:sp>
        <p:nvSpPr>
          <p:cNvPr id="22" name="Text 20"/>
          <p:cNvSpPr/>
          <p:nvPr/>
        </p:nvSpPr>
        <p:spPr>
          <a:xfrm>
            <a:off x="6080760" y="2340864"/>
            <a:ext cx="2542032" cy="877824"/>
          </a:xfrm>
          <a:prstGeom prst="rect">
            <a:avLst/>
          </a:prstGeom>
          <a:noFill/>
          <a:ln/>
        </p:spPr>
        <p:txBody>
          <a:bodyPr wrap="square" lIns="0" tIns="0" rIns="0" bIns="0" rtlCol="0" anchor="t"/>
          <a:lstStyle/>
          <a:p>
            <a:pPr marL="0" indent="0">
              <a:lnSpc>
                <a:spcPct val="106000"/>
              </a:lnSpc>
              <a:buNone/>
            </a:pPr>
            <a:r>
              <a:rPr lang="en-US" sz="900" dirty="0">
                <a:solidFill>
                  <a:srgbClr val="DCE7FA"/>
                </a:solidFill>
                <a:latin typeface="Aptos" pitchFamily="34" charset="0"/>
                <a:ea typeface="Aptos" pitchFamily="34" charset="-122"/>
                <a:cs typeface="Aptos" pitchFamily="34" charset="-120"/>
              </a:rPr>
              <a:t>Formalise the FY2027 capacity-demand comparison against the FY2026 baseline. Track the KPI framework quarterly. Begin capability build for verified AI opportunities where business-cased.</a:t>
            </a:r>
            <a:endParaRPr lang="en-US" sz="900" dirty="0"/>
          </a:p>
        </p:txBody>
      </p:sp>
      <p:sp>
        <p:nvSpPr>
          <p:cNvPr id="23" name="Text 21"/>
          <p:cNvSpPr/>
          <p:nvPr/>
        </p:nvSpPr>
        <p:spPr>
          <a:xfrm>
            <a:off x="6080760" y="3255264"/>
            <a:ext cx="2542032" cy="146304"/>
          </a:xfrm>
          <a:prstGeom prst="rect">
            <a:avLst/>
          </a:prstGeom>
          <a:noFill/>
          <a:ln/>
        </p:spPr>
        <p:txBody>
          <a:bodyPr wrap="square" lIns="0" tIns="0" rIns="0" bIns="0" rtlCol="0" anchor="ctr"/>
          <a:lstStyle/>
          <a:p>
            <a:pPr marL="0" indent="0">
              <a:buNone/>
            </a:pPr>
            <a:r>
              <a:rPr lang="en-US" sz="700" b="1" dirty="0">
                <a:solidFill>
                  <a:srgbClr val="8FB0E8"/>
                </a:solidFill>
                <a:latin typeface="Aptos" pitchFamily="34" charset="0"/>
                <a:ea typeface="Aptos" pitchFamily="34" charset="-122"/>
                <a:cs typeface="Aptos" pitchFamily="34" charset="-120"/>
              </a:rPr>
              <a:t>OWNER</a:t>
            </a:r>
            <a:endParaRPr lang="en-US" sz="700" dirty="0"/>
          </a:p>
        </p:txBody>
      </p:sp>
      <p:sp>
        <p:nvSpPr>
          <p:cNvPr id="24" name="Text 22"/>
          <p:cNvSpPr/>
          <p:nvPr/>
        </p:nvSpPr>
        <p:spPr>
          <a:xfrm>
            <a:off x="6080760" y="3383280"/>
            <a:ext cx="2542032" cy="384048"/>
          </a:xfrm>
          <a:prstGeom prst="rect">
            <a:avLst/>
          </a:prstGeom>
          <a:noFill/>
          <a:ln/>
        </p:spPr>
        <p:txBody>
          <a:bodyPr wrap="square" lIns="0" tIns="0" rIns="0" bIns="0" rtlCol="0" anchor="t"/>
          <a:lstStyle/>
          <a:p>
            <a:pPr marL="0" indent="0">
              <a:lnSpc>
                <a:spcPct val="102000"/>
              </a:lnSpc>
              <a:buNone/>
            </a:pPr>
            <a:r>
              <a:rPr lang="en-US" sz="850" b="1" dirty="0">
                <a:solidFill>
                  <a:srgbClr val="FFFFFF"/>
                </a:solidFill>
                <a:latin typeface="Aptos" pitchFamily="34" charset="0"/>
                <a:ea typeface="Aptos" pitchFamily="34" charset="-122"/>
                <a:cs typeface="Aptos" pitchFamily="34" charset="-120"/>
              </a:rPr>
              <a:t>Finance; Network Planning;</a:t>
            </a:r>
            <a:endParaRPr lang="en-US" sz="850" dirty="0"/>
          </a:p>
          <a:p>
            <a:pPr marL="0" indent="0">
              <a:lnSpc>
                <a:spcPct val="102000"/>
              </a:lnSpc>
              <a:buNone/>
            </a:pPr>
            <a:r>
              <a:rPr lang="en-US" sz="850" b="1" dirty="0">
                <a:solidFill>
                  <a:srgbClr val="FFFFFF"/>
                </a:solidFill>
                <a:latin typeface="Aptos" pitchFamily="34" charset="0"/>
                <a:ea typeface="Aptos" pitchFamily="34" charset="-122"/>
                <a:cs typeface="Aptos" pitchFamily="34" charset="-120"/>
              </a:rPr>
              <a:t>Technology</a:t>
            </a:r>
            <a:endParaRPr lang="en-US" sz="850" dirty="0"/>
          </a:p>
        </p:txBody>
      </p:sp>
      <p:sp>
        <p:nvSpPr>
          <p:cNvPr id="25" name="Text 23"/>
          <p:cNvSpPr/>
          <p:nvPr/>
        </p:nvSpPr>
        <p:spPr>
          <a:xfrm>
            <a:off x="6080760" y="3785616"/>
            <a:ext cx="2542032" cy="237744"/>
          </a:xfrm>
          <a:prstGeom prst="rect">
            <a:avLst/>
          </a:prstGeom>
          <a:noFill/>
          <a:ln/>
        </p:spPr>
        <p:txBody>
          <a:bodyPr wrap="square" lIns="0" tIns="0" rIns="0" bIns="0" rtlCol="0" anchor="ctr"/>
          <a:lstStyle/>
          <a:p>
            <a:pPr marL="0" indent="0">
              <a:buNone/>
            </a:pPr>
            <a:r>
              <a:rPr lang="en-US" sz="750" dirty="0">
                <a:solidFill>
                  <a:srgbClr val="AFC6F0"/>
                </a:solidFill>
                <a:latin typeface="Aptos" pitchFamily="34" charset="0"/>
                <a:ea typeface="Aptos" pitchFamily="34" charset="-122"/>
                <a:cs typeface="Aptos" pitchFamily="34" charset="-120"/>
              </a:rPr>
              <a:t>GATE  -  First quarterly evidence review against the FY2026 baseline</a:t>
            </a:r>
            <a:endParaRPr lang="en-US" sz="750" dirty="0"/>
          </a:p>
        </p:txBody>
      </p:sp>
      <p:sp>
        <p:nvSpPr>
          <p:cNvPr id="26" name="Shape 24"/>
          <p:cNvSpPr/>
          <p:nvPr/>
        </p:nvSpPr>
        <p:spPr>
          <a:xfrm>
            <a:off x="8842248" y="1645920"/>
            <a:ext cx="2788920" cy="2450592"/>
          </a:xfrm>
          <a:prstGeom prst="rect">
            <a:avLst/>
          </a:prstGeom>
          <a:solidFill>
            <a:srgbClr val="FFFFFF"/>
          </a:solidFill>
          <a:ln w="19050">
            <a:solidFill>
              <a:srgbClr val="D98A00"/>
            </a:solidFill>
            <a:prstDash val="dash"/>
          </a:ln>
        </p:spPr>
      </p:sp>
      <p:sp>
        <p:nvSpPr>
          <p:cNvPr id="27" name="Text 25"/>
          <p:cNvSpPr/>
          <p:nvPr/>
        </p:nvSpPr>
        <p:spPr>
          <a:xfrm>
            <a:off x="9006840" y="1773936"/>
            <a:ext cx="2459736" cy="201168"/>
          </a:xfrm>
          <a:prstGeom prst="rect">
            <a:avLst/>
          </a:prstGeom>
          <a:noFill/>
          <a:ln/>
        </p:spPr>
        <p:txBody>
          <a:bodyPr wrap="square" lIns="0" tIns="0" rIns="0" bIns="0" rtlCol="0" anchor="ctr"/>
          <a:lstStyle/>
          <a:p>
            <a:pPr marL="0" indent="0">
              <a:buNone/>
            </a:pPr>
            <a:r>
              <a:rPr lang="en-US" sz="850" b="1" dirty="0">
                <a:solidFill>
                  <a:srgbClr val="D98A00"/>
                </a:solidFill>
                <a:latin typeface="Aptos" pitchFamily="34" charset="0"/>
                <a:ea typeface="Aptos" pitchFamily="34" charset="-122"/>
                <a:cs typeface="Aptos" pitchFamily="34" charset="-120"/>
              </a:rPr>
              <a:t>PHASE 4</a:t>
            </a:r>
            <a:endParaRPr lang="en-US" sz="850" dirty="0"/>
          </a:p>
        </p:txBody>
      </p:sp>
      <p:sp>
        <p:nvSpPr>
          <p:cNvPr id="28" name="Text 26"/>
          <p:cNvSpPr/>
          <p:nvPr/>
        </p:nvSpPr>
        <p:spPr>
          <a:xfrm>
            <a:off x="9006840" y="1975104"/>
            <a:ext cx="2459736" cy="310896"/>
          </a:xfrm>
          <a:prstGeom prst="rect">
            <a:avLst/>
          </a:prstGeom>
          <a:noFill/>
          <a:ln/>
        </p:spPr>
        <p:txBody>
          <a:bodyPr wrap="square" lIns="0" tIns="0" rIns="0" bIns="0" rtlCol="0" anchor="ctr"/>
          <a:lstStyle/>
          <a:p>
            <a:pPr marL="0" indent="0">
              <a:buNone/>
            </a:pPr>
            <a:r>
              <a:rPr lang="en-US" sz="1600" b="1" dirty="0">
                <a:solidFill>
                  <a:srgbClr val="041E47"/>
                </a:solidFill>
                <a:latin typeface="Aptos Display" pitchFamily="34" charset="0"/>
                <a:ea typeface="Aptos Display" pitchFamily="34" charset="-122"/>
                <a:cs typeface="Aptos Display" pitchFamily="34" charset="-120"/>
              </a:rPr>
              <a:t>12+ MONTHS</a:t>
            </a:r>
            <a:endParaRPr lang="en-US" sz="1600" dirty="0"/>
          </a:p>
        </p:txBody>
      </p:sp>
      <p:sp>
        <p:nvSpPr>
          <p:cNvPr id="29" name="Text 27"/>
          <p:cNvSpPr/>
          <p:nvPr/>
        </p:nvSpPr>
        <p:spPr>
          <a:xfrm>
            <a:off x="9006840" y="2340864"/>
            <a:ext cx="2459736" cy="877824"/>
          </a:xfrm>
          <a:prstGeom prst="rect">
            <a:avLst/>
          </a:prstGeom>
          <a:noFill/>
          <a:ln/>
        </p:spPr>
        <p:txBody>
          <a:bodyPr wrap="square" lIns="0" tIns="0" rIns="0" bIns="0" rtlCol="0" anchor="t"/>
          <a:lstStyle/>
          <a:p>
            <a:pPr marL="0" indent="0">
              <a:lnSpc>
                <a:spcPct val="106000"/>
              </a:lnSpc>
              <a:buNone/>
            </a:pPr>
            <a:r>
              <a:rPr lang="en-US" sz="900" dirty="0">
                <a:solidFill>
                  <a:srgbClr val="46577A"/>
                </a:solidFill>
                <a:latin typeface="Aptos" pitchFamily="34" charset="0"/>
                <a:ea typeface="Aptos" pitchFamily="34" charset="-122"/>
                <a:cs typeface="Aptos" pitchFamily="34" charset="-120"/>
              </a:rPr>
              <a:t>Assess, on at least one further fiscal year of evidence, whether the capacity-demand divergence persists. Activate Lever C only if confirmed.</a:t>
            </a:r>
            <a:endParaRPr lang="en-US" sz="900" dirty="0"/>
          </a:p>
        </p:txBody>
      </p:sp>
      <p:sp>
        <p:nvSpPr>
          <p:cNvPr id="30" name="Text 28"/>
          <p:cNvSpPr/>
          <p:nvPr/>
        </p:nvSpPr>
        <p:spPr>
          <a:xfrm>
            <a:off x="9006840" y="3255264"/>
            <a:ext cx="2459736" cy="146304"/>
          </a:xfrm>
          <a:prstGeom prst="rect">
            <a:avLst/>
          </a:prstGeom>
          <a:noFill/>
          <a:ln/>
        </p:spPr>
        <p:txBody>
          <a:bodyPr wrap="square" lIns="0" tIns="0" rIns="0" bIns="0" rtlCol="0" anchor="ctr"/>
          <a:lstStyle/>
          <a:p>
            <a:pPr marL="0" indent="0">
              <a:buNone/>
            </a:pPr>
            <a:r>
              <a:rPr lang="en-US" sz="700" b="1" dirty="0">
                <a:solidFill>
                  <a:srgbClr val="6B7280"/>
                </a:solidFill>
                <a:latin typeface="Aptos" pitchFamily="34" charset="0"/>
                <a:ea typeface="Aptos" pitchFamily="34" charset="-122"/>
                <a:cs typeface="Aptos" pitchFamily="34" charset="-120"/>
              </a:rPr>
              <a:t>OWNER</a:t>
            </a:r>
            <a:endParaRPr lang="en-US" sz="700" dirty="0"/>
          </a:p>
        </p:txBody>
      </p:sp>
      <p:sp>
        <p:nvSpPr>
          <p:cNvPr id="31" name="Text 29"/>
          <p:cNvSpPr/>
          <p:nvPr/>
        </p:nvSpPr>
        <p:spPr>
          <a:xfrm>
            <a:off x="9006840" y="3383280"/>
            <a:ext cx="2459736" cy="384048"/>
          </a:xfrm>
          <a:prstGeom prst="rect">
            <a:avLst/>
          </a:prstGeom>
          <a:noFill/>
          <a:ln/>
        </p:spPr>
        <p:txBody>
          <a:bodyPr wrap="square" lIns="0" tIns="0" rIns="0" bIns="0" rtlCol="0" anchor="t"/>
          <a:lstStyle/>
          <a:p>
            <a:pPr marL="0" indent="0">
              <a:lnSpc>
                <a:spcPct val="102000"/>
              </a:lnSpc>
              <a:buNone/>
            </a:pPr>
            <a:r>
              <a:rPr lang="en-US" sz="850" b="1" dirty="0">
                <a:solidFill>
                  <a:srgbClr val="041E47"/>
                </a:solidFill>
                <a:latin typeface="Aptos" pitchFamily="34" charset="0"/>
                <a:ea typeface="Aptos" pitchFamily="34" charset="-122"/>
                <a:cs typeface="Aptos" pitchFamily="34" charset="-120"/>
              </a:rPr>
              <a:t>Executive Committee; Board</a:t>
            </a:r>
            <a:endParaRPr lang="en-US" sz="850" dirty="0"/>
          </a:p>
        </p:txBody>
      </p:sp>
      <p:sp>
        <p:nvSpPr>
          <p:cNvPr id="32" name="Text 30"/>
          <p:cNvSpPr/>
          <p:nvPr/>
        </p:nvSpPr>
        <p:spPr>
          <a:xfrm>
            <a:off x="9006840" y="3785616"/>
            <a:ext cx="2459736" cy="237744"/>
          </a:xfrm>
          <a:prstGeom prst="rect">
            <a:avLst/>
          </a:prstGeom>
          <a:noFill/>
          <a:ln/>
        </p:spPr>
        <p:txBody>
          <a:bodyPr wrap="square" lIns="0" tIns="0" rIns="0" bIns="0" rtlCol="0" anchor="ctr"/>
          <a:lstStyle/>
          <a:p>
            <a:pPr marL="0" indent="0">
              <a:buNone/>
            </a:pPr>
            <a:r>
              <a:rPr lang="en-US" sz="750" dirty="0">
                <a:solidFill>
                  <a:srgbClr val="D98A00"/>
                </a:solidFill>
                <a:latin typeface="Aptos" pitchFamily="34" charset="0"/>
                <a:ea typeface="Aptos" pitchFamily="34" charset="-122"/>
                <a:cs typeface="Aptos" pitchFamily="34" charset="-120"/>
              </a:rPr>
              <a:t>GATE  -  Board / ExCo decision on Lever C activation</a:t>
            </a:r>
            <a:endParaRPr lang="en-US" sz="750" dirty="0"/>
          </a:p>
        </p:txBody>
      </p:sp>
      <p:sp>
        <p:nvSpPr>
          <p:cNvPr id="33" name="Shape 31"/>
          <p:cNvSpPr/>
          <p:nvPr/>
        </p:nvSpPr>
        <p:spPr>
          <a:xfrm>
            <a:off x="502920" y="4224528"/>
            <a:ext cx="11185855" cy="12802"/>
          </a:xfrm>
          <a:prstGeom prst="rect">
            <a:avLst/>
          </a:prstGeom>
          <a:solidFill>
            <a:srgbClr val="C9D8F2"/>
          </a:solidFill>
          <a:ln/>
        </p:spPr>
      </p:sp>
      <p:sp>
        <p:nvSpPr>
          <p:cNvPr id="34" name="Shape 32"/>
          <p:cNvSpPr/>
          <p:nvPr/>
        </p:nvSpPr>
        <p:spPr>
          <a:xfrm>
            <a:off x="2999232" y="4137660"/>
            <a:ext cx="146304" cy="146304"/>
          </a:xfrm>
          <a:prstGeom prst="ellipse">
            <a:avLst/>
          </a:prstGeom>
          <a:solidFill>
            <a:srgbClr val="2F6BD8"/>
          </a:solidFill>
          <a:ln w="15240">
            <a:solidFill>
              <a:srgbClr val="FFFFFF"/>
            </a:solidFill>
            <a:prstDash val="solid"/>
          </a:ln>
        </p:spPr>
      </p:sp>
      <p:sp>
        <p:nvSpPr>
          <p:cNvPr id="35" name="Shape 33"/>
          <p:cNvSpPr/>
          <p:nvPr/>
        </p:nvSpPr>
        <p:spPr>
          <a:xfrm>
            <a:off x="5815584" y="4137660"/>
            <a:ext cx="146304" cy="146304"/>
          </a:xfrm>
          <a:prstGeom prst="ellipse">
            <a:avLst/>
          </a:prstGeom>
          <a:solidFill>
            <a:srgbClr val="2F6BD8"/>
          </a:solidFill>
          <a:ln w="15240">
            <a:solidFill>
              <a:srgbClr val="FFFFFF"/>
            </a:solidFill>
            <a:prstDash val="solid"/>
          </a:ln>
        </p:spPr>
      </p:sp>
      <p:sp>
        <p:nvSpPr>
          <p:cNvPr id="36" name="Shape 34"/>
          <p:cNvSpPr/>
          <p:nvPr/>
        </p:nvSpPr>
        <p:spPr>
          <a:xfrm>
            <a:off x="8741664" y="4137660"/>
            <a:ext cx="146304" cy="146304"/>
          </a:xfrm>
          <a:prstGeom prst="ellipse">
            <a:avLst/>
          </a:prstGeom>
          <a:solidFill>
            <a:srgbClr val="2F6BD8"/>
          </a:solidFill>
          <a:ln w="15240">
            <a:solidFill>
              <a:srgbClr val="FFFFFF"/>
            </a:solidFill>
            <a:prstDash val="solid"/>
          </a:ln>
        </p:spPr>
      </p:sp>
      <p:sp>
        <p:nvSpPr>
          <p:cNvPr id="37" name="Shape 35"/>
          <p:cNvSpPr/>
          <p:nvPr/>
        </p:nvSpPr>
        <p:spPr>
          <a:xfrm>
            <a:off x="11548872" y="4101084"/>
            <a:ext cx="219456" cy="219456"/>
          </a:xfrm>
          <a:prstGeom prst="ellipse">
            <a:avLst/>
          </a:prstGeom>
          <a:solidFill>
            <a:srgbClr val="D98A00"/>
          </a:solidFill>
          <a:ln w="15240">
            <a:solidFill>
              <a:srgbClr val="FFFFFF"/>
            </a:solidFill>
            <a:prstDash val="solid"/>
          </a:ln>
        </p:spPr>
      </p:sp>
      <p:sp>
        <p:nvSpPr>
          <p:cNvPr id="38" name="Text 36"/>
          <p:cNvSpPr/>
          <p:nvPr/>
        </p:nvSpPr>
        <p:spPr>
          <a:xfrm>
            <a:off x="502920" y="4443984"/>
            <a:ext cx="3657600" cy="201168"/>
          </a:xfrm>
          <a:prstGeom prst="rect">
            <a:avLst/>
          </a:prstGeom>
          <a:noFill/>
          <a:ln/>
        </p:spPr>
        <p:txBody>
          <a:bodyPr wrap="square" lIns="0" tIns="0" rIns="0" bIns="0" rtlCol="0" anchor="ctr"/>
          <a:lstStyle/>
          <a:p>
            <a:pPr marL="0" indent="0" algn="l">
              <a:buNone/>
            </a:pPr>
            <a:r>
              <a:rPr lang="en-US" sz="1000" b="1" kern="0" spc="110" dirty="0">
                <a:solidFill>
                  <a:srgbClr val="46577A"/>
                </a:solidFill>
                <a:latin typeface="Aptos" pitchFamily="34" charset="0"/>
                <a:ea typeface="Aptos" pitchFamily="34" charset="-122"/>
                <a:cs typeface="Aptos" pitchFamily="34" charset="-120"/>
              </a:rPr>
              <a:t>GOVERNANCE</a:t>
            </a:r>
            <a:endParaRPr lang="en-US" sz="1000" dirty="0"/>
          </a:p>
        </p:txBody>
      </p:sp>
      <p:sp>
        <p:nvSpPr>
          <p:cNvPr id="39" name="Shape 37"/>
          <p:cNvSpPr/>
          <p:nvPr/>
        </p:nvSpPr>
        <p:spPr>
          <a:xfrm>
            <a:off x="502920" y="4700016"/>
            <a:ext cx="2084832" cy="402336"/>
          </a:xfrm>
          <a:prstGeom prst="rect">
            <a:avLst/>
          </a:prstGeom>
          <a:solidFill>
            <a:srgbClr val="041E47"/>
          </a:solidFill>
          <a:ln/>
        </p:spPr>
      </p:sp>
      <p:sp>
        <p:nvSpPr>
          <p:cNvPr id="40" name="Text 38"/>
          <p:cNvSpPr/>
          <p:nvPr/>
        </p:nvSpPr>
        <p:spPr>
          <a:xfrm>
            <a:off x="502920" y="4700016"/>
            <a:ext cx="2084832"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Board / CEO</a:t>
            </a:r>
            <a:endParaRPr lang="en-US" sz="1000" dirty="0"/>
          </a:p>
        </p:txBody>
      </p:sp>
      <p:sp>
        <p:nvSpPr>
          <p:cNvPr id="41" name="Shape 39"/>
          <p:cNvSpPr/>
          <p:nvPr/>
        </p:nvSpPr>
        <p:spPr>
          <a:xfrm rot="5400000">
            <a:off x="2670048" y="4837176"/>
            <a:ext cx="128016" cy="128016"/>
          </a:xfrm>
          <a:prstGeom prst="triangle">
            <a:avLst/>
          </a:prstGeom>
          <a:solidFill>
            <a:srgbClr val="2F6BD8"/>
          </a:solidFill>
          <a:ln/>
        </p:spPr>
      </p:sp>
      <p:sp>
        <p:nvSpPr>
          <p:cNvPr id="42" name="Shape 40"/>
          <p:cNvSpPr/>
          <p:nvPr/>
        </p:nvSpPr>
        <p:spPr>
          <a:xfrm>
            <a:off x="2889504" y="4700016"/>
            <a:ext cx="2395728" cy="402336"/>
          </a:xfrm>
          <a:prstGeom prst="rect">
            <a:avLst/>
          </a:prstGeom>
          <a:solidFill>
            <a:srgbClr val="0032A0"/>
          </a:solidFill>
          <a:ln/>
        </p:spPr>
      </p:sp>
      <p:sp>
        <p:nvSpPr>
          <p:cNvPr id="43" name="Text 41"/>
          <p:cNvSpPr/>
          <p:nvPr/>
        </p:nvSpPr>
        <p:spPr>
          <a:xfrm>
            <a:off x="2889504" y="4700016"/>
            <a:ext cx="2395728"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Strategic Steering Committee</a:t>
            </a:r>
            <a:endParaRPr lang="en-US" sz="1000" dirty="0"/>
          </a:p>
        </p:txBody>
      </p:sp>
      <p:sp>
        <p:nvSpPr>
          <p:cNvPr id="44" name="Shape 42"/>
          <p:cNvSpPr/>
          <p:nvPr/>
        </p:nvSpPr>
        <p:spPr>
          <a:xfrm rot="5400000">
            <a:off x="5394960" y="4837176"/>
            <a:ext cx="128016" cy="128016"/>
          </a:xfrm>
          <a:prstGeom prst="triangle">
            <a:avLst/>
          </a:prstGeom>
          <a:solidFill>
            <a:srgbClr val="2F6BD8"/>
          </a:solidFill>
          <a:ln/>
        </p:spPr>
      </p:sp>
      <p:sp>
        <p:nvSpPr>
          <p:cNvPr id="45" name="Shape 43"/>
          <p:cNvSpPr/>
          <p:nvPr/>
        </p:nvSpPr>
        <p:spPr>
          <a:xfrm>
            <a:off x="5614416" y="4700016"/>
            <a:ext cx="950976" cy="402336"/>
          </a:xfrm>
          <a:prstGeom prst="rect">
            <a:avLst/>
          </a:prstGeom>
          <a:solidFill>
            <a:srgbClr val="FFFFFF"/>
          </a:solidFill>
          <a:ln w="9525">
            <a:solidFill>
              <a:srgbClr val="2F6BD8"/>
            </a:solidFill>
            <a:prstDash val="solid"/>
          </a:ln>
        </p:spPr>
      </p:sp>
      <p:sp>
        <p:nvSpPr>
          <p:cNvPr id="46" name="Text 44"/>
          <p:cNvSpPr/>
          <p:nvPr/>
        </p:nvSpPr>
        <p:spPr>
          <a:xfrm>
            <a:off x="5614416" y="4700016"/>
            <a:ext cx="950976" cy="402336"/>
          </a:xfrm>
          <a:prstGeom prst="rect">
            <a:avLst/>
          </a:prstGeom>
          <a:noFill/>
          <a:ln/>
        </p:spPr>
        <p:txBody>
          <a:bodyPr wrap="square" lIns="0" tIns="0" rIns="0" bIns="0" rtlCol="0" anchor="ctr"/>
          <a:lstStyle/>
          <a:p>
            <a:pPr marL="0" indent="0" algn="ctr">
              <a:buNone/>
            </a:pPr>
            <a:r>
              <a:rPr lang="en-US" sz="850" b="1" dirty="0">
                <a:solidFill>
                  <a:srgbClr val="041E47"/>
                </a:solidFill>
                <a:latin typeface="Aptos" pitchFamily="34" charset="0"/>
                <a:ea typeface="Aptos" pitchFamily="34" charset="-122"/>
                <a:cs typeface="Aptos" pitchFamily="34" charset="-120"/>
              </a:rPr>
              <a:t>Revenue</a:t>
            </a:r>
            <a:endParaRPr lang="en-US" sz="850" dirty="0"/>
          </a:p>
        </p:txBody>
      </p:sp>
      <p:sp>
        <p:nvSpPr>
          <p:cNvPr id="47" name="Shape 45"/>
          <p:cNvSpPr/>
          <p:nvPr/>
        </p:nvSpPr>
        <p:spPr>
          <a:xfrm>
            <a:off x="6638544" y="4700016"/>
            <a:ext cx="950976" cy="402336"/>
          </a:xfrm>
          <a:prstGeom prst="rect">
            <a:avLst/>
          </a:prstGeom>
          <a:solidFill>
            <a:srgbClr val="FFFFFF"/>
          </a:solidFill>
          <a:ln w="9525">
            <a:solidFill>
              <a:srgbClr val="2F6BD8"/>
            </a:solidFill>
            <a:prstDash val="solid"/>
          </a:ln>
        </p:spPr>
      </p:sp>
      <p:sp>
        <p:nvSpPr>
          <p:cNvPr id="48" name="Text 46"/>
          <p:cNvSpPr/>
          <p:nvPr/>
        </p:nvSpPr>
        <p:spPr>
          <a:xfrm>
            <a:off x="6638544" y="4700016"/>
            <a:ext cx="950976" cy="402336"/>
          </a:xfrm>
          <a:prstGeom prst="rect">
            <a:avLst/>
          </a:prstGeom>
          <a:noFill/>
          <a:ln/>
        </p:spPr>
        <p:txBody>
          <a:bodyPr wrap="square" lIns="0" tIns="0" rIns="0" bIns="0" rtlCol="0" anchor="ctr"/>
          <a:lstStyle/>
          <a:p>
            <a:pPr marL="0" indent="0" algn="ctr">
              <a:buNone/>
            </a:pPr>
            <a:r>
              <a:rPr lang="en-US" sz="850" b="1" dirty="0">
                <a:solidFill>
                  <a:srgbClr val="041E47"/>
                </a:solidFill>
                <a:latin typeface="Aptos" pitchFamily="34" charset="0"/>
                <a:ea typeface="Aptos" pitchFamily="34" charset="-122"/>
                <a:cs typeface="Aptos" pitchFamily="34" charset="-120"/>
              </a:rPr>
              <a:t>Network</a:t>
            </a:r>
            <a:endParaRPr lang="en-US" sz="850" dirty="0"/>
          </a:p>
        </p:txBody>
      </p:sp>
      <p:sp>
        <p:nvSpPr>
          <p:cNvPr id="49" name="Shape 47"/>
          <p:cNvSpPr/>
          <p:nvPr/>
        </p:nvSpPr>
        <p:spPr>
          <a:xfrm>
            <a:off x="7662672" y="4700016"/>
            <a:ext cx="950976" cy="402336"/>
          </a:xfrm>
          <a:prstGeom prst="rect">
            <a:avLst/>
          </a:prstGeom>
          <a:solidFill>
            <a:srgbClr val="FFFFFF"/>
          </a:solidFill>
          <a:ln w="9525">
            <a:solidFill>
              <a:srgbClr val="2F6BD8"/>
            </a:solidFill>
            <a:prstDash val="solid"/>
          </a:ln>
        </p:spPr>
      </p:sp>
      <p:sp>
        <p:nvSpPr>
          <p:cNvPr id="50" name="Text 48"/>
          <p:cNvSpPr/>
          <p:nvPr/>
        </p:nvSpPr>
        <p:spPr>
          <a:xfrm>
            <a:off x="7662672" y="4700016"/>
            <a:ext cx="950976" cy="402336"/>
          </a:xfrm>
          <a:prstGeom prst="rect">
            <a:avLst/>
          </a:prstGeom>
          <a:noFill/>
          <a:ln/>
        </p:spPr>
        <p:txBody>
          <a:bodyPr wrap="square" lIns="0" tIns="0" rIns="0" bIns="0" rtlCol="0" anchor="ctr"/>
          <a:lstStyle/>
          <a:p>
            <a:pPr marL="0" indent="0" algn="ctr">
              <a:buNone/>
            </a:pPr>
            <a:r>
              <a:rPr lang="en-US" sz="850" b="1" dirty="0">
                <a:solidFill>
                  <a:srgbClr val="041E47"/>
                </a:solidFill>
                <a:latin typeface="Aptos" pitchFamily="34" charset="0"/>
                <a:ea typeface="Aptos" pitchFamily="34" charset="-122"/>
                <a:cs typeface="Aptos" pitchFamily="34" charset="-120"/>
              </a:rPr>
              <a:t>Operations</a:t>
            </a:r>
            <a:endParaRPr lang="en-US" sz="850" dirty="0"/>
          </a:p>
        </p:txBody>
      </p:sp>
      <p:sp>
        <p:nvSpPr>
          <p:cNvPr id="51" name="Shape 49"/>
          <p:cNvSpPr/>
          <p:nvPr/>
        </p:nvSpPr>
        <p:spPr>
          <a:xfrm>
            <a:off x="8686800" y="4700016"/>
            <a:ext cx="950976" cy="402336"/>
          </a:xfrm>
          <a:prstGeom prst="rect">
            <a:avLst/>
          </a:prstGeom>
          <a:solidFill>
            <a:srgbClr val="FFFFFF"/>
          </a:solidFill>
          <a:ln w="9525">
            <a:solidFill>
              <a:srgbClr val="2F6BD8"/>
            </a:solidFill>
            <a:prstDash val="solid"/>
          </a:ln>
        </p:spPr>
      </p:sp>
      <p:sp>
        <p:nvSpPr>
          <p:cNvPr id="52" name="Text 50"/>
          <p:cNvSpPr/>
          <p:nvPr/>
        </p:nvSpPr>
        <p:spPr>
          <a:xfrm>
            <a:off x="8686800" y="4700016"/>
            <a:ext cx="950976" cy="402336"/>
          </a:xfrm>
          <a:prstGeom prst="rect">
            <a:avLst/>
          </a:prstGeom>
          <a:noFill/>
          <a:ln/>
        </p:spPr>
        <p:txBody>
          <a:bodyPr wrap="square" lIns="0" tIns="0" rIns="0" bIns="0" rtlCol="0" anchor="ctr"/>
          <a:lstStyle/>
          <a:p>
            <a:pPr marL="0" indent="0" algn="ctr">
              <a:buNone/>
            </a:pPr>
            <a:r>
              <a:rPr lang="en-US" sz="850" b="1" dirty="0">
                <a:solidFill>
                  <a:srgbClr val="041E47"/>
                </a:solidFill>
                <a:latin typeface="Aptos" pitchFamily="34" charset="0"/>
                <a:ea typeface="Aptos" pitchFamily="34" charset="-122"/>
                <a:cs typeface="Aptos" pitchFamily="34" charset="-120"/>
              </a:rPr>
              <a:t>Fleet</a:t>
            </a:r>
            <a:endParaRPr lang="en-US" sz="850" dirty="0"/>
          </a:p>
        </p:txBody>
      </p:sp>
      <p:sp>
        <p:nvSpPr>
          <p:cNvPr id="53" name="Shape 51"/>
          <p:cNvSpPr/>
          <p:nvPr/>
        </p:nvSpPr>
        <p:spPr>
          <a:xfrm>
            <a:off x="9710928" y="4700016"/>
            <a:ext cx="950976" cy="402336"/>
          </a:xfrm>
          <a:prstGeom prst="rect">
            <a:avLst/>
          </a:prstGeom>
          <a:solidFill>
            <a:srgbClr val="FFFFFF"/>
          </a:solidFill>
          <a:ln w="9525">
            <a:solidFill>
              <a:srgbClr val="2F6BD8"/>
            </a:solidFill>
            <a:prstDash val="solid"/>
          </a:ln>
        </p:spPr>
      </p:sp>
      <p:sp>
        <p:nvSpPr>
          <p:cNvPr id="54" name="Text 52"/>
          <p:cNvSpPr/>
          <p:nvPr/>
        </p:nvSpPr>
        <p:spPr>
          <a:xfrm>
            <a:off x="9710928" y="4700016"/>
            <a:ext cx="950976" cy="402336"/>
          </a:xfrm>
          <a:prstGeom prst="rect">
            <a:avLst/>
          </a:prstGeom>
          <a:noFill/>
          <a:ln/>
        </p:spPr>
        <p:txBody>
          <a:bodyPr wrap="square" lIns="0" tIns="0" rIns="0" bIns="0" rtlCol="0" anchor="ctr"/>
          <a:lstStyle/>
          <a:p>
            <a:pPr marL="0" indent="0" algn="ctr">
              <a:buNone/>
            </a:pPr>
            <a:r>
              <a:rPr lang="en-US" sz="850" b="1" dirty="0">
                <a:solidFill>
                  <a:srgbClr val="041E47"/>
                </a:solidFill>
                <a:latin typeface="Aptos" pitchFamily="34" charset="0"/>
                <a:ea typeface="Aptos" pitchFamily="34" charset="-122"/>
                <a:cs typeface="Aptos" pitchFamily="34" charset="-120"/>
              </a:rPr>
              <a:t>Finance</a:t>
            </a:r>
            <a:endParaRPr lang="en-US" sz="850" dirty="0"/>
          </a:p>
        </p:txBody>
      </p:sp>
      <p:sp>
        <p:nvSpPr>
          <p:cNvPr id="55" name="Shape 53"/>
          <p:cNvSpPr/>
          <p:nvPr/>
        </p:nvSpPr>
        <p:spPr>
          <a:xfrm>
            <a:off x="10735056" y="4700016"/>
            <a:ext cx="950976" cy="402336"/>
          </a:xfrm>
          <a:prstGeom prst="rect">
            <a:avLst/>
          </a:prstGeom>
          <a:solidFill>
            <a:srgbClr val="FFFFFF"/>
          </a:solidFill>
          <a:ln w="9525">
            <a:solidFill>
              <a:srgbClr val="2F6BD8"/>
            </a:solidFill>
            <a:prstDash val="solid"/>
          </a:ln>
        </p:spPr>
      </p:sp>
      <p:sp>
        <p:nvSpPr>
          <p:cNvPr id="56" name="Text 54"/>
          <p:cNvSpPr/>
          <p:nvPr/>
        </p:nvSpPr>
        <p:spPr>
          <a:xfrm>
            <a:off x="10735056" y="4700016"/>
            <a:ext cx="950976" cy="402336"/>
          </a:xfrm>
          <a:prstGeom prst="rect">
            <a:avLst/>
          </a:prstGeom>
          <a:noFill/>
          <a:ln/>
        </p:spPr>
        <p:txBody>
          <a:bodyPr wrap="square" lIns="0" tIns="0" rIns="0" bIns="0" rtlCol="0" anchor="ctr"/>
          <a:lstStyle/>
          <a:p>
            <a:pPr marL="0" indent="0" algn="ctr">
              <a:buNone/>
            </a:pPr>
            <a:r>
              <a:rPr lang="en-US" sz="850" b="1" dirty="0">
                <a:solidFill>
                  <a:srgbClr val="041E47"/>
                </a:solidFill>
                <a:latin typeface="Aptos" pitchFamily="34" charset="0"/>
                <a:ea typeface="Aptos" pitchFamily="34" charset="-122"/>
                <a:cs typeface="Aptos" pitchFamily="34" charset="-120"/>
              </a:rPr>
              <a:t>Technology</a:t>
            </a:r>
            <a:endParaRPr lang="en-US" sz="850" dirty="0"/>
          </a:p>
        </p:txBody>
      </p:sp>
      <p:sp>
        <p:nvSpPr>
          <p:cNvPr id="57" name="Text 55"/>
          <p:cNvSpPr/>
          <p:nvPr/>
        </p:nvSpPr>
        <p:spPr>
          <a:xfrm>
            <a:off x="502920" y="5193792"/>
            <a:ext cx="11183112" cy="365760"/>
          </a:xfrm>
          <a:prstGeom prst="rect">
            <a:avLst/>
          </a:prstGeom>
          <a:noFill/>
          <a:ln/>
        </p:spPr>
        <p:txBody>
          <a:bodyPr wrap="square" lIns="0" tIns="0" rIns="0" bIns="0" rtlCol="0" anchor="t"/>
          <a:lstStyle/>
          <a:p>
            <a:pPr marL="0" indent="0">
              <a:buNone/>
            </a:pPr>
            <a:r>
              <a:rPr lang="en-US" sz="950" dirty="0">
                <a:solidFill>
                  <a:srgbClr val="46577A"/>
                </a:solidFill>
                <a:latin typeface="Aptos" pitchFamily="34" charset="0"/>
                <a:ea typeface="Aptos" pitchFamily="34" charset="-122"/>
                <a:cs typeface="Aptos" pitchFamily="34" charset="-120"/>
              </a:rPr>
              <a:t>Six workstreams reporting into quarterly decision gates; annual Board review specifically on whether the Lever C evidence gate has been met.</a:t>
            </a:r>
            <a:endParaRPr lang="en-US" sz="950" dirty="0"/>
          </a:p>
          <a:p>
            <a:pPr marL="0" indent="0">
              <a:buNone/>
            </a:pPr>
            <a:r>
              <a:rPr lang="en-US" sz="950" dirty="0">
                <a:solidFill>
                  <a:srgbClr val="46577A"/>
                </a:solidFill>
                <a:latin typeface="Aptos" pitchFamily="34" charset="0"/>
                <a:ea typeface="Aptos" pitchFamily="34" charset="-122"/>
                <a:cs typeface="Aptos" pitchFamily="34" charset="-120"/>
              </a:rPr>
              <a:t>ENABLE - operational resilience is reported through the existing Operations workstream; it adds no workstream, no phase and no gate.</a:t>
            </a:r>
            <a:endParaRPr lang="en-US" sz="950" dirty="0"/>
          </a:p>
        </p:txBody>
      </p:sp>
      <p:sp>
        <p:nvSpPr>
          <p:cNvPr id="58" name="Shape 56"/>
          <p:cNvSpPr/>
          <p:nvPr/>
        </p:nvSpPr>
        <p:spPr>
          <a:xfrm>
            <a:off x="502920" y="5559552"/>
            <a:ext cx="11185855" cy="621792"/>
          </a:xfrm>
          <a:prstGeom prst="rect">
            <a:avLst/>
          </a:prstGeom>
          <a:solidFill>
            <a:srgbClr val="F4F7FD"/>
          </a:solidFill>
          <a:ln/>
        </p:spPr>
      </p:sp>
      <p:sp>
        <p:nvSpPr>
          <p:cNvPr id="59" name="Shape 57"/>
          <p:cNvSpPr/>
          <p:nvPr/>
        </p:nvSpPr>
        <p:spPr>
          <a:xfrm>
            <a:off x="502920" y="5559552"/>
            <a:ext cx="32004" cy="621792"/>
          </a:xfrm>
          <a:prstGeom prst="rect">
            <a:avLst/>
          </a:prstGeom>
          <a:solidFill>
            <a:srgbClr val="0032A0"/>
          </a:solidFill>
          <a:ln/>
        </p:spPr>
      </p:sp>
      <p:sp>
        <p:nvSpPr>
          <p:cNvPr id="60" name="Text 58"/>
          <p:cNvSpPr/>
          <p:nvPr/>
        </p:nvSpPr>
        <p:spPr>
          <a:xfrm>
            <a:off x="685800" y="5559552"/>
            <a:ext cx="10927080" cy="621792"/>
          </a:xfrm>
          <a:prstGeom prst="rect">
            <a:avLst/>
          </a:prstGeom>
          <a:noFill/>
          <a:ln/>
        </p:spPr>
        <p:txBody>
          <a:bodyPr wrap="square" lIns="0" tIns="0" rIns="0" bIns="0" rtlCol="0" anchor="ctr"/>
          <a:lstStyle/>
          <a:p>
            <a:pPr marL="0" indent="0">
              <a:buNone/>
            </a:pPr>
            <a:r>
              <a:rPr lang="en-US" sz="1050" b="1" dirty="0">
                <a:solidFill>
                  <a:srgbClr val="0032A0"/>
                </a:solidFill>
                <a:latin typeface="Aptos" pitchFamily="34" charset="0"/>
                <a:ea typeface="Aptos" pitchFamily="34" charset="-122"/>
                <a:cs typeface="Aptos" pitchFamily="34" charset="-120"/>
              </a:rPr>
              <a:t>Route-level economics capability is ranked the highest-value evidence investment in the study and is resourced in Phase 2 - not deferred to Phase 3.</a:t>
            </a:r>
            <a:endParaRPr lang="en-US" sz="1050" dirty="0"/>
          </a:p>
        </p:txBody>
      </p:sp>
      <p:sp>
        <p:nvSpPr>
          <p:cNvPr id="61" name="Shape 59"/>
          <p:cNvSpPr/>
          <p:nvPr/>
        </p:nvSpPr>
        <p:spPr>
          <a:xfrm>
            <a:off x="502920" y="6309360"/>
            <a:ext cx="11185855" cy="5486"/>
          </a:xfrm>
          <a:prstGeom prst="rect">
            <a:avLst/>
          </a:prstGeom>
          <a:solidFill>
            <a:srgbClr val="C9D8F2"/>
          </a:solidFill>
          <a:ln/>
        </p:spPr>
      </p:sp>
      <p:sp>
        <p:nvSpPr>
          <p:cNvPr id="62" name="Text 60"/>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63" name="Text 61"/>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Sections 14.1-14.3 and 14.5 - synthesis of Sections 6, 8, 13, 15</a:t>
            </a:r>
            <a:endParaRPr lang="en-US" sz="800" dirty="0"/>
          </a:p>
        </p:txBody>
      </p:sp>
      <p:sp>
        <p:nvSpPr>
          <p:cNvPr id="64" name="Shape 62"/>
          <p:cNvSpPr/>
          <p:nvPr/>
        </p:nvSpPr>
        <p:spPr>
          <a:xfrm>
            <a:off x="11484864" y="6364224"/>
            <a:ext cx="201168" cy="201168"/>
          </a:xfrm>
          <a:prstGeom prst="rect">
            <a:avLst/>
          </a:prstGeom>
          <a:solidFill>
            <a:srgbClr val="0032A0"/>
          </a:solidFill>
          <a:ln/>
        </p:spPr>
      </p:sp>
      <p:sp>
        <p:nvSpPr>
          <p:cNvPr id="65" name="Text 63"/>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31</a:t>
            </a:r>
            <a:endParaRPr lang="en-US" sz="800" dirty="0"/>
          </a:p>
        </p:txBody>
      </p:sp>
      <p:sp>
        <p:nvSpPr>
          <p:cNvPr id="67" name="Shape 64"/>
          <p:cNvSpPr/>
          <p:nvPr/>
        </p:nvSpPr>
        <p:spPr>
          <a:xfrm>
            <a:off x="9596628" y="416052"/>
            <a:ext cx="82296" cy="82296"/>
          </a:xfrm>
          <a:prstGeom prst="rect">
            <a:avLst/>
          </a:prstGeom>
          <a:solidFill>
            <a:srgbClr val="D98A00"/>
          </a:solidFill>
          <a:ln/>
        </p:spPr>
      </p:sp>
      <p:sp>
        <p:nvSpPr>
          <p:cNvPr id="68" name="Text 65"/>
          <p:cNvSpPr/>
          <p:nvPr/>
        </p:nvSpPr>
        <p:spPr>
          <a:xfrm>
            <a:off x="8979408" y="365760"/>
            <a:ext cx="2706624" cy="182880"/>
          </a:xfrm>
          <a:prstGeom prst="rect">
            <a:avLst/>
          </a:prstGeom>
          <a:noFill/>
          <a:ln/>
        </p:spPr>
        <p:txBody>
          <a:bodyPr wrap="square" lIns="0" tIns="0" rIns="0" bIns="0" rtlCol="0" anchor="ctr"/>
          <a:lstStyle/>
          <a:p>
            <a:pPr marL="0" indent="0" algn="r">
              <a:buNone/>
            </a:pPr>
            <a:r>
              <a:rPr lang="en-US" sz="850" b="1" dirty="0">
                <a:solidFill>
                  <a:srgbClr val="D98A00"/>
                </a:solidFill>
                <a:latin typeface="Aptos" pitchFamily="34" charset="0"/>
                <a:ea typeface="Aptos" pitchFamily="34" charset="-122"/>
                <a:cs typeface="Aptos" pitchFamily="34" charset="-120"/>
              </a:rPr>
              <a:t>ENABLE  -  OPERATIONAL RESILIENCE</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10 - EXECUTION AND GOVERNANCE</a:t>
            </a:r>
            <a:endParaRPr lang="en-US" sz="1000" dirty="0"/>
          </a:p>
        </p:txBody>
      </p:sp>
      <p:sp>
        <p:nvSpPr>
          <p:cNvPr id="3" name="Shape 1"/>
          <p:cNvSpPr/>
          <p:nvPr/>
        </p:nvSpPr>
        <p:spPr>
          <a:xfrm>
            <a:off x="502919" y="571500"/>
            <a:ext cx="2078587" cy="45719"/>
          </a:xfrm>
          <a:prstGeom prst="rect">
            <a:avLst/>
          </a:prstGeom>
          <a:solidFill>
            <a:srgbClr val="0032A0"/>
          </a:solidFill>
          <a:ln/>
        </p:spPr>
      </p:sp>
      <p:sp>
        <p:nvSpPr>
          <p:cNvPr id="4" name="Text 2"/>
          <p:cNvSpPr/>
          <p:nvPr/>
        </p:nvSpPr>
        <p:spPr>
          <a:xfrm>
            <a:off x="502920" y="660710"/>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Twelve monitored dimensions, one FY2026 baseline, one decision gate</a:t>
            </a:r>
            <a:endParaRPr lang="en-US" sz="2250" dirty="0"/>
          </a:p>
        </p:txBody>
      </p:sp>
      <p:sp>
        <p:nvSpPr>
          <p:cNvPr id="5" name="Text 3"/>
          <p:cNvSpPr/>
          <p:nvPr/>
        </p:nvSpPr>
        <p:spPr>
          <a:xfrm>
            <a:off x="630936" y="1463040"/>
            <a:ext cx="1645920" cy="201168"/>
          </a:xfrm>
          <a:prstGeom prst="rect">
            <a:avLst/>
          </a:prstGeom>
          <a:noFill/>
          <a:ln/>
        </p:spPr>
        <p:txBody>
          <a:bodyPr wrap="square" lIns="0" tIns="0" rIns="0" bIns="0" rtlCol="0" anchor="ctr"/>
          <a:lstStyle/>
          <a:p>
            <a:pPr marL="0" indent="0" algn="l">
              <a:buNone/>
            </a:pPr>
            <a:r>
              <a:rPr lang="en-US" sz="800" b="1" kern="0" spc="110" dirty="0">
                <a:solidFill>
                  <a:srgbClr val="46577A"/>
                </a:solidFill>
                <a:latin typeface="Aptos" pitchFamily="34" charset="0"/>
                <a:ea typeface="Aptos" pitchFamily="34" charset="-122"/>
                <a:cs typeface="Aptos" pitchFamily="34" charset="-120"/>
              </a:rPr>
              <a:t>DIMENSION</a:t>
            </a:r>
            <a:endParaRPr lang="en-US" sz="800" dirty="0"/>
          </a:p>
        </p:txBody>
      </p:sp>
      <p:sp>
        <p:nvSpPr>
          <p:cNvPr id="6" name="Text 4"/>
          <p:cNvSpPr/>
          <p:nvPr/>
        </p:nvSpPr>
        <p:spPr>
          <a:xfrm>
            <a:off x="2423160" y="1463040"/>
            <a:ext cx="1828800" cy="201168"/>
          </a:xfrm>
          <a:prstGeom prst="rect">
            <a:avLst/>
          </a:prstGeom>
          <a:noFill/>
          <a:ln/>
        </p:spPr>
        <p:txBody>
          <a:bodyPr wrap="square" lIns="0" tIns="0" rIns="0" bIns="0" rtlCol="0" anchor="ctr"/>
          <a:lstStyle/>
          <a:p>
            <a:pPr marL="0" indent="0" algn="l">
              <a:buNone/>
            </a:pPr>
            <a:r>
              <a:rPr lang="en-US" sz="800" b="1" kern="0" spc="110" dirty="0">
                <a:solidFill>
                  <a:srgbClr val="46577A"/>
                </a:solidFill>
                <a:latin typeface="Aptos" pitchFamily="34" charset="0"/>
                <a:ea typeface="Aptos" pitchFamily="34" charset="-122"/>
                <a:cs typeface="Aptos" pitchFamily="34" charset="-120"/>
              </a:rPr>
              <a:t>METRICS</a:t>
            </a:r>
            <a:endParaRPr lang="en-US" sz="800" dirty="0"/>
          </a:p>
        </p:txBody>
      </p:sp>
      <p:sp>
        <p:nvSpPr>
          <p:cNvPr id="7" name="Text 5"/>
          <p:cNvSpPr/>
          <p:nvPr/>
        </p:nvSpPr>
        <p:spPr>
          <a:xfrm>
            <a:off x="3813048" y="1463040"/>
            <a:ext cx="2103120" cy="201168"/>
          </a:xfrm>
          <a:prstGeom prst="rect">
            <a:avLst/>
          </a:prstGeom>
          <a:noFill/>
          <a:ln/>
        </p:spPr>
        <p:txBody>
          <a:bodyPr wrap="square" lIns="0" tIns="0" rIns="0" bIns="0" rtlCol="0" anchor="ctr"/>
          <a:lstStyle/>
          <a:p>
            <a:pPr marL="0" indent="0" algn="r">
              <a:buNone/>
            </a:pPr>
            <a:r>
              <a:rPr lang="en-US" sz="800" b="1" kern="0" spc="110" dirty="0">
                <a:solidFill>
                  <a:srgbClr val="46577A"/>
                </a:solidFill>
                <a:latin typeface="Aptos" pitchFamily="34" charset="0"/>
                <a:ea typeface="Aptos" pitchFamily="34" charset="-122"/>
                <a:cs typeface="Aptos" pitchFamily="34" charset="-120"/>
              </a:rPr>
              <a:t>FY2026 BASELINE</a:t>
            </a:r>
            <a:endParaRPr lang="en-US" sz="800" dirty="0"/>
          </a:p>
        </p:txBody>
      </p:sp>
      <p:sp>
        <p:nvSpPr>
          <p:cNvPr id="8" name="Shape 6"/>
          <p:cNvSpPr/>
          <p:nvPr/>
        </p:nvSpPr>
        <p:spPr>
          <a:xfrm>
            <a:off x="502920" y="1664208"/>
            <a:ext cx="5422392" cy="5486"/>
          </a:xfrm>
          <a:prstGeom prst="rect">
            <a:avLst/>
          </a:prstGeom>
          <a:solidFill>
            <a:srgbClr val="C9D8F2"/>
          </a:solidFill>
          <a:ln/>
        </p:spPr>
      </p:sp>
      <p:sp>
        <p:nvSpPr>
          <p:cNvPr id="9" name="Shape 7"/>
          <p:cNvSpPr/>
          <p:nvPr/>
        </p:nvSpPr>
        <p:spPr>
          <a:xfrm>
            <a:off x="502920" y="1737360"/>
            <a:ext cx="5422392" cy="457200"/>
          </a:xfrm>
          <a:prstGeom prst="rect">
            <a:avLst/>
          </a:prstGeom>
          <a:solidFill>
            <a:srgbClr val="F4F7FD"/>
          </a:solidFill>
          <a:ln/>
        </p:spPr>
      </p:sp>
      <p:sp>
        <p:nvSpPr>
          <p:cNvPr id="10" name="Shape 8"/>
          <p:cNvSpPr/>
          <p:nvPr/>
        </p:nvSpPr>
        <p:spPr>
          <a:xfrm>
            <a:off x="502920" y="1737360"/>
            <a:ext cx="41148" cy="457200"/>
          </a:xfrm>
          <a:prstGeom prst="rect">
            <a:avLst/>
          </a:prstGeom>
          <a:solidFill>
            <a:srgbClr val="D98A00"/>
          </a:solidFill>
          <a:ln/>
        </p:spPr>
      </p:sp>
      <p:sp>
        <p:nvSpPr>
          <p:cNvPr id="11" name="Text 9"/>
          <p:cNvSpPr/>
          <p:nvPr/>
        </p:nvSpPr>
        <p:spPr>
          <a:xfrm>
            <a:off x="630936" y="1737360"/>
            <a:ext cx="1755648" cy="457200"/>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Capacity</a:t>
            </a:r>
            <a:endParaRPr lang="en-US" sz="1050" dirty="0"/>
          </a:p>
        </p:txBody>
      </p:sp>
      <p:sp>
        <p:nvSpPr>
          <p:cNvPr id="12" name="Text 10"/>
          <p:cNvSpPr/>
          <p:nvPr/>
        </p:nvSpPr>
        <p:spPr>
          <a:xfrm>
            <a:off x="2423160" y="1737360"/>
            <a:ext cx="1810512" cy="457200"/>
          </a:xfrm>
          <a:prstGeom prst="rect">
            <a:avLst/>
          </a:prstGeom>
          <a:noFill/>
          <a:ln/>
        </p:spPr>
        <p:txBody>
          <a:bodyPr wrap="square" lIns="0" tIns="0" rIns="0" bIns="0" rtlCol="0" anchor="ctr"/>
          <a:lstStyle/>
          <a:p>
            <a:pPr marL="0" indent="0">
              <a:lnSpc>
                <a:spcPct val="104000"/>
              </a:lnSpc>
              <a:buNone/>
            </a:pPr>
            <a:r>
              <a:rPr lang="en-US" sz="950" dirty="0">
                <a:solidFill>
                  <a:srgbClr val="46577A"/>
                </a:solidFill>
                <a:latin typeface="Aptos" pitchFamily="34" charset="0"/>
                <a:ea typeface="Aptos" pitchFamily="34" charset="-122"/>
                <a:cs typeface="Aptos" pitchFamily="34" charset="-120"/>
              </a:rPr>
              <a:t>ASK growth; fleet growth</a:t>
            </a:r>
            <a:endParaRPr lang="en-US" sz="950" dirty="0"/>
          </a:p>
        </p:txBody>
      </p:sp>
      <p:sp>
        <p:nvSpPr>
          <p:cNvPr id="13" name="Text 11"/>
          <p:cNvSpPr/>
          <p:nvPr/>
        </p:nvSpPr>
        <p:spPr>
          <a:xfrm>
            <a:off x="4233672" y="1737360"/>
            <a:ext cx="1664208" cy="457200"/>
          </a:xfrm>
          <a:prstGeom prst="rect">
            <a:avLst/>
          </a:prstGeom>
          <a:noFill/>
          <a:ln/>
        </p:spPr>
        <p:txBody>
          <a:bodyPr wrap="square" lIns="0" tIns="0" rIns="0" bIns="0" rtlCol="0" anchor="ctr"/>
          <a:lstStyle/>
          <a:p>
            <a:pPr marL="0" indent="0" algn="r">
              <a:lnSpc>
                <a:spcPct val="104000"/>
              </a:lnSpc>
              <a:buNone/>
            </a:pPr>
            <a:r>
              <a:rPr lang="en-US" sz="1000" b="1" dirty="0">
                <a:solidFill>
                  <a:srgbClr val="041E47"/>
                </a:solidFill>
                <a:latin typeface="Aptos" pitchFamily="34" charset="0"/>
                <a:ea typeface="Aptos" pitchFamily="34" charset="-122"/>
                <a:cs typeface="Aptos" pitchFamily="34" charset="-120"/>
              </a:rPr>
              <a:t>ASK +9.5%; fleet +1.6% (CONF-005)</a:t>
            </a:r>
            <a:endParaRPr lang="en-US" sz="1000" dirty="0"/>
          </a:p>
        </p:txBody>
      </p:sp>
      <p:sp>
        <p:nvSpPr>
          <p:cNvPr id="14" name="Shape 12"/>
          <p:cNvSpPr/>
          <p:nvPr/>
        </p:nvSpPr>
        <p:spPr>
          <a:xfrm>
            <a:off x="502920" y="2212848"/>
            <a:ext cx="41148" cy="457200"/>
          </a:xfrm>
          <a:prstGeom prst="rect">
            <a:avLst/>
          </a:prstGeom>
          <a:solidFill>
            <a:srgbClr val="D98A00"/>
          </a:solidFill>
          <a:ln/>
        </p:spPr>
      </p:sp>
      <p:sp>
        <p:nvSpPr>
          <p:cNvPr id="15" name="Text 13"/>
          <p:cNvSpPr/>
          <p:nvPr/>
        </p:nvSpPr>
        <p:spPr>
          <a:xfrm>
            <a:off x="630936" y="2212848"/>
            <a:ext cx="1755648" cy="457200"/>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Demand</a:t>
            </a:r>
            <a:endParaRPr lang="en-US" sz="1050" dirty="0"/>
          </a:p>
        </p:txBody>
      </p:sp>
      <p:sp>
        <p:nvSpPr>
          <p:cNvPr id="16" name="Text 14"/>
          <p:cNvSpPr/>
          <p:nvPr/>
        </p:nvSpPr>
        <p:spPr>
          <a:xfrm>
            <a:off x="2423160" y="2212848"/>
            <a:ext cx="1810512" cy="457200"/>
          </a:xfrm>
          <a:prstGeom prst="rect">
            <a:avLst/>
          </a:prstGeom>
          <a:noFill/>
          <a:ln/>
        </p:spPr>
        <p:txBody>
          <a:bodyPr wrap="square" lIns="0" tIns="0" rIns="0" bIns="0" rtlCol="0" anchor="ctr"/>
          <a:lstStyle/>
          <a:p>
            <a:pPr marL="0" indent="0">
              <a:lnSpc>
                <a:spcPct val="104000"/>
              </a:lnSpc>
              <a:buNone/>
            </a:pPr>
            <a:r>
              <a:rPr lang="en-US" sz="950" dirty="0">
                <a:solidFill>
                  <a:srgbClr val="46577A"/>
                </a:solidFill>
                <a:latin typeface="Aptos" pitchFamily="34" charset="0"/>
                <a:ea typeface="Aptos" pitchFamily="34" charset="-122"/>
                <a:cs typeface="Aptos" pitchFamily="34" charset="-120"/>
              </a:rPr>
              <a:t>Passenger growth; load factor</a:t>
            </a:r>
            <a:endParaRPr lang="en-US" sz="950" dirty="0"/>
          </a:p>
        </p:txBody>
      </p:sp>
      <p:sp>
        <p:nvSpPr>
          <p:cNvPr id="17" name="Text 15"/>
          <p:cNvSpPr/>
          <p:nvPr/>
        </p:nvSpPr>
        <p:spPr>
          <a:xfrm>
            <a:off x="4233672" y="2212848"/>
            <a:ext cx="1664208" cy="457200"/>
          </a:xfrm>
          <a:prstGeom prst="rect">
            <a:avLst/>
          </a:prstGeom>
          <a:noFill/>
          <a:ln/>
        </p:spPr>
        <p:txBody>
          <a:bodyPr wrap="square" lIns="0" tIns="0" rIns="0" bIns="0" rtlCol="0" anchor="ctr"/>
          <a:lstStyle/>
          <a:p>
            <a:pPr marL="0" indent="0" algn="r">
              <a:lnSpc>
                <a:spcPct val="104000"/>
              </a:lnSpc>
              <a:buNone/>
            </a:pPr>
            <a:r>
              <a:rPr lang="en-US" sz="1000" b="1" dirty="0">
                <a:solidFill>
                  <a:srgbClr val="041E47"/>
                </a:solidFill>
                <a:latin typeface="Aptos" pitchFamily="34" charset="0"/>
                <a:ea typeface="Aptos" pitchFamily="34" charset="-122"/>
                <a:cs typeface="Aptos" pitchFamily="34" charset="-120"/>
              </a:rPr>
              <a:t>+4.0%; 84.4%</a:t>
            </a:r>
            <a:endParaRPr lang="en-US" sz="1000" dirty="0"/>
          </a:p>
        </p:txBody>
      </p:sp>
      <p:sp>
        <p:nvSpPr>
          <p:cNvPr id="18" name="Shape 16"/>
          <p:cNvSpPr/>
          <p:nvPr/>
        </p:nvSpPr>
        <p:spPr>
          <a:xfrm>
            <a:off x="502920" y="2688336"/>
            <a:ext cx="5422392" cy="457200"/>
          </a:xfrm>
          <a:prstGeom prst="rect">
            <a:avLst/>
          </a:prstGeom>
          <a:solidFill>
            <a:srgbClr val="F4F7FD"/>
          </a:solidFill>
          <a:ln/>
        </p:spPr>
      </p:sp>
      <p:sp>
        <p:nvSpPr>
          <p:cNvPr id="19" name="Shape 17"/>
          <p:cNvSpPr/>
          <p:nvPr/>
        </p:nvSpPr>
        <p:spPr>
          <a:xfrm>
            <a:off x="502920" y="2688336"/>
            <a:ext cx="41148" cy="457200"/>
          </a:xfrm>
          <a:prstGeom prst="rect">
            <a:avLst/>
          </a:prstGeom>
          <a:solidFill>
            <a:srgbClr val="D98A00"/>
          </a:solidFill>
          <a:ln/>
        </p:spPr>
      </p:sp>
      <p:sp>
        <p:nvSpPr>
          <p:cNvPr id="20" name="Text 18"/>
          <p:cNvSpPr/>
          <p:nvPr/>
        </p:nvSpPr>
        <p:spPr>
          <a:xfrm>
            <a:off x="630936" y="2688336"/>
            <a:ext cx="1755648" cy="457200"/>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Unit revenue</a:t>
            </a:r>
            <a:endParaRPr lang="en-US" sz="1050" dirty="0"/>
          </a:p>
        </p:txBody>
      </p:sp>
      <p:sp>
        <p:nvSpPr>
          <p:cNvPr id="21" name="Text 19"/>
          <p:cNvSpPr/>
          <p:nvPr/>
        </p:nvSpPr>
        <p:spPr>
          <a:xfrm>
            <a:off x="2423160" y="2688336"/>
            <a:ext cx="1810512" cy="457200"/>
          </a:xfrm>
          <a:prstGeom prst="rect">
            <a:avLst/>
          </a:prstGeom>
          <a:noFill/>
          <a:ln/>
        </p:spPr>
        <p:txBody>
          <a:bodyPr wrap="square" lIns="0" tIns="0" rIns="0" bIns="0" rtlCol="0" anchor="ctr"/>
          <a:lstStyle/>
          <a:p>
            <a:pPr marL="0" indent="0">
              <a:lnSpc>
                <a:spcPct val="104000"/>
              </a:lnSpc>
              <a:buNone/>
            </a:pPr>
            <a:r>
              <a:rPr lang="en-US" sz="950" dirty="0">
                <a:solidFill>
                  <a:srgbClr val="46577A"/>
                </a:solidFill>
                <a:latin typeface="Aptos" pitchFamily="34" charset="0"/>
                <a:ea typeface="Aptos" pitchFamily="34" charset="-122"/>
                <a:cs typeface="Aptos" pitchFamily="34" charset="-120"/>
              </a:rPr>
              <a:t>RASK; revenue per passenger</a:t>
            </a:r>
            <a:endParaRPr lang="en-US" sz="950" dirty="0"/>
          </a:p>
        </p:txBody>
      </p:sp>
      <p:sp>
        <p:nvSpPr>
          <p:cNvPr id="22" name="Text 20"/>
          <p:cNvSpPr/>
          <p:nvPr/>
        </p:nvSpPr>
        <p:spPr>
          <a:xfrm>
            <a:off x="4233672" y="2688336"/>
            <a:ext cx="1664208" cy="457200"/>
          </a:xfrm>
          <a:prstGeom prst="rect">
            <a:avLst/>
          </a:prstGeom>
          <a:noFill/>
          <a:ln/>
        </p:spPr>
        <p:txBody>
          <a:bodyPr wrap="square" lIns="0" tIns="0" rIns="0" bIns="0" rtlCol="0" anchor="ctr"/>
          <a:lstStyle/>
          <a:p>
            <a:pPr marL="0" indent="0" algn="r">
              <a:lnSpc>
                <a:spcPct val="104000"/>
              </a:lnSpc>
              <a:buNone/>
            </a:pPr>
            <a:r>
              <a:rPr lang="en-US" sz="1000" b="1" dirty="0">
                <a:solidFill>
                  <a:srgbClr val="041E47"/>
                </a:solidFill>
                <a:latin typeface="Aptos" pitchFamily="34" charset="0"/>
                <a:ea typeface="Aptos" pitchFamily="34" charset="-122"/>
                <a:cs typeface="Aptos" pitchFamily="34" charset="-120"/>
              </a:rPr>
              <a:t>Rs. 4.99; Rs. 6,886</a:t>
            </a:r>
            <a:endParaRPr lang="en-US" sz="1000" dirty="0"/>
          </a:p>
        </p:txBody>
      </p:sp>
      <p:sp>
        <p:nvSpPr>
          <p:cNvPr id="23" name="Shape 21"/>
          <p:cNvSpPr/>
          <p:nvPr/>
        </p:nvSpPr>
        <p:spPr>
          <a:xfrm>
            <a:off x="502920" y="3163824"/>
            <a:ext cx="41148" cy="457200"/>
          </a:xfrm>
          <a:prstGeom prst="rect">
            <a:avLst/>
          </a:prstGeom>
          <a:solidFill>
            <a:srgbClr val="D98A00"/>
          </a:solidFill>
          <a:ln/>
        </p:spPr>
      </p:sp>
      <p:sp>
        <p:nvSpPr>
          <p:cNvPr id="24" name="Text 22"/>
          <p:cNvSpPr/>
          <p:nvPr/>
        </p:nvSpPr>
        <p:spPr>
          <a:xfrm>
            <a:off x="630936" y="3163824"/>
            <a:ext cx="1755648" cy="457200"/>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Unit cost</a:t>
            </a:r>
            <a:endParaRPr lang="en-US" sz="1050" dirty="0"/>
          </a:p>
        </p:txBody>
      </p:sp>
      <p:sp>
        <p:nvSpPr>
          <p:cNvPr id="25" name="Text 23"/>
          <p:cNvSpPr/>
          <p:nvPr/>
        </p:nvSpPr>
        <p:spPr>
          <a:xfrm>
            <a:off x="2423160" y="3163824"/>
            <a:ext cx="1810512" cy="457200"/>
          </a:xfrm>
          <a:prstGeom prst="rect">
            <a:avLst/>
          </a:prstGeom>
          <a:noFill/>
          <a:ln/>
        </p:spPr>
        <p:txBody>
          <a:bodyPr wrap="square" lIns="0" tIns="0" rIns="0" bIns="0" rtlCol="0" anchor="ctr"/>
          <a:lstStyle/>
          <a:p>
            <a:pPr marL="0" indent="0">
              <a:lnSpc>
                <a:spcPct val="104000"/>
              </a:lnSpc>
              <a:buNone/>
            </a:pPr>
            <a:r>
              <a:rPr lang="en-US" sz="950" dirty="0">
                <a:solidFill>
                  <a:srgbClr val="46577A"/>
                </a:solidFill>
                <a:latin typeface="Aptos" pitchFamily="34" charset="0"/>
                <a:ea typeface="Aptos" pitchFamily="34" charset="-122"/>
                <a:cs typeface="Aptos" pitchFamily="34" charset="-120"/>
              </a:rPr>
              <a:t>CASK; CASK ex-fuel-ex-FX</a:t>
            </a:r>
            <a:endParaRPr lang="en-US" sz="950" dirty="0"/>
          </a:p>
        </p:txBody>
      </p:sp>
      <p:sp>
        <p:nvSpPr>
          <p:cNvPr id="26" name="Text 24"/>
          <p:cNvSpPr/>
          <p:nvPr/>
        </p:nvSpPr>
        <p:spPr>
          <a:xfrm>
            <a:off x="4233672" y="3163824"/>
            <a:ext cx="1664208" cy="457200"/>
          </a:xfrm>
          <a:prstGeom prst="rect">
            <a:avLst/>
          </a:prstGeom>
          <a:noFill/>
          <a:ln/>
        </p:spPr>
        <p:txBody>
          <a:bodyPr wrap="square" lIns="0" tIns="0" rIns="0" bIns="0" rtlCol="0" anchor="ctr"/>
          <a:lstStyle/>
          <a:p>
            <a:pPr marL="0" indent="0" algn="r">
              <a:lnSpc>
                <a:spcPct val="104000"/>
              </a:lnSpc>
              <a:buNone/>
            </a:pPr>
            <a:r>
              <a:rPr lang="en-US" sz="1000" b="1" dirty="0">
                <a:solidFill>
                  <a:srgbClr val="041E47"/>
                </a:solidFill>
                <a:latin typeface="Aptos" pitchFamily="34" charset="0"/>
                <a:ea typeface="Aptos" pitchFamily="34" charset="-122"/>
                <a:cs typeface="Aptos" pitchFamily="34" charset="-120"/>
              </a:rPr>
              <a:t>Rs. 5.00; Rs. 3.00</a:t>
            </a:r>
            <a:endParaRPr lang="en-US" sz="1000" dirty="0"/>
          </a:p>
        </p:txBody>
      </p:sp>
      <p:sp>
        <p:nvSpPr>
          <p:cNvPr id="27" name="Shape 25"/>
          <p:cNvSpPr/>
          <p:nvPr/>
        </p:nvSpPr>
        <p:spPr>
          <a:xfrm>
            <a:off x="502920" y="3639312"/>
            <a:ext cx="5422392" cy="457200"/>
          </a:xfrm>
          <a:prstGeom prst="rect">
            <a:avLst/>
          </a:prstGeom>
          <a:solidFill>
            <a:srgbClr val="F4F7FD"/>
          </a:solidFill>
          <a:ln/>
        </p:spPr>
      </p:sp>
      <p:sp>
        <p:nvSpPr>
          <p:cNvPr id="28" name="Text 26"/>
          <p:cNvSpPr/>
          <p:nvPr/>
        </p:nvSpPr>
        <p:spPr>
          <a:xfrm>
            <a:off x="630936" y="3639312"/>
            <a:ext cx="1755648" cy="457200"/>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Profitability</a:t>
            </a:r>
            <a:endParaRPr lang="en-US" sz="1050" dirty="0"/>
          </a:p>
        </p:txBody>
      </p:sp>
      <p:sp>
        <p:nvSpPr>
          <p:cNvPr id="29" name="Text 27"/>
          <p:cNvSpPr/>
          <p:nvPr/>
        </p:nvSpPr>
        <p:spPr>
          <a:xfrm>
            <a:off x="2423160" y="3639312"/>
            <a:ext cx="1810512" cy="457200"/>
          </a:xfrm>
          <a:prstGeom prst="rect">
            <a:avLst/>
          </a:prstGeom>
          <a:noFill/>
          <a:ln/>
        </p:spPr>
        <p:txBody>
          <a:bodyPr wrap="square" lIns="0" tIns="0" rIns="0" bIns="0" rtlCol="0" anchor="ctr"/>
          <a:lstStyle/>
          <a:p>
            <a:pPr marL="0" indent="0">
              <a:lnSpc>
                <a:spcPct val="104000"/>
              </a:lnSpc>
              <a:buNone/>
            </a:pPr>
            <a:r>
              <a:rPr lang="en-US" sz="950" dirty="0">
                <a:solidFill>
                  <a:srgbClr val="46577A"/>
                </a:solidFill>
                <a:latin typeface="Aptos" pitchFamily="34" charset="0"/>
                <a:ea typeface="Aptos" pitchFamily="34" charset="-122"/>
                <a:cs typeface="Aptos" pitchFamily="34" charset="-120"/>
              </a:rPr>
              <a:t>EBITDAR and margin; EBITDAR ex-FX</a:t>
            </a:r>
            <a:endParaRPr lang="en-US" sz="950" dirty="0"/>
          </a:p>
        </p:txBody>
      </p:sp>
      <p:sp>
        <p:nvSpPr>
          <p:cNvPr id="30" name="Text 28"/>
          <p:cNvSpPr/>
          <p:nvPr/>
        </p:nvSpPr>
        <p:spPr>
          <a:xfrm>
            <a:off x="4233672" y="3639312"/>
            <a:ext cx="1664208" cy="457200"/>
          </a:xfrm>
          <a:prstGeom prst="rect">
            <a:avLst/>
          </a:prstGeom>
          <a:noFill/>
          <a:ln/>
        </p:spPr>
        <p:txBody>
          <a:bodyPr wrap="square" lIns="0" tIns="0" rIns="0" bIns="0" rtlCol="0" anchor="ctr"/>
          <a:lstStyle/>
          <a:p>
            <a:pPr marL="0" indent="0" algn="r">
              <a:lnSpc>
                <a:spcPct val="104000"/>
              </a:lnSpc>
              <a:buNone/>
            </a:pPr>
            <a:r>
              <a:rPr lang="en-US" sz="1000" b="1" dirty="0">
                <a:solidFill>
                  <a:srgbClr val="041E47"/>
                </a:solidFill>
                <a:latin typeface="Aptos" pitchFamily="34" charset="0"/>
                <a:ea typeface="Aptos" pitchFamily="34" charset="-122"/>
                <a:cs typeface="Aptos" pitchFamily="34" charset="-120"/>
              </a:rPr>
              <a:t>Rs. 150.892B (17.8%); Rs. 231.889B</a:t>
            </a:r>
            <a:endParaRPr lang="en-US" sz="1000" dirty="0"/>
          </a:p>
        </p:txBody>
      </p:sp>
      <p:sp>
        <p:nvSpPr>
          <p:cNvPr id="31" name="Text 29"/>
          <p:cNvSpPr/>
          <p:nvPr/>
        </p:nvSpPr>
        <p:spPr>
          <a:xfrm>
            <a:off x="630936" y="4114800"/>
            <a:ext cx="1755648" cy="457200"/>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Cash sustainability</a:t>
            </a:r>
            <a:endParaRPr lang="en-US" sz="1050" dirty="0"/>
          </a:p>
        </p:txBody>
      </p:sp>
      <p:sp>
        <p:nvSpPr>
          <p:cNvPr id="32" name="Text 30"/>
          <p:cNvSpPr/>
          <p:nvPr/>
        </p:nvSpPr>
        <p:spPr>
          <a:xfrm>
            <a:off x="2423160" y="4114800"/>
            <a:ext cx="1810512" cy="457200"/>
          </a:xfrm>
          <a:prstGeom prst="rect">
            <a:avLst/>
          </a:prstGeom>
          <a:noFill/>
          <a:ln/>
        </p:spPr>
        <p:txBody>
          <a:bodyPr wrap="square" lIns="0" tIns="0" rIns="0" bIns="0" rtlCol="0" anchor="ctr"/>
          <a:lstStyle/>
          <a:p>
            <a:pPr marL="0" indent="0">
              <a:lnSpc>
                <a:spcPct val="104000"/>
              </a:lnSpc>
              <a:buNone/>
            </a:pPr>
            <a:r>
              <a:rPr lang="en-US" sz="950" dirty="0">
                <a:solidFill>
                  <a:srgbClr val="46577A"/>
                </a:solidFill>
                <a:latin typeface="Aptos" pitchFamily="34" charset="0"/>
                <a:ea typeface="Aptos" pitchFamily="34" charset="-122"/>
                <a:cs typeface="Aptos" pitchFamily="34" charset="-120"/>
              </a:rPr>
              <a:t>Operating cash flow; free cash flow</a:t>
            </a:r>
            <a:endParaRPr lang="en-US" sz="950" dirty="0"/>
          </a:p>
        </p:txBody>
      </p:sp>
      <p:sp>
        <p:nvSpPr>
          <p:cNvPr id="33" name="Text 31"/>
          <p:cNvSpPr/>
          <p:nvPr/>
        </p:nvSpPr>
        <p:spPr>
          <a:xfrm>
            <a:off x="4233672" y="4114800"/>
            <a:ext cx="1664208" cy="457200"/>
          </a:xfrm>
          <a:prstGeom prst="rect">
            <a:avLst/>
          </a:prstGeom>
          <a:noFill/>
          <a:ln/>
        </p:spPr>
        <p:txBody>
          <a:bodyPr wrap="square" lIns="0" tIns="0" rIns="0" bIns="0" rtlCol="0" anchor="ctr"/>
          <a:lstStyle/>
          <a:p>
            <a:pPr marL="0" indent="0" algn="r">
              <a:lnSpc>
                <a:spcPct val="104000"/>
              </a:lnSpc>
              <a:buNone/>
            </a:pPr>
            <a:r>
              <a:rPr lang="en-US" sz="1000" b="1" dirty="0">
                <a:solidFill>
                  <a:srgbClr val="041E47"/>
                </a:solidFill>
                <a:latin typeface="Aptos" pitchFamily="34" charset="0"/>
                <a:ea typeface="Aptos" pitchFamily="34" charset="-122"/>
                <a:cs typeface="Aptos" pitchFamily="34" charset="-120"/>
              </a:rPr>
              <a:t>Rs. 234.699B; Rs. 211.981B</a:t>
            </a:r>
            <a:endParaRPr lang="en-US" sz="1000" dirty="0"/>
          </a:p>
        </p:txBody>
      </p:sp>
      <p:sp>
        <p:nvSpPr>
          <p:cNvPr id="34" name="Text 32"/>
          <p:cNvSpPr/>
          <p:nvPr/>
        </p:nvSpPr>
        <p:spPr>
          <a:xfrm>
            <a:off x="6391656" y="1463040"/>
            <a:ext cx="1645920" cy="201168"/>
          </a:xfrm>
          <a:prstGeom prst="rect">
            <a:avLst/>
          </a:prstGeom>
          <a:noFill/>
          <a:ln/>
        </p:spPr>
        <p:txBody>
          <a:bodyPr wrap="square" lIns="0" tIns="0" rIns="0" bIns="0" rtlCol="0" anchor="ctr"/>
          <a:lstStyle/>
          <a:p>
            <a:pPr marL="0" indent="0" algn="l">
              <a:buNone/>
            </a:pPr>
            <a:r>
              <a:rPr lang="en-US" sz="800" b="1" kern="0" spc="110" dirty="0">
                <a:solidFill>
                  <a:srgbClr val="46577A"/>
                </a:solidFill>
                <a:latin typeface="Aptos" pitchFamily="34" charset="0"/>
                <a:ea typeface="Aptos" pitchFamily="34" charset="-122"/>
                <a:cs typeface="Aptos" pitchFamily="34" charset="-120"/>
              </a:rPr>
              <a:t>DIMENSION</a:t>
            </a:r>
            <a:endParaRPr lang="en-US" sz="800" dirty="0"/>
          </a:p>
        </p:txBody>
      </p:sp>
      <p:sp>
        <p:nvSpPr>
          <p:cNvPr id="35" name="Text 33"/>
          <p:cNvSpPr/>
          <p:nvPr/>
        </p:nvSpPr>
        <p:spPr>
          <a:xfrm>
            <a:off x="8183880" y="1463040"/>
            <a:ext cx="1828800" cy="201168"/>
          </a:xfrm>
          <a:prstGeom prst="rect">
            <a:avLst/>
          </a:prstGeom>
          <a:noFill/>
          <a:ln/>
        </p:spPr>
        <p:txBody>
          <a:bodyPr wrap="square" lIns="0" tIns="0" rIns="0" bIns="0" rtlCol="0" anchor="ctr"/>
          <a:lstStyle/>
          <a:p>
            <a:pPr marL="0" indent="0" algn="l">
              <a:buNone/>
            </a:pPr>
            <a:r>
              <a:rPr lang="en-US" sz="800" b="1" kern="0" spc="110" dirty="0">
                <a:solidFill>
                  <a:srgbClr val="46577A"/>
                </a:solidFill>
                <a:latin typeface="Aptos" pitchFamily="34" charset="0"/>
                <a:ea typeface="Aptos" pitchFamily="34" charset="-122"/>
                <a:cs typeface="Aptos" pitchFamily="34" charset="-120"/>
              </a:rPr>
              <a:t>METRICS</a:t>
            </a:r>
            <a:endParaRPr lang="en-US" sz="800" dirty="0"/>
          </a:p>
        </p:txBody>
      </p:sp>
      <p:sp>
        <p:nvSpPr>
          <p:cNvPr id="36" name="Text 34"/>
          <p:cNvSpPr/>
          <p:nvPr/>
        </p:nvSpPr>
        <p:spPr>
          <a:xfrm>
            <a:off x="9573768" y="1463040"/>
            <a:ext cx="2103120" cy="201168"/>
          </a:xfrm>
          <a:prstGeom prst="rect">
            <a:avLst/>
          </a:prstGeom>
          <a:noFill/>
          <a:ln/>
        </p:spPr>
        <p:txBody>
          <a:bodyPr wrap="square" lIns="0" tIns="0" rIns="0" bIns="0" rtlCol="0" anchor="ctr"/>
          <a:lstStyle/>
          <a:p>
            <a:pPr marL="0" indent="0" algn="r">
              <a:buNone/>
            </a:pPr>
            <a:r>
              <a:rPr lang="en-US" sz="800" b="1" kern="0" spc="110" dirty="0">
                <a:solidFill>
                  <a:srgbClr val="46577A"/>
                </a:solidFill>
                <a:latin typeface="Aptos" pitchFamily="34" charset="0"/>
                <a:ea typeface="Aptos" pitchFamily="34" charset="-122"/>
                <a:cs typeface="Aptos" pitchFamily="34" charset="-120"/>
              </a:rPr>
              <a:t>FY2026 BASELINE</a:t>
            </a:r>
            <a:endParaRPr lang="en-US" sz="800" dirty="0"/>
          </a:p>
        </p:txBody>
      </p:sp>
      <p:sp>
        <p:nvSpPr>
          <p:cNvPr id="37" name="Shape 35"/>
          <p:cNvSpPr/>
          <p:nvPr/>
        </p:nvSpPr>
        <p:spPr>
          <a:xfrm>
            <a:off x="6263640" y="1664208"/>
            <a:ext cx="5422392" cy="5486"/>
          </a:xfrm>
          <a:prstGeom prst="rect">
            <a:avLst/>
          </a:prstGeom>
          <a:solidFill>
            <a:srgbClr val="C9D8F2"/>
          </a:solidFill>
          <a:ln/>
        </p:spPr>
      </p:sp>
      <p:sp>
        <p:nvSpPr>
          <p:cNvPr id="38" name="Shape 36"/>
          <p:cNvSpPr/>
          <p:nvPr/>
        </p:nvSpPr>
        <p:spPr>
          <a:xfrm>
            <a:off x="6263640" y="1737360"/>
            <a:ext cx="5422392" cy="457200"/>
          </a:xfrm>
          <a:prstGeom prst="rect">
            <a:avLst/>
          </a:prstGeom>
          <a:solidFill>
            <a:srgbClr val="F4F7FD"/>
          </a:solidFill>
          <a:ln/>
        </p:spPr>
      </p:sp>
      <p:sp>
        <p:nvSpPr>
          <p:cNvPr id="39" name="Text 37"/>
          <p:cNvSpPr/>
          <p:nvPr/>
        </p:nvSpPr>
        <p:spPr>
          <a:xfrm>
            <a:off x="6391656" y="1737360"/>
            <a:ext cx="1755648" cy="457200"/>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Fleet / lease</a:t>
            </a:r>
            <a:endParaRPr lang="en-US" sz="1050" dirty="0"/>
          </a:p>
        </p:txBody>
      </p:sp>
      <p:sp>
        <p:nvSpPr>
          <p:cNvPr id="40" name="Text 38"/>
          <p:cNvSpPr/>
          <p:nvPr/>
        </p:nvSpPr>
        <p:spPr>
          <a:xfrm>
            <a:off x="8183880" y="1737360"/>
            <a:ext cx="1810512" cy="457200"/>
          </a:xfrm>
          <a:prstGeom prst="rect">
            <a:avLst/>
          </a:prstGeom>
          <a:noFill/>
          <a:ln/>
        </p:spPr>
        <p:txBody>
          <a:bodyPr wrap="square" lIns="0" tIns="0" rIns="0" bIns="0" rtlCol="0" anchor="ctr"/>
          <a:lstStyle/>
          <a:p>
            <a:pPr marL="0" indent="0">
              <a:lnSpc>
                <a:spcPct val="104000"/>
              </a:lnSpc>
              <a:buNone/>
            </a:pPr>
            <a:r>
              <a:rPr lang="en-US" sz="950" dirty="0">
                <a:solidFill>
                  <a:srgbClr val="46577A"/>
                </a:solidFill>
                <a:latin typeface="Aptos" pitchFamily="34" charset="0"/>
                <a:ea typeface="Aptos" pitchFamily="34" charset="-122"/>
                <a:cs typeface="Aptos" pitchFamily="34" charset="-120"/>
              </a:rPr>
              <a:t>Ownership mix; net debt/equity</a:t>
            </a:r>
            <a:endParaRPr lang="en-US" sz="950" dirty="0"/>
          </a:p>
        </p:txBody>
      </p:sp>
      <p:sp>
        <p:nvSpPr>
          <p:cNvPr id="41" name="Text 39"/>
          <p:cNvSpPr/>
          <p:nvPr/>
        </p:nvSpPr>
        <p:spPr>
          <a:xfrm>
            <a:off x="9994392" y="1737360"/>
            <a:ext cx="1664208" cy="457200"/>
          </a:xfrm>
          <a:prstGeom prst="rect">
            <a:avLst/>
          </a:prstGeom>
          <a:noFill/>
          <a:ln/>
        </p:spPr>
        <p:txBody>
          <a:bodyPr wrap="square" lIns="0" tIns="0" rIns="0" bIns="0" rtlCol="0" anchor="ctr"/>
          <a:lstStyle/>
          <a:p>
            <a:pPr marL="0" indent="0" algn="r">
              <a:lnSpc>
                <a:spcPct val="104000"/>
              </a:lnSpc>
              <a:buNone/>
            </a:pPr>
            <a:r>
              <a:rPr lang="en-US" sz="1000" b="1" dirty="0">
                <a:solidFill>
                  <a:srgbClr val="041E47"/>
                </a:solidFill>
                <a:latin typeface="Aptos" pitchFamily="34" charset="0"/>
                <a:ea typeface="Aptos" pitchFamily="34" charset="-122"/>
                <a:cs typeface="Aptos" pitchFamily="34" charset="-120"/>
              </a:rPr>
              <a:t>75% operating lease; 2.79x</a:t>
            </a:r>
            <a:endParaRPr lang="en-US" sz="1000" dirty="0"/>
          </a:p>
        </p:txBody>
      </p:sp>
      <p:sp>
        <p:nvSpPr>
          <p:cNvPr id="42" name="Text 40"/>
          <p:cNvSpPr/>
          <p:nvPr/>
        </p:nvSpPr>
        <p:spPr>
          <a:xfrm>
            <a:off x="6391656" y="2212848"/>
            <a:ext cx="1755648" cy="457200"/>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Network / international</a:t>
            </a:r>
            <a:endParaRPr lang="en-US" sz="1050" dirty="0"/>
          </a:p>
        </p:txBody>
      </p:sp>
      <p:sp>
        <p:nvSpPr>
          <p:cNvPr id="43" name="Text 41"/>
          <p:cNvSpPr/>
          <p:nvPr/>
        </p:nvSpPr>
        <p:spPr>
          <a:xfrm>
            <a:off x="8183880" y="2212848"/>
            <a:ext cx="1810512" cy="457200"/>
          </a:xfrm>
          <a:prstGeom prst="rect">
            <a:avLst/>
          </a:prstGeom>
          <a:noFill/>
          <a:ln/>
        </p:spPr>
        <p:txBody>
          <a:bodyPr wrap="square" lIns="0" tIns="0" rIns="0" bIns="0" rtlCol="0" anchor="ctr"/>
          <a:lstStyle/>
          <a:p>
            <a:pPr marL="0" indent="0">
              <a:lnSpc>
                <a:spcPct val="104000"/>
              </a:lnSpc>
              <a:buNone/>
            </a:pPr>
            <a:r>
              <a:rPr lang="en-US" sz="950" dirty="0">
                <a:solidFill>
                  <a:srgbClr val="46577A"/>
                </a:solidFill>
                <a:latin typeface="Aptos" pitchFamily="34" charset="0"/>
                <a:ea typeface="Aptos" pitchFamily="34" charset="-122"/>
                <a:cs typeface="Aptos" pitchFamily="34" charset="-120"/>
              </a:rPr>
              <a:t>Destinations; international share</a:t>
            </a:r>
            <a:endParaRPr lang="en-US" sz="950" dirty="0"/>
          </a:p>
        </p:txBody>
      </p:sp>
      <p:sp>
        <p:nvSpPr>
          <p:cNvPr id="44" name="Text 42"/>
          <p:cNvSpPr/>
          <p:nvPr/>
        </p:nvSpPr>
        <p:spPr>
          <a:xfrm>
            <a:off x="9994392" y="2212848"/>
            <a:ext cx="1664208" cy="457200"/>
          </a:xfrm>
          <a:prstGeom prst="rect">
            <a:avLst/>
          </a:prstGeom>
          <a:noFill/>
          <a:ln/>
        </p:spPr>
        <p:txBody>
          <a:bodyPr wrap="square" lIns="0" tIns="0" rIns="0" bIns="0" rtlCol="0" anchor="ctr"/>
          <a:lstStyle/>
          <a:p>
            <a:pPr marL="0" indent="0" algn="r">
              <a:lnSpc>
                <a:spcPct val="104000"/>
              </a:lnSpc>
              <a:buNone/>
            </a:pPr>
            <a:r>
              <a:rPr lang="en-US" sz="1000" b="1" dirty="0">
                <a:solidFill>
                  <a:srgbClr val="041E47"/>
                </a:solidFill>
                <a:latin typeface="Aptos" pitchFamily="34" charset="0"/>
                <a:ea typeface="Aptos" pitchFamily="34" charset="-122"/>
                <a:cs typeface="Aptos" pitchFamily="34" charset="-120"/>
              </a:rPr>
              <a:t>97 / 45; ~44%</a:t>
            </a:r>
            <a:endParaRPr lang="en-US" sz="1000" dirty="0"/>
          </a:p>
        </p:txBody>
      </p:sp>
      <p:sp>
        <p:nvSpPr>
          <p:cNvPr id="45" name="Shape 43"/>
          <p:cNvSpPr/>
          <p:nvPr/>
        </p:nvSpPr>
        <p:spPr>
          <a:xfrm>
            <a:off x="6263640" y="2688336"/>
            <a:ext cx="5422392" cy="457200"/>
          </a:xfrm>
          <a:prstGeom prst="rect">
            <a:avLst/>
          </a:prstGeom>
          <a:solidFill>
            <a:srgbClr val="F4F7FD"/>
          </a:solidFill>
          <a:ln/>
        </p:spPr>
      </p:sp>
      <p:sp>
        <p:nvSpPr>
          <p:cNvPr id="46" name="Text 44"/>
          <p:cNvSpPr/>
          <p:nvPr/>
        </p:nvSpPr>
        <p:spPr>
          <a:xfrm>
            <a:off x="6391656" y="2688336"/>
            <a:ext cx="1755648" cy="457200"/>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Customer / commercial</a:t>
            </a:r>
            <a:endParaRPr lang="en-US" sz="1050" dirty="0"/>
          </a:p>
        </p:txBody>
      </p:sp>
      <p:sp>
        <p:nvSpPr>
          <p:cNvPr id="47" name="Text 45"/>
          <p:cNvSpPr/>
          <p:nvPr/>
        </p:nvSpPr>
        <p:spPr>
          <a:xfrm>
            <a:off x="8183880" y="2688336"/>
            <a:ext cx="1810512" cy="457200"/>
          </a:xfrm>
          <a:prstGeom prst="rect">
            <a:avLst/>
          </a:prstGeom>
          <a:noFill/>
          <a:ln/>
        </p:spPr>
        <p:txBody>
          <a:bodyPr wrap="square" lIns="0" tIns="0" rIns="0" bIns="0" rtlCol="0" anchor="ctr"/>
          <a:lstStyle/>
          <a:p>
            <a:pPr marL="0" indent="0">
              <a:lnSpc>
                <a:spcPct val="104000"/>
              </a:lnSpc>
              <a:buNone/>
            </a:pPr>
            <a:r>
              <a:rPr lang="en-US" sz="950" dirty="0">
                <a:solidFill>
                  <a:srgbClr val="46577A"/>
                </a:solidFill>
                <a:latin typeface="Aptos" pitchFamily="34" charset="0"/>
                <a:ea typeface="Aptos" pitchFamily="34" charset="-122"/>
                <a:cs typeface="Aptos" pitchFamily="34" charset="-120"/>
              </a:rPr>
              <a:t>Ancillary revenue per passenger</a:t>
            </a:r>
            <a:endParaRPr lang="en-US" sz="950" dirty="0"/>
          </a:p>
        </p:txBody>
      </p:sp>
      <p:sp>
        <p:nvSpPr>
          <p:cNvPr id="48" name="Text 46"/>
          <p:cNvSpPr/>
          <p:nvPr/>
        </p:nvSpPr>
        <p:spPr>
          <a:xfrm>
            <a:off x="9994392" y="2688336"/>
            <a:ext cx="1664208" cy="457200"/>
          </a:xfrm>
          <a:prstGeom prst="rect">
            <a:avLst/>
          </a:prstGeom>
          <a:noFill/>
          <a:ln/>
        </p:spPr>
        <p:txBody>
          <a:bodyPr wrap="square" lIns="0" tIns="0" rIns="0" bIns="0" rtlCol="0" anchor="ctr"/>
          <a:lstStyle/>
          <a:p>
            <a:pPr marL="0" indent="0" algn="r">
              <a:lnSpc>
                <a:spcPct val="104000"/>
              </a:lnSpc>
              <a:buNone/>
            </a:pPr>
            <a:r>
              <a:rPr lang="en-US" sz="1000" b="1" dirty="0">
                <a:solidFill>
                  <a:srgbClr val="041E47"/>
                </a:solidFill>
                <a:latin typeface="Aptos" pitchFamily="34" charset="0"/>
                <a:ea typeface="Aptos" pitchFamily="34" charset="-122"/>
                <a:cs typeface="Aptos" pitchFamily="34" charset="-120"/>
              </a:rPr>
              <a:t>Rs. 737 per passenger</a:t>
            </a:r>
            <a:endParaRPr lang="en-US" sz="1000" dirty="0"/>
          </a:p>
        </p:txBody>
      </p:sp>
      <p:sp>
        <p:nvSpPr>
          <p:cNvPr id="49" name="Text 47"/>
          <p:cNvSpPr/>
          <p:nvPr/>
        </p:nvSpPr>
        <p:spPr>
          <a:xfrm>
            <a:off x="6391656" y="3163824"/>
            <a:ext cx="1755648" cy="457200"/>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Technology / AI</a:t>
            </a:r>
            <a:endParaRPr lang="en-US" sz="1050" dirty="0"/>
          </a:p>
        </p:txBody>
      </p:sp>
      <p:sp>
        <p:nvSpPr>
          <p:cNvPr id="50" name="Text 48"/>
          <p:cNvSpPr/>
          <p:nvPr/>
        </p:nvSpPr>
        <p:spPr>
          <a:xfrm>
            <a:off x="8183880" y="3163824"/>
            <a:ext cx="1810512" cy="457200"/>
          </a:xfrm>
          <a:prstGeom prst="rect">
            <a:avLst/>
          </a:prstGeom>
          <a:noFill/>
          <a:ln/>
        </p:spPr>
        <p:txBody>
          <a:bodyPr wrap="square" lIns="0" tIns="0" rIns="0" bIns="0" rtlCol="0" anchor="ctr"/>
          <a:lstStyle/>
          <a:p>
            <a:pPr marL="0" indent="0">
              <a:lnSpc>
                <a:spcPct val="104000"/>
              </a:lnSpc>
              <a:buNone/>
            </a:pPr>
            <a:r>
              <a:rPr lang="en-US" sz="950" dirty="0">
                <a:solidFill>
                  <a:srgbClr val="46577A"/>
                </a:solidFill>
                <a:latin typeface="Aptos" pitchFamily="34" charset="0"/>
                <a:ea typeface="Aptos" pitchFamily="34" charset="-122"/>
                <a:cs typeface="Aptos" pitchFamily="34" charset="-120"/>
              </a:rPr>
              <a:t>6Eskai automation rate; AI-generated revenue</a:t>
            </a:r>
            <a:endParaRPr lang="en-US" sz="950" dirty="0"/>
          </a:p>
        </p:txBody>
      </p:sp>
      <p:sp>
        <p:nvSpPr>
          <p:cNvPr id="51" name="Text 49"/>
          <p:cNvSpPr/>
          <p:nvPr/>
        </p:nvSpPr>
        <p:spPr>
          <a:xfrm>
            <a:off x="9994392" y="3163824"/>
            <a:ext cx="1664208" cy="457200"/>
          </a:xfrm>
          <a:prstGeom prst="rect">
            <a:avLst/>
          </a:prstGeom>
          <a:noFill/>
          <a:ln/>
        </p:spPr>
        <p:txBody>
          <a:bodyPr wrap="square" lIns="0" tIns="0" rIns="0" bIns="0" rtlCol="0" anchor="ctr"/>
          <a:lstStyle/>
          <a:p>
            <a:pPr marL="0" indent="0" algn="r">
              <a:lnSpc>
                <a:spcPct val="104000"/>
              </a:lnSpc>
              <a:buNone/>
            </a:pPr>
            <a:r>
              <a:rPr lang="en-US" sz="1000" b="1" dirty="0">
                <a:solidFill>
                  <a:srgbClr val="041E47"/>
                </a:solidFill>
                <a:latin typeface="Aptos" pitchFamily="34" charset="0"/>
                <a:ea typeface="Aptos" pitchFamily="34" charset="-122"/>
                <a:cs typeface="Aptos" pitchFamily="34" charset="-120"/>
              </a:rPr>
              <a:t>&gt;92%; &gt;US$12M</a:t>
            </a:r>
            <a:endParaRPr lang="en-US" sz="1000" dirty="0"/>
          </a:p>
        </p:txBody>
      </p:sp>
      <p:sp>
        <p:nvSpPr>
          <p:cNvPr id="52" name="Shape 50"/>
          <p:cNvSpPr/>
          <p:nvPr/>
        </p:nvSpPr>
        <p:spPr>
          <a:xfrm>
            <a:off x="6263640" y="3639312"/>
            <a:ext cx="5422392" cy="457200"/>
          </a:xfrm>
          <a:prstGeom prst="rect">
            <a:avLst/>
          </a:prstGeom>
          <a:solidFill>
            <a:srgbClr val="F4F7FD"/>
          </a:solidFill>
          <a:ln/>
        </p:spPr>
      </p:sp>
      <p:sp>
        <p:nvSpPr>
          <p:cNvPr id="53" name="Text 51"/>
          <p:cNvSpPr/>
          <p:nvPr/>
        </p:nvSpPr>
        <p:spPr>
          <a:xfrm>
            <a:off x="6391656" y="3639312"/>
            <a:ext cx="1755648" cy="457200"/>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Operations</a:t>
            </a:r>
            <a:endParaRPr lang="en-US" sz="1050" dirty="0"/>
          </a:p>
        </p:txBody>
      </p:sp>
      <p:sp>
        <p:nvSpPr>
          <p:cNvPr id="54" name="Text 52"/>
          <p:cNvSpPr/>
          <p:nvPr/>
        </p:nvSpPr>
        <p:spPr>
          <a:xfrm>
            <a:off x="8183880" y="3639312"/>
            <a:ext cx="1810512" cy="457200"/>
          </a:xfrm>
          <a:prstGeom prst="rect">
            <a:avLst/>
          </a:prstGeom>
          <a:noFill/>
          <a:ln/>
        </p:spPr>
        <p:txBody>
          <a:bodyPr wrap="square" lIns="0" tIns="0" rIns="0" bIns="0" rtlCol="0" anchor="ctr"/>
          <a:lstStyle/>
          <a:p>
            <a:pPr marL="0" indent="0">
              <a:lnSpc>
                <a:spcPct val="104000"/>
              </a:lnSpc>
              <a:buNone/>
            </a:pPr>
            <a:r>
              <a:rPr lang="en-US" sz="950" dirty="0">
                <a:solidFill>
                  <a:srgbClr val="46577A"/>
                </a:solidFill>
                <a:latin typeface="Aptos" pitchFamily="34" charset="0"/>
                <a:ea typeface="Aptos" pitchFamily="34" charset="-122"/>
                <a:cs typeface="Aptos" pitchFamily="34" charset="-120"/>
              </a:rPr>
              <a:t>Technical dispatch reliability</a:t>
            </a:r>
            <a:endParaRPr lang="en-US" sz="950" dirty="0"/>
          </a:p>
        </p:txBody>
      </p:sp>
      <p:sp>
        <p:nvSpPr>
          <p:cNvPr id="55" name="Text 53"/>
          <p:cNvSpPr/>
          <p:nvPr/>
        </p:nvSpPr>
        <p:spPr>
          <a:xfrm>
            <a:off x="9994392" y="3639312"/>
            <a:ext cx="1664208" cy="457200"/>
          </a:xfrm>
          <a:prstGeom prst="rect">
            <a:avLst/>
          </a:prstGeom>
          <a:noFill/>
          <a:ln/>
        </p:spPr>
        <p:txBody>
          <a:bodyPr wrap="square" lIns="0" tIns="0" rIns="0" bIns="0" rtlCol="0" anchor="ctr"/>
          <a:lstStyle/>
          <a:p>
            <a:pPr marL="0" indent="0" algn="r">
              <a:lnSpc>
                <a:spcPct val="104000"/>
              </a:lnSpc>
              <a:buNone/>
            </a:pPr>
            <a:r>
              <a:rPr lang="en-US" sz="1000" b="1" dirty="0">
                <a:solidFill>
                  <a:srgbClr val="041E47"/>
                </a:solidFill>
                <a:latin typeface="Aptos" pitchFamily="34" charset="0"/>
                <a:ea typeface="Aptos" pitchFamily="34" charset="-122"/>
                <a:cs typeface="Aptos" pitchFamily="34" charset="-120"/>
              </a:rPr>
              <a:t>99.9%</a:t>
            </a:r>
            <a:endParaRPr lang="en-US" sz="1000" dirty="0"/>
          </a:p>
        </p:txBody>
      </p:sp>
      <p:sp>
        <p:nvSpPr>
          <p:cNvPr id="56" name="Text 54"/>
          <p:cNvSpPr/>
          <p:nvPr/>
        </p:nvSpPr>
        <p:spPr>
          <a:xfrm>
            <a:off x="6391656" y="4114800"/>
            <a:ext cx="1755648" cy="457200"/>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External risk</a:t>
            </a:r>
            <a:endParaRPr lang="en-US" sz="1050" dirty="0"/>
          </a:p>
        </p:txBody>
      </p:sp>
      <p:sp>
        <p:nvSpPr>
          <p:cNvPr id="57" name="Text 55"/>
          <p:cNvSpPr/>
          <p:nvPr/>
        </p:nvSpPr>
        <p:spPr>
          <a:xfrm>
            <a:off x="8183880" y="4114800"/>
            <a:ext cx="1810512" cy="457200"/>
          </a:xfrm>
          <a:prstGeom prst="rect">
            <a:avLst/>
          </a:prstGeom>
          <a:noFill/>
          <a:ln/>
        </p:spPr>
        <p:txBody>
          <a:bodyPr wrap="square" lIns="0" tIns="0" rIns="0" bIns="0" rtlCol="0" anchor="ctr"/>
          <a:lstStyle/>
          <a:p>
            <a:pPr marL="0" indent="0">
              <a:lnSpc>
                <a:spcPct val="104000"/>
              </a:lnSpc>
              <a:buNone/>
            </a:pPr>
            <a:r>
              <a:rPr lang="en-US" sz="950" dirty="0">
                <a:solidFill>
                  <a:srgbClr val="46577A"/>
                </a:solidFill>
                <a:latin typeface="Aptos" pitchFamily="34" charset="0"/>
                <a:ea typeface="Aptos" pitchFamily="34" charset="-122"/>
                <a:cs typeface="Aptos" pitchFamily="34" charset="-120"/>
              </a:rPr>
              <a:t>Fuel price; FX; competitor capacity</a:t>
            </a:r>
            <a:endParaRPr lang="en-US" sz="950" dirty="0"/>
          </a:p>
        </p:txBody>
      </p:sp>
      <p:sp>
        <p:nvSpPr>
          <p:cNvPr id="58" name="Text 56"/>
          <p:cNvSpPr/>
          <p:nvPr/>
        </p:nvSpPr>
        <p:spPr>
          <a:xfrm>
            <a:off x="9994392" y="4114800"/>
            <a:ext cx="1664208" cy="457200"/>
          </a:xfrm>
          <a:prstGeom prst="rect">
            <a:avLst/>
          </a:prstGeom>
          <a:noFill/>
          <a:ln/>
        </p:spPr>
        <p:txBody>
          <a:bodyPr wrap="square" lIns="0" tIns="0" rIns="0" bIns="0" rtlCol="0" anchor="ctr"/>
          <a:lstStyle/>
          <a:p>
            <a:pPr marL="0" indent="0" algn="r">
              <a:lnSpc>
                <a:spcPct val="104000"/>
              </a:lnSpc>
              <a:buNone/>
            </a:pPr>
            <a:r>
              <a:rPr lang="en-US" sz="1000" b="1" dirty="0">
                <a:solidFill>
                  <a:srgbClr val="041E47"/>
                </a:solidFill>
                <a:latin typeface="Aptos" pitchFamily="34" charset="0"/>
                <a:ea typeface="Aptos" pitchFamily="34" charset="-122"/>
                <a:cs typeface="Aptos" pitchFamily="34" charset="-120"/>
              </a:rPr>
              <a:t>Qualitative - PESTLE framework</a:t>
            </a:r>
            <a:endParaRPr lang="en-US" sz="1000" dirty="0"/>
          </a:p>
        </p:txBody>
      </p:sp>
      <p:sp>
        <p:nvSpPr>
          <p:cNvPr id="59" name="Shape 57"/>
          <p:cNvSpPr/>
          <p:nvPr/>
        </p:nvSpPr>
        <p:spPr>
          <a:xfrm>
            <a:off x="6053328" y="1463040"/>
            <a:ext cx="5486" cy="3127248"/>
          </a:xfrm>
          <a:prstGeom prst="rect">
            <a:avLst/>
          </a:prstGeom>
          <a:solidFill>
            <a:srgbClr val="C9D8F2"/>
          </a:solidFill>
          <a:ln/>
        </p:spPr>
      </p:sp>
      <p:sp>
        <p:nvSpPr>
          <p:cNvPr id="60" name="Shape 58"/>
          <p:cNvSpPr/>
          <p:nvPr/>
        </p:nvSpPr>
        <p:spPr>
          <a:xfrm>
            <a:off x="502920" y="4718304"/>
            <a:ext cx="11185855" cy="512064"/>
          </a:xfrm>
          <a:prstGeom prst="rect">
            <a:avLst/>
          </a:prstGeom>
          <a:solidFill>
            <a:srgbClr val="FFFFFF"/>
          </a:solidFill>
          <a:ln w="15875">
            <a:solidFill>
              <a:srgbClr val="D98A00"/>
            </a:solidFill>
            <a:prstDash val="solid"/>
          </a:ln>
        </p:spPr>
      </p:sp>
      <p:sp>
        <p:nvSpPr>
          <p:cNvPr id="61" name="Shape 59"/>
          <p:cNvSpPr/>
          <p:nvPr/>
        </p:nvSpPr>
        <p:spPr>
          <a:xfrm>
            <a:off x="502920" y="4718304"/>
            <a:ext cx="45720" cy="512064"/>
          </a:xfrm>
          <a:prstGeom prst="rect">
            <a:avLst/>
          </a:prstGeom>
          <a:solidFill>
            <a:srgbClr val="D98A00"/>
          </a:solidFill>
          <a:ln/>
        </p:spPr>
      </p:sp>
      <p:sp>
        <p:nvSpPr>
          <p:cNvPr id="62" name="Text 60"/>
          <p:cNvSpPr/>
          <p:nvPr/>
        </p:nvSpPr>
        <p:spPr>
          <a:xfrm>
            <a:off x="704088" y="4718304"/>
            <a:ext cx="2377440" cy="512064"/>
          </a:xfrm>
          <a:prstGeom prst="rect">
            <a:avLst/>
          </a:prstGeom>
          <a:noFill/>
          <a:ln/>
        </p:spPr>
        <p:txBody>
          <a:bodyPr wrap="square" lIns="0" tIns="0" rIns="0" bIns="0" rtlCol="0" anchor="ctr"/>
          <a:lstStyle/>
          <a:p>
            <a:pPr marL="0" indent="0">
              <a:buNone/>
            </a:pPr>
            <a:r>
              <a:rPr lang="en-US" sz="900" b="1" dirty="0">
                <a:solidFill>
                  <a:srgbClr val="D98A00"/>
                </a:solidFill>
                <a:latin typeface="Aptos" pitchFamily="34" charset="0"/>
                <a:ea typeface="Aptos" pitchFamily="34" charset="-122"/>
                <a:cs typeface="Aptos" pitchFamily="34" charset="-120"/>
              </a:rPr>
              <a:t>THE FOUR GATE METRICS</a:t>
            </a:r>
            <a:endParaRPr lang="en-US" sz="900" dirty="0"/>
          </a:p>
        </p:txBody>
      </p:sp>
      <p:sp>
        <p:nvSpPr>
          <p:cNvPr id="63" name="Text 61"/>
          <p:cNvSpPr/>
          <p:nvPr/>
        </p:nvSpPr>
        <p:spPr>
          <a:xfrm>
            <a:off x="3154680" y="4718304"/>
            <a:ext cx="8503920" cy="512064"/>
          </a:xfrm>
          <a:prstGeom prst="rect">
            <a:avLst/>
          </a:prstGeom>
          <a:noFill/>
          <a:ln/>
        </p:spPr>
        <p:txBody>
          <a:bodyPr wrap="square" lIns="0" tIns="0" rIns="0" bIns="0" rtlCol="0" anchor="ctr"/>
          <a:lstStyle/>
          <a:p>
            <a:pPr marL="0" indent="0">
              <a:buNone/>
            </a:pPr>
            <a:r>
              <a:rPr lang="en-US" sz="1050" b="1" dirty="0">
                <a:solidFill>
                  <a:srgbClr val="041E47"/>
                </a:solidFill>
                <a:latin typeface="Aptos" pitchFamily="34" charset="0"/>
                <a:ea typeface="Aptos" pitchFamily="34" charset="-122"/>
                <a:cs typeface="Aptos" pitchFamily="34" charset="-120"/>
              </a:rPr>
              <a:t>ASK growth vs passenger growth   -   Load factor   -   RASK-CASK spread   -   CASK ex-fuel-ex-FX</a:t>
            </a:r>
            <a:endParaRPr lang="en-US" sz="1050" dirty="0"/>
          </a:p>
        </p:txBody>
      </p:sp>
      <p:sp>
        <p:nvSpPr>
          <p:cNvPr id="64" name="Text 62"/>
          <p:cNvSpPr/>
          <p:nvPr/>
        </p:nvSpPr>
        <p:spPr>
          <a:xfrm>
            <a:off x="502920" y="5285232"/>
            <a:ext cx="11185855" cy="310896"/>
          </a:xfrm>
          <a:prstGeom prst="rect">
            <a:avLst/>
          </a:prstGeom>
          <a:noFill/>
          <a:ln/>
        </p:spPr>
        <p:txBody>
          <a:bodyPr wrap="square" lIns="0" tIns="0" rIns="0" bIns="0" rtlCol="0" anchor="t"/>
          <a:lstStyle/>
          <a:p>
            <a:pPr marL="0" indent="0">
              <a:buNone/>
            </a:pPr>
            <a:r>
              <a:rPr lang="en-US" sz="900" dirty="0">
                <a:solidFill>
                  <a:srgbClr val="46577A"/>
                </a:solidFill>
                <a:latin typeface="Aptos" pitchFamily="34" charset="0"/>
                <a:ea typeface="Aptos" pitchFamily="34" charset="-122"/>
                <a:cs typeface="Aptos" pitchFamily="34" charset="-120"/>
              </a:rPr>
              <a:t>Quarterly Executive Committee review against the FY2026 baseline; annual Board review specifically on the Lever C evidence gate.</a:t>
            </a:r>
            <a:endParaRPr lang="en-US" sz="900" dirty="0"/>
          </a:p>
          <a:p>
            <a:pPr marL="0" indent="0">
              <a:buNone/>
            </a:pPr>
            <a:r>
              <a:rPr lang="en-US" sz="900" dirty="0">
                <a:solidFill>
                  <a:srgbClr val="46577A"/>
                </a:solidFill>
                <a:latin typeface="Aptos" pitchFamily="34" charset="0"/>
                <a:ea typeface="Aptos" pitchFamily="34" charset="-122"/>
                <a:cs typeface="Aptos" pitchFamily="34" charset="-120"/>
              </a:rPr>
              <a:t>ENABLE - resilience indicators (schedule-recovery time and crew-availability buffer) belong to the Operations dimension. No FY2026 baseline exists for either, so neither is a gate metric.</a:t>
            </a:r>
            <a:endParaRPr lang="en-US" sz="900" dirty="0"/>
          </a:p>
        </p:txBody>
      </p:sp>
      <p:sp>
        <p:nvSpPr>
          <p:cNvPr id="65" name="Shape 63"/>
          <p:cNvSpPr/>
          <p:nvPr/>
        </p:nvSpPr>
        <p:spPr>
          <a:xfrm>
            <a:off x="502920" y="5614416"/>
            <a:ext cx="11185855" cy="548640"/>
          </a:xfrm>
          <a:prstGeom prst="rect">
            <a:avLst/>
          </a:prstGeom>
          <a:solidFill>
            <a:srgbClr val="FFFFFF"/>
          </a:solidFill>
          <a:ln w="9525">
            <a:solidFill>
              <a:srgbClr val="6B7280"/>
            </a:solidFill>
            <a:prstDash val="dash"/>
          </a:ln>
        </p:spPr>
      </p:sp>
      <p:sp>
        <p:nvSpPr>
          <p:cNvPr id="66" name="Shape 64"/>
          <p:cNvSpPr/>
          <p:nvPr/>
        </p:nvSpPr>
        <p:spPr>
          <a:xfrm>
            <a:off x="594360" y="5801868"/>
            <a:ext cx="1344168" cy="173736"/>
          </a:xfrm>
          <a:prstGeom prst="rect">
            <a:avLst/>
          </a:prstGeom>
          <a:solidFill>
            <a:srgbClr val="FFFFFF"/>
          </a:solidFill>
          <a:ln w="9525">
            <a:solidFill>
              <a:srgbClr val="6B7280"/>
            </a:solidFill>
            <a:prstDash val="dash"/>
          </a:ln>
        </p:spPr>
      </p:sp>
      <p:sp>
        <p:nvSpPr>
          <p:cNvPr id="67" name="Text 65"/>
          <p:cNvSpPr/>
          <p:nvPr/>
        </p:nvSpPr>
        <p:spPr>
          <a:xfrm>
            <a:off x="594360" y="5801868"/>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68" name="Text 66"/>
          <p:cNvSpPr/>
          <p:nvPr/>
        </p:nvSpPr>
        <p:spPr>
          <a:xfrm>
            <a:off x="2048256" y="5650992"/>
            <a:ext cx="9530791" cy="475488"/>
          </a:xfrm>
          <a:prstGeom prst="rect">
            <a:avLst/>
          </a:prstGeom>
          <a:noFill/>
          <a:ln/>
        </p:spPr>
        <p:txBody>
          <a:bodyPr wrap="square" lIns="0" tIns="0" rIns="0" bIns="0" rtlCol="0" anchor="ctr"/>
          <a:lstStyle/>
          <a:p>
            <a:pPr algn="ctr"/>
            <a:r>
              <a:rPr lang="en-US" sz="950" dirty="0">
                <a:solidFill>
                  <a:srgbClr val="6B7280"/>
                </a:solidFill>
                <a:latin typeface="Aptos" pitchFamily="34" charset="0"/>
                <a:ea typeface="Aptos" pitchFamily="34" charset="-122"/>
                <a:cs typeface="Aptos" pitchFamily="34" charset="-120"/>
              </a:rPr>
              <a:t>No numerical trigger thresholds exist in the evidence base. Management should define thresholds through subsequent validated analysis. </a:t>
            </a:r>
          </a:p>
          <a:p>
            <a:pPr algn="ctr"/>
            <a:r>
              <a:rPr lang="en-IN" sz="1000" b="1" dirty="0"/>
              <a:t>Trigger thresholds should be defined through subsequent validated analysis.</a:t>
            </a:r>
            <a:endParaRPr lang="en-US" sz="950" b="1" dirty="0"/>
          </a:p>
        </p:txBody>
      </p:sp>
      <p:sp>
        <p:nvSpPr>
          <p:cNvPr id="69" name="Shape 67"/>
          <p:cNvSpPr/>
          <p:nvPr/>
        </p:nvSpPr>
        <p:spPr>
          <a:xfrm>
            <a:off x="502920" y="6309360"/>
            <a:ext cx="11185855" cy="5486"/>
          </a:xfrm>
          <a:prstGeom prst="rect">
            <a:avLst/>
          </a:prstGeom>
          <a:solidFill>
            <a:srgbClr val="C9D8F2"/>
          </a:solidFill>
          <a:ln/>
        </p:spPr>
      </p:sp>
      <p:sp>
        <p:nvSpPr>
          <p:cNvPr id="70" name="Text 68"/>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71" name="Text 69"/>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Section 14.4 (KPI framework and FY2026 baseline) - SRC-FY26-002 - SRC-FY26-006 - EVD-TECH-AI-004 - CONF-005</a:t>
            </a:r>
            <a:endParaRPr lang="en-US" sz="800" dirty="0"/>
          </a:p>
        </p:txBody>
      </p:sp>
      <p:sp>
        <p:nvSpPr>
          <p:cNvPr id="72" name="Shape 70"/>
          <p:cNvSpPr/>
          <p:nvPr/>
        </p:nvSpPr>
        <p:spPr>
          <a:xfrm>
            <a:off x="11484864" y="6364224"/>
            <a:ext cx="201168" cy="201168"/>
          </a:xfrm>
          <a:prstGeom prst="rect">
            <a:avLst/>
          </a:prstGeom>
          <a:solidFill>
            <a:srgbClr val="0032A0"/>
          </a:solidFill>
          <a:ln/>
        </p:spPr>
      </p:sp>
      <p:sp>
        <p:nvSpPr>
          <p:cNvPr id="73" name="Text 71"/>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32</a:t>
            </a:r>
            <a:endParaRPr lang="en-US" sz="800" dirty="0"/>
          </a:p>
        </p:txBody>
      </p:sp>
      <p:sp>
        <p:nvSpPr>
          <p:cNvPr id="75" name="Shape 72"/>
          <p:cNvSpPr/>
          <p:nvPr/>
        </p:nvSpPr>
        <p:spPr>
          <a:xfrm>
            <a:off x="9597841" y="406721"/>
            <a:ext cx="82296" cy="82296"/>
          </a:xfrm>
          <a:prstGeom prst="rect">
            <a:avLst/>
          </a:prstGeom>
          <a:solidFill>
            <a:srgbClr val="D98A00"/>
          </a:solidFill>
          <a:ln/>
        </p:spPr>
      </p:sp>
      <p:sp>
        <p:nvSpPr>
          <p:cNvPr id="76" name="Text 73"/>
          <p:cNvSpPr/>
          <p:nvPr/>
        </p:nvSpPr>
        <p:spPr>
          <a:xfrm>
            <a:off x="8979408" y="365760"/>
            <a:ext cx="2706624" cy="182880"/>
          </a:xfrm>
          <a:prstGeom prst="rect">
            <a:avLst/>
          </a:prstGeom>
          <a:noFill/>
          <a:ln/>
        </p:spPr>
        <p:txBody>
          <a:bodyPr wrap="square" lIns="0" tIns="0" rIns="0" bIns="0" rtlCol="0" anchor="ctr"/>
          <a:lstStyle/>
          <a:p>
            <a:pPr marL="0" indent="0" algn="r">
              <a:buNone/>
            </a:pPr>
            <a:r>
              <a:rPr lang="en-US" sz="850" b="1" dirty="0">
                <a:solidFill>
                  <a:srgbClr val="D98A00"/>
                </a:solidFill>
                <a:latin typeface="Aptos" pitchFamily="34" charset="0"/>
                <a:ea typeface="Aptos" pitchFamily="34" charset="-122"/>
                <a:cs typeface="Aptos" pitchFamily="34" charset="-120"/>
              </a:rPr>
              <a:t>ENABLE  -  OPERATIONAL RESILIENCE</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10 - EXECUTION AND GOVERNANCE</a:t>
            </a:r>
            <a:endParaRPr lang="en-US" sz="1000" dirty="0"/>
          </a:p>
        </p:txBody>
      </p:sp>
      <p:sp>
        <p:nvSpPr>
          <p:cNvPr id="3" name="Shape 1"/>
          <p:cNvSpPr/>
          <p:nvPr/>
        </p:nvSpPr>
        <p:spPr>
          <a:xfrm>
            <a:off x="502919" y="571500"/>
            <a:ext cx="2078587" cy="45719"/>
          </a:xfrm>
          <a:prstGeom prst="rect">
            <a:avLst/>
          </a:prstGeom>
          <a:solidFill>
            <a:srgbClr val="0032A0"/>
          </a:solidFill>
          <a:ln/>
        </p:spPr>
      </p:sp>
      <p:sp>
        <p:nvSpPr>
          <p:cNvPr id="4" name="Text 2"/>
          <p:cNvSpPr/>
          <p:nvPr/>
        </p:nvSpPr>
        <p:spPr>
          <a:xfrm>
            <a:off x="502920" y="658235"/>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Every material risk carries a pre-agreed response</a:t>
            </a:r>
            <a:endParaRPr lang="en-US" sz="2250" dirty="0"/>
          </a:p>
        </p:txBody>
      </p:sp>
      <p:sp>
        <p:nvSpPr>
          <p:cNvPr id="5" name="Text 3"/>
          <p:cNvSpPr/>
          <p:nvPr/>
        </p:nvSpPr>
        <p:spPr>
          <a:xfrm>
            <a:off x="502920" y="1444752"/>
            <a:ext cx="2194560" cy="201168"/>
          </a:xfrm>
          <a:prstGeom prst="rect">
            <a:avLst/>
          </a:prstGeom>
          <a:noFill/>
          <a:ln/>
        </p:spPr>
        <p:txBody>
          <a:bodyPr wrap="square" lIns="0" tIns="0" rIns="0" bIns="0" rtlCol="0" anchor="ctr"/>
          <a:lstStyle/>
          <a:p>
            <a:pPr marL="0" indent="0" algn="l">
              <a:buNone/>
            </a:pPr>
            <a:r>
              <a:rPr lang="en-US" sz="850" b="1" kern="0" spc="110" dirty="0">
                <a:solidFill>
                  <a:srgbClr val="46577A"/>
                </a:solidFill>
                <a:latin typeface="Aptos" pitchFamily="34" charset="0"/>
                <a:ea typeface="Aptos" pitchFamily="34" charset="-122"/>
                <a:cs typeface="Aptos" pitchFamily="34" charset="-120"/>
              </a:rPr>
              <a:t>RISK</a:t>
            </a:r>
            <a:endParaRPr lang="en-US" sz="850" dirty="0"/>
          </a:p>
        </p:txBody>
      </p:sp>
      <p:sp>
        <p:nvSpPr>
          <p:cNvPr id="6" name="Text 4"/>
          <p:cNvSpPr/>
          <p:nvPr/>
        </p:nvSpPr>
        <p:spPr>
          <a:xfrm>
            <a:off x="2926080" y="1444752"/>
            <a:ext cx="3566160" cy="201168"/>
          </a:xfrm>
          <a:prstGeom prst="rect">
            <a:avLst/>
          </a:prstGeom>
          <a:noFill/>
          <a:ln/>
        </p:spPr>
        <p:txBody>
          <a:bodyPr wrap="square" lIns="0" tIns="0" rIns="0" bIns="0" rtlCol="0" anchor="ctr"/>
          <a:lstStyle/>
          <a:p>
            <a:pPr marL="0" indent="0" algn="l">
              <a:buNone/>
            </a:pPr>
            <a:r>
              <a:rPr lang="en-US" sz="850" b="1" kern="0" spc="110" dirty="0">
                <a:solidFill>
                  <a:srgbClr val="46577A"/>
                </a:solidFill>
                <a:latin typeface="Aptos" pitchFamily="34" charset="0"/>
                <a:ea typeface="Aptos" pitchFamily="34" charset="-122"/>
                <a:cs typeface="Aptos" pitchFamily="34" charset="-120"/>
              </a:rPr>
              <a:t>IF  -  TRIGGER</a:t>
            </a:r>
            <a:endParaRPr lang="en-US" sz="850" dirty="0"/>
          </a:p>
        </p:txBody>
      </p:sp>
      <p:sp>
        <p:nvSpPr>
          <p:cNvPr id="7" name="Text 5"/>
          <p:cNvSpPr/>
          <p:nvPr/>
        </p:nvSpPr>
        <p:spPr>
          <a:xfrm>
            <a:off x="6784848" y="1444752"/>
            <a:ext cx="4754880" cy="201168"/>
          </a:xfrm>
          <a:prstGeom prst="rect">
            <a:avLst/>
          </a:prstGeom>
          <a:noFill/>
          <a:ln/>
        </p:spPr>
        <p:txBody>
          <a:bodyPr wrap="square" lIns="0" tIns="0" rIns="0" bIns="0" rtlCol="0" anchor="ctr"/>
          <a:lstStyle/>
          <a:p>
            <a:pPr marL="0" indent="0" algn="l">
              <a:buNone/>
            </a:pPr>
            <a:r>
              <a:rPr lang="en-US" sz="850" b="1" kern="0" spc="110" dirty="0">
                <a:solidFill>
                  <a:srgbClr val="46577A"/>
                </a:solidFill>
                <a:latin typeface="Aptos" pitchFamily="34" charset="0"/>
                <a:ea typeface="Aptos" pitchFamily="34" charset="-122"/>
                <a:cs typeface="Aptos" pitchFamily="34" charset="-120"/>
              </a:rPr>
              <a:t>THEN  -  PRE-AGREED RESPONSE</a:t>
            </a:r>
            <a:endParaRPr lang="en-US" sz="850" dirty="0"/>
          </a:p>
        </p:txBody>
      </p:sp>
      <p:sp>
        <p:nvSpPr>
          <p:cNvPr id="8" name="Shape 6"/>
          <p:cNvSpPr/>
          <p:nvPr/>
        </p:nvSpPr>
        <p:spPr>
          <a:xfrm>
            <a:off x="502920" y="1645920"/>
            <a:ext cx="11185855" cy="5486"/>
          </a:xfrm>
          <a:prstGeom prst="rect">
            <a:avLst/>
          </a:prstGeom>
          <a:solidFill>
            <a:srgbClr val="C9D8F2"/>
          </a:solidFill>
          <a:ln/>
        </p:spPr>
      </p:sp>
      <p:sp>
        <p:nvSpPr>
          <p:cNvPr id="9" name="Shape 7"/>
          <p:cNvSpPr/>
          <p:nvPr/>
        </p:nvSpPr>
        <p:spPr>
          <a:xfrm>
            <a:off x="2816352" y="1719072"/>
            <a:ext cx="3785616" cy="420624"/>
          </a:xfrm>
          <a:prstGeom prst="rect">
            <a:avLst/>
          </a:prstGeom>
          <a:solidFill>
            <a:srgbClr val="F4F7FD"/>
          </a:solidFill>
          <a:ln/>
        </p:spPr>
      </p:sp>
      <p:sp>
        <p:nvSpPr>
          <p:cNvPr id="10" name="Shape 8"/>
          <p:cNvSpPr/>
          <p:nvPr/>
        </p:nvSpPr>
        <p:spPr>
          <a:xfrm>
            <a:off x="6656832" y="1719072"/>
            <a:ext cx="32004" cy="420624"/>
          </a:xfrm>
          <a:prstGeom prst="rect">
            <a:avLst/>
          </a:prstGeom>
          <a:solidFill>
            <a:srgbClr val="D98A00"/>
          </a:solidFill>
          <a:ln/>
        </p:spPr>
      </p:sp>
      <p:sp>
        <p:nvSpPr>
          <p:cNvPr id="11" name="Text 9"/>
          <p:cNvSpPr/>
          <p:nvPr/>
        </p:nvSpPr>
        <p:spPr>
          <a:xfrm>
            <a:off x="502920" y="1719072"/>
            <a:ext cx="2651760" cy="420624"/>
          </a:xfrm>
          <a:prstGeom prst="rect">
            <a:avLst/>
          </a:prstGeom>
          <a:noFill/>
          <a:ln/>
        </p:spPr>
        <p:txBody>
          <a:bodyPr wrap="square" lIns="0" tIns="0" rIns="0" bIns="0" rtlCol="0" anchor="ctr"/>
          <a:lstStyle/>
          <a:p>
            <a:pPr marL="0" indent="0">
              <a:buNone/>
            </a:pPr>
            <a:r>
              <a:rPr lang="en-US" sz="1000" b="1" dirty="0">
                <a:solidFill>
                  <a:srgbClr val="D98A00"/>
                </a:solidFill>
                <a:latin typeface="Aptos" pitchFamily="34" charset="0"/>
                <a:ea typeface="Aptos" pitchFamily="34" charset="-122"/>
                <a:cs typeface="Aptos" pitchFamily="34" charset="-120"/>
              </a:rPr>
              <a:t>Demand weakness</a:t>
            </a:r>
            <a:endParaRPr lang="en-US" sz="1000" dirty="0"/>
          </a:p>
        </p:txBody>
      </p:sp>
      <p:sp>
        <p:nvSpPr>
          <p:cNvPr id="12" name="Text 10"/>
          <p:cNvSpPr/>
          <p:nvPr/>
        </p:nvSpPr>
        <p:spPr>
          <a:xfrm>
            <a:off x="2926080" y="1719072"/>
            <a:ext cx="3602736" cy="420624"/>
          </a:xfrm>
          <a:prstGeom prst="rect">
            <a:avLst/>
          </a:prstGeom>
          <a:noFill/>
          <a:ln/>
        </p:spPr>
        <p:txBody>
          <a:bodyPr wrap="square" lIns="0" tIns="0" rIns="0" bIns="0" rtlCol="0" anchor="ctr"/>
          <a:lstStyle/>
          <a:p>
            <a:pPr marL="0" indent="0">
              <a:lnSpc>
                <a:spcPct val="102000"/>
              </a:lnSpc>
              <a:buNone/>
            </a:pPr>
            <a:r>
              <a:rPr lang="en-US" sz="1000" dirty="0">
                <a:solidFill>
                  <a:srgbClr val="46577A"/>
                </a:solidFill>
                <a:latin typeface="Aptos" pitchFamily="34" charset="0"/>
                <a:ea typeface="Aptos" pitchFamily="34" charset="-122"/>
                <a:cs typeface="Aptos" pitchFamily="34" charset="-120"/>
              </a:rPr>
              <a:t>Passenger growth or load factor deteriorates further</a:t>
            </a:r>
            <a:endParaRPr lang="en-US" sz="1000" dirty="0"/>
          </a:p>
        </p:txBody>
      </p:sp>
      <p:sp>
        <p:nvSpPr>
          <p:cNvPr id="13" name="Text 11"/>
          <p:cNvSpPr/>
          <p:nvPr/>
        </p:nvSpPr>
        <p:spPr>
          <a:xfrm>
            <a:off x="6784848" y="1719072"/>
            <a:ext cx="4901184" cy="420624"/>
          </a:xfrm>
          <a:prstGeom prst="rect">
            <a:avLst/>
          </a:prstGeom>
          <a:noFill/>
          <a:ln/>
        </p:spPr>
        <p:txBody>
          <a:bodyPr wrap="square" lIns="0" tIns="0" rIns="0" bIns="0" rtlCol="0" anchor="ctr"/>
          <a:lstStyle/>
          <a:p>
            <a:pPr marL="0" indent="0">
              <a:lnSpc>
                <a:spcPct val="102000"/>
              </a:lnSpc>
              <a:buNone/>
            </a:pPr>
            <a:r>
              <a:rPr lang="en-US" sz="1000" dirty="0">
                <a:solidFill>
                  <a:srgbClr val="041E47"/>
                </a:solidFill>
                <a:latin typeface="Aptos" pitchFamily="34" charset="0"/>
                <a:ea typeface="Aptos" pitchFamily="34" charset="-122"/>
                <a:cs typeface="Aptos" pitchFamily="34" charset="-120"/>
              </a:rPr>
              <a:t>Treat as supporting evidence for activating Lever C</a:t>
            </a:r>
            <a:endParaRPr lang="en-US" sz="1000" dirty="0"/>
          </a:p>
        </p:txBody>
      </p:sp>
      <p:sp>
        <p:nvSpPr>
          <p:cNvPr id="14" name="Shape 12"/>
          <p:cNvSpPr/>
          <p:nvPr/>
        </p:nvSpPr>
        <p:spPr>
          <a:xfrm>
            <a:off x="502920" y="2139696"/>
            <a:ext cx="11185855" cy="5486"/>
          </a:xfrm>
          <a:prstGeom prst="rect">
            <a:avLst/>
          </a:prstGeom>
          <a:solidFill>
            <a:srgbClr val="C9D8F2"/>
          </a:solidFill>
          <a:ln/>
        </p:spPr>
      </p:sp>
      <p:sp>
        <p:nvSpPr>
          <p:cNvPr id="15" name="Shape 13"/>
          <p:cNvSpPr/>
          <p:nvPr/>
        </p:nvSpPr>
        <p:spPr>
          <a:xfrm>
            <a:off x="2816352" y="2157984"/>
            <a:ext cx="3785616" cy="420624"/>
          </a:xfrm>
          <a:prstGeom prst="rect">
            <a:avLst/>
          </a:prstGeom>
          <a:solidFill>
            <a:srgbClr val="F4F7FD"/>
          </a:solidFill>
          <a:ln/>
        </p:spPr>
      </p:sp>
      <p:sp>
        <p:nvSpPr>
          <p:cNvPr id="16" name="Shape 14"/>
          <p:cNvSpPr/>
          <p:nvPr/>
        </p:nvSpPr>
        <p:spPr>
          <a:xfrm>
            <a:off x="6656832" y="2157984"/>
            <a:ext cx="32004" cy="420624"/>
          </a:xfrm>
          <a:prstGeom prst="rect">
            <a:avLst/>
          </a:prstGeom>
          <a:solidFill>
            <a:srgbClr val="0032A0"/>
          </a:solidFill>
          <a:ln/>
        </p:spPr>
      </p:sp>
      <p:sp>
        <p:nvSpPr>
          <p:cNvPr id="17" name="Text 15"/>
          <p:cNvSpPr/>
          <p:nvPr/>
        </p:nvSpPr>
        <p:spPr>
          <a:xfrm>
            <a:off x="502920" y="2157984"/>
            <a:ext cx="2651760" cy="420624"/>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Demand acceleration</a:t>
            </a:r>
            <a:endParaRPr lang="en-US" sz="1000" dirty="0"/>
          </a:p>
        </p:txBody>
      </p:sp>
      <p:sp>
        <p:nvSpPr>
          <p:cNvPr id="18" name="Text 16"/>
          <p:cNvSpPr/>
          <p:nvPr/>
        </p:nvSpPr>
        <p:spPr>
          <a:xfrm>
            <a:off x="2926080" y="2157984"/>
            <a:ext cx="3602736" cy="420624"/>
          </a:xfrm>
          <a:prstGeom prst="rect">
            <a:avLst/>
          </a:prstGeom>
          <a:noFill/>
          <a:ln/>
        </p:spPr>
        <p:txBody>
          <a:bodyPr wrap="square" lIns="0" tIns="0" rIns="0" bIns="0" rtlCol="0" anchor="ctr"/>
          <a:lstStyle/>
          <a:p>
            <a:pPr marL="0" indent="0">
              <a:lnSpc>
                <a:spcPct val="102000"/>
              </a:lnSpc>
              <a:buNone/>
            </a:pPr>
            <a:r>
              <a:rPr lang="en-US" sz="1000" dirty="0">
                <a:solidFill>
                  <a:srgbClr val="46577A"/>
                </a:solidFill>
                <a:latin typeface="Aptos" pitchFamily="34" charset="0"/>
                <a:ea typeface="Aptos" pitchFamily="34" charset="-122"/>
                <a:cs typeface="Aptos" pitchFamily="34" charset="-120"/>
              </a:rPr>
              <a:t>Passenger and RPK growth re-accelerate above FY2026 rates</a:t>
            </a:r>
            <a:endParaRPr lang="en-US" sz="1000" dirty="0"/>
          </a:p>
        </p:txBody>
      </p:sp>
      <p:sp>
        <p:nvSpPr>
          <p:cNvPr id="19" name="Text 17"/>
          <p:cNvSpPr/>
          <p:nvPr/>
        </p:nvSpPr>
        <p:spPr>
          <a:xfrm>
            <a:off x="6784848" y="2157984"/>
            <a:ext cx="4901184" cy="420624"/>
          </a:xfrm>
          <a:prstGeom prst="rect">
            <a:avLst/>
          </a:prstGeom>
          <a:noFill/>
          <a:ln/>
        </p:spPr>
        <p:txBody>
          <a:bodyPr wrap="square" lIns="0" tIns="0" rIns="0" bIns="0" rtlCol="0" anchor="ctr"/>
          <a:lstStyle/>
          <a:p>
            <a:pPr marL="0" indent="0">
              <a:lnSpc>
                <a:spcPct val="102000"/>
              </a:lnSpc>
              <a:buNone/>
            </a:pPr>
            <a:r>
              <a:rPr lang="en-US" sz="1000" dirty="0">
                <a:solidFill>
                  <a:srgbClr val="041E47"/>
                </a:solidFill>
                <a:latin typeface="Aptos" pitchFamily="34" charset="0"/>
                <a:ea typeface="Aptos" pitchFamily="34" charset="-122"/>
                <a:cs typeface="Aptos" pitchFamily="34" charset="-120"/>
              </a:rPr>
              <a:t>Reassess whether pacing is more conservative than warranted; prioritise utilisation levers</a:t>
            </a:r>
            <a:endParaRPr lang="en-US" sz="1000" dirty="0"/>
          </a:p>
        </p:txBody>
      </p:sp>
      <p:sp>
        <p:nvSpPr>
          <p:cNvPr id="20" name="Shape 18"/>
          <p:cNvSpPr/>
          <p:nvPr/>
        </p:nvSpPr>
        <p:spPr>
          <a:xfrm>
            <a:off x="502920" y="2578608"/>
            <a:ext cx="11185855" cy="5486"/>
          </a:xfrm>
          <a:prstGeom prst="rect">
            <a:avLst/>
          </a:prstGeom>
          <a:solidFill>
            <a:srgbClr val="C9D8F2"/>
          </a:solidFill>
          <a:ln/>
        </p:spPr>
      </p:sp>
      <p:sp>
        <p:nvSpPr>
          <p:cNvPr id="21" name="Shape 19"/>
          <p:cNvSpPr/>
          <p:nvPr/>
        </p:nvSpPr>
        <p:spPr>
          <a:xfrm>
            <a:off x="2816352" y="2596896"/>
            <a:ext cx="3785616" cy="420624"/>
          </a:xfrm>
          <a:prstGeom prst="rect">
            <a:avLst/>
          </a:prstGeom>
          <a:solidFill>
            <a:srgbClr val="F4F7FD"/>
          </a:solidFill>
          <a:ln/>
        </p:spPr>
      </p:sp>
      <p:sp>
        <p:nvSpPr>
          <p:cNvPr id="22" name="Shape 20"/>
          <p:cNvSpPr/>
          <p:nvPr/>
        </p:nvSpPr>
        <p:spPr>
          <a:xfrm>
            <a:off x="6656832" y="2596896"/>
            <a:ext cx="32004" cy="420624"/>
          </a:xfrm>
          <a:prstGeom prst="rect">
            <a:avLst/>
          </a:prstGeom>
          <a:solidFill>
            <a:srgbClr val="0032A0"/>
          </a:solidFill>
          <a:ln/>
        </p:spPr>
      </p:sp>
      <p:sp>
        <p:nvSpPr>
          <p:cNvPr id="23" name="Text 21"/>
          <p:cNvSpPr/>
          <p:nvPr/>
        </p:nvSpPr>
        <p:spPr>
          <a:xfrm>
            <a:off x="502920" y="2596896"/>
            <a:ext cx="2651760" cy="420624"/>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Competitor capacity</a:t>
            </a:r>
            <a:endParaRPr lang="en-US" sz="1000" dirty="0"/>
          </a:p>
        </p:txBody>
      </p:sp>
      <p:sp>
        <p:nvSpPr>
          <p:cNvPr id="24" name="Text 22"/>
          <p:cNvSpPr/>
          <p:nvPr/>
        </p:nvSpPr>
        <p:spPr>
          <a:xfrm>
            <a:off x="2926080" y="2596896"/>
            <a:ext cx="3602736" cy="420624"/>
          </a:xfrm>
          <a:prstGeom prst="rect">
            <a:avLst/>
          </a:prstGeom>
          <a:noFill/>
          <a:ln/>
        </p:spPr>
        <p:txBody>
          <a:bodyPr wrap="square" lIns="0" tIns="0" rIns="0" bIns="0" rtlCol="0" anchor="ctr"/>
          <a:lstStyle/>
          <a:p>
            <a:pPr marL="0" indent="0">
              <a:lnSpc>
                <a:spcPct val="102000"/>
              </a:lnSpc>
              <a:buNone/>
            </a:pPr>
            <a:r>
              <a:rPr lang="en-US" sz="1000" dirty="0">
                <a:solidFill>
                  <a:srgbClr val="46577A"/>
                </a:solidFill>
                <a:latin typeface="Aptos" pitchFamily="34" charset="0"/>
                <a:ea typeface="Aptos" pitchFamily="34" charset="-122"/>
                <a:cs typeface="Aptos" pitchFamily="34" charset="-120"/>
              </a:rPr>
              <a:t>Air India Group or Akasa add capacity in overlapping markets</a:t>
            </a:r>
            <a:endParaRPr lang="en-US" sz="1000" dirty="0"/>
          </a:p>
        </p:txBody>
      </p:sp>
      <p:sp>
        <p:nvSpPr>
          <p:cNvPr id="25" name="Text 23"/>
          <p:cNvSpPr/>
          <p:nvPr/>
        </p:nvSpPr>
        <p:spPr>
          <a:xfrm>
            <a:off x="6784848" y="2596896"/>
            <a:ext cx="4901184" cy="420624"/>
          </a:xfrm>
          <a:prstGeom prst="rect">
            <a:avLst/>
          </a:prstGeom>
          <a:noFill/>
          <a:ln/>
        </p:spPr>
        <p:txBody>
          <a:bodyPr wrap="square" lIns="0" tIns="0" rIns="0" bIns="0" rtlCol="0" anchor="ctr"/>
          <a:lstStyle/>
          <a:p>
            <a:pPr marL="0" indent="0">
              <a:lnSpc>
                <a:spcPct val="102000"/>
              </a:lnSpc>
              <a:buNone/>
            </a:pPr>
            <a:r>
              <a:rPr lang="en-US" sz="1000" dirty="0">
                <a:solidFill>
                  <a:srgbClr val="041E47"/>
                </a:solidFill>
                <a:latin typeface="Aptos" pitchFamily="34" charset="0"/>
                <a:ea typeface="Aptos" pitchFamily="34" charset="-122"/>
                <a:cs typeface="Aptos" pitchFamily="34" charset="-120"/>
              </a:rPr>
              <a:t>Reassess competitive monitoring; avoid unilateral moderation that cedes share without evidence</a:t>
            </a:r>
            <a:endParaRPr lang="en-US" sz="1000" dirty="0"/>
          </a:p>
        </p:txBody>
      </p:sp>
      <p:sp>
        <p:nvSpPr>
          <p:cNvPr id="26" name="Shape 24"/>
          <p:cNvSpPr/>
          <p:nvPr/>
        </p:nvSpPr>
        <p:spPr>
          <a:xfrm>
            <a:off x="502920" y="3017520"/>
            <a:ext cx="11185855" cy="5486"/>
          </a:xfrm>
          <a:prstGeom prst="rect">
            <a:avLst/>
          </a:prstGeom>
          <a:solidFill>
            <a:srgbClr val="C9D8F2"/>
          </a:solidFill>
          <a:ln/>
        </p:spPr>
      </p:sp>
      <p:sp>
        <p:nvSpPr>
          <p:cNvPr id="27" name="Shape 25"/>
          <p:cNvSpPr/>
          <p:nvPr/>
        </p:nvSpPr>
        <p:spPr>
          <a:xfrm>
            <a:off x="2816352" y="3035808"/>
            <a:ext cx="3785616" cy="420624"/>
          </a:xfrm>
          <a:prstGeom prst="rect">
            <a:avLst/>
          </a:prstGeom>
          <a:solidFill>
            <a:srgbClr val="F4F7FD"/>
          </a:solidFill>
          <a:ln/>
        </p:spPr>
      </p:sp>
      <p:sp>
        <p:nvSpPr>
          <p:cNvPr id="28" name="Shape 26"/>
          <p:cNvSpPr/>
          <p:nvPr/>
        </p:nvSpPr>
        <p:spPr>
          <a:xfrm>
            <a:off x="6656832" y="3035808"/>
            <a:ext cx="32004" cy="420624"/>
          </a:xfrm>
          <a:prstGeom prst="rect">
            <a:avLst/>
          </a:prstGeom>
          <a:solidFill>
            <a:srgbClr val="0032A0"/>
          </a:solidFill>
          <a:ln/>
        </p:spPr>
      </p:sp>
      <p:sp>
        <p:nvSpPr>
          <p:cNvPr id="29" name="Text 27"/>
          <p:cNvSpPr/>
          <p:nvPr/>
        </p:nvSpPr>
        <p:spPr>
          <a:xfrm>
            <a:off x="502920" y="3035808"/>
            <a:ext cx="2651760" cy="420624"/>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Fuel / FX pressure</a:t>
            </a:r>
            <a:endParaRPr lang="en-US" sz="1000" dirty="0"/>
          </a:p>
        </p:txBody>
      </p:sp>
      <p:sp>
        <p:nvSpPr>
          <p:cNvPr id="30" name="Text 28"/>
          <p:cNvSpPr/>
          <p:nvPr/>
        </p:nvSpPr>
        <p:spPr>
          <a:xfrm>
            <a:off x="2926080" y="3035808"/>
            <a:ext cx="3602736" cy="420624"/>
          </a:xfrm>
          <a:prstGeom prst="rect">
            <a:avLst/>
          </a:prstGeom>
          <a:noFill/>
          <a:ln/>
        </p:spPr>
        <p:txBody>
          <a:bodyPr wrap="square" lIns="0" tIns="0" rIns="0" bIns="0" rtlCol="0" anchor="ctr"/>
          <a:lstStyle/>
          <a:p>
            <a:pPr marL="0" indent="0">
              <a:lnSpc>
                <a:spcPct val="102000"/>
              </a:lnSpc>
              <a:buNone/>
            </a:pPr>
            <a:r>
              <a:rPr lang="en-US" sz="1000" dirty="0">
                <a:solidFill>
                  <a:srgbClr val="46577A"/>
                </a:solidFill>
                <a:latin typeface="Aptos" pitchFamily="34" charset="0"/>
                <a:ea typeface="Aptos" pitchFamily="34" charset="-122"/>
                <a:cs typeface="Aptos" pitchFamily="34" charset="-120"/>
              </a:rPr>
              <a:t>Fuel prices rise or the rupee depreciates materially</a:t>
            </a:r>
            <a:endParaRPr lang="en-US" sz="1000" dirty="0"/>
          </a:p>
        </p:txBody>
      </p:sp>
      <p:sp>
        <p:nvSpPr>
          <p:cNvPr id="31" name="Text 29"/>
          <p:cNvSpPr/>
          <p:nvPr/>
        </p:nvSpPr>
        <p:spPr>
          <a:xfrm>
            <a:off x="6784848" y="3035808"/>
            <a:ext cx="4901184" cy="420624"/>
          </a:xfrm>
          <a:prstGeom prst="rect">
            <a:avLst/>
          </a:prstGeom>
          <a:noFill/>
          <a:ln/>
        </p:spPr>
        <p:txBody>
          <a:bodyPr wrap="square" lIns="0" tIns="0" rIns="0" bIns="0" rtlCol="0" anchor="ctr"/>
          <a:lstStyle/>
          <a:p>
            <a:pPr marL="0" indent="0">
              <a:lnSpc>
                <a:spcPct val="102000"/>
              </a:lnSpc>
              <a:buNone/>
            </a:pPr>
            <a:r>
              <a:rPr lang="en-US" sz="1000" dirty="0">
                <a:solidFill>
                  <a:srgbClr val="041E47"/>
                </a:solidFill>
                <a:latin typeface="Aptos" pitchFamily="34" charset="0"/>
                <a:ea typeface="Aptos" pitchFamily="34" charset="-122"/>
                <a:cs typeface="Aptos" pitchFamily="34" charset="-120"/>
              </a:rPr>
              <a:t>Re-test CASK ex-fuel-ex-FX to isolate addressable productivity from external pressure</a:t>
            </a:r>
            <a:endParaRPr lang="en-US" sz="1000" dirty="0"/>
          </a:p>
        </p:txBody>
      </p:sp>
      <p:sp>
        <p:nvSpPr>
          <p:cNvPr id="32" name="Shape 30"/>
          <p:cNvSpPr/>
          <p:nvPr/>
        </p:nvSpPr>
        <p:spPr>
          <a:xfrm>
            <a:off x="502920" y="3456432"/>
            <a:ext cx="11185855" cy="5486"/>
          </a:xfrm>
          <a:prstGeom prst="rect">
            <a:avLst/>
          </a:prstGeom>
          <a:solidFill>
            <a:srgbClr val="C9D8F2"/>
          </a:solidFill>
          <a:ln/>
        </p:spPr>
      </p:sp>
      <p:sp>
        <p:nvSpPr>
          <p:cNvPr id="33" name="Shape 31"/>
          <p:cNvSpPr/>
          <p:nvPr/>
        </p:nvSpPr>
        <p:spPr>
          <a:xfrm>
            <a:off x="2816352" y="3474720"/>
            <a:ext cx="3785616" cy="420624"/>
          </a:xfrm>
          <a:prstGeom prst="rect">
            <a:avLst/>
          </a:prstGeom>
          <a:solidFill>
            <a:srgbClr val="F4F7FD"/>
          </a:solidFill>
          <a:ln/>
        </p:spPr>
      </p:sp>
      <p:sp>
        <p:nvSpPr>
          <p:cNvPr id="34" name="Shape 32"/>
          <p:cNvSpPr/>
          <p:nvPr/>
        </p:nvSpPr>
        <p:spPr>
          <a:xfrm>
            <a:off x="6656832" y="3474720"/>
            <a:ext cx="32004" cy="420624"/>
          </a:xfrm>
          <a:prstGeom prst="rect">
            <a:avLst/>
          </a:prstGeom>
          <a:solidFill>
            <a:srgbClr val="0032A0"/>
          </a:solidFill>
          <a:ln/>
        </p:spPr>
      </p:sp>
      <p:sp>
        <p:nvSpPr>
          <p:cNvPr id="35" name="Text 33"/>
          <p:cNvSpPr/>
          <p:nvPr/>
        </p:nvSpPr>
        <p:spPr>
          <a:xfrm>
            <a:off x="502920" y="3474720"/>
            <a:ext cx="2651760" cy="420624"/>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Cost-productivity execution</a:t>
            </a:r>
            <a:endParaRPr lang="en-US" sz="1000" dirty="0"/>
          </a:p>
        </p:txBody>
      </p:sp>
      <p:sp>
        <p:nvSpPr>
          <p:cNvPr id="36" name="Text 34"/>
          <p:cNvSpPr/>
          <p:nvPr/>
        </p:nvSpPr>
        <p:spPr>
          <a:xfrm>
            <a:off x="2926080" y="3474720"/>
            <a:ext cx="3602736" cy="420624"/>
          </a:xfrm>
          <a:prstGeom prst="rect">
            <a:avLst/>
          </a:prstGeom>
          <a:noFill/>
          <a:ln/>
        </p:spPr>
        <p:txBody>
          <a:bodyPr wrap="square" lIns="0" tIns="0" rIns="0" bIns="0" rtlCol="0" anchor="ctr"/>
          <a:lstStyle/>
          <a:p>
            <a:pPr marL="0" indent="0">
              <a:lnSpc>
                <a:spcPct val="102000"/>
              </a:lnSpc>
              <a:buNone/>
            </a:pPr>
            <a:r>
              <a:rPr lang="en-US" sz="1000" dirty="0">
                <a:solidFill>
                  <a:srgbClr val="46577A"/>
                </a:solidFill>
                <a:latin typeface="Aptos" pitchFamily="34" charset="0"/>
                <a:ea typeface="Aptos" pitchFamily="34" charset="-122"/>
                <a:cs typeface="Aptos" pitchFamily="34" charset="-120"/>
              </a:rPr>
              <a:t>Addressable non-fuel cost initiatives underperform</a:t>
            </a:r>
            <a:endParaRPr lang="en-US" sz="1000" dirty="0"/>
          </a:p>
        </p:txBody>
      </p:sp>
      <p:sp>
        <p:nvSpPr>
          <p:cNvPr id="37" name="Text 35"/>
          <p:cNvSpPr/>
          <p:nvPr/>
        </p:nvSpPr>
        <p:spPr>
          <a:xfrm>
            <a:off x="6784848" y="3474720"/>
            <a:ext cx="4901184" cy="420624"/>
          </a:xfrm>
          <a:prstGeom prst="rect">
            <a:avLst/>
          </a:prstGeom>
          <a:noFill/>
          <a:ln/>
        </p:spPr>
        <p:txBody>
          <a:bodyPr wrap="square" lIns="0" tIns="0" rIns="0" bIns="0" rtlCol="0" anchor="ctr"/>
          <a:lstStyle/>
          <a:p>
            <a:pPr marL="0" indent="0">
              <a:lnSpc>
                <a:spcPct val="102000"/>
              </a:lnSpc>
              <a:buNone/>
            </a:pPr>
            <a:r>
              <a:rPr lang="en-US" sz="1000" dirty="0">
                <a:solidFill>
                  <a:srgbClr val="041E47"/>
                </a:solidFill>
                <a:latin typeface="Aptos" pitchFamily="34" charset="0"/>
                <a:ea typeface="Aptos" pitchFamily="34" charset="-122"/>
                <a:cs typeface="Aptos" pitchFamily="34" charset="-120"/>
              </a:rPr>
              <a:t>Reassess reliance on Lever B; re-weight toward Lever A or monitor for pacing triggers</a:t>
            </a:r>
            <a:endParaRPr lang="en-US" sz="1000" dirty="0"/>
          </a:p>
        </p:txBody>
      </p:sp>
      <p:sp>
        <p:nvSpPr>
          <p:cNvPr id="38" name="Shape 36"/>
          <p:cNvSpPr/>
          <p:nvPr/>
        </p:nvSpPr>
        <p:spPr>
          <a:xfrm>
            <a:off x="502920" y="3895344"/>
            <a:ext cx="11185855" cy="5486"/>
          </a:xfrm>
          <a:prstGeom prst="rect">
            <a:avLst/>
          </a:prstGeom>
          <a:solidFill>
            <a:srgbClr val="C9D8F2"/>
          </a:solidFill>
          <a:ln/>
        </p:spPr>
      </p:sp>
      <p:sp>
        <p:nvSpPr>
          <p:cNvPr id="39" name="Shape 37"/>
          <p:cNvSpPr/>
          <p:nvPr/>
        </p:nvSpPr>
        <p:spPr>
          <a:xfrm>
            <a:off x="2816352" y="3913632"/>
            <a:ext cx="3785616" cy="420624"/>
          </a:xfrm>
          <a:prstGeom prst="rect">
            <a:avLst/>
          </a:prstGeom>
          <a:solidFill>
            <a:srgbClr val="F4F7FD"/>
          </a:solidFill>
          <a:ln/>
        </p:spPr>
      </p:sp>
      <p:sp>
        <p:nvSpPr>
          <p:cNvPr id="40" name="Shape 38"/>
          <p:cNvSpPr/>
          <p:nvPr/>
        </p:nvSpPr>
        <p:spPr>
          <a:xfrm>
            <a:off x="6656832" y="3913632"/>
            <a:ext cx="32004" cy="420624"/>
          </a:xfrm>
          <a:prstGeom prst="rect">
            <a:avLst/>
          </a:prstGeom>
          <a:solidFill>
            <a:srgbClr val="0032A0"/>
          </a:solidFill>
          <a:ln/>
        </p:spPr>
      </p:sp>
      <p:sp>
        <p:nvSpPr>
          <p:cNvPr id="41" name="Text 39"/>
          <p:cNvSpPr/>
          <p:nvPr/>
        </p:nvSpPr>
        <p:spPr>
          <a:xfrm>
            <a:off x="502920" y="3913632"/>
            <a:ext cx="2651760" cy="420624"/>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Route-data gap persists</a:t>
            </a:r>
            <a:endParaRPr lang="en-US" sz="1000" dirty="0"/>
          </a:p>
        </p:txBody>
      </p:sp>
      <p:sp>
        <p:nvSpPr>
          <p:cNvPr id="42" name="Text 40"/>
          <p:cNvSpPr/>
          <p:nvPr/>
        </p:nvSpPr>
        <p:spPr>
          <a:xfrm>
            <a:off x="2926080" y="3913632"/>
            <a:ext cx="3602736" cy="420624"/>
          </a:xfrm>
          <a:prstGeom prst="rect">
            <a:avLst/>
          </a:prstGeom>
          <a:noFill/>
          <a:ln/>
        </p:spPr>
        <p:txBody>
          <a:bodyPr wrap="square" lIns="0" tIns="0" rIns="0" bIns="0" rtlCol="0" anchor="ctr"/>
          <a:lstStyle/>
          <a:p>
            <a:pPr marL="0" indent="0">
              <a:lnSpc>
                <a:spcPct val="102000"/>
              </a:lnSpc>
              <a:buNone/>
            </a:pPr>
            <a:r>
              <a:rPr lang="en-US" sz="1000" dirty="0">
                <a:solidFill>
                  <a:srgbClr val="46577A"/>
                </a:solidFill>
                <a:latin typeface="Aptos" pitchFamily="34" charset="0"/>
                <a:ea typeface="Aptos" pitchFamily="34" charset="-122"/>
                <a:cs typeface="Aptos" pitchFamily="34" charset="-120"/>
              </a:rPr>
              <a:t>Route-level profitability remains unestablished</a:t>
            </a:r>
            <a:endParaRPr lang="en-US" sz="1000" dirty="0"/>
          </a:p>
        </p:txBody>
      </p:sp>
      <p:sp>
        <p:nvSpPr>
          <p:cNvPr id="43" name="Text 41"/>
          <p:cNvSpPr/>
          <p:nvPr/>
        </p:nvSpPr>
        <p:spPr>
          <a:xfrm>
            <a:off x="6784848" y="3913632"/>
            <a:ext cx="4901184" cy="420624"/>
          </a:xfrm>
          <a:prstGeom prst="rect">
            <a:avLst/>
          </a:prstGeom>
          <a:noFill/>
          <a:ln/>
        </p:spPr>
        <p:txBody>
          <a:bodyPr wrap="square" lIns="0" tIns="0" rIns="0" bIns="0" rtlCol="0" anchor="ctr"/>
          <a:lstStyle/>
          <a:p>
            <a:pPr marL="0" indent="0">
              <a:lnSpc>
                <a:spcPct val="102000"/>
              </a:lnSpc>
              <a:buNone/>
            </a:pPr>
            <a:r>
              <a:rPr lang="en-US" sz="1000" dirty="0">
                <a:solidFill>
                  <a:srgbClr val="041E47"/>
                </a:solidFill>
                <a:latin typeface="Aptos" pitchFamily="34" charset="0"/>
                <a:ea typeface="Aptos" pitchFamily="34" charset="-122"/>
                <a:cs typeface="Aptos" pitchFamily="34" charset="-120"/>
              </a:rPr>
              <a:t>Continue deferring ALT-2 and full ALT-5; prioritise closing the gap</a:t>
            </a:r>
            <a:endParaRPr lang="en-US" sz="1000" dirty="0"/>
          </a:p>
        </p:txBody>
      </p:sp>
      <p:sp>
        <p:nvSpPr>
          <p:cNvPr id="44" name="Shape 42"/>
          <p:cNvSpPr/>
          <p:nvPr/>
        </p:nvSpPr>
        <p:spPr>
          <a:xfrm>
            <a:off x="502920" y="4334256"/>
            <a:ext cx="11185855" cy="5486"/>
          </a:xfrm>
          <a:prstGeom prst="rect">
            <a:avLst/>
          </a:prstGeom>
          <a:solidFill>
            <a:srgbClr val="C9D8F2"/>
          </a:solidFill>
          <a:ln/>
        </p:spPr>
      </p:sp>
      <p:sp>
        <p:nvSpPr>
          <p:cNvPr id="45" name="Shape 43"/>
          <p:cNvSpPr/>
          <p:nvPr/>
        </p:nvSpPr>
        <p:spPr>
          <a:xfrm>
            <a:off x="2816352" y="4352544"/>
            <a:ext cx="3785616" cy="420624"/>
          </a:xfrm>
          <a:prstGeom prst="rect">
            <a:avLst/>
          </a:prstGeom>
          <a:solidFill>
            <a:srgbClr val="F4F7FD"/>
          </a:solidFill>
          <a:ln/>
        </p:spPr>
      </p:sp>
      <p:sp>
        <p:nvSpPr>
          <p:cNvPr id="46" name="Shape 44"/>
          <p:cNvSpPr/>
          <p:nvPr/>
        </p:nvSpPr>
        <p:spPr>
          <a:xfrm>
            <a:off x="6656832" y="4352544"/>
            <a:ext cx="32004" cy="420624"/>
          </a:xfrm>
          <a:prstGeom prst="rect">
            <a:avLst/>
          </a:prstGeom>
          <a:solidFill>
            <a:srgbClr val="0032A0"/>
          </a:solidFill>
          <a:ln/>
        </p:spPr>
      </p:sp>
      <p:sp>
        <p:nvSpPr>
          <p:cNvPr id="47" name="Text 45"/>
          <p:cNvSpPr/>
          <p:nvPr/>
        </p:nvSpPr>
        <p:spPr>
          <a:xfrm>
            <a:off x="502920" y="4352544"/>
            <a:ext cx="2651760" cy="420624"/>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International execution</a:t>
            </a:r>
            <a:endParaRPr lang="en-US" sz="1000" dirty="0"/>
          </a:p>
        </p:txBody>
      </p:sp>
      <p:sp>
        <p:nvSpPr>
          <p:cNvPr id="48" name="Text 46"/>
          <p:cNvSpPr/>
          <p:nvPr/>
        </p:nvSpPr>
        <p:spPr>
          <a:xfrm>
            <a:off x="2926080" y="4352544"/>
            <a:ext cx="3602736" cy="420624"/>
          </a:xfrm>
          <a:prstGeom prst="rect">
            <a:avLst/>
          </a:prstGeom>
          <a:noFill/>
          <a:ln/>
        </p:spPr>
        <p:txBody>
          <a:bodyPr wrap="square" lIns="0" tIns="0" rIns="0" bIns="0" rtlCol="0" anchor="ctr"/>
          <a:lstStyle/>
          <a:p>
            <a:pPr marL="0" indent="0">
              <a:lnSpc>
                <a:spcPct val="102000"/>
              </a:lnSpc>
              <a:buNone/>
            </a:pPr>
            <a:r>
              <a:rPr lang="en-US" sz="1000" dirty="0">
                <a:solidFill>
                  <a:srgbClr val="46577A"/>
                </a:solidFill>
                <a:latin typeface="Aptos" pitchFamily="34" charset="0"/>
                <a:ea typeface="Aptos" pitchFamily="34" charset="-122"/>
                <a:cs typeface="Aptos" pitchFamily="34" charset="-120"/>
              </a:rPr>
              <a:t>Further route disruptions occur, as with the June 2026 Manchester suspension</a:t>
            </a:r>
            <a:endParaRPr lang="en-US" sz="1000" dirty="0"/>
          </a:p>
        </p:txBody>
      </p:sp>
      <p:sp>
        <p:nvSpPr>
          <p:cNvPr id="49" name="Text 47"/>
          <p:cNvSpPr/>
          <p:nvPr/>
        </p:nvSpPr>
        <p:spPr>
          <a:xfrm>
            <a:off x="6784848" y="4352544"/>
            <a:ext cx="4901184" cy="420624"/>
          </a:xfrm>
          <a:prstGeom prst="rect">
            <a:avLst/>
          </a:prstGeom>
          <a:noFill/>
          <a:ln/>
        </p:spPr>
        <p:txBody>
          <a:bodyPr wrap="square" lIns="0" tIns="0" rIns="0" bIns="0" rtlCol="0" anchor="ctr"/>
          <a:lstStyle/>
          <a:p>
            <a:pPr marL="0" indent="0">
              <a:lnSpc>
                <a:spcPct val="102000"/>
              </a:lnSpc>
              <a:buNone/>
            </a:pPr>
            <a:r>
              <a:rPr lang="en-US" sz="1000" dirty="0">
                <a:solidFill>
                  <a:srgbClr val="041E47"/>
                </a:solidFill>
                <a:latin typeface="Aptos" pitchFamily="34" charset="0"/>
                <a:ea typeface="Aptos" pitchFamily="34" charset="-122"/>
                <a:cs typeface="Aptos" pitchFamily="34" charset="-120"/>
              </a:rPr>
              <a:t>Reinforces ALT-5 selective pacing; avoid further high-commitment widebody additions</a:t>
            </a:r>
            <a:endParaRPr lang="en-US" sz="1000" dirty="0"/>
          </a:p>
        </p:txBody>
      </p:sp>
      <p:sp>
        <p:nvSpPr>
          <p:cNvPr id="50" name="Shape 48"/>
          <p:cNvSpPr/>
          <p:nvPr/>
        </p:nvSpPr>
        <p:spPr>
          <a:xfrm>
            <a:off x="502920" y="4773168"/>
            <a:ext cx="11185855" cy="5486"/>
          </a:xfrm>
          <a:prstGeom prst="rect">
            <a:avLst/>
          </a:prstGeom>
          <a:solidFill>
            <a:srgbClr val="C9D8F2"/>
          </a:solidFill>
          <a:ln/>
        </p:spPr>
      </p:sp>
      <p:sp>
        <p:nvSpPr>
          <p:cNvPr id="51" name="Shape 49"/>
          <p:cNvSpPr/>
          <p:nvPr/>
        </p:nvSpPr>
        <p:spPr>
          <a:xfrm>
            <a:off x="2816352" y="4791456"/>
            <a:ext cx="3785616" cy="420624"/>
          </a:xfrm>
          <a:prstGeom prst="rect">
            <a:avLst/>
          </a:prstGeom>
          <a:solidFill>
            <a:srgbClr val="F4F7FD"/>
          </a:solidFill>
          <a:ln/>
        </p:spPr>
      </p:sp>
      <p:sp>
        <p:nvSpPr>
          <p:cNvPr id="52" name="Shape 50"/>
          <p:cNvSpPr/>
          <p:nvPr/>
        </p:nvSpPr>
        <p:spPr>
          <a:xfrm>
            <a:off x="6656832" y="4791456"/>
            <a:ext cx="32004" cy="420624"/>
          </a:xfrm>
          <a:prstGeom prst="rect">
            <a:avLst/>
          </a:prstGeom>
          <a:solidFill>
            <a:srgbClr val="0032A0"/>
          </a:solidFill>
          <a:ln/>
        </p:spPr>
      </p:sp>
      <p:sp>
        <p:nvSpPr>
          <p:cNvPr id="53" name="Text 51"/>
          <p:cNvSpPr/>
          <p:nvPr/>
        </p:nvSpPr>
        <p:spPr>
          <a:xfrm>
            <a:off x="502920" y="4791456"/>
            <a:ext cx="2651760" cy="420624"/>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Fleet / lease exposure</a:t>
            </a:r>
            <a:endParaRPr lang="en-US" sz="1000" dirty="0"/>
          </a:p>
        </p:txBody>
      </p:sp>
      <p:sp>
        <p:nvSpPr>
          <p:cNvPr id="54" name="Text 52"/>
          <p:cNvSpPr/>
          <p:nvPr/>
        </p:nvSpPr>
        <p:spPr>
          <a:xfrm>
            <a:off x="2926080" y="4791456"/>
            <a:ext cx="3602736" cy="420624"/>
          </a:xfrm>
          <a:prstGeom prst="rect">
            <a:avLst/>
          </a:prstGeom>
          <a:noFill/>
          <a:ln/>
        </p:spPr>
        <p:txBody>
          <a:bodyPr wrap="square" lIns="0" tIns="0" rIns="0" bIns="0" rtlCol="0" anchor="ctr"/>
          <a:lstStyle/>
          <a:p>
            <a:pPr marL="0" indent="0">
              <a:lnSpc>
                <a:spcPct val="102000"/>
              </a:lnSpc>
              <a:buNone/>
            </a:pPr>
            <a:r>
              <a:rPr lang="en-US" sz="1000" dirty="0">
                <a:solidFill>
                  <a:srgbClr val="46577A"/>
                </a:solidFill>
                <a:latin typeface="Aptos" pitchFamily="34" charset="0"/>
                <a:ea typeface="Aptos" pitchFamily="34" charset="-122"/>
                <a:cs typeface="Aptos" pitchFamily="34" charset="-120"/>
              </a:rPr>
              <a:t>Delivery schedules create capacity that cannot be economically absorbed</a:t>
            </a:r>
            <a:endParaRPr lang="en-US" sz="1000" dirty="0"/>
          </a:p>
        </p:txBody>
      </p:sp>
      <p:sp>
        <p:nvSpPr>
          <p:cNvPr id="55" name="Text 53"/>
          <p:cNvSpPr/>
          <p:nvPr/>
        </p:nvSpPr>
        <p:spPr>
          <a:xfrm>
            <a:off x="6784848" y="4791456"/>
            <a:ext cx="4901184" cy="420624"/>
          </a:xfrm>
          <a:prstGeom prst="rect">
            <a:avLst/>
          </a:prstGeom>
          <a:noFill/>
          <a:ln/>
        </p:spPr>
        <p:txBody>
          <a:bodyPr wrap="square" lIns="0" tIns="0" rIns="0" bIns="0" rtlCol="0" anchor="ctr"/>
          <a:lstStyle/>
          <a:p>
            <a:pPr marL="0" indent="0">
              <a:lnSpc>
                <a:spcPct val="102000"/>
              </a:lnSpc>
              <a:buNone/>
            </a:pPr>
            <a:r>
              <a:rPr lang="en-US" sz="1000" dirty="0">
                <a:solidFill>
                  <a:srgbClr val="041E47"/>
                </a:solidFill>
                <a:latin typeface="Aptos" pitchFamily="34" charset="0"/>
                <a:ea typeface="Aptos" pitchFamily="34" charset="-122"/>
                <a:cs typeface="Aptos" pitchFamily="34" charset="-120"/>
              </a:rPr>
              <a:t>Reassess the capacity-pacing decision gate; test against the balance-sheet leverage trend</a:t>
            </a:r>
            <a:endParaRPr lang="en-US" sz="1000" dirty="0"/>
          </a:p>
        </p:txBody>
      </p:sp>
      <p:sp>
        <p:nvSpPr>
          <p:cNvPr id="56" name="Shape 54"/>
          <p:cNvSpPr/>
          <p:nvPr/>
        </p:nvSpPr>
        <p:spPr>
          <a:xfrm>
            <a:off x="502920" y="5212080"/>
            <a:ext cx="11185855" cy="5486"/>
          </a:xfrm>
          <a:prstGeom prst="rect">
            <a:avLst/>
          </a:prstGeom>
          <a:solidFill>
            <a:srgbClr val="C9D8F2"/>
          </a:solidFill>
          <a:ln/>
        </p:spPr>
      </p:sp>
      <p:sp>
        <p:nvSpPr>
          <p:cNvPr id="57" name="Shape 55"/>
          <p:cNvSpPr/>
          <p:nvPr/>
        </p:nvSpPr>
        <p:spPr>
          <a:xfrm>
            <a:off x="2816352" y="5230368"/>
            <a:ext cx="3785616" cy="420624"/>
          </a:xfrm>
          <a:prstGeom prst="rect">
            <a:avLst/>
          </a:prstGeom>
          <a:solidFill>
            <a:srgbClr val="F4F7FD"/>
          </a:solidFill>
          <a:ln/>
        </p:spPr>
      </p:sp>
      <p:sp>
        <p:nvSpPr>
          <p:cNvPr id="58" name="Shape 56"/>
          <p:cNvSpPr/>
          <p:nvPr/>
        </p:nvSpPr>
        <p:spPr>
          <a:xfrm>
            <a:off x="6656832" y="5230368"/>
            <a:ext cx="32004" cy="420624"/>
          </a:xfrm>
          <a:prstGeom prst="rect">
            <a:avLst/>
          </a:prstGeom>
          <a:solidFill>
            <a:srgbClr val="0032A0"/>
          </a:solidFill>
          <a:ln/>
        </p:spPr>
      </p:sp>
      <p:sp>
        <p:nvSpPr>
          <p:cNvPr id="59" name="Text 57"/>
          <p:cNvSpPr/>
          <p:nvPr/>
        </p:nvSpPr>
        <p:spPr>
          <a:xfrm>
            <a:off x="502920" y="5230368"/>
            <a:ext cx="2651760" cy="420624"/>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Technology execution</a:t>
            </a:r>
            <a:endParaRPr lang="en-US" sz="1000" dirty="0"/>
          </a:p>
        </p:txBody>
      </p:sp>
      <p:sp>
        <p:nvSpPr>
          <p:cNvPr id="60" name="Text 58"/>
          <p:cNvSpPr/>
          <p:nvPr/>
        </p:nvSpPr>
        <p:spPr>
          <a:xfrm>
            <a:off x="2926080" y="5230368"/>
            <a:ext cx="3602736" cy="420624"/>
          </a:xfrm>
          <a:prstGeom prst="rect">
            <a:avLst/>
          </a:prstGeom>
          <a:noFill/>
          <a:ln/>
        </p:spPr>
        <p:txBody>
          <a:bodyPr wrap="square" lIns="0" tIns="0" rIns="0" bIns="0" rtlCol="0" anchor="ctr"/>
          <a:lstStyle/>
          <a:p>
            <a:pPr marL="0" indent="0">
              <a:lnSpc>
                <a:spcPct val="102000"/>
              </a:lnSpc>
              <a:buNone/>
            </a:pPr>
            <a:r>
              <a:rPr lang="en-US" sz="1000" dirty="0">
                <a:solidFill>
                  <a:srgbClr val="46577A"/>
                </a:solidFill>
                <a:latin typeface="Aptos" pitchFamily="34" charset="0"/>
                <a:ea typeface="Aptos" pitchFamily="34" charset="-122"/>
                <a:cs typeface="Aptos" pitchFamily="34" charset="-120"/>
              </a:rPr>
              <a:t>Verified AI initiatives underperform or introduce model, data or cyber risk</a:t>
            </a:r>
            <a:endParaRPr lang="en-US" sz="1000" dirty="0"/>
          </a:p>
        </p:txBody>
      </p:sp>
      <p:sp>
        <p:nvSpPr>
          <p:cNvPr id="61" name="Text 59"/>
          <p:cNvSpPr/>
          <p:nvPr/>
        </p:nvSpPr>
        <p:spPr>
          <a:xfrm>
            <a:off x="6784848" y="5230368"/>
            <a:ext cx="4901184" cy="420624"/>
          </a:xfrm>
          <a:prstGeom prst="rect">
            <a:avLst/>
          </a:prstGeom>
          <a:noFill/>
          <a:ln/>
        </p:spPr>
        <p:txBody>
          <a:bodyPr wrap="square" lIns="0" tIns="0" rIns="0" bIns="0" rtlCol="0" anchor="ctr"/>
          <a:lstStyle/>
          <a:p>
            <a:pPr marL="0" indent="0">
              <a:lnSpc>
                <a:spcPct val="102000"/>
              </a:lnSpc>
              <a:buNone/>
            </a:pPr>
            <a:r>
              <a:rPr lang="en-US" sz="1000" dirty="0">
                <a:solidFill>
                  <a:srgbClr val="041E47"/>
                </a:solidFill>
                <a:latin typeface="Aptos" pitchFamily="34" charset="0"/>
                <a:ea typeface="Aptos" pitchFamily="34" charset="-122"/>
                <a:cs typeface="Aptos" pitchFamily="34" charset="-120"/>
              </a:rPr>
              <a:t>Apply prevent -&gt; detect -&gt; respond -&gt; recover -&gt; learn; do not outpace risk controls</a:t>
            </a:r>
            <a:endParaRPr lang="en-US" sz="1000" dirty="0"/>
          </a:p>
        </p:txBody>
      </p:sp>
      <p:sp>
        <p:nvSpPr>
          <p:cNvPr id="62" name="Shape 60"/>
          <p:cNvSpPr/>
          <p:nvPr/>
        </p:nvSpPr>
        <p:spPr>
          <a:xfrm>
            <a:off x="502920" y="5650992"/>
            <a:ext cx="11185855" cy="5486"/>
          </a:xfrm>
          <a:prstGeom prst="rect">
            <a:avLst/>
          </a:prstGeom>
          <a:solidFill>
            <a:srgbClr val="C9D8F2"/>
          </a:solidFill>
          <a:ln/>
        </p:spPr>
      </p:sp>
      <p:sp>
        <p:nvSpPr>
          <p:cNvPr id="63" name="Shape 61"/>
          <p:cNvSpPr/>
          <p:nvPr/>
        </p:nvSpPr>
        <p:spPr>
          <a:xfrm>
            <a:off x="502920" y="5724144"/>
            <a:ext cx="6400800" cy="493776"/>
          </a:xfrm>
          <a:prstGeom prst="rect">
            <a:avLst/>
          </a:prstGeom>
          <a:solidFill>
            <a:srgbClr val="FFFFFF"/>
          </a:solidFill>
          <a:ln w="9525">
            <a:solidFill>
              <a:srgbClr val="6B7280"/>
            </a:solidFill>
            <a:prstDash val="solid"/>
          </a:ln>
        </p:spPr>
      </p:sp>
      <p:sp>
        <p:nvSpPr>
          <p:cNvPr id="64" name="Text 62"/>
          <p:cNvSpPr/>
          <p:nvPr/>
        </p:nvSpPr>
        <p:spPr>
          <a:xfrm>
            <a:off x="649224" y="5724144"/>
            <a:ext cx="6126480" cy="493776"/>
          </a:xfrm>
          <a:prstGeom prst="rect">
            <a:avLst/>
          </a:prstGeom>
          <a:noFill/>
          <a:ln/>
        </p:spPr>
        <p:txBody>
          <a:bodyPr wrap="square" lIns="0" tIns="0" rIns="0" bIns="0" rtlCol="0" anchor="ctr"/>
          <a:lstStyle/>
          <a:p>
            <a:pPr marL="0" indent="0">
              <a:buNone/>
            </a:pPr>
            <a:r>
              <a:rPr lang="en-US" sz="900" dirty="0">
                <a:solidFill>
                  <a:srgbClr val="46577A"/>
                </a:solidFill>
                <a:latin typeface="Aptos" pitchFamily="34" charset="0"/>
                <a:ea typeface="Aptos" pitchFamily="34" charset="-122"/>
                <a:cs typeface="Aptos" pitchFamily="34" charset="-120"/>
              </a:rPr>
              <a:t>Risks are not independent. A fuel shock propagates simultaneously into the fuel/FX, cost-productivity and demand-weakness rows. The quarterly gate reviews propagation across rows; operational resilience limits how far any single failure travels.</a:t>
            </a:r>
            <a:endParaRPr lang="en-US" sz="900" dirty="0"/>
          </a:p>
        </p:txBody>
      </p:sp>
      <p:sp>
        <p:nvSpPr>
          <p:cNvPr id="65" name="Shape 63"/>
          <p:cNvSpPr/>
          <p:nvPr/>
        </p:nvSpPr>
        <p:spPr>
          <a:xfrm>
            <a:off x="7059168" y="5779008"/>
            <a:ext cx="1344168" cy="173736"/>
          </a:xfrm>
          <a:prstGeom prst="rect">
            <a:avLst/>
          </a:prstGeom>
          <a:solidFill>
            <a:srgbClr val="FFFFFF"/>
          </a:solidFill>
          <a:ln w="9525">
            <a:solidFill>
              <a:srgbClr val="6B7280"/>
            </a:solidFill>
            <a:prstDash val="dash"/>
          </a:ln>
        </p:spPr>
      </p:sp>
      <p:sp>
        <p:nvSpPr>
          <p:cNvPr id="66" name="Text 64"/>
          <p:cNvSpPr/>
          <p:nvPr/>
        </p:nvSpPr>
        <p:spPr>
          <a:xfrm>
            <a:off x="7059168" y="5779008"/>
            <a:ext cx="1344168"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67" name="Text 65"/>
          <p:cNvSpPr/>
          <p:nvPr/>
        </p:nvSpPr>
        <p:spPr>
          <a:xfrm>
            <a:off x="8494776" y="5760720"/>
            <a:ext cx="3191256" cy="402336"/>
          </a:xfrm>
          <a:prstGeom prst="rect">
            <a:avLst/>
          </a:prstGeom>
          <a:noFill/>
          <a:ln/>
        </p:spPr>
        <p:txBody>
          <a:bodyPr wrap="square" lIns="0" tIns="0" rIns="0" bIns="0" rtlCol="0" anchor="t"/>
          <a:lstStyle/>
          <a:p>
            <a:r>
              <a:rPr lang="en-IN" sz="900" b="1" dirty="0"/>
              <a:t>Trigger thresholds are not yet established and should be defined through subsequent validation.</a:t>
            </a:r>
            <a:endParaRPr lang="en-US" sz="850" b="1" dirty="0"/>
          </a:p>
        </p:txBody>
      </p:sp>
      <p:sp>
        <p:nvSpPr>
          <p:cNvPr id="68" name="Shape 66"/>
          <p:cNvSpPr/>
          <p:nvPr/>
        </p:nvSpPr>
        <p:spPr>
          <a:xfrm>
            <a:off x="502920" y="6309360"/>
            <a:ext cx="11185855" cy="5486"/>
          </a:xfrm>
          <a:prstGeom prst="rect">
            <a:avLst/>
          </a:prstGeom>
          <a:solidFill>
            <a:srgbClr val="C9D8F2"/>
          </a:solidFill>
          <a:ln/>
        </p:spPr>
      </p:sp>
      <p:sp>
        <p:nvSpPr>
          <p:cNvPr id="69" name="Text 67"/>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70" name="Text 68"/>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Sections 15.1-15.3 - 08_External_Environment_Risk_Evidence_Risk - SRC-STR-INT-002 - compiled from Sections 2, 4-9, 11</a:t>
            </a:r>
            <a:endParaRPr lang="en-US" sz="800" dirty="0"/>
          </a:p>
        </p:txBody>
      </p:sp>
      <p:sp>
        <p:nvSpPr>
          <p:cNvPr id="71" name="Shape 69"/>
          <p:cNvSpPr/>
          <p:nvPr/>
        </p:nvSpPr>
        <p:spPr>
          <a:xfrm>
            <a:off x="11484864" y="6364224"/>
            <a:ext cx="201168" cy="201168"/>
          </a:xfrm>
          <a:prstGeom prst="rect">
            <a:avLst/>
          </a:prstGeom>
          <a:solidFill>
            <a:srgbClr val="0032A0"/>
          </a:solidFill>
          <a:ln/>
        </p:spPr>
      </p:sp>
      <p:sp>
        <p:nvSpPr>
          <p:cNvPr id="72" name="Text 70"/>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33</a:t>
            </a:r>
            <a:endParaRPr lang="en-US" sz="800" dirty="0"/>
          </a:p>
        </p:txBody>
      </p:sp>
      <p:sp>
        <p:nvSpPr>
          <p:cNvPr id="74" name="Shape 71"/>
          <p:cNvSpPr/>
          <p:nvPr/>
        </p:nvSpPr>
        <p:spPr>
          <a:xfrm>
            <a:off x="9598961" y="416052"/>
            <a:ext cx="82296" cy="82296"/>
          </a:xfrm>
          <a:prstGeom prst="rect">
            <a:avLst/>
          </a:prstGeom>
          <a:solidFill>
            <a:srgbClr val="D98A00"/>
          </a:solidFill>
          <a:ln/>
        </p:spPr>
      </p:sp>
      <p:sp>
        <p:nvSpPr>
          <p:cNvPr id="75" name="Text 72"/>
          <p:cNvSpPr/>
          <p:nvPr/>
        </p:nvSpPr>
        <p:spPr>
          <a:xfrm>
            <a:off x="8979408" y="365760"/>
            <a:ext cx="2706624" cy="182880"/>
          </a:xfrm>
          <a:prstGeom prst="rect">
            <a:avLst/>
          </a:prstGeom>
          <a:noFill/>
          <a:ln/>
        </p:spPr>
        <p:txBody>
          <a:bodyPr wrap="square" lIns="0" tIns="0" rIns="0" bIns="0" rtlCol="0" anchor="ctr"/>
          <a:lstStyle/>
          <a:p>
            <a:pPr marL="0" indent="0" algn="r">
              <a:buNone/>
            </a:pPr>
            <a:r>
              <a:rPr lang="en-US" sz="850" b="1" dirty="0">
                <a:solidFill>
                  <a:srgbClr val="D98A00"/>
                </a:solidFill>
                <a:latin typeface="Aptos" pitchFamily="34" charset="0"/>
                <a:ea typeface="Aptos" pitchFamily="34" charset="-122"/>
                <a:cs typeface="Aptos" pitchFamily="34" charset="-120"/>
              </a:rPr>
              <a:t>ENABLE  -  OPERATIONAL RESILIENCE</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365760"/>
            <a:ext cx="11185855" cy="182880"/>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10 - EXECUTION AND GOVERNANCE</a:t>
            </a:r>
            <a:endParaRPr lang="en-US" sz="1000" dirty="0"/>
          </a:p>
        </p:txBody>
      </p:sp>
      <p:sp>
        <p:nvSpPr>
          <p:cNvPr id="3" name="Shape 1"/>
          <p:cNvSpPr/>
          <p:nvPr/>
        </p:nvSpPr>
        <p:spPr>
          <a:xfrm>
            <a:off x="502919" y="571500"/>
            <a:ext cx="2084163" cy="45719"/>
          </a:xfrm>
          <a:prstGeom prst="rect">
            <a:avLst/>
          </a:prstGeom>
          <a:solidFill>
            <a:srgbClr val="0032A0"/>
          </a:solidFill>
          <a:ln/>
        </p:spPr>
      </p:sp>
      <p:sp>
        <p:nvSpPr>
          <p:cNvPr id="4" name="Text 2"/>
          <p:cNvSpPr/>
          <p:nvPr/>
        </p:nvSpPr>
        <p:spPr>
          <a:xfrm>
            <a:off x="502920" y="653796"/>
            <a:ext cx="11185855" cy="749808"/>
          </a:xfrm>
          <a:prstGeom prst="rect">
            <a:avLst/>
          </a:prstGeom>
          <a:noFill/>
          <a:ln/>
        </p:spPr>
        <p:txBody>
          <a:bodyPr wrap="square" lIns="0" tIns="0" rIns="0" bIns="0" rtlCol="0" anchor="t"/>
          <a:lstStyle/>
          <a:p>
            <a:pPr marL="0" indent="0">
              <a:lnSpc>
                <a:spcPct val="104000"/>
              </a:lnSpc>
              <a:buNone/>
            </a:pPr>
            <a:r>
              <a:rPr lang="en-US" sz="2250" b="1" dirty="0">
                <a:solidFill>
                  <a:srgbClr val="041E47"/>
                </a:solidFill>
                <a:latin typeface="Aptos Display" pitchFamily="34" charset="0"/>
                <a:ea typeface="Aptos Display" pitchFamily="34" charset="-122"/>
                <a:cs typeface="Aptos Display" pitchFamily="34" charset="-120"/>
              </a:rPr>
              <a:t>Restore the economics of the capacity you already fly - and earn the right to decide on the capacity you add</a:t>
            </a:r>
            <a:endParaRPr lang="en-US" sz="2250" dirty="0"/>
          </a:p>
        </p:txBody>
      </p:sp>
      <p:sp>
        <p:nvSpPr>
          <p:cNvPr id="5" name="Text 3"/>
          <p:cNvSpPr/>
          <p:nvPr/>
        </p:nvSpPr>
        <p:spPr>
          <a:xfrm>
            <a:off x="502920" y="1444752"/>
            <a:ext cx="3401568" cy="219456"/>
          </a:xfrm>
          <a:prstGeom prst="rect">
            <a:avLst/>
          </a:prstGeom>
          <a:noFill/>
          <a:ln/>
        </p:spPr>
        <p:txBody>
          <a:bodyPr wrap="square" lIns="0" tIns="0" rIns="0" bIns="0" rtlCol="0" anchor="ctr"/>
          <a:lstStyle/>
          <a:p>
            <a:pPr marL="0" indent="0">
              <a:buNone/>
            </a:pPr>
            <a:r>
              <a:rPr lang="en-US" sz="1000" b="1" dirty="0">
                <a:solidFill>
                  <a:srgbClr val="041E47"/>
                </a:solidFill>
                <a:latin typeface="Aptos" pitchFamily="34" charset="0"/>
                <a:ea typeface="Aptos" pitchFamily="34" charset="-122"/>
                <a:cs typeface="Aptos" pitchFamily="34" charset="-120"/>
              </a:rPr>
              <a:t>WHAT THE EVIDENCE ESTABLISHES</a:t>
            </a:r>
            <a:endParaRPr lang="en-US" sz="1000" dirty="0"/>
          </a:p>
        </p:txBody>
      </p:sp>
      <p:sp>
        <p:nvSpPr>
          <p:cNvPr id="6" name="Shape 4"/>
          <p:cNvSpPr/>
          <p:nvPr/>
        </p:nvSpPr>
        <p:spPr>
          <a:xfrm>
            <a:off x="502920" y="1700783"/>
            <a:ext cx="2073190" cy="45719"/>
          </a:xfrm>
          <a:prstGeom prst="rect">
            <a:avLst/>
          </a:prstGeom>
          <a:solidFill>
            <a:srgbClr val="041E47"/>
          </a:solidFill>
          <a:ln/>
        </p:spPr>
      </p:sp>
      <p:sp>
        <p:nvSpPr>
          <p:cNvPr id="7" name="Text 5"/>
          <p:cNvSpPr/>
          <p:nvPr/>
        </p:nvSpPr>
        <p:spPr>
          <a:xfrm>
            <a:off x="502920" y="2121408"/>
            <a:ext cx="3401568" cy="2651760"/>
          </a:xfrm>
          <a:prstGeom prst="rect">
            <a:avLst/>
          </a:prstGeom>
          <a:noFill/>
          <a:ln/>
        </p:spPr>
        <p:txBody>
          <a:bodyPr wrap="square" lIns="0" tIns="0" rIns="0" bIns="0" rtlCol="0" anchor="t"/>
          <a:lstStyle/>
          <a:p>
            <a:pPr marL="0" indent="0">
              <a:lnSpc>
                <a:spcPct val="114000"/>
              </a:lnSpc>
              <a:spcAft>
                <a:spcPts val="800"/>
              </a:spcAft>
              <a:buNone/>
            </a:pPr>
            <a:r>
              <a:rPr lang="en-US" sz="1000" dirty="0">
                <a:solidFill>
                  <a:srgbClr val="041E47"/>
                </a:solidFill>
                <a:latin typeface="Aptos" pitchFamily="34" charset="0"/>
                <a:ea typeface="Aptos" pitchFamily="34" charset="-122"/>
                <a:cs typeface="Aptos" pitchFamily="34" charset="-120"/>
              </a:rPr>
              <a:t>-  Capacity (+9.5% ASK) outpaced demand (+4.0% passengers); RASK -3.0%, CASK +7.2%, spread compressed ~Rs. 0.49-0.50/ASK.</a:t>
            </a:r>
            <a:endParaRPr lang="en-US" sz="1000" dirty="0"/>
          </a:p>
          <a:p>
            <a:pPr marL="0" indent="0">
              <a:lnSpc>
                <a:spcPct val="114000"/>
              </a:lnSpc>
              <a:spcAft>
                <a:spcPts val="800"/>
              </a:spcAft>
              <a:buNone/>
            </a:pPr>
            <a:r>
              <a:rPr lang="en-US" sz="1000" dirty="0">
                <a:solidFill>
                  <a:srgbClr val="041E47"/>
                </a:solidFill>
                <a:latin typeface="Aptos" pitchFamily="34" charset="0"/>
                <a:ea typeface="Aptos" pitchFamily="34" charset="-122"/>
                <a:cs typeface="Aptos" pitchFamily="34" charset="-120"/>
              </a:rPr>
              <a:t>-  Non-fuel cost growth (+27.8%), not fuel, was the dominant cost driver.</a:t>
            </a:r>
            <a:endParaRPr lang="en-US" sz="1000" dirty="0"/>
          </a:p>
          <a:p>
            <a:pPr marL="0" indent="0">
              <a:lnSpc>
                <a:spcPct val="114000"/>
              </a:lnSpc>
              <a:spcAft>
                <a:spcPts val="800"/>
              </a:spcAft>
              <a:buNone/>
            </a:pPr>
            <a:r>
              <a:rPr lang="en-US" sz="1000" dirty="0">
                <a:solidFill>
                  <a:srgbClr val="041E47"/>
                </a:solidFill>
                <a:latin typeface="Aptos" pitchFamily="34" charset="0"/>
                <a:ea typeface="Aptos" pitchFamily="34" charset="-122"/>
                <a:cs typeface="Aptos" pitchFamily="34" charset="-120"/>
              </a:rPr>
              <a:t>-  Underlying economics remained positive: EBITDAR ex-FX Rs. 231.889B (+1.4%); profit ex-FX and exceptional Rs. 75.025B.</a:t>
            </a:r>
            <a:endParaRPr lang="en-US" sz="1000" dirty="0"/>
          </a:p>
          <a:p>
            <a:pPr marL="0" indent="0">
              <a:lnSpc>
                <a:spcPct val="114000"/>
              </a:lnSpc>
              <a:spcAft>
                <a:spcPts val="800"/>
              </a:spcAft>
              <a:buNone/>
            </a:pPr>
            <a:r>
              <a:rPr lang="en-US" sz="1000" dirty="0">
                <a:solidFill>
                  <a:srgbClr val="041E47"/>
                </a:solidFill>
                <a:latin typeface="Aptos" pitchFamily="34" charset="0"/>
                <a:ea typeface="Aptos" pitchFamily="34" charset="-122"/>
                <a:cs typeface="Aptos" pitchFamily="34" charset="-120"/>
              </a:rPr>
              <a:t>-  Scale expansion continued: 441 aircraft, 97 + 45 destinations, the Noida launch and A350 commitments.</a:t>
            </a:r>
            <a:endParaRPr lang="en-US" sz="1000" dirty="0"/>
          </a:p>
        </p:txBody>
      </p:sp>
      <p:sp>
        <p:nvSpPr>
          <p:cNvPr id="8" name="Shape 6"/>
          <p:cNvSpPr/>
          <p:nvPr/>
        </p:nvSpPr>
        <p:spPr>
          <a:xfrm>
            <a:off x="4059936" y="1444752"/>
            <a:ext cx="5486" cy="3200400"/>
          </a:xfrm>
          <a:prstGeom prst="rect">
            <a:avLst/>
          </a:prstGeom>
          <a:solidFill>
            <a:srgbClr val="C9D8F2"/>
          </a:solidFill>
          <a:ln/>
        </p:spPr>
      </p:sp>
      <p:sp>
        <p:nvSpPr>
          <p:cNvPr id="9" name="Text 7"/>
          <p:cNvSpPr/>
          <p:nvPr/>
        </p:nvSpPr>
        <p:spPr>
          <a:xfrm>
            <a:off x="4279392" y="1444752"/>
            <a:ext cx="3401568" cy="219456"/>
          </a:xfrm>
          <a:prstGeom prst="rect">
            <a:avLst/>
          </a:prstGeom>
          <a:noFill/>
          <a:ln/>
        </p:spPr>
        <p:txBody>
          <a:bodyPr wrap="square" lIns="0" tIns="0" rIns="0" bIns="0" rtlCol="0" anchor="ctr"/>
          <a:lstStyle/>
          <a:p>
            <a:pPr marL="0" indent="0">
              <a:buNone/>
            </a:pPr>
            <a:r>
              <a:rPr lang="en-US" sz="1000" b="1" dirty="0">
                <a:solidFill>
                  <a:srgbClr val="6B7280"/>
                </a:solidFill>
                <a:latin typeface="Aptos" pitchFamily="34" charset="0"/>
                <a:ea typeface="Aptos" pitchFamily="34" charset="-122"/>
                <a:cs typeface="Aptos" pitchFamily="34" charset="-120"/>
              </a:rPr>
              <a:t>WHAT IT DOES NOT ESTABLISH</a:t>
            </a:r>
            <a:endParaRPr lang="en-US" sz="1000" dirty="0"/>
          </a:p>
        </p:txBody>
      </p:sp>
      <p:sp>
        <p:nvSpPr>
          <p:cNvPr id="10" name="Shape 8"/>
          <p:cNvSpPr/>
          <p:nvPr/>
        </p:nvSpPr>
        <p:spPr>
          <a:xfrm>
            <a:off x="4279392" y="1700783"/>
            <a:ext cx="1811122" cy="45719"/>
          </a:xfrm>
          <a:prstGeom prst="rect">
            <a:avLst/>
          </a:prstGeom>
          <a:solidFill>
            <a:srgbClr val="6B7280"/>
          </a:solidFill>
          <a:ln/>
        </p:spPr>
      </p:sp>
      <p:sp>
        <p:nvSpPr>
          <p:cNvPr id="11" name="Shape 9"/>
          <p:cNvSpPr/>
          <p:nvPr/>
        </p:nvSpPr>
        <p:spPr>
          <a:xfrm>
            <a:off x="6309360" y="1819656"/>
            <a:ext cx="1371600" cy="173736"/>
          </a:xfrm>
          <a:prstGeom prst="rect">
            <a:avLst/>
          </a:prstGeom>
          <a:solidFill>
            <a:srgbClr val="FFFFFF"/>
          </a:solidFill>
          <a:ln w="9525">
            <a:solidFill>
              <a:srgbClr val="6B7280"/>
            </a:solidFill>
            <a:prstDash val="dash"/>
          </a:ln>
        </p:spPr>
      </p:sp>
      <p:sp>
        <p:nvSpPr>
          <p:cNvPr id="12" name="Text 10"/>
          <p:cNvSpPr/>
          <p:nvPr/>
        </p:nvSpPr>
        <p:spPr>
          <a:xfrm>
            <a:off x="6309360" y="1819656"/>
            <a:ext cx="1371600" cy="173736"/>
          </a:xfrm>
          <a:prstGeom prst="rect">
            <a:avLst/>
          </a:prstGeom>
          <a:noFill/>
          <a:ln/>
        </p:spPr>
        <p:txBody>
          <a:bodyPr wrap="square" lIns="0" tIns="0" rIns="0" bIns="0" rtlCol="0" anchor="ctr"/>
          <a:lstStyle/>
          <a:p>
            <a:pPr marL="0" indent="0" algn="ctr">
              <a:buNone/>
            </a:pPr>
            <a:r>
              <a:rPr lang="en-US" sz="900" b="1" dirty="0">
                <a:solidFill>
                  <a:srgbClr val="6B7280"/>
                </a:solidFill>
                <a:latin typeface="Aptos" pitchFamily="34" charset="0"/>
                <a:ea typeface="Aptos" pitchFamily="34" charset="-122"/>
                <a:cs typeface="Aptos" pitchFamily="34" charset="-120"/>
              </a:rPr>
              <a:t>NOT ESTABLISHED</a:t>
            </a:r>
            <a:endParaRPr lang="en-US" sz="900" dirty="0"/>
          </a:p>
        </p:txBody>
      </p:sp>
      <p:sp>
        <p:nvSpPr>
          <p:cNvPr id="13" name="Text 11"/>
          <p:cNvSpPr/>
          <p:nvPr/>
        </p:nvSpPr>
        <p:spPr>
          <a:xfrm>
            <a:off x="4279392" y="2121408"/>
            <a:ext cx="3401568" cy="2651760"/>
          </a:xfrm>
          <a:prstGeom prst="rect">
            <a:avLst/>
          </a:prstGeom>
          <a:noFill/>
          <a:ln/>
        </p:spPr>
        <p:txBody>
          <a:bodyPr wrap="square" lIns="0" tIns="0" rIns="0" bIns="0" rtlCol="0" anchor="t"/>
          <a:lstStyle/>
          <a:p>
            <a:pPr marL="0" indent="0">
              <a:lnSpc>
                <a:spcPct val="114000"/>
              </a:lnSpc>
              <a:spcAft>
                <a:spcPts val="800"/>
              </a:spcAft>
              <a:buNone/>
            </a:pPr>
            <a:r>
              <a:rPr lang="en-US" sz="1000" dirty="0">
                <a:solidFill>
                  <a:srgbClr val="6B7280"/>
                </a:solidFill>
                <a:latin typeface="Aptos" pitchFamily="34" charset="0"/>
                <a:ea typeface="Aptos" pitchFamily="34" charset="-122"/>
                <a:cs typeface="Aptos" pitchFamily="34" charset="-120"/>
              </a:rPr>
              <a:t>-  Whether the FY2026 divergence is structural or a one-off.</a:t>
            </a:r>
            <a:endParaRPr lang="en-US" sz="1000" dirty="0"/>
          </a:p>
          <a:p>
            <a:pPr marL="0" indent="0">
              <a:lnSpc>
                <a:spcPct val="114000"/>
              </a:lnSpc>
              <a:spcAft>
                <a:spcPts val="800"/>
              </a:spcAft>
              <a:buNone/>
            </a:pPr>
            <a:r>
              <a:rPr lang="en-US" sz="1000" dirty="0">
                <a:solidFill>
                  <a:srgbClr val="6B7280"/>
                </a:solidFill>
                <a:latin typeface="Aptos" pitchFamily="34" charset="0"/>
                <a:ea typeface="Aptos" pitchFamily="34" charset="-122"/>
                <a:cs typeface="Aptos" pitchFamily="34" charset="-120"/>
              </a:rPr>
              <a:t>-  Demand elasticity.</a:t>
            </a:r>
            <a:endParaRPr lang="en-US" sz="1000" dirty="0"/>
          </a:p>
          <a:p>
            <a:pPr marL="0" indent="0">
              <a:lnSpc>
                <a:spcPct val="114000"/>
              </a:lnSpc>
              <a:spcAft>
                <a:spcPts val="800"/>
              </a:spcAft>
              <a:buNone/>
            </a:pPr>
            <a:r>
              <a:rPr lang="en-US" sz="1000" dirty="0">
                <a:solidFill>
                  <a:srgbClr val="6B7280"/>
                </a:solidFill>
                <a:latin typeface="Aptos" pitchFamily="34" charset="0"/>
                <a:ea typeface="Aptos" pitchFamily="34" charset="-122"/>
                <a:cs typeface="Aptos" pitchFamily="34" charset="-120"/>
              </a:rPr>
              <a:t>-  Route-level domestic and international profitability.</a:t>
            </a:r>
            <a:endParaRPr lang="en-US" sz="1000" dirty="0"/>
          </a:p>
          <a:p>
            <a:pPr marL="0" indent="0">
              <a:lnSpc>
                <a:spcPct val="114000"/>
              </a:lnSpc>
              <a:spcAft>
                <a:spcPts val="800"/>
              </a:spcAft>
              <a:buNone/>
            </a:pPr>
            <a:r>
              <a:rPr lang="en-US" sz="1000" dirty="0">
                <a:solidFill>
                  <a:srgbClr val="6B7280"/>
                </a:solidFill>
                <a:latin typeface="Aptos" pitchFamily="34" charset="0"/>
                <a:ea typeface="Aptos" pitchFamily="34" charset="-122"/>
                <a:cs typeface="Aptos" pitchFamily="34" charset="-120"/>
              </a:rPr>
              <a:t>-  The FX-attributable share of the non-fuel increase.</a:t>
            </a:r>
            <a:endParaRPr lang="en-US" sz="1000" dirty="0"/>
          </a:p>
          <a:p>
            <a:pPr marL="0" indent="0">
              <a:lnSpc>
                <a:spcPct val="114000"/>
              </a:lnSpc>
              <a:spcAft>
                <a:spcPts val="800"/>
              </a:spcAft>
              <a:buNone/>
            </a:pPr>
            <a:r>
              <a:rPr lang="en-US" sz="1000" dirty="0">
                <a:solidFill>
                  <a:srgbClr val="6B7280"/>
                </a:solidFill>
                <a:latin typeface="Aptos" pitchFamily="34" charset="0"/>
                <a:ea typeface="Aptos" pitchFamily="34" charset="-122"/>
                <a:cs typeface="Aptos" pitchFamily="34" charset="-120"/>
              </a:rPr>
              <a:t>-  The Noida incremental-demand versus Delhi-cannibalisation split.</a:t>
            </a:r>
            <a:endParaRPr lang="en-US" sz="1000" dirty="0"/>
          </a:p>
          <a:p>
            <a:pPr marL="0" indent="0">
              <a:lnSpc>
                <a:spcPct val="114000"/>
              </a:lnSpc>
              <a:spcAft>
                <a:spcPts val="800"/>
              </a:spcAft>
              <a:buNone/>
            </a:pPr>
            <a:r>
              <a:rPr lang="en-US" sz="1000" dirty="0">
                <a:solidFill>
                  <a:srgbClr val="6B7280"/>
                </a:solidFill>
                <a:latin typeface="Aptos" pitchFamily="34" charset="0"/>
                <a:ea typeface="Aptos" pitchFamily="34" charset="-122"/>
                <a:cs typeface="Aptos" pitchFamily="34" charset="-120"/>
              </a:rPr>
              <a:t>-  Any quantified future improvement in profit, RASK or cost.</a:t>
            </a:r>
            <a:endParaRPr lang="en-US" sz="1000" dirty="0"/>
          </a:p>
        </p:txBody>
      </p:sp>
      <p:sp>
        <p:nvSpPr>
          <p:cNvPr id="14" name="Shape 12"/>
          <p:cNvSpPr/>
          <p:nvPr/>
        </p:nvSpPr>
        <p:spPr>
          <a:xfrm>
            <a:off x="7836408" y="1444752"/>
            <a:ext cx="5486" cy="3200400"/>
          </a:xfrm>
          <a:prstGeom prst="rect">
            <a:avLst/>
          </a:prstGeom>
          <a:solidFill>
            <a:srgbClr val="C9D8F2"/>
          </a:solidFill>
          <a:ln/>
        </p:spPr>
      </p:sp>
      <p:sp>
        <p:nvSpPr>
          <p:cNvPr id="15" name="Text 13"/>
          <p:cNvSpPr/>
          <p:nvPr/>
        </p:nvSpPr>
        <p:spPr>
          <a:xfrm>
            <a:off x="8055864" y="1444752"/>
            <a:ext cx="3630168" cy="219456"/>
          </a:xfrm>
          <a:prstGeom prst="rect">
            <a:avLst/>
          </a:prstGeom>
          <a:noFill/>
          <a:ln/>
        </p:spPr>
        <p:txBody>
          <a:bodyPr wrap="square" lIns="0" tIns="0" rIns="0" bIns="0" rtlCol="0" anchor="ctr"/>
          <a:lstStyle/>
          <a:p>
            <a:pPr marL="0" indent="0">
              <a:buNone/>
            </a:pPr>
            <a:r>
              <a:rPr lang="en-US" sz="1000" b="1" dirty="0">
                <a:solidFill>
                  <a:srgbClr val="0032A0"/>
                </a:solidFill>
                <a:latin typeface="Aptos" pitchFamily="34" charset="0"/>
                <a:ea typeface="Aptos" pitchFamily="34" charset="-122"/>
                <a:cs typeface="Aptos" pitchFamily="34" charset="-120"/>
              </a:rPr>
              <a:t>WHAT MANAGEMENT SHOULD DO</a:t>
            </a:r>
            <a:endParaRPr lang="en-US" sz="1000" dirty="0"/>
          </a:p>
        </p:txBody>
      </p:sp>
      <p:sp>
        <p:nvSpPr>
          <p:cNvPr id="16" name="Shape 14"/>
          <p:cNvSpPr/>
          <p:nvPr/>
        </p:nvSpPr>
        <p:spPr>
          <a:xfrm>
            <a:off x="8055864" y="1700783"/>
            <a:ext cx="1980234" cy="45719"/>
          </a:xfrm>
          <a:prstGeom prst="rect">
            <a:avLst/>
          </a:prstGeom>
          <a:solidFill>
            <a:srgbClr val="0032A0"/>
          </a:solidFill>
          <a:ln/>
        </p:spPr>
      </p:sp>
      <p:sp>
        <p:nvSpPr>
          <p:cNvPr id="17" name="Shape 15"/>
          <p:cNvSpPr/>
          <p:nvPr/>
        </p:nvSpPr>
        <p:spPr>
          <a:xfrm>
            <a:off x="10204704" y="1819656"/>
            <a:ext cx="1481328" cy="173736"/>
          </a:xfrm>
          <a:prstGeom prst="rect">
            <a:avLst/>
          </a:prstGeom>
          <a:solidFill>
            <a:srgbClr val="0032A0"/>
          </a:solidFill>
          <a:ln/>
        </p:spPr>
      </p:sp>
      <p:sp>
        <p:nvSpPr>
          <p:cNvPr id="18" name="Text 16"/>
          <p:cNvSpPr/>
          <p:nvPr/>
        </p:nvSpPr>
        <p:spPr>
          <a:xfrm>
            <a:off x="10204704" y="1819656"/>
            <a:ext cx="1481328"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RECOMMENDATION</a:t>
            </a:r>
            <a:endParaRPr lang="en-US" sz="900" dirty="0"/>
          </a:p>
        </p:txBody>
      </p:sp>
      <p:sp>
        <p:nvSpPr>
          <p:cNvPr id="19" name="Text 17"/>
          <p:cNvSpPr/>
          <p:nvPr/>
        </p:nvSpPr>
        <p:spPr>
          <a:xfrm>
            <a:off x="8055864" y="2121408"/>
            <a:ext cx="3630168" cy="2651760"/>
          </a:xfrm>
          <a:prstGeom prst="rect">
            <a:avLst/>
          </a:prstGeom>
          <a:noFill/>
          <a:ln/>
        </p:spPr>
        <p:txBody>
          <a:bodyPr wrap="square" lIns="0" tIns="0" rIns="0" bIns="0" rtlCol="0" anchor="t"/>
          <a:lstStyle/>
          <a:p>
            <a:pPr marL="0" indent="0">
              <a:lnSpc>
                <a:spcPct val="114000"/>
              </a:lnSpc>
              <a:spcAft>
                <a:spcPts val="500"/>
              </a:spcAft>
              <a:buNone/>
            </a:pPr>
            <a:r>
              <a:rPr lang="en-US" sz="900" dirty="0">
                <a:solidFill>
                  <a:srgbClr val="041E47"/>
                </a:solidFill>
                <a:latin typeface="Aptos" pitchFamily="34" charset="0"/>
                <a:ea typeface="Aptos" pitchFamily="34" charset="-122"/>
                <a:cs typeface="Aptos" pitchFamily="34" charset="-120"/>
              </a:rPr>
              <a:t>-  ACT NOW - unit revenue (A) and addressable cost productivity (B).</a:t>
            </a:r>
            <a:endParaRPr lang="en-US" sz="900" dirty="0"/>
          </a:p>
          <a:p>
            <a:pPr marL="0" indent="0">
              <a:lnSpc>
                <a:spcPct val="114000"/>
              </a:lnSpc>
              <a:spcAft>
                <a:spcPts val="500"/>
              </a:spcAft>
              <a:buNone/>
            </a:pPr>
            <a:r>
              <a:rPr lang="en-US" sz="900" dirty="0">
                <a:solidFill>
                  <a:srgbClr val="041E47"/>
                </a:solidFill>
                <a:latin typeface="Aptos" pitchFamily="34" charset="0"/>
                <a:ea typeface="Aptos" pitchFamily="34" charset="-122"/>
                <a:cs typeface="Aptos" pitchFamily="34" charset="-120"/>
              </a:rPr>
              <a:t>-  MONITOR - capacity-demand divergence against the FY2026 baseline, quarterly.</a:t>
            </a:r>
            <a:endParaRPr lang="en-US" sz="900" dirty="0"/>
          </a:p>
          <a:p>
            <a:pPr marL="0" indent="0">
              <a:lnSpc>
                <a:spcPct val="114000"/>
              </a:lnSpc>
              <a:spcAft>
                <a:spcPts val="500"/>
              </a:spcAft>
              <a:buNone/>
            </a:pPr>
            <a:r>
              <a:rPr lang="en-US" sz="900" dirty="0">
                <a:solidFill>
                  <a:srgbClr val="041E47"/>
                </a:solidFill>
                <a:latin typeface="Aptos" pitchFamily="34" charset="0"/>
                <a:ea typeface="Aptos" pitchFamily="34" charset="-122"/>
                <a:cs typeface="Aptos" pitchFamily="34" charset="-120"/>
              </a:rPr>
              <a:t>-  ACTIVATE IF CONFIRMED - capacity pacing (C), on the evidence gate.</a:t>
            </a:r>
            <a:endParaRPr lang="en-US" sz="900" dirty="0"/>
          </a:p>
          <a:p>
            <a:pPr marL="0" indent="0">
              <a:lnSpc>
                <a:spcPct val="114000"/>
              </a:lnSpc>
              <a:spcAft>
                <a:spcPts val="500"/>
              </a:spcAft>
              <a:buNone/>
            </a:pPr>
            <a:r>
              <a:rPr lang="en-US" sz="900" dirty="0">
                <a:solidFill>
                  <a:srgbClr val="041E47"/>
                </a:solidFill>
                <a:latin typeface="Aptos" pitchFamily="34" charset="0"/>
                <a:ea typeface="Aptos" pitchFamily="34" charset="-122"/>
                <a:cs typeface="Aptos" pitchFamily="34" charset="-120"/>
              </a:rPr>
              <a:t>-  BUILD FIRST - route-level economics capability, in Phase 2.</a:t>
            </a:r>
            <a:endParaRPr lang="en-US" sz="900" dirty="0"/>
          </a:p>
          <a:p>
            <a:pPr marL="0" indent="0">
              <a:lnSpc>
                <a:spcPct val="114000"/>
              </a:lnSpc>
              <a:spcAft>
                <a:spcPts val="500"/>
              </a:spcAft>
              <a:buNone/>
            </a:pPr>
            <a:r>
              <a:rPr lang="en-US" sz="900" dirty="0">
                <a:solidFill>
                  <a:srgbClr val="041E47"/>
                </a:solidFill>
                <a:latin typeface="Aptos" pitchFamily="34" charset="0"/>
                <a:ea typeface="Aptos" pitchFamily="34" charset="-122"/>
                <a:cs typeface="Aptos" pitchFamily="34" charset="-120"/>
              </a:rPr>
              <a:t>-  ENABLE - operational resilience as a condition on execution; not a seventh alternative and not a change to the recommendation.</a:t>
            </a:r>
            <a:endParaRPr lang="en-US" sz="900" dirty="0"/>
          </a:p>
        </p:txBody>
      </p:sp>
      <p:sp>
        <p:nvSpPr>
          <p:cNvPr id="20" name="Shape 18"/>
          <p:cNvSpPr/>
          <p:nvPr/>
        </p:nvSpPr>
        <p:spPr>
          <a:xfrm>
            <a:off x="0" y="4956048"/>
            <a:ext cx="12191695" cy="1280160"/>
          </a:xfrm>
          <a:prstGeom prst="rect">
            <a:avLst/>
          </a:prstGeom>
          <a:solidFill>
            <a:srgbClr val="041E47"/>
          </a:solidFill>
          <a:ln/>
        </p:spPr>
      </p:sp>
      <p:pic>
        <p:nvPicPr>
          <p:cNvPr id="21" name="Image 0" descr="assets/mirror.jpg"/>
          <p:cNvPicPr>
            <a:picLocks noChangeAspect="1"/>
          </p:cNvPicPr>
          <p:nvPr/>
        </p:nvPicPr>
        <p:blipFill>
          <a:blip r:embed="rId3"/>
          <a:srcRect/>
          <a:stretch/>
        </p:blipFill>
        <p:spPr>
          <a:xfrm>
            <a:off x="9920326" y="4956048"/>
            <a:ext cx="2271370" cy="1280160"/>
          </a:xfrm>
          <a:prstGeom prst="rect">
            <a:avLst/>
          </a:prstGeom>
        </p:spPr>
      </p:pic>
      <p:sp>
        <p:nvSpPr>
          <p:cNvPr id="22" name="Shape 19"/>
          <p:cNvSpPr/>
          <p:nvPr/>
        </p:nvSpPr>
        <p:spPr>
          <a:xfrm>
            <a:off x="9892894" y="4956048"/>
            <a:ext cx="27432" cy="1280160"/>
          </a:xfrm>
          <a:prstGeom prst="rect">
            <a:avLst/>
          </a:prstGeom>
          <a:solidFill>
            <a:srgbClr val="D98A00"/>
          </a:solidFill>
          <a:ln/>
        </p:spPr>
      </p:sp>
      <p:sp>
        <p:nvSpPr>
          <p:cNvPr id="23" name="Text 20"/>
          <p:cNvSpPr/>
          <p:nvPr/>
        </p:nvSpPr>
        <p:spPr>
          <a:xfrm>
            <a:off x="502920" y="4956048"/>
            <a:ext cx="9143086" cy="1280160"/>
          </a:xfrm>
          <a:prstGeom prst="rect">
            <a:avLst/>
          </a:prstGeom>
          <a:noFill/>
          <a:ln/>
        </p:spPr>
        <p:txBody>
          <a:bodyPr wrap="square" lIns="0" tIns="0" rIns="0" bIns="0" rtlCol="0" anchor="ctr"/>
          <a:lstStyle/>
          <a:p>
            <a:pPr marL="0" indent="0" algn="ctr">
              <a:buNone/>
            </a:pPr>
            <a:r>
              <a:rPr lang="en-US" sz="2400" b="1" dirty="0">
                <a:solidFill>
                  <a:srgbClr val="FFFFFF"/>
                </a:solidFill>
                <a:latin typeface="Aptos Display" pitchFamily="34" charset="0"/>
                <a:ea typeface="Aptos Display" pitchFamily="34" charset="-122"/>
                <a:cs typeface="Aptos Display" pitchFamily="34" charset="-120"/>
              </a:rPr>
              <a:t>Scale is not the problem. Unabsorbed scale is.</a:t>
            </a:r>
            <a:endParaRPr lang="en-US" sz="2400" dirty="0"/>
          </a:p>
        </p:txBody>
      </p:sp>
      <p:sp>
        <p:nvSpPr>
          <p:cNvPr id="24" name="Shape 21"/>
          <p:cNvSpPr/>
          <p:nvPr/>
        </p:nvSpPr>
        <p:spPr>
          <a:xfrm>
            <a:off x="502920" y="6309360"/>
            <a:ext cx="11185855" cy="5486"/>
          </a:xfrm>
          <a:prstGeom prst="rect">
            <a:avLst/>
          </a:prstGeom>
          <a:solidFill>
            <a:srgbClr val="C9D8F2"/>
          </a:solidFill>
          <a:ln/>
        </p:spPr>
      </p:sp>
      <p:sp>
        <p:nvSpPr>
          <p:cNvPr id="25" name="Text 22"/>
          <p:cNvSpPr/>
          <p:nvPr/>
        </p:nvSpPr>
        <p:spPr>
          <a:xfrm>
            <a:off x="502920" y="6373368"/>
            <a:ext cx="2926080" cy="219456"/>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IndiGo CIS - Business Consulting</a:t>
            </a:r>
            <a:endParaRPr lang="en-US" sz="800" dirty="0"/>
          </a:p>
        </p:txBody>
      </p:sp>
      <p:sp>
        <p:nvSpPr>
          <p:cNvPr id="26" name="Text 23"/>
          <p:cNvSpPr/>
          <p:nvPr/>
        </p:nvSpPr>
        <p:spPr>
          <a:xfrm>
            <a:off x="3520440" y="6373368"/>
            <a:ext cx="7726680" cy="219456"/>
          </a:xfrm>
          <a:prstGeom prst="rect">
            <a:avLst/>
          </a:prstGeom>
          <a:noFill/>
          <a:ln/>
        </p:spPr>
        <p:txBody>
          <a:bodyPr wrap="square" lIns="0" tIns="0" rIns="0" bIns="0" rtlCol="0" anchor="ctr"/>
          <a:lstStyle/>
          <a:p>
            <a:pPr marL="0" indent="0" algn="l">
              <a:buNone/>
            </a:pPr>
            <a:r>
              <a:rPr lang="en-US" sz="800" dirty="0">
                <a:solidFill>
                  <a:srgbClr val="6B7280"/>
                </a:solidFill>
                <a:latin typeface="Aptos" pitchFamily="34" charset="0"/>
                <a:ea typeface="Aptos" pitchFamily="34" charset="-122"/>
                <a:cs typeface="Aptos" pitchFamily="34" charset="-120"/>
              </a:rPr>
              <a:t>Source: Conclusion of the CIS report - SRC-FY26-002 - SRC-FY26-006 - Appendix B (research gaps)</a:t>
            </a:r>
            <a:endParaRPr lang="en-US" sz="800" dirty="0"/>
          </a:p>
        </p:txBody>
      </p:sp>
      <p:sp>
        <p:nvSpPr>
          <p:cNvPr id="27" name="Shape 24"/>
          <p:cNvSpPr/>
          <p:nvPr/>
        </p:nvSpPr>
        <p:spPr>
          <a:xfrm>
            <a:off x="11484864" y="6364224"/>
            <a:ext cx="201168" cy="201168"/>
          </a:xfrm>
          <a:prstGeom prst="rect">
            <a:avLst/>
          </a:prstGeom>
          <a:solidFill>
            <a:srgbClr val="0032A0"/>
          </a:solidFill>
          <a:ln/>
        </p:spPr>
      </p:sp>
      <p:sp>
        <p:nvSpPr>
          <p:cNvPr id="28" name="Text 25"/>
          <p:cNvSpPr/>
          <p:nvPr/>
        </p:nvSpPr>
        <p:spPr>
          <a:xfrm>
            <a:off x="11484864" y="6364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34</a:t>
            </a:r>
            <a:endParaRPr lang="en-US" sz="800" dirty="0"/>
          </a:p>
        </p:txBody>
      </p:sp>
      <p:sp>
        <p:nvSpPr>
          <p:cNvPr id="30" name="Shape 26"/>
          <p:cNvSpPr/>
          <p:nvPr/>
        </p:nvSpPr>
        <p:spPr>
          <a:xfrm>
            <a:off x="9646006" y="435344"/>
            <a:ext cx="82296" cy="82296"/>
          </a:xfrm>
          <a:prstGeom prst="rect">
            <a:avLst/>
          </a:prstGeom>
          <a:solidFill>
            <a:srgbClr val="D98A00"/>
          </a:solidFill>
          <a:ln/>
        </p:spPr>
      </p:sp>
      <p:sp>
        <p:nvSpPr>
          <p:cNvPr id="31" name="Text 27"/>
          <p:cNvSpPr/>
          <p:nvPr/>
        </p:nvSpPr>
        <p:spPr>
          <a:xfrm>
            <a:off x="8979408" y="365760"/>
            <a:ext cx="2706624" cy="182880"/>
          </a:xfrm>
          <a:prstGeom prst="rect">
            <a:avLst/>
          </a:prstGeom>
          <a:noFill/>
          <a:ln/>
        </p:spPr>
        <p:txBody>
          <a:bodyPr wrap="square" lIns="0" tIns="0" rIns="0" bIns="0" rtlCol="0" anchor="ctr"/>
          <a:lstStyle/>
          <a:p>
            <a:pPr marL="0" indent="0" algn="r">
              <a:buNone/>
            </a:pPr>
            <a:r>
              <a:rPr lang="en-US" sz="850" b="1" dirty="0">
                <a:solidFill>
                  <a:srgbClr val="D98A00"/>
                </a:solidFill>
                <a:latin typeface="Aptos" pitchFamily="34" charset="0"/>
                <a:ea typeface="Aptos" pitchFamily="34" charset="-122"/>
                <a:cs typeface="Aptos" pitchFamily="34" charset="-120"/>
              </a:rPr>
              <a:t>ENABLE  -  OPERATIONAL RESILIENCE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1263</TotalTime>
  <Words>10478</Words>
  <Application>Microsoft Office PowerPoint</Application>
  <PresentationFormat>Widescreen</PresentationFormat>
  <Paragraphs>1372</Paragraphs>
  <Slides>34</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InterGlobe Aviation Limited (IndiGo)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IndiGo's Sustained Market Leadership in Indian Aviation</dc:title>
  <dc:subject>A Strategic Assessment of Competitive Advantage and the Road Ahead</dc:subject>
  <dc:creator>IndiGo CIS - Business Consulting</dc:creator>
  <cp:lastModifiedBy>M PRAVEEN KUMAR</cp:lastModifiedBy>
  <cp:revision>21</cp:revision>
  <dcterms:created xsi:type="dcterms:W3CDTF">2026-08-20T00:02:57Z</dcterms:created>
  <dcterms:modified xsi:type="dcterms:W3CDTF">2026-08-24T20:07:40Z</dcterms:modified>
</cp:coreProperties>
</file>