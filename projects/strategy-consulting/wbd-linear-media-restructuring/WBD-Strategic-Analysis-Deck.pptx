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12192000"/>
  <p:notesSz cx="6858000" cy="9144000"/>
  <p:embeddedFontLst>
    <p:embeddedFont>
      <p:font typeface="Quattrocento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1BCAE5-81AF-4A94-9E23-7C44BDCA34C7}">
  <a:tblStyle styleId="{981BCAE5-81AF-4A94-9E23-7C44BDCA34C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Quattrocento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QuattrocentoSans-italic.fntdata"/><Relationship Id="rId30" Type="http://schemas.openxmlformats.org/officeDocument/2006/relationships/font" Target="fonts/QuattrocentoSans-bold.fntdata"/><Relationship Id="rId11" Type="http://schemas.openxmlformats.org/officeDocument/2006/relationships/slide" Target="slides/slide5.xml"/><Relationship Id="rId10" Type="http://schemas.openxmlformats.org/officeDocument/2006/relationships/slide" Target="slides/slide4.xml"/><Relationship Id="rId32" Type="http://schemas.openxmlformats.org/officeDocument/2006/relationships/font" Target="fonts/Quattrocento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8.png"/><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1.png"/><Relationship Id="rId7" Type="http://schemas.openxmlformats.org/officeDocument/2006/relationships/image" Target="../media/image5.png"/><Relationship Id="rId8"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sp>
        <p:nvSpPr>
          <p:cNvPr id="84" name="Google Shape;84;p13"/>
          <p:cNvSpPr txBox="1"/>
          <p:nvPr/>
        </p:nvSpPr>
        <p:spPr>
          <a:xfrm>
            <a:off x="571500" y="2000250"/>
            <a:ext cx="11601450" cy="1314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4500" u="none" cap="none" strike="noStrike">
                <a:solidFill>
                  <a:srgbClr val="F8FAFC"/>
                </a:solidFill>
                <a:latin typeface="Quattrocento Sans"/>
                <a:ea typeface="Quattrocento Sans"/>
                <a:cs typeface="Quattrocento Sans"/>
                <a:sym typeface="Quattrocento Sans"/>
              </a:rPr>
              <a:t>Strategic Challenges &amp; Prospects of Warner Bros. Discovery</a:t>
            </a:r>
            <a:endParaRPr/>
          </a:p>
        </p:txBody>
      </p:sp>
      <p:sp>
        <p:nvSpPr>
          <p:cNvPr id="85" name="Google Shape;85;p13"/>
          <p:cNvSpPr txBox="1"/>
          <p:nvPr/>
        </p:nvSpPr>
        <p:spPr>
          <a:xfrm>
            <a:off x="571500" y="3733800"/>
            <a:ext cx="1104900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800" u="none" cap="none" strike="noStrike">
                <a:solidFill>
                  <a:srgbClr val="38BDF8"/>
                </a:solidFill>
                <a:latin typeface="Quattrocento Sans"/>
                <a:ea typeface="Quattrocento Sans"/>
                <a:cs typeface="Quattrocento Sans"/>
                <a:sym typeface="Quattrocento Sans"/>
              </a:rPr>
              <a:t>An MBA-Level Analysis using the CTS 7-Step Decision-Making Framework</a:t>
            </a:r>
            <a:endParaRPr/>
          </a:p>
        </p:txBody>
      </p:sp>
      <p:sp>
        <p:nvSpPr>
          <p:cNvPr id="86" name="Google Shape;86;p13"/>
          <p:cNvSpPr txBox="1"/>
          <p:nvPr/>
        </p:nvSpPr>
        <p:spPr>
          <a:xfrm>
            <a:off x="571500" y="6515100"/>
            <a:ext cx="2340024"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F8FAFC"/>
                </a:solidFill>
                <a:latin typeface="Quattrocento Sans"/>
                <a:ea typeface="Quattrocento Sans"/>
                <a:cs typeface="Quattrocento Sans"/>
                <a:sym typeface="Quattrocento Sans"/>
              </a:rPr>
              <a:t>Confidential Strategic Deck | June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0" name="Shape 90"/>
        <p:cNvGrpSpPr/>
        <p:nvPr/>
      </p:nvGrpSpPr>
      <p:grpSpPr>
        <a:xfrm>
          <a:off x="0" y="0"/>
          <a:ext cx="0" cy="0"/>
          <a:chOff x="0" y="0"/>
          <a:chExt cx="0" cy="0"/>
        </a:xfrm>
      </p:grpSpPr>
      <p:sp>
        <p:nvSpPr>
          <p:cNvPr id="91" name="Google Shape;91;p14"/>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Agenda: Strategic Roadmap</a:t>
            </a:r>
            <a:endParaRPr/>
          </a:p>
        </p:txBody>
      </p:sp>
      <p:sp>
        <p:nvSpPr>
          <p:cNvPr id="92" name="Google Shape;92;p14"/>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4"/>
          <p:cNvSpPr txBox="1"/>
          <p:nvPr/>
        </p:nvSpPr>
        <p:spPr>
          <a:xfrm>
            <a:off x="571500" y="4104977"/>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1" lang="en-US" sz="1350" u="none" cap="none" strike="noStrike">
                <a:solidFill>
                  <a:srgbClr val="F8FAFC"/>
                </a:solidFill>
                <a:latin typeface="Quattrocento Sans"/>
                <a:ea typeface="Quattrocento Sans"/>
                <a:cs typeface="Quattrocento Sans"/>
                <a:sym typeface="Quattrocento Sans"/>
              </a:rPr>
              <a:t>This presentation utilizes the CTS model to navigate the complex merger and restructuring landscape currently impacting Warner Bros. Discovery.</a:t>
            </a:r>
            <a:endParaRPr/>
          </a:p>
        </p:txBody>
      </p:sp>
      <p:sp>
        <p:nvSpPr>
          <p:cNvPr id="94" name="Google Shape;94;p14"/>
          <p:cNvSpPr txBox="1"/>
          <p:nvPr/>
        </p:nvSpPr>
        <p:spPr>
          <a:xfrm>
            <a:off x="571500" y="1743521"/>
            <a:ext cx="5600700" cy="320873"/>
          </a:xfrm>
          <a:prstGeom prst="rect">
            <a:avLst/>
          </a:prstGeom>
          <a:noFill/>
          <a:ln>
            <a:noFill/>
          </a:ln>
        </p:spPr>
        <p:txBody>
          <a:bodyPr anchorCtr="0" anchor="t" bIns="0" lIns="0" spcFirstLastPara="1" rIns="0" wrap="square" tIns="0">
            <a:spAutoFit/>
          </a:bodyPr>
          <a:lstStyle/>
          <a:p>
            <a:pPr indent="0" lvl="0" marL="0" marR="0" rtl="0" algn="l">
              <a:lnSpc>
                <a:spcPct val="160038"/>
              </a:lnSpc>
              <a:spcBef>
                <a:spcPts val="0"/>
              </a:spcBef>
              <a:spcAft>
                <a:spcPts val="0"/>
              </a:spcAft>
              <a:buNone/>
            </a:pPr>
            <a:r>
              <a:rPr b="1" i="0" lang="en-US" sz="1579" u="none" cap="none" strike="noStrike">
                <a:solidFill>
                  <a:srgbClr val="F8FAFC"/>
                </a:solidFill>
                <a:latin typeface="Quattrocento Sans"/>
                <a:ea typeface="Quattrocento Sans"/>
                <a:cs typeface="Quattrocento Sans"/>
                <a:sym typeface="Quattrocento Sans"/>
              </a:rPr>
              <a:t>Part 1: The Context</a:t>
            </a:r>
            <a:endParaRPr/>
          </a:p>
        </p:txBody>
      </p:sp>
      <p:sp>
        <p:nvSpPr>
          <p:cNvPr id="95" name="Google Shape;95;p14"/>
          <p:cNvSpPr txBox="1"/>
          <p:nvPr/>
        </p:nvSpPr>
        <p:spPr>
          <a:xfrm>
            <a:off x="6286500" y="1743521"/>
            <a:ext cx="5600700" cy="320873"/>
          </a:xfrm>
          <a:prstGeom prst="rect">
            <a:avLst/>
          </a:prstGeom>
          <a:noFill/>
          <a:ln>
            <a:noFill/>
          </a:ln>
        </p:spPr>
        <p:txBody>
          <a:bodyPr anchorCtr="0" anchor="t" bIns="0" lIns="0" spcFirstLastPara="1" rIns="0" wrap="square" tIns="0">
            <a:spAutoFit/>
          </a:bodyPr>
          <a:lstStyle/>
          <a:p>
            <a:pPr indent="0" lvl="0" marL="0" marR="0" rtl="0" algn="l">
              <a:lnSpc>
                <a:spcPct val="160038"/>
              </a:lnSpc>
              <a:spcBef>
                <a:spcPts val="0"/>
              </a:spcBef>
              <a:spcAft>
                <a:spcPts val="0"/>
              </a:spcAft>
              <a:buNone/>
            </a:pPr>
            <a:r>
              <a:rPr b="1" i="0" lang="en-US" sz="1579" u="none" cap="none" strike="noStrike">
                <a:solidFill>
                  <a:srgbClr val="F8FAFC"/>
                </a:solidFill>
                <a:latin typeface="Quattrocento Sans"/>
                <a:ea typeface="Quattrocento Sans"/>
                <a:cs typeface="Quattrocento Sans"/>
                <a:sym typeface="Quattrocento Sans"/>
              </a:rPr>
              <a:t>Part 2: The Decision Logic</a:t>
            </a:r>
            <a:endParaRPr/>
          </a:p>
        </p:txBody>
      </p:sp>
      <p:sp>
        <p:nvSpPr>
          <p:cNvPr id="96" name="Google Shape;96;p14"/>
          <p:cNvSpPr txBox="1"/>
          <p:nvPr/>
        </p:nvSpPr>
        <p:spPr>
          <a:xfrm>
            <a:off x="895350" y="2263913"/>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t>
            </a:r>
            <a:endParaRPr/>
          </a:p>
        </p:txBody>
      </p:sp>
      <p:sp>
        <p:nvSpPr>
          <p:cNvPr id="97" name="Google Shape;97;p14"/>
          <p:cNvSpPr txBox="1"/>
          <p:nvPr/>
        </p:nvSpPr>
        <p:spPr>
          <a:xfrm>
            <a:off x="952500" y="2264866"/>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Company Overview &amp; Legacy</a:t>
            </a:r>
            <a:endParaRPr/>
          </a:p>
        </p:txBody>
      </p:sp>
      <p:sp>
        <p:nvSpPr>
          <p:cNvPr id="98" name="Google Shape;98;p14"/>
          <p:cNvSpPr txBox="1"/>
          <p:nvPr/>
        </p:nvSpPr>
        <p:spPr>
          <a:xfrm>
            <a:off x="895350" y="2538204"/>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t>
            </a:r>
            <a:endParaRPr/>
          </a:p>
        </p:txBody>
      </p:sp>
      <p:sp>
        <p:nvSpPr>
          <p:cNvPr id="99" name="Google Shape;99;p14"/>
          <p:cNvSpPr txBox="1"/>
          <p:nvPr/>
        </p:nvSpPr>
        <p:spPr>
          <a:xfrm>
            <a:off x="952500" y="2539156"/>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Industry Disruption Analysis</a:t>
            </a:r>
            <a:endParaRPr/>
          </a:p>
        </p:txBody>
      </p:sp>
      <p:sp>
        <p:nvSpPr>
          <p:cNvPr id="100" name="Google Shape;100;p14"/>
          <p:cNvSpPr txBox="1"/>
          <p:nvPr/>
        </p:nvSpPr>
        <p:spPr>
          <a:xfrm>
            <a:off x="895350" y="2812494"/>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t>
            </a:r>
            <a:endParaRPr/>
          </a:p>
        </p:txBody>
      </p:sp>
      <p:sp>
        <p:nvSpPr>
          <p:cNvPr id="101" name="Google Shape;101;p14"/>
          <p:cNvSpPr txBox="1"/>
          <p:nvPr/>
        </p:nvSpPr>
        <p:spPr>
          <a:xfrm>
            <a:off x="952500" y="2813446"/>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CTS Framework: Problem Definition</a:t>
            </a:r>
            <a:endParaRPr/>
          </a:p>
        </p:txBody>
      </p:sp>
      <p:sp>
        <p:nvSpPr>
          <p:cNvPr id="102" name="Google Shape;102;p14"/>
          <p:cNvSpPr txBox="1"/>
          <p:nvPr/>
        </p:nvSpPr>
        <p:spPr>
          <a:xfrm>
            <a:off x="895350" y="3086784"/>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t>
            </a:r>
            <a:endParaRPr/>
          </a:p>
        </p:txBody>
      </p:sp>
      <p:sp>
        <p:nvSpPr>
          <p:cNvPr id="103" name="Google Shape;103;p14"/>
          <p:cNvSpPr txBox="1"/>
          <p:nvPr/>
        </p:nvSpPr>
        <p:spPr>
          <a:xfrm>
            <a:off x="952500" y="3087737"/>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Key Challenges Analysis</a:t>
            </a:r>
            <a:endParaRPr/>
          </a:p>
        </p:txBody>
      </p:sp>
      <p:sp>
        <p:nvSpPr>
          <p:cNvPr id="104" name="Google Shape;104;p14"/>
          <p:cNvSpPr txBox="1"/>
          <p:nvPr/>
        </p:nvSpPr>
        <p:spPr>
          <a:xfrm>
            <a:off x="6610350" y="2263913"/>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t>
            </a:r>
            <a:endParaRPr/>
          </a:p>
        </p:txBody>
      </p:sp>
      <p:sp>
        <p:nvSpPr>
          <p:cNvPr id="105" name="Google Shape;105;p14"/>
          <p:cNvSpPr txBox="1"/>
          <p:nvPr/>
        </p:nvSpPr>
        <p:spPr>
          <a:xfrm>
            <a:off x="6667500" y="2264866"/>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Financial Analysis &amp; Stress Testing</a:t>
            </a:r>
            <a:endParaRPr/>
          </a:p>
        </p:txBody>
      </p:sp>
      <p:sp>
        <p:nvSpPr>
          <p:cNvPr id="106" name="Google Shape;106;p14"/>
          <p:cNvSpPr txBox="1"/>
          <p:nvPr/>
        </p:nvSpPr>
        <p:spPr>
          <a:xfrm>
            <a:off x="6610350" y="2538204"/>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t>
            </a:r>
            <a:endParaRPr/>
          </a:p>
        </p:txBody>
      </p:sp>
      <p:sp>
        <p:nvSpPr>
          <p:cNvPr id="107" name="Google Shape;107;p14"/>
          <p:cNvSpPr txBox="1"/>
          <p:nvPr/>
        </p:nvSpPr>
        <p:spPr>
          <a:xfrm>
            <a:off x="6667500" y="2539156"/>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Criteria &amp; Strategic Weighting</a:t>
            </a:r>
            <a:endParaRPr/>
          </a:p>
        </p:txBody>
      </p:sp>
      <p:sp>
        <p:nvSpPr>
          <p:cNvPr id="108" name="Google Shape;108;p14"/>
          <p:cNvSpPr txBox="1"/>
          <p:nvPr/>
        </p:nvSpPr>
        <p:spPr>
          <a:xfrm>
            <a:off x="6610350" y="2812494"/>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t>
            </a:r>
            <a:endParaRPr/>
          </a:p>
        </p:txBody>
      </p:sp>
      <p:sp>
        <p:nvSpPr>
          <p:cNvPr id="109" name="Google Shape;109;p14"/>
          <p:cNvSpPr txBox="1"/>
          <p:nvPr/>
        </p:nvSpPr>
        <p:spPr>
          <a:xfrm>
            <a:off x="6667500" y="2813446"/>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Alternative Strategic Paths</a:t>
            </a:r>
            <a:endParaRPr/>
          </a:p>
        </p:txBody>
      </p:sp>
      <p:sp>
        <p:nvSpPr>
          <p:cNvPr id="110" name="Google Shape;110;p14"/>
          <p:cNvSpPr txBox="1"/>
          <p:nvPr/>
        </p:nvSpPr>
        <p:spPr>
          <a:xfrm>
            <a:off x="6610350" y="3086784"/>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t>
            </a:r>
            <a:endParaRPr/>
          </a:p>
        </p:txBody>
      </p:sp>
      <p:sp>
        <p:nvSpPr>
          <p:cNvPr id="111" name="Google Shape;111;p14"/>
          <p:cNvSpPr txBox="1"/>
          <p:nvPr/>
        </p:nvSpPr>
        <p:spPr>
          <a:xfrm>
            <a:off x="6667500" y="3087737"/>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Decision Matrix &amp; Recommendation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5" name="Shape 115"/>
        <p:cNvGrpSpPr/>
        <p:nvPr/>
      </p:nvGrpSpPr>
      <p:grpSpPr>
        <a:xfrm>
          <a:off x="0" y="0"/>
          <a:ext cx="0" cy="0"/>
          <a:chOff x="0" y="0"/>
          <a:chExt cx="0" cy="0"/>
        </a:xfrm>
      </p:grpSpPr>
      <p:pic>
        <p:nvPicPr>
          <p:cNvPr descr="image.png" id="116" name="Google Shape;116;p15"/>
          <p:cNvPicPr preferRelativeResize="0"/>
          <p:nvPr/>
        </p:nvPicPr>
        <p:blipFill rotWithShape="1">
          <a:blip r:embed="rId3">
            <a:alphaModFix/>
          </a:blip>
          <a:srcRect b="0" l="0" r="0" t="0"/>
          <a:stretch/>
        </p:blipFill>
        <p:spPr>
          <a:xfrm>
            <a:off x="6286500" y="1543050"/>
            <a:ext cx="5334000" cy="3333750"/>
          </a:xfrm>
          <a:prstGeom prst="rect">
            <a:avLst/>
          </a:prstGeom>
          <a:noFill/>
          <a:ln>
            <a:noFill/>
          </a:ln>
        </p:spPr>
      </p:pic>
      <p:sp>
        <p:nvSpPr>
          <p:cNvPr id="117" name="Google Shape;117;p15"/>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Company Overview: Legacy &amp; Transformation</a:t>
            </a:r>
            <a:endParaRPr/>
          </a:p>
        </p:txBody>
      </p:sp>
      <p:sp>
        <p:nvSpPr>
          <p:cNvPr id="118" name="Google Shape;118;p15"/>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9" name="Google Shape;119;p15"/>
          <p:cNvPicPr preferRelativeResize="0"/>
          <p:nvPr/>
        </p:nvPicPr>
        <p:blipFill rotWithShape="1">
          <a:blip r:embed="rId4">
            <a:alphaModFix/>
          </a:blip>
          <a:srcRect b="0" l="0" r="0" t="0"/>
          <a:stretch/>
        </p:blipFill>
        <p:spPr>
          <a:xfrm>
            <a:off x="6286500" y="1543050"/>
            <a:ext cx="5334000" cy="3333750"/>
          </a:xfrm>
          <a:prstGeom prst="rect">
            <a:avLst/>
          </a:prstGeom>
          <a:noFill/>
          <a:ln>
            <a:noFill/>
          </a:ln>
        </p:spPr>
      </p:pic>
      <p:sp>
        <p:nvSpPr>
          <p:cNvPr id="120" name="Google Shape;120;p15"/>
          <p:cNvSpPr txBox="1"/>
          <p:nvPr/>
        </p:nvSpPr>
        <p:spPr>
          <a:xfrm>
            <a:off x="571500" y="1543050"/>
            <a:ext cx="560070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Merger Context</a:t>
            </a:r>
            <a:endParaRPr/>
          </a:p>
        </p:txBody>
      </p:sp>
      <p:sp>
        <p:nvSpPr>
          <p:cNvPr id="121" name="Google Shape;121;p15"/>
          <p:cNvSpPr txBox="1"/>
          <p:nvPr/>
        </p:nvSpPr>
        <p:spPr>
          <a:xfrm>
            <a:off x="571500" y="1973460"/>
            <a:ext cx="5334000"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Formed through the 2022 merger of WarnerMedia and Discovery, the entity brought together iconic brands like HBO, CNN, and the Discovery suite, creating a content powerhouse with a high-leverage balance sheet.</a:t>
            </a:r>
            <a:endParaRPr/>
          </a:p>
        </p:txBody>
      </p:sp>
      <p:sp>
        <p:nvSpPr>
          <p:cNvPr id="122" name="Google Shape;122;p15"/>
          <p:cNvSpPr txBox="1"/>
          <p:nvPr/>
        </p:nvSpPr>
        <p:spPr>
          <a:xfrm>
            <a:off x="571500" y="3308746"/>
            <a:ext cx="560070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Portfolio Depth</a:t>
            </a:r>
            <a:endParaRPr/>
          </a:p>
        </p:txBody>
      </p:sp>
      <p:sp>
        <p:nvSpPr>
          <p:cNvPr id="123" name="Google Shape;123;p15"/>
          <p:cNvSpPr txBox="1"/>
          <p:nvPr/>
        </p:nvSpPr>
        <p:spPr>
          <a:xfrm>
            <a:off x="571500" y="3739157"/>
            <a:ext cx="53340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WBD holds a massive IP library including DC Comics, Game of Thrones, and live news/sports infrastructure, making it a critical player in both linear and digital ecosystems.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7" name="Shape 127"/>
        <p:cNvGrpSpPr/>
        <p:nvPr/>
      </p:nvGrpSpPr>
      <p:grpSpPr>
        <a:xfrm>
          <a:off x="0" y="0"/>
          <a:ext cx="0" cy="0"/>
          <a:chOff x="0" y="0"/>
          <a:chExt cx="0" cy="0"/>
        </a:xfrm>
      </p:grpSpPr>
      <p:pic>
        <p:nvPicPr>
          <p:cNvPr descr="image.png" id="128" name="Google Shape;128;p16"/>
          <p:cNvPicPr preferRelativeResize="0"/>
          <p:nvPr/>
        </p:nvPicPr>
        <p:blipFill rotWithShape="1">
          <a:blip r:embed="rId3">
            <a:alphaModFix/>
          </a:blip>
          <a:srcRect b="0" l="0" r="0" t="0"/>
          <a:stretch/>
        </p:blipFill>
        <p:spPr>
          <a:xfrm>
            <a:off x="6286500" y="1543050"/>
            <a:ext cx="5334000" cy="3333750"/>
          </a:xfrm>
          <a:prstGeom prst="rect">
            <a:avLst/>
          </a:prstGeom>
          <a:noFill/>
          <a:ln>
            <a:noFill/>
          </a:ln>
        </p:spPr>
      </p:pic>
      <p:sp>
        <p:nvSpPr>
          <p:cNvPr id="129" name="Google Shape;129;p16"/>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Industry Overview: The Streaming Disruption</a:t>
            </a:r>
            <a:endParaRPr/>
          </a:p>
        </p:txBody>
      </p:sp>
      <p:sp>
        <p:nvSpPr>
          <p:cNvPr id="130" name="Google Shape;130;p16"/>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31" name="Google Shape;131;p16"/>
          <p:cNvPicPr preferRelativeResize="0"/>
          <p:nvPr/>
        </p:nvPicPr>
        <p:blipFill rotWithShape="1">
          <a:blip r:embed="rId4">
            <a:alphaModFix/>
          </a:blip>
          <a:srcRect b="0" l="0" r="0" t="0"/>
          <a:stretch/>
        </p:blipFill>
        <p:spPr>
          <a:xfrm>
            <a:off x="6286500" y="1543050"/>
            <a:ext cx="5334000" cy="3333750"/>
          </a:xfrm>
          <a:prstGeom prst="rect">
            <a:avLst/>
          </a:prstGeom>
          <a:noFill/>
          <a:ln>
            <a:noFill/>
          </a:ln>
        </p:spPr>
      </p:pic>
      <p:sp>
        <p:nvSpPr>
          <p:cNvPr id="132" name="Google Shape;132;p16"/>
          <p:cNvSpPr txBox="1"/>
          <p:nvPr/>
        </p:nvSpPr>
        <p:spPr>
          <a:xfrm>
            <a:off x="571500" y="1543050"/>
            <a:ext cx="560070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Cord-Cutting Accelerators</a:t>
            </a:r>
            <a:endParaRPr/>
          </a:p>
        </p:txBody>
      </p:sp>
      <p:sp>
        <p:nvSpPr>
          <p:cNvPr id="133" name="Google Shape;133;p16"/>
          <p:cNvSpPr txBox="1"/>
          <p:nvPr/>
        </p:nvSpPr>
        <p:spPr>
          <a:xfrm>
            <a:off x="571500" y="1973460"/>
            <a:ext cx="53340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Linear cable revenue is eroding faster than anticipated, forcing all major media players to transition rapidly into Direct-to-Consumer (DTC) models while maintaining profitability.</a:t>
            </a:r>
            <a:endParaRPr/>
          </a:p>
        </p:txBody>
      </p:sp>
      <p:sp>
        <p:nvSpPr>
          <p:cNvPr id="134" name="Google Shape;134;p16"/>
          <p:cNvSpPr txBox="1"/>
          <p:nvPr/>
        </p:nvSpPr>
        <p:spPr>
          <a:xfrm>
            <a:off x="571500" y="3034456"/>
            <a:ext cx="560070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Market Saturation</a:t>
            </a:r>
            <a:endParaRPr/>
          </a:p>
        </p:txBody>
      </p:sp>
      <p:sp>
        <p:nvSpPr>
          <p:cNvPr id="135" name="Google Shape;135;p16"/>
          <p:cNvSpPr txBox="1"/>
          <p:nvPr/>
        </p:nvSpPr>
        <p:spPr>
          <a:xfrm>
            <a:off x="571500" y="3464867"/>
            <a:ext cx="5334000" cy="1097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The streaming industry is currently defined by intense rivalry, where high churn rates and rising production costs have squeezed margins, shifting the goalpost from subscriber growth to ARPU (Average Revenue Per User) and profitability.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39" name="Shape 139"/>
        <p:cNvGrpSpPr/>
        <p:nvPr/>
      </p:nvGrpSpPr>
      <p:grpSpPr>
        <a:xfrm>
          <a:off x="0" y="0"/>
          <a:ext cx="0" cy="0"/>
          <a:chOff x="0" y="0"/>
          <a:chExt cx="0" cy="0"/>
        </a:xfrm>
      </p:grpSpPr>
      <p:sp>
        <p:nvSpPr>
          <p:cNvPr id="140" name="Google Shape;140;p17"/>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CTS Step 1: Defining the Core Problem</a:t>
            </a:r>
            <a:endParaRPr/>
          </a:p>
        </p:txBody>
      </p:sp>
      <p:sp>
        <p:nvSpPr>
          <p:cNvPr id="141" name="Google Shape;141;p17"/>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7"/>
          <p:cNvSpPr txBox="1"/>
          <p:nvPr/>
        </p:nvSpPr>
        <p:spPr>
          <a:xfrm>
            <a:off x="571500" y="4529732"/>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Evidence: Q1 2026 earnings showed significant misses, reflecting that current deleveraging efforts are not outpacing the erosion of the legacy linear business.</a:t>
            </a:r>
            <a:endParaRPr/>
          </a:p>
        </p:txBody>
      </p:sp>
      <p:sp>
        <p:nvSpPr>
          <p:cNvPr id="143" name="Google Shape;143;p17"/>
          <p:cNvSpPr txBox="1"/>
          <p:nvPr/>
        </p:nvSpPr>
        <p:spPr>
          <a:xfrm>
            <a:off x="571500" y="1543050"/>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Structural Financial Fragility</a:t>
            </a:r>
            <a:endParaRPr/>
          </a:p>
        </p:txBody>
      </p:sp>
      <p:sp>
        <p:nvSpPr>
          <p:cNvPr id="144" name="Google Shape;144;p17"/>
          <p:cNvSpPr txBox="1"/>
          <p:nvPr/>
        </p:nvSpPr>
        <p:spPr>
          <a:xfrm>
            <a:off x="571500" y="1973460"/>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The primary problem is an unsustainable capital structure characterized by high debt levels ($43B+), which limits operational flexibility and restricts the ability to compete in high-stakes content bidding wars against deep-pocketed tech rivals.</a:t>
            </a:r>
            <a:endParaRPr/>
          </a:p>
        </p:txBody>
      </p:sp>
      <p:sp>
        <p:nvSpPr>
          <p:cNvPr id="145" name="Google Shape;145;p17"/>
          <p:cNvSpPr txBox="1"/>
          <p:nvPr/>
        </p:nvSpPr>
        <p:spPr>
          <a:xfrm>
            <a:off x="571500" y="2950666"/>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Strategic Misalignment</a:t>
            </a:r>
            <a:endParaRPr/>
          </a:p>
        </p:txBody>
      </p:sp>
      <p:sp>
        <p:nvSpPr>
          <p:cNvPr id="146" name="Google Shape;146;p17"/>
          <p:cNvSpPr txBox="1"/>
          <p:nvPr/>
        </p:nvSpPr>
        <p:spPr>
          <a:xfrm>
            <a:off x="571500" y="3381077"/>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The company faces a crisis of identity between legacy linear assets that generate cash and streaming assets that require aggressive investment, leading to investor disillusionment and stock devaluation.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0" name="Shape 150"/>
        <p:cNvGrpSpPr/>
        <p:nvPr/>
      </p:nvGrpSpPr>
      <p:grpSpPr>
        <a:xfrm>
          <a:off x="0" y="0"/>
          <a:ext cx="0" cy="0"/>
          <a:chOff x="0" y="0"/>
          <a:chExt cx="0" cy="0"/>
        </a:xfrm>
      </p:grpSpPr>
      <p:sp>
        <p:nvSpPr>
          <p:cNvPr id="151" name="Google Shape;151;p18"/>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Key Strategic Challenges</a:t>
            </a:r>
            <a:endParaRPr/>
          </a:p>
        </p:txBody>
      </p:sp>
      <p:sp>
        <p:nvSpPr>
          <p:cNvPr id="152" name="Google Shape;152;p18"/>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8"/>
          <p:cNvSpPr txBox="1"/>
          <p:nvPr/>
        </p:nvSpPr>
        <p:spPr>
          <a:xfrm>
            <a:off x="571500" y="1543050"/>
            <a:ext cx="560070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Financial Burden</a:t>
            </a:r>
            <a:endParaRPr/>
          </a:p>
        </p:txBody>
      </p:sp>
      <p:sp>
        <p:nvSpPr>
          <p:cNvPr id="154" name="Google Shape;154;p18"/>
          <p:cNvSpPr txBox="1"/>
          <p:nvPr/>
        </p:nvSpPr>
        <p:spPr>
          <a:xfrm>
            <a:off x="571500" y="1973460"/>
            <a:ext cx="53340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The crushing debt load requires constant cash diversion, stifling R&amp;D and digital product innovation, and resulting in controversial cost-cutting measures.</a:t>
            </a:r>
            <a:endParaRPr/>
          </a:p>
        </p:txBody>
      </p:sp>
      <p:sp>
        <p:nvSpPr>
          <p:cNvPr id="155" name="Google Shape;155;p18"/>
          <p:cNvSpPr txBox="1"/>
          <p:nvPr/>
        </p:nvSpPr>
        <p:spPr>
          <a:xfrm>
            <a:off x="6286500" y="1543050"/>
            <a:ext cx="560070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Market/Competitive</a:t>
            </a:r>
            <a:endParaRPr/>
          </a:p>
        </p:txBody>
      </p:sp>
      <p:sp>
        <p:nvSpPr>
          <p:cNvPr id="156" name="Google Shape;156;p18"/>
          <p:cNvSpPr txBox="1"/>
          <p:nvPr/>
        </p:nvSpPr>
        <p:spPr>
          <a:xfrm>
            <a:off x="6286500" y="1973460"/>
            <a:ext cx="53340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Netflix and Big Tech players are changing consumer behavior, making it nearly impossible for WBD to compete on pure volume alone without superior technological infrastructure.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0" name="Shape 160"/>
        <p:cNvGrpSpPr/>
        <p:nvPr/>
      </p:nvGrpSpPr>
      <p:grpSpPr>
        <a:xfrm>
          <a:off x="0" y="0"/>
          <a:ext cx="0" cy="0"/>
          <a:chOff x="0" y="0"/>
          <a:chExt cx="0" cy="0"/>
        </a:xfrm>
      </p:grpSpPr>
      <p:pic>
        <p:nvPicPr>
          <p:cNvPr descr="image.png" id="161" name="Google Shape;161;p19"/>
          <p:cNvPicPr preferRelativeResize="0"/>
          <p:nvPr/>
        </p:nvPicPr>
        <p:blipFill rotWithShape="1">
          <a:blip r:embed="rId3">
            <a:alphaModFix/>
          </a:blip>
          <a:srcRect b="0" l="0" r="0" t="0"/>
          <a:stretch/>
        </p:blipFill>
        <p:spPr>
          <a:xfrm>
            <a:off x="6286500" y="1543050"/>
            <a:ext cx="5334000" cy="3333750"/>
          </a:xfrm>
          <a:prstGeom prst="rect">
            <a:avLst/>
          </a:prstGeom>
          <a:noFill/>
          <a:ln>
            <a:noFill/>
          </a:ln>
        </p:spPr>
      </p:pic>
      <p:sp>
        <p:nvSpPr>
          <p:cNvPr id="162" name="Google Shape;162;p19"/>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Financial Analysis: Leverage &amp; Cash Flow</a:t>
            </a:r>
            <a:endParaRPr/>
          </a:p>
        </p:txBody>
      </p:sp>
      <p:sp>
        <p:nvSpPr>
          <p:cNvPr id="163" name="Google Shape;163;p19"/>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4" name="Google Shape;164;p19"/>
          <p:cNvPicPr preferRelativeResize="0"/>
          <p:nvPr/>
        </p:nvPicPr>
        <p:blipFill rotWithShape="1">
          <a:blip r:embed="rId4">
            <a:alphaModFix/>
          </a:blip>
          <a:srcRect b="0" l="0" r="0" t="0"/>
          <a:stretch/>
        </p:blipFill>
        <p:spPr>
          <a:xfrm>
            <a:off x="6286500" y="1543050"/>
            <a:ext cx="5334000" cy="3333750"/>
          </a:xfrm>
          <a:prstGeom prst="rect">
            <a:avLst/>
          </a:prstGeom>
          <a:noFill/>
          <a:ln>
            <a:noFill/>
          </a:ln>
        </p:spPr>
      </p:pic>
      <p:sp>
        <p:nvSpPr>
          <p:cNvPr id="165" name="Google Shape;165;p19"/>
          <p:cNvSpPr txBox="1"/>
          <p:nvPr/>
        </p:nvSpPr>
        <p:spPr>
          <a:xfrm>
            <a:off x="571500" y="1543050"/>
            <a:ext cx="560070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Debt and De-leveraging</a:t>
            </a:r>
            <a:endParaRPr/>
          </a:p>
        </p:txBody>
      </p:sp>
      <p:sp>
        <p:nvSpPr>
          <p:cNvPr id="166" name="Google Shape;166;p19"/>
          <p:cNvSpPr txBox="1"/>
          <p:nvPr/>
        </p:nvSpPr>
        <p:spPr>
          <a:xfrm>
            <a:off x="571500" y="1973460"/>
            <a:ext cx="53340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The high debt-to-EBITDA ratio acts as a strategic anchor. Market devaluation by over 60% in 2025 forced board-level discussions on corporate separation and potential asset sales to preserve value.</a:t>
            </a:r>
            <a:endParaRPr/>
          </a:p>
        </p:txBody>
      </p:sp>
      <p:sp>
        <p:nvSpPr>
          <p:cNvPr id="167" name="Google Shape;167;p19"/>
          <p:cNvSpPr txBox="1"/>
          <p:nvPr/>
        </p:nvSpPr>
        <p:spPr>
          <a:xfrm>
            <a:off x="571500" y="3034456"/>
            <a:ext cx="560070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Operating Margins</a:t>
            </a:r>
            <a:endParaRPr/>
          </a:p>
        </p:txBody>
      </p:sp>
      <p:sp>
        <p:nvSpPr>
          <p:cNvPr id="168" name="Google Shape;168;p19"/>
          <p:cNvSpPr txBox="1"/>
          <p:nvPr/>
        </p:nvSpPr>
        <p:spPr>
          <a:xfrm>
            <a:off x="571500" y="3464867"/>
            <a:ext cx="5334000"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Cost-cutting strategies (tax write-offs, removal of content) have provided short-term liquidity but risk damaging the long-term equity of core brands like HBO.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72" name="Shape 172"/>
        <p:cNvGrpSpPr/>
        <p:nvPr/>
      </p:nvGrpSpPr>
      <p:grpSpPr>
        <a:xfrm>
          <a:off x="0" y="0"/>
          <a:ext cx="0" cy="0"/>
          <a:chOff x="0" y="0"/>
          <a:chExt cx="0" cy="0"/>
        </a:xfrm>
      </p:grpSpPr>
      <p:sp>
        <p:nvSpPr>
          <p:cNvPr id="173" name="Google Shape;173;p20"/>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CTS Step 2: Defining Decision Criteria</a:t>
            </a:r>
            <a:endParaRPr/>
          </a:p>
        </p:txBody>
      </p:sp>
      <p:sp>
        <p:nvSpPr>
          <p:cNvPr id="174" name="Google Shape;174;p20"/>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20"/>
          <p:cNvSpPr txBox="1"/>
          <p:nvPr/>
        </p:nvSpPr>
        <p:spPr>
          <a:xfrm>
            <a:off x="571500" y="1543050"/>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Financial Sustainability (40%)</a:t>
            </a:r>
            <a:endParaRPr/>
          </a:p>
        </p:txBody>
      </p:sp>
      <p:sp>
        <p:nvSpPr>
          <p:cNvPr id="176" name="Google Shape;176;p20"/>
          <p:cNvSpPr txBox="1"/>
          <p:nvPr/>
        </p:nvSpPr>
        <p:spPr>
          <a:xfrm>
            <a:off x="571500" y="1973460"/>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Any solution must provide an immediate path to de-leveraging the balance sheet and ensuring liquidity without jeopardizing core operations.</a:t>
            </a:r>
            <a:endParaRPr/>
          </a:p>
        </p:txBody>
      </p:sp>
      <p:sp>
        <p:nvSpPr>
          <p:cNvPr id="177" name="Google Shape;177;p20"/>
          <p:cNvSpPr txBox="1"/>
          <p:nvPr/>
        </p:nvSpPr>
        <p:spPr>
          <a:xfrm>
            <a:off x="571500" y="2676376"/>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Market Innovation (25%)</a:t>
            </a:r>
            <a:endParaRPr/>
          </a:p>
        </p:txBody>
      </p:sp>
      <p:sp>
        <p:nvSpPr>
          <p:cNvPr id="178" name="Google Shape;178;p20"/>
          <p:cNvSpPr txBox="1"/>
          <p:nvPr/>
        </p:nvSpPr>
        <p:spPr>
          <a:xfrm>
            <a:off x="571500" y="3106787"/>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The ability to adapt to new technology/platforms (AI integration, gaming, interactive content) is non-negotiable for future competitive survival.</a:t>
            </a:r>
            <a:endParaRPr/>
          </a:p>
        </p:txBody>
      </p:sp>
      <p:sp>
        <p:nvSpPr>
          <p:cNvPr id="179" name="Google Shape;179;p20"/>
          <p:cNvSpPr txBox="1"/>
          <p:nvPr/>
        </p:nvSpPr>
        <p:spPr>
          <a:xfrm>
            <a:off x="571500" y="3809702"/>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Brand Integrity (20%)</a:t>
            </a:r>
            <a:endParaRPr/>
          </a:p>
        </p:txBody>
      </p:sp>
      <p:sp>
        <p:nvSpPr>
          <p:cNvPr id="180" name="Google Shape;180;p20"/>
          <p:cNvSpPr txBox="1"/>
          <p:nvPr/>
        </p:nvSpPr>
        <p:spPr>
          <a:xfrm>
            <a:off x="571500" y="4240113"/>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Preservation of premium tier value (HBO/DC) during the restructuring process is essential to maintain long-term asset valuations.</a:t>
            </a:r>
            <a:endParaRPr/>
          </a:p>
        </p:txBody>
      </p:sp>
      <p:sp>
        <p:nvSpPr>
          <p:cNvPr id="181" name="Google Shape;181;p20"/>
          <p:cNvSpPr txBox="1"/>
          <p:nvPr/>
        </p:nvSpPr>
        <p:spPr>
          <a:xfrm>
            <a:off x="571500" y="4943028"/>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Leadership/Culture (15%)</a:t>
            </a:r>
            <a:endParaRPr/>
          </a:p>
        </p:txBody>
      </p:sp>
      <p:sp>
        <p:nvSpPr>
          <p:cNvPr id="182" name="Google Shape;182;p20"/>
          <p:cNvSpPr txBox="1"/>
          <p:nvPr/>
        </p:nvSpPr>
        <p:spPr>
          <a:xfrm>
            <a:off x="571500" y="5373439"/>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The solution must address organizational stability and employee retention amidst the ongoing mergers and reorganizations.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86" name="Shape 186"/>
        <p:cNvGrpSpPr/>
        <p:nvPr/>
      </p:nvGrpSpPr>
      <p:grpSpPr>
        <a:xfrm>
          <a:off x="0" y="0"/>
          <a:ext cx="0" cy="0"/>
          <a:chOff x="0" y="0"/>
          <a:chExt cx="0" cy="0"/>
        </a:xfrm>
      </p:grpSpPr>
      <p:sp>
        <p:nvSpPr>
          <p:cNvPr id="187" name="Google Shape;187;p21"/>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CTS Step 3: Strategic Weighting</a:t>
            </a:r>
            <a:endParaRPr/>
          </a:p>
        </p:txBody>
      </p:sp>
      <p:sp>
        <p:nvSpPr>
          <p:cNvPr id="188" name="Google Shape;188;p21"/>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21"/>
          <p:cNvSpPr txBox="1"/>
          <p:nvPr/>
        </p:nvSpPr>
        <p:spPr>
          <a:xfrm>
            <a:off x="571500" y="1714500"/>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The weighting reflects the executive imperative for survival. In 2026, financial survival is paramount over all other considerations.</a:t>
            </a:r>
            <a:endParaRPr/>
          </a:p>
        </p:txBody>
      </p:sp>
      <p:graphicFrame>
        <p:nvGraphicFramePr>
          <p:cNvPr id="190" name="Google Shape;190;p21"/>
          <p:cNvGraphicFramePr/>
          <p:nvPr/>
        </p:nvGraphicFramePr>
        <p:xfrm>
          <a:off x="571500" y="2541240"/>
          <a:ext cx="3000000" cy="3000000"/>
        </p:xfrm>
        <a:graphic>
          <a:graphicData uri="http://schemas.openxmlformats.org/drawingml/2006/table">
            <a:tbl>
              <a:tblPr bandRow="1" firstRow="1">
                <a:noFill/>
                <a:tableStyleId>{981BCAE5-81AF-4A94-9E23-7C44BDCA34C7}</a:tableStyleId>
              </a:tblPr>
              <a:tblGrid>
                <a:gridCol w="2480825"/>
                <a:gridCol w="955475"/>
                <a:gridCol w="7612700"/>
              </a:tblGrid>
              <a:tr h="295250">
                <a:tc>
                  <a:txBody>
                    <a:bodyPr/>
                    <a:lstStyle/>
                    <a:p>
                      <a:pPr indent="0" lvl="0" marL="0" marR="0" rtl="0" algn="ctr">
                        <a:spcBef>
                          <a:spcPts val="0"/>
                        </a:spcBef>
                        <a:spcAft>
                          <a:spcPts val="0"/>
                        </a:spcAft>
                        <a:buNone/>
                      </a:pPr>
                      <a:r>
                        <a:rPr b="1" i="0" lang="en-US" sz="1350" u="none" cap="none" strike="noStrike">
                          <a:solidFill>
                            <a:srgbClr val="38BDF8"/>
                          </a:solidFill>
                          <a:latin typeface="Quattrocento Sans"/>
                          <a:ea typeface="Quattrocento Sans"/>
                          <a:cs typeface="Quattrocento Sans"/>
                          <a:sym typeface="Quattrocento Sans"/>
                        </a:rPr>
                        <a:t>Criterion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350" u="none" cap="none" strike="noStrike">
                          <a:solidFill>
                            <a:srgbClr val="38BDF8"/>
                          </a:solidFill>
                          <a:latin typeface="Quattrocento Sans"/>
                          <a:ea typeface="Quattrocento Sans"/>
                          <a:cs typeface="Quattrocento Sans"/>
                          <a:sym typeface="Quattrocento Sans"/>
                        </a:rPr>
                        <a:t>Weight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350" u="none" cap="none" strike="noStrike">
                          <a:solidFill>
                            <a:srgbClr val="38BDF8"/>
                          </a:solidFill>
                          <a:latin typeface="Quattrocento Sans"/>
                          <a:ea typeface="Quattrocento Sans"/>
                          <a:cs typeface="Quattrocento Sans"/>
                          <a:sym typeface="Quattrocento Sans"/>
                        </a:rPr>
                        <a:t>Strategic Rationale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5250">
                <a:tc>
                  <a:txBody>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Financial Stability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40%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Debt servicing is a prerequisite for operational independence.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5250">
                <a:tc>
                  <a:txBody>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Innovation Capacity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25%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Without tech-edge, WBD cannot compete with streamers.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5250">
                <a:tc>
                  <a:txBody>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Brand Equity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20%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Long-term survival relies on IP valuation.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5250">
                <a:tc>
                  <a:txBody>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Operational Agility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15%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Post-merger integration requires streamlined execution.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94" name="Shape 194"/>
        <p:cNvGrpSpPr/>
        <p:nvPr/>
      </p:nvGrpSpPr>
      <p:grpSpPr>
        <a:xfrm>
          <a:off x="0" y="0"/>
          <a:ext cx="0" cy="0"/>
          <a:chOff x="0" y="0"/>
          <a:chExt cx="0" cy="0"/>
        </a:xfrm>
      </p:grpSpPr>
      <p:sp>
        <p:nvSpPr>
          <p:cNvPr id="195" name="Google Shape;195;p22"/>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CTS Step 4: Streaming-First Strategy</a:t>
            </a:r>
            <a:endParaRPr/>
          </a:p>
        </p:txBody>
      </p:sp>
      <p:sp>
        <p:nvSpPr>
          <p:cNvPr id="196" name="Google Shape;196;p22"/>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22"/>
          <p:cNvSpPr txBox="1"/>
          <p:nvPr/>
        </p:nvSpPr>
        <p:spPr>
          <a:xfrm>
            <a:off x="571500" y="1543050"/>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Strategy Overview</a:t>
            </a:r>
            <a:endParaRPr/>
          </a:p>
        </p:txBody>
      </p:sp>
      <p:sp>
        <p:nvSpPr>
          <p:cNvPr id="198" name="Google Shape;198;p22"/>
          <p:cNvSpPr txBox="1"/>
          <p:nvPr/>
        </p:nvSpPr>
        <p:spPr>
          <a:xfrm>
            <a:off x="571500" y="1973460"/>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Doubling down on Max by aggressively shifting all linear budgets to DTC expansion, cutting physical production, and prioritizing digital engagement.</a:t>
            </a:r>
            <a:endParaRPr/>
          </a:p>
        </p:txBody>
      </p:sp>
      <p:sp>
        <p:nvSpPr>
          <p:cNvPr id="199" name="Google Shape;199;p22"/>
          <p:cNvSpPr txBox="1"/>
          <p:nvPr/>
        </p:nvSpPr>
        <p:spPr>
          <a:xfrm>
            <a:off x="571500" y="2950666"/>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Pros &amp; Cons</a:t>
            </a:r>
            <a:endParaRPr/>
          </a:p>
        </p:txBody>
      </p:sp>
      <p:sp>
        <p:nvSpPr>
          <p:cNvPr id="200" name="Google Shape;200;p22"/>
          <p:cNvSpPr txBox="1"/>
          <p:nvPr/>
        </p:nvSpPr>
        <p:spPr>
          <a:xfrm>
            <a:off x="571500" y="3381077"/>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Benefit: Maximizes engagement metrics. Risk: Extremely capital intensive with delayed ROI, further stressing the cash position during a critical deleveraging phase.</a:t>
            </a:r>
            <a:endParaRPr/>
          </a:p>
        </p:txBody>
      </p:sp>
      <p:sp>
        <p:nvSpPr>
          <p:cNvPr id="201" name="Google Shape;201;p22"/>
          <p:cNvSpPr txBox="1"/>
          <p:nvPr/>
        </p:nvSpPr>
        <p:spPr>
          <a:xfrm>
            <a:off x="571500" y="4358282"/>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Outcomes</a:t>
            </a:r>
            <a:endParaRPr/>
          </a:p>
        </p:txBody>
      </p:sp>
      <p:sp>
        <p:nvSpPr>
          <p:cNvPr id="202" name="Google Shape;202;p22"/>
          <p:cNvSpPr txBox="1"/>
          <p:nvPr/>
        </p:nvSpPr>
        <p:spPr>
          <a:xfrm>
            <a:off x="571500" y="4788693"/>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Potential for high subscriber growth but carries extreme short-term liquidity risk.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06" name="Shape 206"/>
        <p:cNvGrpSpPr/>
        <p:nvPr/>
      </p:nvGrpSpPr>
      <p:grpSpPr>
        <a:xfrm>
          <a:off x="0" y="0"/>
          <a:ext cx="0" cy="0"/>
          <a:chOff x="0" y="0"/>
          <a:chExt cx="0" cy="0"/>
        </a:xfrm>
      </p:grpSpPr>
      <p:sp>
        <p:nvSpPr>
          <p:cNvPr id="207" name="Google Shape;207;p23"/>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CTS Step 4: Financial Restructuring</a:t>
            </a:r>
            <a:endParaRPr/>
          </a:p>
        </p:txBody>
      </p:sp>
      <p:sp>
        <p:nvSpPr>
          <p:cNvPr id="208" name="Google Shape;208;p23"/>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3"/>
          <p:cNvSpPr txBox="1"/>
          <p:nvPr/>
        </p:nvSpPr>
        <p:spPr>
          <a:xfrm>
            <a:off x="571500" y="1543050"/>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Strategy Overview</a:t>
            </a:r>
            <a:endParaRPr/>
          </a:p>
        </p:txBody>
      </p:sp>
      <p:sp>
        <p:nvSpPr>
          <p:cNvPr id="210" name="Google Shape;210;p23"/>
          <p:cNvSpPr txBox="1"/>
          <p:nvPr/>
        </p:nvSpPr>
        <p:spPr>
          <a:xfrm>
            <a:off x="571500" y="1973460"/>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Focusing on massive asset divestiture, aggressive debt refinancing, and spinning off non-core linear networks to pure-play investors.</a:t>
            </a:r>
            <a:endParaRPr/>
          </a:p>
        </p:txBody>
      </p:sp>
      <p:sp>
        <p:nvSpPr>
          <p:cNvPr id="211" name="Google Shape;211;p23"/>
          <p:cNvSpPr txBox="1"/>
          <p:nvPr/>
        </p:nvSpPr>
        <p:spPr>
          <a:xfrm>
            <a:off x="571500" y="2676376"/>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Pros &amp; Cons</a:t>
            </a:r>
            <a:endParaRPr/>
          </a:p>
        </p:txBody>
      </p:sp>
      <p:sp>
        <p:nvSpPr>
          <p:cNvPr id="212" name="Google Shape;212;p23"/>
          <p:cNvSpPr txBox="1"/>
          <p:nvPr/>
        </p:nvSpPr>
        <p:spPr>
          <a:xfrm>
            <a:off x="571500" y="3106787"/>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Benefit: Rapid improvement in balance sheet health. Risk: Loss of operational scale and market power, potentially making the remaining entity an acquisition target.</a:t>
            </a:r>
            <a:endParaRPr/>
          </a:p>
        </p:txBody>
      </p:sp>
      <p:sp>
        <p:nvSpPr>
          <p:cNvPr id="213" name="Google Shape;213;p23"/>
          <p:cNvSpPr txBox="1"/>
          <p:nvPr/>
        </p:nvSpPr>
        <p:spPr>
          <a:xfrm>
            <a:off x="571500" y="4083992"/>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Outcomes</a:t>
            </a:r>
            <a:endParaRPr/>
          </a:p>
        </p:txBody>
      </p:sp>
      <p:sp>
        <p:nvSpPr>
          <p:cNvPr id="214" name="Google Shape;214;p23"/>
          <p:cNvSpPr txBox="1"/>
          <p:nvPr/>
        </p:nvSpPr>
        <p:spPr>
          <a:xfrm>
            <a:off x="571500" y="4514403"/>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Stabilization at the expense of market relevance and future scaling capabilities.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18" name="Shape 218"/>
        <p:cNvGrpSpPr/>
        <p:nvPr/>
      </p:nvGrpSpPr>
      <p:grpSpPr>
        <a:xfrm>
          <a:off x="0" y="0"/>
          <a:ext cx="0" cy="0"/>
          <a:chOff x="0" y="0"/>
          <a:chExt cx="0" cy="0"/>
        </a:xfrm>
      </p:grpSpPr>
      <p:sp>
        <p:nvSpPr>
          <p:cNvPr id="219" name="Google Shape;219;p24"/>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CTS Step 4: Strategic Partnerships/Mergers</a:t>
            </a:r>
            <a:endParaRPr/>
          </a:p>
        </p:txBody>
      </p:sp>
      <p:sp>
        <p:nvSpPr>
          <p:cNvPr id="220" name="Google Shape;220;p24"/>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24"/>
          <p:cNvSpPr txBox="1"/>
          <p:nvPr/>
        </p:nvSpPr>
        <p:spPr>
          <a:xfrm>
            <a:off x="571500" y="1543050"/>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Strategy Overview</a:t>
            </a:r>
            <a:endParaRPr/>
          </a:p>
        </p:txBody>
      </p:sp>
      <p:sp>
        <p:nvSpPr>
          <p:cNvPr id="222" name="Google Shape;222;p24"/>
          <p:cNvSpPr txBox="1"/>
          <p:nvPr/>
        </p:nvSpPr>
        <p:spPr>
          <a:xfrm>
            <a:off x="571500" y="1973460"/>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Seeking synergy with a larger technology conglomerate (e.g., the Paramount Skydance acquisition path) to trade independent survival for balance sheet stability.</a:t>
            </a:r>
            <a:endParaRPr/>
          </a:p>
        </p:txBody>
      </p:sp>
      <p:sp>
        <p:nvSpPr>
          <p:cNvPr id="223" name="Google Shape;223;p24"/>
          <p:cNvSpPr txBox="1"/>
          <p:nvPr/>
        </p:nvSpPr>
        <p:spPr>
          <a:xfrm>
            <a:off x="571500" y="2950666"/>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Pros &amp; Cons</a:t>
            </a:r>
            <a:endParaRPr/>
          </a:p>
        </p:txBody>
      </p:sp>
      <p:sp>
        <p:nvSpPr>
          <p:cNvPr id="224" name="Google Shape;224;p24"/>
          <p:cNvSpPr txBox="1"/>
          <p:nvPr/>
        </p:nvSpPr>
        <p:spPr>
          <a:xfrm>
            <a:off x="571500" y="3381077"/>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Benefit: Immediate access to capital and operational synergies. Risk: Loss of strategic independence and potential for regulatory pushback during antitrust review.</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28" name="Shape 228"/>
        <p:cNvGrpSpPr/>
        <p:nvPr/>
      </p:nvGrpSpPr>
      <p:grpSpPr>
        <a:xfrm>
          <a:off x="0" y="0"/>
          <a:ext cx="0" cy="0"/>
          <a:chOff x="0" y="0"/>
          <a:chExt cx="0" cy="0"/>
        </a:xfrm>
      </p:grpSpPr>
      <p:sp>
        <p:nvSpPr>
          <p:cNvPr id="229" name="Google Shape;229;p25"/>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Strategic Assessment: SWOT Analysis</a:t>
            </a:r>
            <a:endParaRPr/>
          </a:p>
        </p:txBody>
      </p:sp>
      <p:sp>
        <p:nvSpPr>
          <p:cNvPr id="230" name="Google Shape;230;p25"/>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5"/>
          <p:cNvSpPr txBox="1"/>
          <p:nvPr/>
        </p:nvSpPr>
        <p:spPr>
          <a:xfrm>
            <a:off x="571500" y="1743521"/>
            <a:ext cx="5600700" cy="320873"/>
          </a:xfrm>
          <a:prstGeom prst="rect">
            <a:avLst/>
          </a:prstGeom>
          <a:noFill/>
          <a:ln>
            <a:noFill/>
          </a:ln>
        </p:spPr>
        <p:txBody>
          <a:bodyPr anchorCtr="0" anchor="t" bIns="0" lIns="0" spcFirstLastPara="1" rIns="0" wrap="square" tIns="0">
            <a:spAutoFit/>
          </a:bodyPr>
          <a:lstStyle/>
          <a:p>
            <a:pPr indent="0" lvl="0" marL="0" marR="0" rtl="0" algn="l">
              <a:lnSpc>
                <a:spcPct val="160038"/>
              </a:lnSpc>
              <a:spcBef>
                <a:spcPts val="0"/>
              </a:spcBef>
              <a:spcAft>
                <a:spcPts val="0"/>
              </a:spcAft>
              <a:buNone/>
            </a:pPr>
            <a:r>
              <a:rPr b="1" i="0" lang="en-US" sz="1579" u="none" cap="none" strike="noStrike">
                <a:solidFill>
                  <a:srgbClr val="F8FAFC"/>
                </a:solidFill>
                <a:latin typeface="Quattrocento Sans"/>
                <a:ea typeface="Quattrocento Sans"/>
                <a:cs typeface="Quattrocento Sans"/>
                <a:sym typeface="Quattrocento Sans"/>
              </a:rPr>
              <a:t>Strengths &amp; Weaknesses</a:t>
            </a:r>
            <a:endParaRPr/>
          </a:p>
        </p:txBody>
      </p:sp>
      <p:sp>
        <p:nvSpPr>
          <p:cNvPr id="232" name="Google Shape;232;p25"/>
          <p:cNvSpPr txBox="1"/>
          <p:nvPr/>
        </p:nvSpPr>
        <p:spPr>
          <a:xfrm>
            <a:off x="571500" y="2264866"/>
            <a:ext cx="5334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8FAFC"/>
                </a:solidFill>
                <a:latin typeface="Quattrocento Sans"/>
                <a:ea typeface="Quattrocento Sans"/>
                <a:cs typeface="Quattrocento Sans"/>
                <a:sym typeface="Quattrocento Sans"/>
              </a:rPr>
              <a:t>Strengths:</a:t>
            </a:r>
            <a:r>
              <a:rPr b="0" i="0" lang="en-US" sz="1350" u="none" cap="none" strike="noStrike">
                <a:solidFill>
                  <a:srgbClr val="F8FAFC"/>
                </a:solidFill>
                <a:latin typeface="Quattrocento Sans"/>
                <a:ea typeface="Quattrocento Sans"/>
                <a:cs typeface="Quattrocento Sans"/>
                <a:sym typeface="Quattrocento Sans"/>
              </a:rPr>
              <a:t> Peerless IP portfolio, global production footprint, established HBO brand.</a:t>
            </a:r>
            <a:endParaRPr/>
          </a:p>
        </p:txBody>
      </p:sp>
      <p:sp>
        <p:nvSpPr>
          <p:cNvPr id="233" name="Google Shape;233;p25"/>
          <p:cNvSpPr txBox="1"/>
          <p:nvPr/>
        </p:nvSpPr>
        <p:spPr>
          <a:xfrm>
            <a:off x="571500" y="2984896"/>
            <a:ext cx="5334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8FAFC"/>
                </a:solidFill>
                <a:latin typeface="Quattrocento Sans"/>
                <a:ea typeface="Quattrocento Sans"/>
                <a:cs typeface="Quattrocento Sans"/>
                <a:sym typeface="Quattrocento Sans"/>
              </a:rPr>
              <a:t>Weaknesses:</a:t>
            </a:r>
            <a:r>
              <a:rPr b="0" i="0" lang="en-US" sz="1350" u="none" cap="none" strike="noStrike">
                <a:solidFill>
                  <a:srgbClr val="F8FAFC"/>
                </a:solidFill>
                <a:latin typeface="Quattrocento Sans"/>
                <a:ea typeface="Quattrocento Sans"/>
                <a:cs typeface="Quattrocento Sans"/>
                <a:sym typeface="Quattrocento Sans"/>
              </a:rPr>
              <a:t> Excessive leverage, declining linear networks, fragmented streaming user base.</a:t>
            </a:r>
            <a:endParaRPr/>
          </a:p>
        </p:txBody>
      </p:sp>
      <p:sp>
        <p:nvSpPr>
          <p:cNvPr id="234" name="Google Shape;234;p25"/>
          <p:cNvSpPr txBox="1"/>
          <p:nvPr/>
        </p:nvSpPr>
        <p:spPr>
          <a:xfrm>
            <a:off x="6286500" y="1743521"/>
            <a:ext cx="5600700" cy="320873"/>
          </a:xfrm>
          <a:prstGeom prst="rect">
            <a:avLst/>
          </a:prstGeom>
          <a:noFill/>
          <a:ln>
            <a:noFill/>
          </a:ln>
        </p:spPr>
        <p:txBody>
          <a:bodyPr anchorCtr="0" anchor="t" bIns="0" lIns="0" spcFirstLastPara="1" rIns="0" wrap="square" tIns="0">
            <a:spAutoFit/>
          </a:bodyPr>
          <a:lstStyle/>
          <a:p>
            <a:pPr indent="0" lvl="0" marL="0" marR="0" rtl="0" algn="l">
              <a:lnSpc>
                <a:spcPct val="160038"/>
              </a:lnSpc>
              <a:spcBef>
                <a:spcPts val="0"/>
              </a:spcBef>
              <a:spcAft>
                <a:spcPts val="0"/>
              </a:spcAft>
              <a:buNone/>
            </a:pPr>
            <a:r>
              <a:rPr b="1" i="0" lang="en-US" sz="1579" u="none" cap="none" strike="noStrike">
                <a:solidFill>
                  <a:srgbClr val="F8FAFC"/>
                </a:solidFill>
                <a:latin typeface="Quattrocento Sans"/>
                <a:ea typeface="Quattrocento Sans"/>
                <a:cs typeface="Quattrocento Sans"/>
                <a:sym typeface="Quattrocento Sans"/>
              </a:rPr>
              <a:t>Opportunities &amp; Threats</a:t>
            </a:r>
            <a:endParaRPr/>
          </a:p>
        </p:txBody>
      </p:sp>
      <p:sp>
        <p:nvSpPr>
          <p:cNvPr id="235" name="Google Shape;235;p25"/>
          <p:cNvSpPr txBox="1"/>
          <p:nvPr/>
        </p:nvSpPr>
        <p:spPr>
          <a:xfrm>
            <a:off x="6286500" y="2264866"/>
            <a:ext cx="5334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8FAFC"/>
                </a:solidFill>
                <a:latin typeface="Quattrocento Sans"/>
                <a:ea typeface="Quattrocento Sans"/>
                <a:cs typeface="Quattrocento Sans"/>
                <a:sym typeface="Quattrocento Sans"/>
              </a:rPr>
              <a:t>Opportunities:</a:t>
            </a:r>
            <a:r>
              <a:rPr b="0" i="0" lang="en-US" sz="1350" u="none" cap="none" strike="noStrike">
                <a:solidFill>
                  <a:srgbClr val="F8FAFC"/>
                </a:solidFill>
                <a:latin typeface="Quattrocento Sans"/>
                <a:ea typeface="Quattrocento Sans"/>
                <a:cs typeface="Quattrocento Sans"/>
                <a:sym typeface="Quattrocento Sans"/>
              </a:rPr>
              <a:t> Global distribution expansion, live sports integration, AI-driven content efficiency.</a:t>
            </a:r>
            <a:endParaRPr/>
          </a:p>
        </p:txBody>
      </p:sp>
      <p:sp>
        <p:nvSpPr>
          <p:cNvPr id="236" name="Google Shape;236;p25"/>
          <p:cNvSpPr txBox="1"/>
          <p:nvPr/>
        </p:nvSpPr>
        <p:spPr>
          <a:xfrm>
            <a:off x="6286500" y="2984896"/>
            <a:ext cx="5334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8FAFC"/>
                </a:solidFill>
                <a:latin typeface="Quattrocento Sans"/>
                <a:ea typeface="Quattrocento Sans"/>
                <a:cs typeface="Quattrocento Sans"/>
                <a:sym typeface="Quattrocento Sans"/>
              </a:rPr>
              <a:t>Threats:</a:t>
            </a:r>
            <a:r>
              <a:rPr b="0" i="0" lang="en-US" sz="1350" u="none" cap="none" strike="noStrike">
                <a:solidFill>
                  <a:srgbClr val="F8FAFC"/>
                </a:solidFill>
                <a:latin typeface="Quattrocento Sans"/>
                <a:ea typeface="Quattrocento Sans"/>
                <a:cs typeface="Quattrocento Sans"/>
                <a:sym typeface="Quattrocento Sans"/>
              </a:rPr>
              <a:t> Regulatory interference, technological obsolescence of legacy distribution, hyper-competitive pricing.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40" name="Shape 240"/>
        <p:cNvGrpSpPr/>
        <p:nvPr/>
      </p:nvGrpSpPr>
      <p:grpSpPr>
        <a:xfrm>
          <a:off x="0" y="0"/>
          <a:ext cx="0" cy="0"/>
          <a:chOff x="0" y="0"/>
          <a:chExt cx="0" cy="0"/>
        </a:xfrm>
      </p:grpSpPr>
      <p:sp>
        <p:nvSpPr>
          <p:cNvPr id="241" name="Google Shape;241;p26"/>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Environmental Context: PESTLE Analysis</a:t>
            </a:r>
            <a:endParaRPr/>
          </a:p>
        </p:txBody>
      </p:sp>
      <p:sp>
        <p:nvSpPr>
          <p:cNvPr id="242" name="Google Shape;242;p26"/>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6"/>
          <p:cNvSpPr txBox="1"/>
          <p:nvPr/>
        </p:nvSpPr>
        <p:spPr>
          <a:xfrm>
            <a:off x="571500" y="1714500"/>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8FAFC"/>
                </a:solidFill>
                <a:latin typeface="Quattrocento Sans"/>
                <a:ea typeface="Quattrocento Sans"/>
                <a:cs typeface="Quattrocento Sans"/>
                <a:sym typeface="Quattrocento Sans"/>
              </a:rPr>
              <a:t>Political:</a:t>
            </a:r>
            <a:r>
              <a:rPr b="0" i="0" lang="en-US" sz="1350" u="none" cap="none" strike="noStrike">
                <a:solidFill>
                  <a:srgbClr val="F8FAFC"/>
                </a:solidFill>
                <a:latin typeface="Quattrocento Sans"/>
                <a:ea typeface="Quattrocento Sans"/>
                <a:cs typeface="Quattrocento Sans"/>
                <a:sym typeface="Quattrocento Sans"/>
              </a:rPr>
              <a:t> Heightened scrutiny from antitrust regulators regarding media consolidation.</a:t>
            </a:r>
            <a:endParaRPr/>
          </a:p>
        </p:txBody>
      </p:sp>
      <p:sp>
        <p:nvSpPr>
          <p:cNvPr id="244" name="Google Shape;244;p26"/>
          <p:cNvSpPr txBox="1"/>
          <p:nvPr/>
        </p:nvSpPr>
        <p:spPr>
          <a:xfrm>
            <a:off x="571500" y="2522190"/>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8FAFC"/>
                </a:solidFill>
                <a:latin typeface="Quattrocento Sans"/>
                <a:ea typeface="Quattrocento Sans"/>
                <a:cs typeface="Quattrocento Sans"/>
                <a:sym typeface="Quattrocento Sans"/>
              </a:rPr>
              <a:t>Economic:</a:t>
            </a:r>
            <a:r>
              <a:rPr b="0" i="0" lang="en-US" sz="1350" u="none" cap="none" strike="noStrike">
                <a:solidFill>
                  <a:srgbClr val="F8FAFC"/>
                </a:solidFill>
                <a:latin typeface="Quattrocento Sans"/>
                <a:ea typeface="Quattrocento Sans"/>
                <a:cs typeface="Quattrocento Sans"/>
                <a:sym typeface="Quattrocento Sans"/>
              </a:rPr>
              <a:t> High-interest rate environment increases the cost of refinancing debt.</a:t>
            </a:r>
            <a:endParaRPr/>
          </a:p>
        </p:txBody>
      </p:sp>
      <p:sp>
        <p:nvSpPr>
          <p:cNvPr id="245" name="Google Shape;245;p26"/>
          <p:cNvSpPr txBox="1"/>
          <p:nvPr/>
        </p:nvSpPr>
        <p:spPr>
          <a:xfrm>
            <a:off x="571500" y="3329880"/>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8FAFC"/>
                </a:solidFill>
                <a:latin typeface="Quattrocento Sans"/>
                <a:ea typeface="Quattrocento Sans"/>
                <a:cs typeface="Quattrocento Sans"/>
                <a:sym typeface="Quattrocento Sans"/>
              </a:rPr>
              <a:t>Social:</a:t>
            </a:r>
            <a:r>
              <a:rPr b="0" i="0" lang="en-US" sz="1350" u="none" cap="none" strike="noStrike">
                <a:solidFill>
                  <a:srgbClr val="F8FAFC"/>
                </a:solidFill>
                <a:latin typeface="Quattrocento Sans"/>
                <a:ea typeface="Quattrocento Sans"/>
                <a:cs typeface="Quattrocento Sans"/>
                <a:sym typeface="Quattrocento Sans"/>
              </a:rPr>
              <a:t> Fragmented consumer loyalty across competing streaming platforms.</a:t>
            </a:r>
            <a:endParaRPr/>
          </a:p>
        </p:txBody>
      </p:sp>
      <p:sp>
        <p:nvSpPr>
          <p:cNvPr id="246" name="Google Shape;246;p26"/>
          <p:cNvSpPr txBox="1"/>
          <p:nvPr/>
        </p:nvSpPr>
        <p:spPr>
          <a:xfrm>
            <a:off x="571500" y="4137570"/>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8FAFC"/>
                </a:solidFill>
                <a:latin typeface="Quattrocento Sans"/>
                <a:ea typeface="Quattrocento Sans"/>
                <a:cs typeface="Quattrocento Sans"/>
                <a:sym typeface="Quattrocento Sans"/>
              </a:rPr>
              <a:t>Technological:</a:t>
            </a:r>
            <a:r>
              <a:rPr b="0" i="0" lang="en-US" sz="1350" u="none" cap="none" strike="noStrike">
                <a:solidFill>
                  <a:srgbClr val="F8FAFC"/>
                </a:solidFill>
                <a:latin typeface="Quattrocento Sans"/>
                <a:ea typeface="Quattrocento Sans"/>
                <a:cs typeface="Quattrocento Sans"/>
                <a:sym typeface="Quattrocento Sans"/>
              </a:rPr>
              <a:t> Rapid shift towards AI-generated content production and delivery.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50" name="Shape 250"/>
        <p:cNvGrpSpPr/>
        <p:nvPr/>
      </p:nvGrpSpPr>
      <p:grpSpPr>
        <a:xfrm>
          <a:off x="0" y="0"/>
          <a:ext cx="0" cy="0"/>
          <a:chOff x="0" y="0"/>
          <a:chExt cx="0" cy="0"/>
        </a:xfrm>
      </p:grpSpPr>
      <p:pic>
        <p:nvPicPr>
          <p:cNvPr descr="image.png" id="251" name="Google Shape;251;p27"/>
          <p:cNvPicPr preferRelativeResize="0"/>
          <p:nvPr/>
        </p:nvPicPr>
        <p:blipFill rotWithShape="1">
          <a:blip r:embed="rId3">
            <a:alphaModFix/>
          </a:blip>
          <a:srcRect b="0" l="0" r="0" t="0"/>
          <a:stretch/>
        </p:blipFill>
        <p:spPr>
          <a:xfrm>
            <a:off x="6286500" y="1543050"/>
            <a:ext cx="5334000" cy="3333750"/>
          </a:xfrm>
          <a:prstGeom prst="rect">
            <a:avLst/>
          </a:prstGeom>
          <a:noFill/>
          <a:ln>
            <a:noFill/>
          </a:ln>
        </p:spPr>
      </p:pic>
      <p:sp>
        <p:nvSpPr>
          <p:cNvPr id="252" name="Google Shape;252;p27"/>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Industry Landscape: Porter's Five Forces</a:t>
            </a:r>
            <a:endParaRPr/>
          </a:p>
        </p:txBody>
      </p:sp>
      <p:sp>
        <p:nvSpPr>
          <p:cNvPr id="253" name="Google Shape;253;p27"/>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27"/>
          <p:cNvSpPr txBox="1"/>
          <p:nvPr/>
        </p:nvSpPr>
        <p:spPr>
          <a:xfrm>
            <a:off x="571500" y="1743521"/>
            <a:ext cx="5600700" cy="320873"/>
          </a:xfrm>
          <a:prstGeom prst="rect">
            <a:avLst/>
          </a:prstGeom>
          <a:noFill/>
          <a:ln>
            <a:noFill/>
          </a:ln>
        </p:spPr>
        <p:txBody>
          <a:bodyPr anchorCtr="0" anchor="t" bIns="0" lIns="0" spcFirstLastPara="1" rIns="0" wrap="square" tIns="0">
            <a:spAutoFit/>
          </a:bodyPr>
          <a:lstStyle/>
          <a:p>
            <a:pPr indent="0" lvl="0" marL="0" marR="0" rtl="0" algn="l">
              <a:lnSpc>
                <a:spcPct val="160038"/>
              </a:lnSpc>
              <a:spcBef>
                <a:spcPts val="0"/>
              </a:spcBef>
              <a:spcAft>
                <a:spcPts val="0"/>
              </a:spcAft>
              <a:buNone/>
            </a:pPr>
            <a:r>
              <a:rPr b="1" i="0" lang="en-US" sz="1579" u="none" cap="none" strike="noStrike">
                <a:solidFill>
                  <a:srgbClr val="F8FAFC"/>
                </a:solidFill>
                <a:latin typeface="Quattrocento Sans"/>
                <a:ea typeface="Quattrocento Sans"/>
                <a:cs typeface="Quattrocento Sans"/>
                <a:sym typeface="Quattrocento Sans"/>
              </a:rPr>
              <a:t>Competitive Rivalry (High)</a:t>
            </a:r>
            <a:endParaRPr/>
          </a:p>
        </p:txBody>
      </p:sp>
      <p:sp>
        <p:nvSpPr>
          <p:cNvPr id="255" name="Google Shape;255;p27"/>
          <p:cNvSpPr txBox="1"/>
          <p:nvPr/>
        </p:nvSpPr>
        <p:spPr>
          <a:xfrm>
            <a:off x="571500" y="2264866"/>
            <a:ext cx="5334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Streaming dominance requires massive capital. Rivalry is driven by subscription wars.</a:t>
            </a:r>
            <a:endParaRPr/>
          </a:p>
        </p:txBody>
      </p:sp>
      <p:sp>
        <p:nvSpPr>
          <p:cNvPr id="256" name="Google Shape;256;p27"/>
          <p:cNvSpPr txBox="1"/>
          <p:nvPr/>
        </p:nvSpPr>
        <p:spPr>
          <a:xfrm>
            <a:off x="571500" y="3013918"/>
            <a:ext cx="5600700" cy="320873"/>
          </a:xfrm>
          <a:prstGeom prst="rect">
            <a:avLst/>
          </a:prstGeom>
          <a:noFill/>
          <a:ln>
            <a:noFill/>
          </a:ln>
        </p:spPr>
        <p:txBody>
          <a:bodyPr anchorCtr="0" anchor="t" bIns="0" lIns="0" spcFirstLastPara="1" rIns="0" wrap="square" tIns="0">
            <a:spAutoFit/>
          </a:bodyPr>
          <a:lstStyle/>
          <a:p>
            <a:pPr indent="0" lvl="0" marL="0" marR="0" rtl="0" algn="l">
              <a:lnSpc>
                <a:spcPct val="160038"/>
              </a:lnSpc>
              <a:spcBef>
                <a:spcPts val="0"/>
              </a:spcBef>
              <a:spcAft>
                <a:spcPts val="0"/>
              </a:spcAft>
              <a:buNone/>
            </a:pPr>
            <a:r>
              <a:rPr b="1" i="0" lang="en-US" sz="1579" u="none" cap="none" strike="noStrike">
                <a:solidFill>
                  <a:srgbClr val="F8FAFC"/>
                </a:solidFill>
                <a:latin typeface="Quattrocento Sans"/>
                <a:ea typeface="Quattrocento Sans"/>
                <a:cs typeface="Quattrocento Sans"/>
                <a:sym typeface="Quattrocento Sans"/>
              </a:rPr>
              <a:t>Buyer Power (High)</a:t>
            </a:r>
            <a:endParaRPr/>
          </a:p>
        </p:txBody>
      </p:sp>
      <p:sp>
        <p:nvSpPr>
          <p:cNvPr id="257" name="Google Shape;257;p27"/>
          <p:cNvSpPr txBox="1"/>
          <p:nvPr/>
        </p:nvSpPr>
        <p:spPr>
          <a:xfrm>
            <a:off x="571500" y="3535263"/>
            <a:ext cx="5334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Low switching costs for consumers make churn management difficult.</a:t>
            </a:r>
            <a:endParaRPr/>
          </a:p>
        </p:txBody>
      </p:sp>
      <p:pic>
        <p:nvPicPr>
          <p:cNvPr descr="image.png" id="258" name="Google Shape;258;p27"/>
          <p:cNvPicPr preferRelativeResize="0"/>
          <p:nvPr/>
        </p:nvPicPr>
        <p:blipFill rotWithShape="1">
          <a:blip r:embed="rId4">
            <a:alphaModFix/>
          </a:blip>
          <a:srcRect b="0" l="0" r="0" t="0"/>
          <a:stretch/>
        </p:blipFill>
        <p:spPr>
          <a:xfrm>
            <a:off x="6286500" y="1543050"/>
            <a:ext cx="5334000" cy="3333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62" name="Shape 262"/>
        <p:cNvGrpSpPr/>
        <p:nvPr/>
      </p:nvGrpSpPr>
      <p:grpSpPr>
        <a:xfrm>
          <a:off x="0" y="0"/>
          <a:ext cx="0" cy="0"/>
          <a:chOff x="0" y="0"/>
          <a:chExt cx="0" cy="0"/>
        </a:xfrm>
      </p:grpSpPr>
      <p:sp>
        <p:nvSpPr>
          <p:cNvPr id="263" name="Google Shape;263;p28"/>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CTS Step 5: Decision Matrix Evaluation</a:t>
            </a:r>
            <a:endParaRPr/>
          </a:p>
        </p:txBody>
      </p:sp>
      <p:sp>
        <p:nvSpPr>
          <p:cNvPr id="264" name="Google Shape;264;p28"/>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65" name="Google Shape;265;p28"/>
          <p:cNvGraphicFramePr/>
          <p:nvPr/>
        </p:nvGraphicFramePr>
        <p:xfrm>
          <a:off x="571500" y="1543050"/>
          <a:ext cx="3000000" cy="3000000"/>
        </p:xfrm>
        <a:graphic>
          <a:graphicData uri="http://schemas.openxmlformats.org/drawingml/2006/table">
            <a:tbl>
              <a:tblPr bandRow="1" firstRow="1">
                <a:noFill/>
                <a:tableStyleId>{981BCAE5-81AF-4A94-9E23-7C44BDCA34C7}</a:tableStyleId>
              </a:tblPr>
              <a:tblGrid>
                <a:gridCol w="2525900"/>
                <a:gridCol w="1088675"/>
                <a:gridCol w="2366075"/>
                <a:gridCol w="2118725"/>
                <a:gridCol w="2949625"/>
              </a:tblGrid>
              <a:tr h="296525">
                <a:tc>
                  <a:txBody>
                    <a:bodyPr/>
                    <a:lstStyle/>
                    <a:p>
                      <a:pPr indent="0" lvl="0" marL="0" marR="0" rtl="0" algn="ctr">
                        <a:spcBef>
                          <a:spcPts val="0"/>
                        </a:spcBef>
                        <a:spcAft>
                          <a:spcPts val="0"/>
                        </a:spcAft>
                        <a:buNone/>
                      </a:pPr>
                      <a:r>
                        <a:rPr b="1" i="0" lang="en-US" sz="1350" u="none" cap="none" strike="noStrike">
                          <a:solidFill>
                            <a:srgbClr val="FFFFFF"/>
                          </a:solidFill>
                          <a:latin typeface="Quattrocento Sans"/>
                          <a:ea typeface="Quattrocento Sans"/>
                          <a:cs typeface="Quattrocento Sans"/>
                          <a:sym typeface="Quattrocento Sans"/>
                        </a:rPr>
                        <a:t>Criterion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350" u="none" cap="none" strike="noStrike">
                          <a:solidFill>
                            <a:srgbClr val="FFFFFF"/>
                          </a:solidFill>
                          <a:latin typeface="Quattrocento Sans"/>
                          <a:ea typeface="Quattrocento Sans"/>
                          <a:cs typeface="Quattrocento Sans"/>
                          <a:sym typeface="Quattrocento Sans"/>
                        </a:rPr>
                        <a:t>Weight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350" u="none" cap="none" strike="noStrike">
                          <a:solidFill>
                            <a:srgbClr val="FFFFFF"/>
                          </a:solidFill>
                          <a:latin typeface="Quattrocento Sans"/>
                          <a:ea typeface="Quattrocento Sans"/>
                          <a:cs typeface="Quattrocento Sans"/>
                          <a:sym typeface="Quattrocento Sans"/>
                        </a:rPr>
                        <a:t>Streaming First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350" u="none" cap="none" strike="noStrike">
                          <a:solidFill>
                            <a:srgbClr val="FFFFFF"/>
                          </a:solidFill>
                          <a:latin typeface="Quattrocento Sans"/>
                          <a:ea typeface="Quattrocento Sans"/>
                          <a:cs typeface="Quattrocento Sans"/>
                          <a:sym typeface="Quattrocento Sans"/>
                        </a:rPr>
                        <a:t>Restructuring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1350" u="none" cap="none" strike="noStrike">
                          <a:solidFill>
                            <a:srgbClr val="FFFFFF"/>
                          </a:solidFill>
                          <a:latin typeface="Quattrocento Sans"/>
                          <a:ea typeface="Quattrocento Sans"/>
                          <a:cs typeface="Quattrocento Sans"/>
                          <a:sym typeface="Quattrocento Sans"/>
                        </a:rPr>
                        <a:t>Partnership/Merger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525">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Fin. Sustainability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40%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525">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Innovation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25%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525">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Brand Equity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20%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525">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Leadership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15%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525">
                <a:tc>
                  <a:txBody>
                    <a:bodyPr/>
                    <a:lstStyle/>
                    <a:p>
                      <a:pPr indent="0" lvl="0" marL="0" marR="0" rtl="0" algn="l">
                        <a:spcBef>
                          <a:spcPts val="0"/>
                        </a:spcBef>
                        <a:spcAft>
                          <a:spcPts val="0"/>
                        </a:spcAft>
                        <a:buNone/>
                      </a:pPr>
                      <a:r>
                        <a:rPr b="1" i="0" lang="en-US" sz="1350" u="none" cap="none" strike="noStrike">
                          <a:solidFill>
                            <a:srgbClr val="000000"/>
                          </a:solidFill>
                          <a:latin typeface="Quattrocento Sans"/>
                          <a:ea typeface="Quattrocento Sans"/>
                          <a:cs typeface="Quattrocento Sans"/>
                          <a:sym typeface="Quattrocento Sans"/>
                        </a:rPr>
                        <a:t>Total Score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8BDF8"/>
                    </a:solidFill>
                  </a:tcPr>
                </a:tc>
                <a:tc>
                  <a:txBody>
                    <a:bodyPr/>
                    <a:lstStyle/>
                    <a:p>
                      <a:pPr indent="0" lvl="0" marL="0" marR="0" rtl="0" algn="l">
                        <a:spcBef>
                          <a:spcPts val="0"/>
                        </a:spcBef>
                        <a:spcAft>
                          <a:spcPts val="0"/>
                        </a:spcAft>
                        <a:buNone/>
                      </a:pPr>
                      <a:r>
                        <a:rPr b="0" i="0" lang="en-US" sz="1350" u="none" cap="none" strike="noStrike">
                          <a:solidFill>
                            <a:srgbClr val="000000"/>
                          </a:solidFill>
                          <a:latin typeface="Quattrocento Sans"/>
                          <a:ea typeface="Quattrocento Sans"/>
                          <a:cs typeface="Quattrocento Sans"/>
                          <a:sym typeface="Quattrocento Sans"/>
                        </a:rPr>
                        <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8BDF8"/>
                    </a:solidFill>
                  </a:tcPr>
                </a:tc>
                <a:tc>
                  <a:txBody>
                    <a:bodyPr/>
                    <a:lstStyle/>
                    <a:p>
                      <a:pPr indent="0" lvl="0" marL="0" marR="0" rtl="0" algn="l">
                        <a:spcBef>
                          <a:spcPts val="0"/>
                        </a:spcBef>
                        <a:spcAft>
                          <a:spcPts val="0"/>
                        </a:spcAft>
                        <a:buNone/>
                      </a:pPr>
                      <a:r>
                        <a:rPr b="0" i="0" lang="en-US" sz="1350" u="none" cap="none" strike="noStrike">
                          <a:solidFill>
                            <a:srgbClr val="000000"/>
                          </a:solidFill>
                          <a:latin typeface="Quattrocento Sans"/>
                          <a:ea typeface="Quattrocento Sans"/>
                          <a:cs typeface="Quattrocento Sans"/>
                          <a:sym typeface="Quattrocento Sans"/>
                        </a:rPr>
                        <a:t>3.35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8BDF8"/>
                    </a:solidFill>
                  </a:tcPr>
                </a:tc>
                <a:tc>
                  <a:txBody>
                    <a:bodyPr/>
                    <a:lstStyle/>
                    <a:p>
                      <a:pPr indent="0" lvl="0" marL="0" marR="0" rtl="0" algn="l">
                        <a:spcBef>
                          <a:spcPts val="0"/>
                        </a:spcBef>
                        <a:spcAft>
                          <a:spcPts val="0"/>
                        </a:spcAft>
                        <a:buNone/>
                      </a:pPr>
                      <a:r>
                        <a:rPr b="0" i="0" lang="en-US" sz="1350" u="none" cap="none" strike="noStrike">
                          <a:solidFill>
                            <a:srgbClr val="000000"/>
                          </a:solidFill>
                          <a:latin typeface="Quattrocento Sans"/>
                          <a:ea typeface="Quattrocento Sans"/>
                          <a:cs typeface="Quattrocento Sans"/>
                          <a:sym typeface="Quattrocento Sans"/>
                        </a:rPr>
                        <a:t>3.3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8BDF8"/>
                    </a:solidFill>
                  </a:tcPr>
                </a:tc>
                <a:tc>
                  <a:txBody>
                    <a:bodyPr/>
                    <a:lstStyle/>
                    <a:p>
                      <a:pPr indent="0" lvl="0" marL="0" marR="0" rtl="0" algn="l">
                        <a:spcBef>
                          <a:spcPts val="0"/>
                        </a:spcBef>
                        <a:spcAft>
                          <a:spcPts val="0"/>
                        </a:spcAft>
                        <a:buNone/>
                      </a:pPr>
                      <a:r>
                        <a:rPr b="1" i="0" lang="en-US" sz="1350" u="none" cap="none" strike="noStrike">
                          <a:solidFill>
                            <a:srgbClr val="000000"/>
                          </a:solidFill>
                          <a:latin typeface="Quattrocento Sans"/>
                          <a:ea typeface="Quattrocento Sans"/>
                          <a:cs typeface="Quattrocento Sans"/>
                          <a:sym typeface="Quattrocento Sans"/>
                        </a:rPr>
                        <a:t>4.45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38BDF8"/>
                    </a:solidFill>
                  </a:tcPr>
                </a:tc>
              </a:tr>
            </a:tbl>
          </a:graphicData>
        </a:graphic>
      </p:graphicFrame>
      <p:sp>
        <p:nvSpPr>
          <p:cNvPr id="266" name="Google Shape;266;p28"/>
          <p:cNvSpPr txBox="1"/>
          <p:nvPr/>
        </p:nvSpPr>
        <p:spPr>
          <a:xfrm>
            <a:off x="571500" y="3703141"/>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The "Partnership/Merger" path emerges as the clear winner due to its ability to resolve the debt crisis while maintaining operational scale.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70" name="Shape 270"/>
        <p:cNvGrpSpPr/>
        <p:nvPr/>
      </p:nvGrpSpPr>
      <p:grpSpPr>
        <a:xfrm>
          <a:off x="0" y="0"/>
          <a:ext cx="0" cy="0"/>
          <a:chOff x="0" y="0"/>
          <a:chExt cx="0" cy="0"/>
        </a:xfrm>
      </p:grpSpPr>
      <p:sp>
        <p:nvSpPr>
          <p:cNvPr id="271" name="Google Shape;271;p29"/>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CTS Step 6: Recommended Strategy</a:t>
            </a:r>
            <a:endParaRPr/>
          </a:p>
        </p:txBody>
      </p:sp>
      <p:sp>
        <p:nvSpPr>
          <p:cNvPr id="272" name="Google Shape;272;p29"/>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29"/>
          <p:cNvSpPr txBox="1"/>
          <p:nvPr/>
        </p:nvSpPr>
        <p:spPr>
          <a:xfrm>
            <a:off x="571500" y="1543050"/>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The Hybrid Strategy</a:t>
            </a:r>
            <a:endParaRPr/>
          </a:p>
        </p:txBody>
      </p:sp>
      <p:sp>
        <p:nvSpPr>
          <p:cNvPr id="274" name="Google Shape;274;p29"/>
          <p:cNvSpPr txBox="1"/>
          <p:nvPr/>
        </p:nvSpPr>
        <p:spPr>
          <a:xfrm>
            <a:off x="571500" y="1973460"/>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Execution of a structured merger/acquisition path coupled with immediate operational restructuring is the optimal route to maximize long-term shareholder value.</a:t>
            </a:r>
            <a:endParaRPr/>
          </a:p>
        </p:txBody>
      </p:sp>
      <p:sp>
        <p:nvSpPr>
          <p:cNvPr id="275" name="Google Shape;275;p29"/>
          <p:cNvSpPr txBox="1"/>
          <p:nvPr/>
        </p:nvSpPr>
        <p:spPr>
          <a:xfrm>
            <a:off x="571500" y="2950666"/>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Strategic Rationale</a:t>
            </a:r>
            <a:endParaRPr/>
          </a:p>
        </p:txBody>
      </p:sp>
      <p:sp>
        <p:nvSpPr>
          <p:cNvPr id="276" name="Google Shape;276;p29"/>
          <p:cNvSpPr txBox="1"/>
          <p:nvPr/>
        </p:nvSpPr>
        <p:spPr>
          <a:xfrm>
            <a:off x="571500" y="3381077"/>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By leveraging an external partner's balance sheet, WBD can stabilize its debt while retaining the creative autonomy of the Warner Bros. studios, effectively trading equity for structural solvency.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80" name="Shape 280"/>
        <p:cNvGrpSpPr/>
        <p:nvPr/>
      </p:nvGrpSpPr>
      <p:grpSpPr>
        <a:xfrm>
          <a:off x="0" y="0"/>
          <a:ext cx="0" cy="0"/>
          <a:chOff x="0" y="0"/>
          <a:chExt cx="0" cy="0"/>
        </a:xfrm>
      </p:grpSpPr>
      <p:sp>
        <p:nvSpPr>
          <p:cNvPr id="281" name="Google Shape;281;p30"/>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CTS Step 7: Implementation Roadmap</a:t>
            </a:r>
            <a:endParaRPr/>
          </a:p>
        </p:txBody>
      </p:sp>
      <p:sp>
        <p:nvSpPr>
          <p:cNvPr id="282" name="Google Shape;282;p30"/>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30"/>
          <p:cNvSpPr txBox="1"/>
          <p:nvPr/>
        </p:nvSpPr>
        <p:spPr>
          <a:xfrm>
            <a:off x="571500" y="1543050"/>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Short-Term (0-12 months): Regulatory Clearance &amp; Deleveraging</a:t>
            </a:r>
            <a:endParaRPr/>
          </a:p>
        </p:txBody>
      </p:sp>
      <p:sp>
        <p:nvSpPr>
          <p:cNvPr id="284" name="Google Shape;284;p30"/>
          <p:cNvSpPr txBox="1"/>
          <p:nvPr/>
        </p:nvSpPr>
        <p:spPr>
          <a:xfrm>
            <a:off x="571500" y="1973460"/>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Finalizing the merger agreement, securing bridge financing, and executing the tax-free spin-off of non-core entities.</a:t>
            </a:r>
            <a:endParaRPr/>
          </a:p>
        </p:txBody>
      </p:sp>
      <p:sp>
        <p:nvSpPr>
          <p:cNvPr id="285" name="Google Shape;285;p30"/>
          <p:cNvSpPr txBox="1"/>
          <p:nvPr/>
        </p:nvSpPr>
        <p:spPr>
          <a:xfrm>
            <a:off x="571500" y="2676376"/>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Medium-Term (1-3 years): Integration &amp; Synergy</a:t>
            </a:r>
            <a:endParaRPr/>
          </a:p>
        </p:txBody>
      </p:sp>
      <p:sp>
        <p:nvSpPr>
          <p:cNvPr id="286" name="Google Shape;286;p30"/>
          <p:cNvSpPr txBox="1"/>
          <p:nvPr/>
        </p:nvSpPr>
        <p:spPr>
          <a:xfrm>
            <a:off x="571500" y="3106787"/>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Merging tech stacks, unifying content licensing, and achieving the target cost synergies to drive margin expansion.</a:t>
            </a:r>
            <a:endParaRPr/>
          </a:p>
        </p:txBody>
      </p:sp>
      <p:sp>
        <p:nvSpPr>
          <p:cNvPr id="287" name="Google Shape;287;p30"/>
          <p:cNvSpPr txBox="1"/>
          <p:nvPr/>
        </p:nvSpPr>
        <p:spPr>
          <a:xfrm>
            <a:off x="571500" y="3809702"/>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Long-Term (3-5 years): Value Creation</a:t>
            </a:r>
            <a:endParaRPr/>
          </a:p>
        </p:txBody>
      </p:sp>
      <p:sp>
        <p:nvSpPr>
          <p:cNvPr id="288" name="Google Shape;288;p30"/>
          <p:cNvSpPr txBox="1"/>
          <p:nvPr/>
        </p:nvSpPr>
        <p:spPr>
          <a:xfrm>
            <a:off x="571500" y="4240113"/>
            <a:ext cx="1104900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Reinvesting realized cash flows into premium IP development and global expansion to cement market leadership.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92" name="Shape 292"/>
        <p:cNvGrpSpPr/>
        <p:nvPr/>
      </p:nvGrpSpPr>
      <p:grpSpPr>
        <a:xfrm>
          <a:off x="0" y="0"/>
          <a:ext cx="0" cy="0"/>
          <a:chOff x="0" y="0"/>
          <a:chExt cx="0" cy="0"/>
        </a:xfrm>
      </p:grpSpPr>
      <p:pic>
        <p:nvPicPr>
          <p:cNvPr descr="image.png" id="293" name="Google Shape;293;p31"/>
          <p:cNvPicPr preferRelativeResize="0"/>
          <p:nvPr/>
        </p:nvPicPr>
        <p:blipFill rotWithShape="1">
          <a:blip r:embed="rId3">
            <a:alphaModFix/>
          </a:blip>
          <a:srcRect b="0" l="0" r="0" t="0"/>
          <a:stretch/>
        </p:blipFill>
        <p:spPr>
          <a:xfrm>
            <a:off x="6286500" y="1543050"/>
            <a:ext cx="5334000" cy="3333750"/>
          </a:xfrm>
          <a:prstGeom prst="rect">
            <a:avLst/>
          </a:prstGeom>
          <a:noFill/>
          <a:ln>
            <a:noFill/>
          </a:ln>
        </p:spPr>
      </p:pic>
      <p:sp>
        <p:nvSpPr>
          <p:cNvPr id="294" name="Google Shape;294;p31"/>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KPI Dashboard: Success Metrics</a:t>
            </a:r>
            <a:endParaRPr/>
          </a:p>
        </p:txBody>
      </p:sp>
      <p:sp>
        <p:nvSpPr>
          <p:cNvPr id="295" name="Google Shape;295;p31"/>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96" name="Google Shape;296;p31"/>
          <p:cNvPicPr preferRelativeResize="0"/>
          <p:nvPr/>
        </p:nvPicPr>
        <p:blipFill rotWithShape="1">
          <a:blip r:embed="rId4">
            <a:alphaModFix/>
          </a:blip>
          <a:srcRect b="0" l="0" r="0" t="0"/>
          <a:stretch/>
        </p:blipFill>
        <p:spPr>
          <a:xfrm>
            <a:off x="6286500" y="1543050"/>
            <a:ext cx="5334000" cy="3333750"/>
          </a:xfrm>
          <a:prstGeom prst="rect">
            <a:avLst/>
          </a:prstGeom>
          <a:noFill/>
          <a:ln>
            <a:noFill/>
          </a:ln>
        </p:spPr>
      </p:pic>
      <p:sp>
        <p:nvSpPr>
          <p:cNvPr id="297" name="Google Shape;297;p31"/>
          <p:cNvSpPr txBox="1"/>
          <p:nvPr/>
        </p:nvSpPr>
        <p:spPr>
          <a:xfrm>
            <a:off x="895350" y="1713547"/>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t>
            </a:r>
            <a:endParaRPr/>
          </a:p>
        </p:txBody>
      </p:sp>
      <p:sp>
        <p:nvSpPr>
          <p:cNvPr id="298" name="Google Shape;298;p31"/>
          <p:cNvSpPr txBox="1"/>
          <p:nvPr/>
        </p:nvSpPr>
        <p:spPr>
          <a:xfrm>
            <a:off x="952500" y="1714500"/>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8FAFC"/>
                </a:solidFill>
                <a:latin typeface="Quattrocento Sans"/>
                <a:ea typeface="Quattrocento Sans"/>
                <a:cs typeface="Quattrocento Sans"/>
                <a:sym typeface="Quattrocento Sans"/>
              </a:rPr>
              <a:t>Debt-to-EBITDA:</a:t>
            </a:r>
            <a:r>
              <a:rPr b="0" i="0" lang="en-US" sz="1350" u="none" cap="none" strike="noStrike">
                <a:solidFill>
                  <a:srgbClr val="F8FAFC"/>
                </a:solidFill>
                <a:latin typeface="Quattrocento Sans"/>
                <a:ea typeface="Quattrocento Sans"/>
                <a:cs typeface="Quattrocento Sans"/>
                <a:sym typeface="Quattrocento Sans"/>
              </a:rPr>
              <a:t> Targeted reduction to &lt; 3.0x</a:t>
            </a:r>
            <a:endParaRPr/>
          </a:p>
        </p:txBody>
      </p:sp>
      <p:sp>
        <p:nvSpPr>
          <p:cNvPr id="299" name="Google Shape;299;p31"/>
          <p:cNvSpPr txBox="1"/>
          <p:nvPr/>
        </p:nvSpPr>
        <p:spPr>
          <a:xfrm>
            <a:off x="895350" y="1987837"/>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t>
            </a:r>
            <a:endParaRPr/>
          </a:p>
        </p:txBody>
      </p:sp>
      <p:sp>
        <p:nvSpPr>
          <p:cNvPr id="300" name="Google Shape;300;p31"/>
          <p:cNvSpPr txBox="1"/>
          <p:nvPr/>
        </p:nvSpPr>
        <p:spPr>
          <a:xfrm>
            <a:off x="952500" y="1988790"/>
            <a:ext cx="4953000" cy="27429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8FAFC"/>
                </a:solidFill>
                <a:latin typeface="Quattrocento Sans"/>
                <a:ea typeface="Quattrocento Sans"/>
                <a:cs typeface="Quattrocento Sans"/>
                <a:sym typeface="Quattrocento Sans"/>
              </a:rPr>
              <a:t>DTC Profitability:</a:t>
            </a:r>
            <a:r>
              <a:rPr b="0" i="0" lang="en-US" sz="1350" u="none" cap="none" strike="noStrike">
                <a:solidFill>
                  <a:srgbClr val="F8FAFC"/>
                </a:solidFill>
                <a:latin typeface="Quattrocento Sans"/>
                <a:ea typeface="Quattrocento Sans"/>
                <a:cs typeface="Quattrocento Sans"/>
                <a:sym typeface="Quattrocento Sans"/>
              </a:rPr>
              <a:t> Quarterly EBITDA break-even by year 2</a:t>
            </a:r>
            <a:endParaRPr/>
          </a:p>
        </p:txBody>
      </p:sp>
      <p:sp>
        <p:nvSpPr>
          <p:cNvPr id="301" name="Google Shape;301;p31"/>
          <p:cNvSpPr txBox="1"/>
          <p:nvPr/>
        </p:nvSpPr>
        <p:spPr>
          <a:xfrm>
            <a:off x="895350" y="2262127"/>
            <a:ext cx="571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a:t>
            </a:r>
            <a:endParaRPr/>
          </a:p>
        </p:txBody>
      </p:sp>
      <p:sp>
        <p:nvSpPr>
          <p:cNvPr id="302" name="Google Shape;302;p31"/>
          <p:cNvSpPr txBox="1"/>
          <p:nvPr/>
        </p:nvSpPr>
        <p:spPr>
          <a:xfrm>
            <a:off x="952500" y="2263080"/>
            <a:ext cx="4953000" cy="548580"/>
          </a:xfrm>
          <a:prstGeom prst="rect">
            <a:avLst/>
          </a:prstGeom>
          <a:noFill/>
          <a:ln>
            <a:noFill/>
          </a:ln>
        </p:spPr>
        <p:txBody>
          <a:bodyPr anchorCtr="0" anchor="t" bIns="0" lIns="571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8FAFC"/>
                </a:solidFill>
                <a:latin typeface="Quattrocento Sans"/>
                <a:ea typeface="Quattrocento Sans"/>
                <a:cs typeface="Quattrocento Sans"/>
                <a:sym typeface="Quattrocento Sans"/>
              </a:rPr>
              <a:t>Content ROI:</a:t>
            </a:r>
            <a:r>
              <a:rPr b="0" i="0" lang="en-US" sz="1350" u="none" cap="none" strike="noStrike">
                <a:solidFill>
                  <a:srgbClr val="F8FAFC"/>
                </a:solidFill>
                <a:latin typeface="Quattrocento Sans"/>
                <a:ea typeface="Quattrocento Sans"/>
                <a:cs typeface="Quattrocento Sans"/>
                <a:sym typeface="Quattrocento Sans"/>
              </a:rPr>
              <a:t> 15% increase in efficiency via AI-optimized production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06" name="Shape 306"/>
        <p:cNvGrpSpPr/>
        <p:nvPr/>
      </p:nvGrpSpPr>
      <p:grpSpPr>
        <a:xfrm>
          <a:off x="0" y="0"/>
          <a:ext cx="0" cy="0"/>
          <a:chOff x="0" y="0"/>
          <a:chExt cx="0" cy="0"/>
        </a:xfrm>
      </p:grpSpPr>
      <p:sp>
        <p:nvSpPr>
          <p:cNvPr id="307" name="Google Shape;307;p32"/>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Conclusion: Future Outlook</a:t>
            </a:r>
            <a:endParaRPr/>
          </a:p>
        </p:txBody>
      </p:sp>
      <p:sp>
        <p:nvSpPr>
          <p:cNvPr id="308" name="Google Shape;308;p32"/>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32"/>
          <p:cNvSpPr txBox="1"/>
          <p:nvPr/>
        </p:nvSpPr>
        <p:spPr>
          <a:xfrm>
            <a:off x="571500" y="1543050"/>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Summary</a:t>
            </a:r>
            <a:endParaRPr/>
          </a:p>
        </p:txBody>
      </p:sp>
      <p:sp>
        <p:nvSpPr>
          <p:cNvPr id="310" name="Google Shape;310;p32"/>
          <p:cNvSpPr txBox="1"/>
          <p:nvPr/>
        </p:nvSpPr>
        <p:spPr>
          <a:xfrm>
            <a:off x="571500" y="1973460"/>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Warner Bros. Discovery stands at an inflection point. The merger path, while difficult, represents the most pragmatic solution to years of systemic under-capitalization.</a:t>
            </a:r>
            <a:endParaRPr/>
          </a:p>
        </p:txBody>
      </p:sp>
      <p:sp>
        <p:nvSpPr>
          <p:cNvPr id="311" name="Google Shape;311;p32"/>
          <p:cNvSpPr txBox="1"/>
          <p:nvPr/>
        </p:nvSpPr>
        <p:spPr>
          <a:xfrm>
            <a:off x="571500" y="2950666"/>
            <a:ext cx="11601450" cy="33516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650" u="none" cap="none" strike="noStrike">
                <a:solidFill>
                  <a:srgbClr val="38BDF8"/>
                </a:solidFill>
                <a:latin typeface="Quattrocento Sans"/>
                <a:ea typeface="Quattrocento Sans"/>
                <a:cs typeface="Quattrocento Sans"/>
                <a:sym typeface="Quattrocento Sans"/>
              </a:rPr>
              <a:t>Executive Takeaway</a:t>
            </a:r>
            <a:endParaRPr/>
          </a:p>
        </p:txBody>
      </p:sp>
      <p:sp>
        <p:nvSpPr>
          <p:cNvPr id="312" name="Google Shape;312;p32"/>
          <p:cNvSpPr txBox="1"/>
          <p:nvPr/>
        </p:nvSpPr>
        <p:spPr>
          <a:xfrm>
            <a:off x="571500" y="3381077"/>
            <a:ext cx="11049000"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F8FAFC"/>
                </a:solidFill>
                <a:latin typeface="Quattrocento Sans"/>
                <a:ea typeface="Quattrocento Sans"/>
                <a:cs typeface="Quattrocento Sans"/>
                <a:sym typeface="Quattrocento Sans"/>
              </a:rPr>
              <a:t>Managerial priority must shift from "subscriber growth at any cost" to "value creation through structural discipline." The future lies in the integration of studio excellence with tech-driven distribution platforms.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16" name="Shape 316"/>
        <p:cNvGrpSpPr/>
        <p:nvPr/>
      </p:nvGrpSpPr>
      <p:grpSpPr>
        <a:xfrm>
          <a:off x="0" y="0"/>
          <a:ext cx="0" cy="0"/>
          <a:chOff x="0" y="0"/>
          <a:chExt cx="0" cy="0"/>
        </a:xfrm>
      </p:grpSpPr>
      <p:sp>
        <p:nvSpPr>
          <p:cNvPr id="317" name="Google Shape;317;p33"/>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References</a:t>
            </a:r>
            <a:endParaRPr/>
          </a:p>
        </p:txBody>
      </p:sp>
      <p:sp>
        <p:nvSpPr>
          <p:cNvPr id="318" name="Google Shape;318;p33"/>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33"/>
          <p:cNvSpPr txBox="1"/>
          <p:nvPr/>
        </p:nvSpPr>
        <p:spPr>
          <a:xfrm>
            <a:off x="571500" y="1676400"/>
            <a:ext cx="11049000"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8FAFC"/>
                </a:solidFill>
                <a:latin typeface="Quattrocento Sans"/>
                <a:ea typeface="Quattrocento Sans"/>
                <a:cs typeface="Quattrocento Sans"/>
                <a:sym typeface="Quattrocento Sans"/>
              </a:rPr>
              <a:t>1. WBD Annual Report (2025). </a:t>
            </a:r>
            <a:r>
              <a:rPr b="0" i="1" lang="en-US" sz="1050" u="none" cap="none" strike="noStrike">
                <a:solidFill>
                  <a:srgbClr val="F8FAFC"/>
                </a:solidFill>
                <a:latin typeface="Quattrocento Sans"/>
                <a:ea typeface="Quattrocento Sans"/>
                <a:cs typeface="Quattrocento Sans"/>
                <a:sym typeface="Quattrocento Sans"/>
              </a:rPr>
              <a:t>Investor Relations Disclosures.</a:t>
            </a:r>
            <a:endParaRPr/>
          </a:p>
        </p:txBody>
      </p:sp>
      <p:sp>
        <p:nvSpPr>
          <p:cNvPr id="320" name="Google Shape;320;p33"/>
          <p:cNvSpPr txBox="1"/>
          <p:nvPr/>
        </p:nvSpPr>
        <p:spPr>
          <a:xfrm>
            <a:off x="571500" y="2346870"/>
            <a:ext cx="11049000" cy="21327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8FAFC"/>
                </a:solidFill>
                <a:latin typeface="Quattrocento Sans"/>
                <a:ea typeface="Quattrocento Sans"/>
                <a:cs typeface="Quattrocento Sans"/>
                <a:sym typeface="Quattrocento Sans"/>
              </a:rPr>
              <a:t>2. Wikipedia (2026). </a:t>
            </a:r>
            <a:r>
              <a:rPr b="0" i="1" lang="en-US" sz="1050" u="none" cap="none" strike="noStrike">
                <a:solidFill>
                  <a:srgbClr val="F8FAFC"/>
                </a:solidFill>
                <a:latin typeface="Quattrocento Sans"/>
                <a:ea typeface="Quattrocento Sans"/>
                <a:cs typeface="Quattrocento Sans"/>
                <a:sym typeface="Quattrocento Sans"/>
              </a:rPr>
              <a:t>Proposed acquisition of Warner Bros. Discovery by Paramount Skydance.</a:t>
            </a:r>
            <a:endParaRPr/>
          </a:p>
        </p:txBody>
      </p:sp>
      <p:sp>
        <p:nvSpPr>
          <p:cNvPr id="321" name="Google Shape;321;p33"/>
          <p:cNvSpPr txBox="1"/>
          <p:nvPr/>
        </p:nvSpPr>
        <p:spPr>
          <a:xfrm>
            <a:off x="571500" y="3017341"/>
            <a:ext cx="11049000" cy="2133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8FAFC"/>
                </a:solidFill>
                <a:latin typeface="Quattrocento Sans"/>
                <a:ea typeface="Quattrocento Sans"/>
                <a:cs typeface="Quattrocento Sans"/>
                <a:sym typeface="Quattrocento Sans"/>
              </a:rPr>
              <a:t>3. Enders Analysis (2023). </a:t>
            </a:r>
            <a:r>
              <a:rPr b="0" i="1" lang="en-US" sz="1050" u="none" cap="none" strike="noStrike">
                <a:solidFill>
                  <a:srgbClr val="F8FAFC"/>
                </a:solidFill>
                <a:latin typeface="Quattrocento Sans"/>
                <a:ea typeface="Quattrocento Sans"/>
                <a:cs typeface="Quattrocento Sans"/>
                <a:sym typeface="Quattrocento Sans"/>
              </a:rPr>
              <a:t>Warner Bros. Discovery: A Tricky Path.</a:t>
            </a:r>
            <a:endParaRPr/>
          </a:p>
        </p:txBody>
      </p:sp>
      <p:sp>
        <p:nvSpPr>
          <p:cNvPr id="322" name="Google Shape;322;p33"/>
          <p:cNvSpPr txBox="1"/>
          <p:nvPr/>
        </p:nvSpPr>
        <p:spPr>
          <a:xfrm>
            <a:off x="571500" y="3687812"/>
            <a:ext cx="11049000" cy="21330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8FAFC"/>
                </a:solidFill>
                <a:latin typeface="Quattrocento Sans"/>
                <a:ea typeface="Quattrocento Sans"/>
                <a:cs typeface="Quattrocento Sans"/>
                <a:sym typeface="Quattrocento Sans"/>
              </a:rPr>
              <a:t>4. Symonds Research (2026). </a:t>
            </a:r>
            <a:r>
              <a:rPr b="0" i="1" lang="en-US" sz="1050" u="none" cap="none" strike="noStrike">
                <a:solidFill>
                  <a:srgbClr val="F8FAFC"/>
                </a:solidFill>
                <a:latin typeface="Quattrocento Sans"/>
                <a:ea typeface="Quattrocento Sans"/>
                <a:cs typeface="Quattrocento Sans"/>
                <a:sym typeface="Quattrocento Sans"/>
              </a:rPr>
              <a:t>7 Steps of the Decision-Making Process.</a:t>
            </a:r>
            <a:endParaRPr/>
          </a:p>
        </p:txBody>
      </p:sp>
      <p:sp>
        <p:nvSpPr>
          <p:cNvPr id="323" name="Google Shape;323;p33"/>
          <p:cNvSpPr txBox="1"/>
          <p:nvPr/>
        </p:nvSpPr>
        <p:spPr>
          <a:xfrm>
            <a:off x="571500" y="7040165"/>
            <a:ext cx="11049000" cy="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8FAFC"/>
                </a:solidFill>
                <a:latin typeface="Quattrocento Sans"/>
                <a:ea typeface="Quattrocento Sans"/>
                <a:cs typeface="Quattrocento Sans"/>
                <a:sym typeface="Quattrocento Sans"/>
              </a:rPr>
              <a:t>9. Lucidchart Blog (2026). </a:t>
            </a:r>
            <a:r>
              <a:rPr b="0" i="1" lang="en-US" sz="1050" u="none" cap="none" strike="noStrike">
                <a:solidFill>
                  <a:srgbClr val="F8FAFC"/>
                </a:solidFill>
                <a:latin typeface="Quattrocento Sans"/>
                <a:ea typeface="Quattrocento Sans"/>
                <a:cs typeface="Quattrocento Sans"/>
                <a:sym typeface="Quattrocento Sans"/>
              </a:rPr>
              <a:t>Rational Decision-Making Models.</a:t>
            </a:r>
            <a:endParaRPr/>
          </a:p>
        </p:txBody>
      </p:sp>
      <p:sp>
        <p:nvSpPr>
          <p:cNvPr id="324" name="Google Shape;324;p33"/>
          <p:cNvSpPr txBox="1"/>
          <p:nvPr/>
        </p:nvSpPr>
        <p:spPr>
          <a:xfrm>
            <a:off x="571500" y="7710636"/>
            <a:ext cx="11049000" cy="0"/>
          </a:xfrm>
          <a:prstGeom prst="rect">
            <a:avLst/>
          </a:prstGeom>
          <a:noFill/>
          <a:ln>
            <a:noFill/>
          </a:ln>
        </p:spPr>
        <p:txBody>
          <a:bodyPr anchorCtr="0" anchor="t" bIns="0" lIns="0" spcFirstLastPara="1" rIns="0" wrap="square" tIns="0">
            <a:spAutoFit/>
          </a:bodyPr>
          <a:lstStyle/>
          <a:p>
            <a:pPr indent="0" lvl="0" marL="0" marR="0" rtl="0" algn="l">
              <a:lnSpc>
                <a:spcPct val="159904"/>
              </a:lnSpc>
              <a:spcBef>
                <a:spcPts val="0"/>
              </a:spcBef>
              <a:spcAft>
                <a:spcPts val="0"/>
              </a:spcAft>
              <a:buNone/>
            </a:pPr>
            <a:r>
              <a:rPr b="0" i="0" lang="en-US" sz="1050" u="none" cap="none" strike="noStrike">
                <a:solidFill>
                  <a:srgbClr val="F8FAFC"/>
                </a:solidFill>
                <a:latin typeface="Quattrocento Sans"/>
                <a:ea typeface="Quattrocento Sans"/>
                <a:cs typeface="Quattrocento Sans"/>
                <a:sym typeface="Quattrocento Sans"/>
              </a:rPr>
              <a:t>10. Industry Analyst Consortium (2025). </a:t>
            </a:r>
            <a:r>
              <a:rPr b="0" i="1" lang="en-US" sz="1050" u="none" cap="none" strike="noStrike">
                <a:solidFill>
                  <a:srgbClr val="F8FAFC"/>
                </a:solidFill>
                <a:latin typeface="Quattrocento Sans"/>
                <a:ea typeface="Quattrocento Sans"/>
                <a:cs typeface="Quattrocento Sans"/>
                <a:sym typeface="Quattrocento Sans"/>
              </a:rPr>
              <a:t>Streaming Market Trends and Competitive Rivalry.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328" name="Shape 328"/>
        <p:cNvGrpSpPr/>
        <p:nvPr/>
      </p:nvGrpSpPr>
      <p:grpSpPr>
        <a:xfrm>
          <a:off x="0" y="0"/>
          <a:ext cx="0" cy="0"/>
          <a:chOff x="0" y="0"/>
          <a:chExt cx="0" cy="0"/>
        </a:xfrm>
      </p:grpSpPr>
      <p:sp>
        <p:nvSpPr>
          <p:cNvPr id="329" name="Google Shape;329;p34"/>
          <p:cNvSpPr txBox="1"/>
          <p:nvPr/>
        </p:nvSpPr>
        <p:spPr>
          <a:xfrm>
            <a:off x="571500" y="571500"/>
            <a:ext cx="1160145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F8FAFC"/>
                </a:solidFill>
                <a:latin typeface="Quattrocento Sans"/>
                <a:ea typeface="Quattrocento Sans"/>
                <a:cs typeface="Quattrocento Sans"/>
                <a:sym typeface="Quattrocento Sans"/>
              </a:rPr>
              <a:t>Image Sources</a:t>
            </a:r>
            <a:endParaRPr/>
          </a:p>
        </p:txBody>
      </p:sp>
      <p:sp>
        <p:nvSpPr>
          <p:cNvPr id="330" name="Google Shape;330;p34"/>
          <p:cNvSpPr/>
          <p:nvPr/>
        </p:nvSpPr>
        <p:spPr>
          <a:xfrm>
            <a:off x="571500" y="1143000"/>
            <a:ext cx="11049000" cy="19050"/>
          </a:xfrm>
          <a:prstGeom prst="rect">
            <a:avLst/>
          </a:prstGeom>
          <a:solidFill>
            <a:srgbClr val="38BDF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34"/>
          <p:cNvSpPr/>
          <p:nvPr/>
        </p:nvSpPr>
        <p:spPr>
          <a:xfrm>
            <a:off x="571500" y="1543050"/>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34"/>
          <p:cNvSpPr/>
          <p:nvPr/>
        </p:nvSpPr>
        <p:spPr>
          <a:xfrm>
            <a:off x="571500" y="2327820"/>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p34"/>
          <p:cNvSpPr/>
          <p:nvPr/>
        </p:nvSpPr>
        <p:spPr>
          <a:xfrm>
            <a:off x="571500" y="3112591"/>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34"/>
          <p:cNvSpPr/>
          <p:nvPr/>
        </p:nvSpPr>
        <p:spPr>
          <a:xfrm>
            <a:off x="571500" y="3897362"/>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34"/>
          <p:cNvSpPr/>
          <p:nvPr/>
        </p:nvSpPr>
        <p:spPr>
          <a:xfrm>
            <a:off x="571500" y="4682132"/>
            <a:ext cx="11049000" cy="78477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34"/>
          <p:cNvSpPr/>
          <p:nvPr/>
        </p:nvSpPr>
        <p:spPr>
          <a:xfrm>
            <a:off x="571500" y="231829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34"/>
          <p:cNvSpPr/>
          <p:nvPr/>
        </p:nvSpPr>
        <p:spPr>
          <a:xfrm>
            <a:off x="571500" y="2318295"/>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34"/>
          <p:cNvSpPr/>
          <p:nvPr/>
        </p:nvSpPr>
        <p:spPr>
          <a:xfrm>
            <a:off x="571500" y="3103066"/>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9" name="Google Shape;339;p34"/>
          <p:cNvSpPr/>
          <p:nvPr/>
        </p:nvSpPr>
        <p:spPr>
          <a:xfrm>
            <a:off x="571500" y="3103066"/>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0" name="Google Shape;340;p34"/>
          <p:cNvSpPr/>
          <p:nvPr/>
        </p:nvSpPr>
        <p:spPr>
          <a:xfrm>
            <a:off x="571500" y="3887837"/>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34"/>
          <p:cNvSpPr/>
          <p:nvPr/>
        </p:nvSpPr>
        <p:spPr>
          <a:xfrm>
            <a:off x="571500" y="3887837"/>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34"/>
          <p:cNvSpPr/>
          <p:nvPr/>
        </p:nvSpPr>
        <p:spPr>
          <a:xfrm>
            <a:off x="571500" y="4672607"/>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34"/>
          <p:cNvSpPr/>
          <p:nvPr/>
        </p:nvSpPr>
        <p:spPr>
          <a:xfrm>
            <a:off x="571500" y="4672607"/>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34"/>
          <p:cNvSpPr/>
          <p:nvPr/>
        </p:nvSpPr>
        <p:spPr>
          <a:xfrm>
            <a:off x="571500" y="5457378"/>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34"/>
          <p:cNvSpPr/>
          <p:nvPr/>
        </p:nvSpPr>
        <p:spPr>
          <a:xfrm>
            <a:off x="571500" y="5457378"/>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46" name="Google Shape;346;p34"/>
          <p:cNvPicPr preferRelativeResize="0"/>
          <p:nvPr/>
        </p:nvPicPr>
        <p:blipFill rotWithShape="1">
          <a:blip r:embed="rId3">
            <a:alphaModFix/>
          </a:blip>
          <a:srcRect b="0" l="0" r="0" t="0"/>
          <a:stretch/>
        </p:blipFill>
        <p:spPr>
          <a:xfrm>
            <a:off x="571500" y="1692473"/>
            <a:ext cx="857250" cy="476250"/>
          </a:xfrm>
          <a:prstGeom prst="rect">
            <a:avLst/>
          </a:prstGeom>
          <a:noFill/>
          <a:ln>
            <a:noFill/>
          </a:ln>
        </p:spPr>
      </p:pic>
      <p:sp>
        <p:nvSpPr>
          <p:cNvPr id="347" name="Google Shape;347;p34"/>
          <p:cNvSpPr txBox="1"/>
          <p:nvPr/>
        </p:nvSpPr>
        <p:spPr>
          <a:xfrm>
            <a:off x="1666875" y="1685925"/>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F8FAFC"/>
                </a:solidFill>
                <a:latin typeface="Quattrocento Sans"/>
                <a:ea typeface="Quattrocento Sans"/>
                <a:cs typeface="Quattrocento Sans"/>
                <a:sym typeface="Quattrocento Sans"/>
              </a:rPr>
              <a:t>https://template.canva.com/EAGtVkfnY24/1/0/1600w-lUxcY6NKz0c.jpg</a:t>
            </a:r>
            <a:endParaRPr/>
          </a:p>
        </p:txBody>
      </p:sp>
      <p:sp>
        <p:nvSpPr>
          <p:cNvPr id="348" name="Google Shape;348;p34"/>
          <p:cNvSpPr txBox="1"/>
          <p:nvPr/>
        </p:nvSpPr>
        <p:spPr>
          <a:xfrm>
            <a:off x="1666875" y="1931640"/>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8FAFC"/>
                </a:solidFill>
                <a:latin typeface="Quattrocento Sans"/>
                <a:ea typeface="Quattrocento Sans"/>
                <a:cs typeface="Quattrocento Sans"/>
                <a:sym typeface="Quattrocento Sans"/>
              </a:rPr>
              <a:t>Source: </a:t>
            </a:r>
            <a:r>
              <a:rPr b="0" i="0" lang="en-US" sz="1200" u="none" cap="none" strike="noStrike">
                <a:solidFill>
                  <a:srgbClr val="4F46E5"/>
                </a:solidFill>
                <a:latin typeface="Quattrocento Sans"/>
                <a:ea typeface="Quattrocento Sans"/>
                <a:cs typeface="Quattrocento Sans"/>
                <a:sym typeface="Quattrocento Sans"/>
              </a:rPr>
              <a:t>www.canva.com</a:t>
            </a:r>
            <a:endParaRPr/>
          </a:p>
        </p:txBody>
      </p:sp>
      <p:pic>
        <p:nvPicPr>
          <p:cNvPr descr="image.png" id="349" name="Google Shape;349;p34"/>
          <p:cNvPicPr preferRelativeResize="0"/>
          <p:nvPr/>
        </p:nvPicPr>
        <p:blipFill rotWithShape="1">
          <a:blip r:embed="rId4">
            <a:alphaModFix/>
          </a:blip>
          <a:srcRect b="0" l="0" r="0" t="0"/>
          <a:stretch/>
        </p:blipFill>
        <p:spPr>
          <a:xfrm>
            <a:off x="571500" y="2477244"/>
            <a:ext cx="857250" cy="476250"/>
          </a:xfrm>
          <a:prstGeom prst="rect">
            <a:avLst/>
          </a:prstGeom>
          <a:noFill/>
          <a:ln>
            <a:noFill/>
          </a:ln>
        </p:spPr>
      </p:pic>
      <p:sp>
        <p:nvSpPr>
          <p:cNvPr id="350" name="Google Shape;350;p34"/>
          <p:cNvSpPr txBox="1"/>
          <p:nvPr/>
        </p:nvSpPr>
        <p:spPr>
          <a:xfrm>
            <a:off x="1666875" y="2470695"/>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F8FAFC"/>
                </a:solidFill>
                <a:latin typeface="Quattrocento Sans"/>
                <a:ea typeface="Quattrocento Sans"/>
                <a:cs typeface="Quattrocento Sans"/>
                <a:sym typeface="Quattrocento Sans"/>
              </a:rPr>
              <a:t>https://d3twecw9qvot3u.cloudfront.net/wp-content/uploads/2023/12/infographic-14-scaled.jpg</a:t>
            </a:r>
            <a:endParaRPr/>
          </a:p>
        </p:txBody>
      </p:sp>
      <p:sp>
        <p:nvSpPr>
          <p:cNvPr id="351" name="Google Shape;351;p34"/>
          <p:cNvSpPr txBox="1"/>
          <p:nvPr/>
        </p:nvSpPr>
        <p:spPr>
          <a:xfrm>
            <a:off x="1666875" y="2716410"/>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8FAFC"/>
                </a:solidFill>
                <a:latin typeface="Quattrocento Sans"/>
                <a:ea typeface="Quattrocento Sans"/>
                <a:cs typeface="Quattrocento Sans"/>
                <a:sym typeface="Quattrocento Sans"/>
              </a:rPr>
              <a:t>Source: </a:t>
            </a:r>
            <a:r>
              <a:rPr b="0" i="0" lang="en-US" sz="1200" u="none" cap="none" strike="noStrike">
                <a:solidFill>
                  <a:srgbClr val="4F46E5"/>
                </a:solidFill>
                <a:latin typeface="Quattrocento Sans"/>
                <a:ea typeface="Quattrocento Sans"/>
                <a:cs typeface="Quattrocento Sans"/>
                <a:sym typeface="Quattrocento Sans"/>
              </a:rPr>
              <a:t>intellias.com</a:t>
            </a:r>
            <a:endParaRPr/>
          </a:p>
        </p:txBody>
      </p:sp>
      <p:pic>
        <p:nvPicPr>
          <p:cNvPr descr="image.png" id="352" name="Google Shape;352;p34"/>
          <p:cNvPicPr preferRelativeResize="0"/>
          <p:nvPr/>
        </p:nvPicPr>
        <p:blipFill rotWithShape="1">
          <a:blip r:embed="rId5">
            <a:alphaModFix/>
          </a:blip>
          <a:srcRect b="0" l="0" r="0" t="0"/>
          <a:stretch/>
        </p:blipFill>
        <p:spPr>
          <a:xfrm>
            <a:off x="571500" y="3262014"/>
            <a:ext cx="857250" cy="476250"/>
          </a:xfrm>
          <a:prstGeom prst="rect">
            <a:avLst/>
          </a:prstGeom>
          <a:noFill/>
          <a:ln>
            <a:noFill/>
          </a:ln>
        </p:spPr>
      </p:pic>
      <p:sp>
        <p:nvSpPr>
          <p:cNvPr id="353" name="Google Shape;353;p34"/>
          <p:cNvSpPr txBox="1"/>
          <p:nvPr/>
        </p:nvSpPr>
        <p:spPr>
          <a:xfrm>
            <a:off x="1666875" y="3255466"/>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F8FAFC"/>
                </a:solidFill>
                <a:latin typeface="Quattrocento Sans"/>
                <a:ea typeface="Quattrocento Sans"/>
                <a:cs typeface="Quattrocento Sans"/>
                <a:sym typeface="Quattrocento Sans"/>
              </a:rPr>
              <a:t>https://cdn.processon.io/admin/knowledge/article_content_img/69e9c497bda86a2515e5df5e.png</a:t>
            </a:r>
            <a:endParaRPr/>
          </a:p>
        </p:txBody>
      </p:sp>
      <p:sp>
        <p:nvSpPr>
          <p:cNvPr id="354" name="Google Shape;354;p34"/>
          <p:cNvSpPr txBox="1"/>
          <p:nvPr/>
        </p:nvSpPr>
        <p:spPr>
          <a:xfrm>
            <a:off x="1666875" y="3501181"/>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8FAFC"/>
                </a:solidFill>
                <a:latin typeface="Quattrocento Sans"/>
                <a:ea typeface="Quattrocento Sans"/>
                <a:cs typeface="Quattrocento Sans"/>
                <a:sym typeface="Quattrocento Sans"/>
              </a:rPr>
              <a:t>Source: </a:t>
            </a:r>
            <a:r>
              <a:rPr b="0" i="0" lang="en-US" sz="1200" u="none" cap="none" strike="noStrike">
                <a:solidFill>
                  <a:srgbClr val="4F46E5"/>
                </a:solidFill>
                <a:latin typeface="Quattrocento Sans"/>
                <a:ea typeface="Quattrocento Sans"/>
                <a:cs typeface="Quattrocento Sans"/>
                <a:sym typeface="Quattrocento Sans"/>
              </a:rPr>
              <a:t>www.processon.io</a:t>
            </a:r>
            <a:endParaRPr/>
          </a:p>
        </p:txBody>
      </p:sp>
      <p:pic>
        <p:nvPicPr>
          <p:cNvPr descr="image.png" id="355" name="Google Shape;355;p34"/>
          <p:cNvPicPr preferRelativeResize="0"/>
          <p:nvPr/>
        </p:nvPicPr>
        <p:blipFill rotWithShape="1">
          <a:blip r:embed="rId6">
            <a:alphaModFix/>
          </a:blip>
          <a:srcRect b="0" l="0" r="0" t="0"/>
          <a:stretch/>
        </p:blipFill>
        <p:spPr>
          <a:xfrm>
            <a:off x="571500" y="4046785"/>
            <a:ext cx="857250" cy="476250"/>
          </a:xfrm>
          <a:prstGeom prst="rect">
            <a:avLst/>
          </a:prstGeom>
          <a:noFill/>
          <a:ln>
            <a:noFill/>
          </a:ln>
        </p:spPr>
      </p:pic>
      <p:sp>
        <p:nvSpPr>
          <p:cNvPr id="356" name="Google Shape;356;p34"/>
          <p:cNvSpPr txBox="1"/>
          <p:nvPr/>
        </p:nvSpPr>
        <p:spPr>
          <a:xfrm>
            <a:off x="1666875" y="4040237"/>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F8FAFC"/>
                </a:solidFill>
                <a:latin typeface="Quattrocento Sans"/>
                <a:ea typeface="Quattrocento Sans"/>
                <a:cs typeface="Quattrocento Sans"/>
                <a:sym typeface="Quattrocento Sans"/>
              </a:rPr>
              <a:t>http://static1.squarespace.com/static/6348398d9d21fd6277c64f96/t/661e6a9cb3bcc6550de3334d/1713269404793/swot+analysis+matrix+diagram+templates.png?format=1500w</a:t>
            </a:r>
            <a:endParaRPr/>
          </a:p>
        </p:txBody>
      </p:sp>
      <p:sp>
        <p:nvSpPr>
          <p:cNvPr id="357" name="Google Shape;357;p34"/>
          <p:cNvSpPr txBox="1"/>
          <p:nvPr/>
        </p:nvSpPr>
        <p:spPr>
          <a:xfrm>
            <a:off x="1666875" y="4285952"/>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8FAFC"/>
                </a:solidFill>
                <a:latin typeface="Quattrocento Sans"/>
                <a:ea typeface="Quattrocento Sans"/>
                <a:cs typeface="Quattrocento Sans"/>
                <a:sym typeface="Quattrocento Sans"/>
              </a:rPr>
              <a:t>Source: </a:t>
            </a:r>
            <a:r>
              <a:rPr b="0" i="0" lang="en-US" sz="1200" u="none" cap="none" strike="noStrike">
                <a:solidFill>
                  <a:srgbClr val="4F46E5"/>
                </a:solidFill>
                <a:latin typeface="Quattrocento Sans"/>
                <a:ea typeface="Quattrocento Sans"/>
                <a:cs typeface="Quattrocento Sans"/>
                <a:sym typeface="Quattrocento Sans"/>
              </a:rPr>
              <a:t>www.bitesizelearning.co.uk</a:t>
            </a:r>
            <a:endParaRPr/>
          </a:p>
        </p:txBody>
      </p:sp>
      <p:pic>
        <p:nvPicPr>
          <p:cNvPr descr="image.png" id="358" name="Google Shape;358;p34"/>
          <p:cNvPicPr preferRelativeResize="0"/>
          <p:nvPr/>
        </p:nvPicPr>
        <p:blipFill rotWithShape="1">
          <a:blip r:embed="rId7">
            <a:alphaModFix/>
          </a:blip>
          <a:srcRect b="0" l="0" r="0" t="0"/>
          <a:stretch/>
        </p:blipFill>
        <p:spPr>
          <a:xfrm>
            <a:off x="571500" y="4831556"/>
            <a:ext cx="857250" cy="476250"/>
          </a:xfrm>
          <a:prstGeom prst="rect">
            <a:avLst/>
          </a:prstGeom>
          <a:noFill/>
          <a:ln>
            <a:noFill/>
          </a:ln>
        </p:spPr>
      </p:pic>
      <p:sp>
        <p:nvSpPr>
          <p:cNvPr id="359" name="Google Shape;359;p34"/>
          <p:cNvSpPr txBox="1"/>
          <p:nvPr/>
        </p:nvSpPr>
        <p:spPr>
          <a:xfrm>
            <a:off x="1666875" y="4825007"/>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F8FAFC"/>
                </a:solidFill>
                <a:latin typeface="Quattrocento Sans"/>
                <a:ea typeface="Quattrocento Sans"/>
                <a:cs typeface="Quattrocento Sans"/>
                <a:sym typeface="Quattrocento Sans"/>
              </a:rPr>
              <a:t>https://stg-uploads.slidenest.com/template_1398/templateColor_1417/previewImages/porters-five-forces-diagram-powerpoint-google-slides-keynote-presentation-template-3.jpeg</a:t>
            </a:r>
            <a:endParaRPr/>
          </a:p>
        </p:txBody>
      </p:sp>
      <p:sp>
        <p:nvSpPr>
          <p:cNvPr id="360" name="Google Shape;360;p34"/>
          <p:cNvSpPr txBox="1"/>
          <p:nvPr/>
        </p:nvSpPr>
        <p:spPr>
          <a:xfrm>
            <a:off x="1666875" y="5070723"/>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8FAFC"/>
                </a:solidFill>
                <a:latin typeface="Quattrocento Sans"/>
                <a:ea typeface="Quattrocento Sans"/>
                <a:cs typeface="Quattrocento Sans"/>
                <a:sym typeface="Quattrocento Sans"/>
              </a:rPr>
              <a:t>Source: </a:t>
            </a:r>
            <a:r>
              <a:rPr b="0" i="0" lang="en-US" sz="1200" u="none" cap="none" strike="noStrike">
                <a:solidFill>
                  <a:srgbClr val="4F46E5"/>
                </a:solidFill>
                <a:latin typeface="Quattrocento Sans"/>
                <a:ea typeface="Quattrocento Sans"/>
                <a:cs typeface="Quattrocento Sans"/>
                <a:sym typeface="Quattrocento Sans"/>
              </a:rPr>
              <a:t>slidenest.com</a:t>
            </a:r>
            <a:endParaRPr/>
          </a:p>
        </p:txBody>
      </p:sp>
      <p:pic>
        <p:nvPicPr>
          <p:cNvPr descr="image.png" id="361" name="Google Shape;361;p34"/>
          <p:cNvPicPr preferRelativeResize="0"/>
          <p:nvPr/>
        </p:nvPicPr>
        <p:blipFill rotWithShape="1">
          <a:blip r:embed="rId8">
            <a:alphaModFix/>
          </a:blip>
          <a:srcRect b="0" l="0" r="0" t="0"/>
          <a:stretch/>
        </p:blipFill>
        <p:spPr>
          <a:xfrm>
            <a:off x="571500" y="5616326"/>
            <a:ext cx="857250" cy="476250"/>
          </a:xfrm>
          <a:prstGeom prst="rect">
            <a:avLst/>
          </a:prstGeom>
          <a:noFill/>
          <a:ln>
            <a:noFill/>
          </a:ln>
        </p:spPr>
      </p:pic>
      <p:sp>
        <p:nvSpPr>
          <p:cNvPr id="362" name="Google Shape;362;p34"/>
          <p:cNvSpPr txBox="1"/>
          <p:nvPr/>
        </p:nvSpPr>
        <p:spPr>
          <a:xfrm>
            <a:off x="1666875" y="5609778"/>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F8FAFC"/>
                </a:solidFill>
                <a:latin typeface="Quattrocento Sans"/>
                <a:ea typeface="Quattrocento Sans"/>
                <a:cs typeface="Quattrocento Sans"/>
                <a:sym typeface="Quattrocento Sans"/>
              </a:rPr>
              <a:t>https://slidebazaar.com/wp-content/uploads/2025/06/employee-performance-metrics-dashboard-dark-template-powerpoint-google-slides.jpg</a:t>
            </a:r>
            <a:endParaRPr/>
          </a:p>
        </p:txBody>
      </p:sp>
      <p:sp>
        <p:nvSpPr>
          <p:cNvPr id="363" name="Google Shape;363;p34"/>
          <p:cNvSpPr txBox="1"/>
          <p:nvPr/>
        </p:nvSpPr>
        <p:spPr>
          <a:xfrm>
            <a:off x="1666875" y="5855493"/>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F8FAFC"/>
                </a:solidFill>
                <a:latin typeface="Quattrocento Sans"/>
                <a:ea typeface="Quattrocento Sans"/>
                <a:cs typeface="Quattrocento Sans"/>
                <a:sym typeface="Quattrocento Sans"/>
              </a:rPr>
              <a:t>Source: </a:t>
            </a:r>
            <a:r>
              <a:rPr b="0" i="0" lang="en-US" sz="1200" u="none" cap="none" strike="noStrike">
                <a:solidFill>
                  <a:srgbClr val="4F46E5"/>
                </a:solidFill>
                <a:latin typeface="Quattrocento Sans"/>
                <a:ea typeface="Quattrocento Sans"/>
                <a:cs typeface="Quattrocento Sans"/>
                <a:sym typeface="Quattrocento Sans"/>
              </a:rPr>
              <a:t>slidebazaar.com</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